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C9A96A"/>
          </a:solidFill>
          <a:ln/>
        </p:spPr>
      </p:sp>
      <p:sp>
        <p:nvSpPr>
          <p:cNvPr id="3" name="Text 1"/>
          <p:cNvSpPr/>
          <p:nvPr/>
        </p:nvSpPr>
        <p:spPr>
          <a:xfrm>
            <a:off x="640080" y="548640"/>
            <a:ext cx="3657600" cy="548640"/>
          </a:xfrm>
          <a:prstGeom prst="rect">
            <a:avLst/>
          </a:prstGeom>
          <a:noFill/>
          <a:ln/>
        </p:spPr>
        <p:txBody>
          <a:bodyPr wrap="square" rtlCol="0" anchor="ctr"/>
          <a:lstStyle/>
          <a:p>
            <a:pPr indent="0" marL="0">
              <a:buNone/>
            </a:pPr>
            <a:r>
              <a:rPr lang="en-US" sz="2000" b="1" spc="400" kern="0" dirty="0">
                <a:solidFill>
                  <a:srgbClr val="C9A96A"/>
                </a:solidFill>
                <a:latin typeface="Georgia" pitchFamily="34" charset="0"/>
                <a:ea typeface="Georgia" pitchFamily="34" charset="-122"/>
                <a:cs typeface="Georgia" pitchFamily="34" charset="-120"/>
              </a:rPr>
              <a:t>KÔJI</a:t>
            </a:r>
            <a:endParaRPr lang="en-US" sz="2000" dirty="0"/>
          </a:p>
        </p:txBody>
      </p:sp>
      <p:sp>
        <p:nvSpPr>
          <p:cNvPr id="4" name="Text 2"/>
          <p:cNvSpPr/>
          <p:nvPr/>
        </p:nvSpPr>
        <p:spPr>
          <a:xfrm>
            <a:off x="640080" y="2468880"/>
            <a:ext cx="10515600" cy="118872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Kôji Web — Récapitulatif technique</a:t>
            </a:r>
            <a:endParaRPr lang="en-US" sz="4000" dirty="0"/>
          </a:p>
        </p:txBody>
      </p:sp>
      <p:sp>
        <p:nvSpPr>
          <p:cNvPr id="5" name="Text 3"/>
          <p:cNvSpPr/>
          <p:nvPr/>
        </p:nvSpPr>
        <p:spPr>
          <a:xfrm>
            <a:off x="640080" y="3429000"/>
            <a:ext cx="10515600" cy="548640"/>
          </a:xfrm>
          <a:prstGeom prst="rect">
            <a:avLst/>
          </a:prstGeom>
          <a:noFill/>
          <a:ln/>
        </p:spPr>
        <p:txBody>
          <a:bodyPr wrap="square" rtlCol="0" anchor="ctr"/>
          <a:lstStyle/>
          <a:p>
            <a:pPr indent="0" marL="0">
              <a:buNone/>
            </a:pPr>
            <a:r>
              <a:rPr lang="en-US" sz="1800" dirty="0">
                <a:solidFill>
                  <a:srgbClr val="C7C9E0"/>
                </a:solidFill>
                <a:latin typeface="Segoe UI" pitchFamily="34" charset="0"/>
                <a:ea typeface="Segoe UI" pitchFamily="34" charset="-122"/>
                <a:cs typeface="Segoe UI" pitchFamily="34" charset="-120"/>
              </a:rPr>
              <a:t>Développement produit — Frontend, Backend &amp; Base de données</a:t>
            </a:r>
            <a:endParaRPr lang="en-US" sz="1800" dirty="0"/>
          </a:p>
        </p:txBody>
      </p:sp>
      <p:sp>
        <p:nvSpPr>
          <p:cNvPr id="6" name="Text 4"/>
          <p:cNvSpPr/>
          <p:nvPr/>
        </p:nvSpPr>
        <p:spPr>
          <a:xfrm>
            <a:off x="640080" y="4114800"/>
            <a:ext cx="5486400" cy="365760"/>
          </a:xfrm>
          <a:prstGeom prst="rect">
            <a:avLst/>
          </a:prstGeom>
          <a:noFill/>
          <a:ln/>
        </p:spPr>
        <p:txBody>
          <a:bodyPr wrap="square" rtlCol="0" anchor="ctr"/>
          <a:lstStyle/>
          <a:p>
            <a:pPr indent="0" marL="0">
              <a:buNone/>
            </a:pPr>
            <a:r>
              <a:rPr lang="en-US" sz="1400" b="1" dirty="0">
                <a:solidFill>
                  <a:srgbClr val="C9A96A"/>
                </a:solidFill>
                <a:latin typeface="Segoe UI" pitchFamily="34" charset="0"/>
                <a:ea typeface="Segoe UI" pitchFamily="34" charset="-122"/>
                <a:cs typeface="Segoe UI" pitchFamily="34" charset="-120"/>
              </a:rPr>
              <a:t>Juin - Juillet 2026</a:t>
            </a:r>
            <a:endParaRPr lang="en-US" sz="1400" dirty="0"/>
          </a:p>
        </p:txBody>
      </p:sp>
      <p:sp>
        <p:nvSpPr>
          <p:cNvPr id="7" name="Text 5"/>
          <p:cNvSpPr/>
          <p:nvPr/>
        </p:nvSpPr>
        <p:spPr>
          <a:xfrm>
            <a:off x="640080" y="594360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pour : Management</a:t>
            </a:r>
            <a:endParaRPr lang="en-US" sz="1100" dirty="0"/>
          </a:p>
        </p:txBody>
      </p:sp>
      <p:sp>
        <p:nvSpPr>
          <p:cNvPr id="8" name="Text 6"/>
          <p:cNvSpPr/>
          <p:nvPr/>
        </p:nvSpPr>
        <p:spPr>
          <a:xfrm>
            <a:off x="640080" y="626364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par : Équipe développement Kôji Web</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640080" y="411480"/>
            <a:ext cx="7315200" cy="548640"/>
          </a:xfrm>
          <a:prstGeom prst="rect">
            <a:avLst/>
          </a:prstGeom>
          <a:noFill/>
          <a:ln/>
        </p:spPr>
        <p:txBody>
          <a:bodyPr wrap="square" rtlCol="0" anchor="ctr"/>
          <a:lstStyle/>
          <a:p>
            <a:pPr indent="0" marL="0">
              <a:buNone/>
            </a:pPr>
            <a:r>
              <a:rPr lang="en-US" sz="2600" b="1" dirty="0">
                <a:solidFill>
                  <a:srgbClr val="1B1F3B"/>
                </a:solidFill>
                <a:latin typeface="Georgia" pitchFamily="34" charset="0"/>
                <a:ea typeface="Georgia" pitchFamily="34" charset="-122"/>
                <a:cs typeface="Georgia" pitchFamily="34" charset="-120"/>
              </a:rPr>
              <a:t>Vue d'ensemble</a:t>
            </a:r>
            <a:endParaRPr lang="en-US" sz="2600" dirty="0"/>
          </a:p>
        </p:txBody>
      </p:sp>
      <p:sp>
        <p:nvSpPr>
          <p:cNvPr id="3" name="Text 1"/>
          <p:cNvSpPr/>
          <p:nvPr/>
        </p:nvSpPr>
        <p:spPr>
          <a:xfrm>
            <a:off x="640080" y="960120"/>
            <a:ext cx="7315200" cy="320040"/>
          </a:xfrm>
          <a:prstGeom prst="rect">
            <a:avLst/>
          </a:prstGeom>
          <a:noFill/>
          <a:ln/>
        </p:spPr>
        <p:txBody>
          <a:bodyPr wrap="square" rtlCol="0" anchor="ctr"/>
          <a:lstStyle/>
          <a:p>
            <a:pPr indent="0" marL="0">
              <a:buNone/>
            </a:pPr>
            <a:r>
              <a:rPr lang="en-US" sz="1300" dirty="0">
                <a:solidFill>
                  <a:srgbClr val="8A7C68"/>
                </a:solidFill>
                <a:latin typeface="Segoe UI" pitchFamily="34" charset="0"/>
                <a:ea typeface="Segoe UI" pitchFamily="34" charset="-122"/>
                <a:cs typeface="Segoe UI" pitchFamily="34" charset="-120"/>
              </a:rPr>
              <a:t>Juin - Juillet 2026</a:t>
            </a:r>
            <a:endParaRPr lang="en-US" sz="1300" dirty="0"/>
          </a:p>
        </p:txBody>
      </p:sp>
      <p:sp>
        <p:nvSpPr>
          <p:cNvPr id="4" name="Shape 2"/>
          <p:cNvSpPr/>
          <p:nvPr/>
        </p:nvSpPr>
        <p:spPr>
          <a:xfrm>
            <a:off x="640080" y="1554480"/>
            <a:ext cx="2468880" cy="1371600"/>
          </a:xfrm>
          <a:prstGeom prst="roundRect">
            <a:avLst>
              <a:gd name="adj" fmla="val 5333"/>
            </a:avLst>
          </a:prstGeom>
          <a:solidFill>
            <a:srgbClr val="FFFFFF"/>
          </a:solidFill>
          <a:ln w="12700">
            <a:solidFill>
              <a:srgbClr val="E4DCCB"/>
            </a:solidFill>
            <a:prstDash val="solid"/>
          </a:ln>
        </p:spPr>
      </p:sp>
      <p:sp>
        <p:nvSpPr>
          <p:cNvPr id="5" name="Text 3"/>
          <p:cNvSpPr/>
          <p:nvPr/>
        </p:nvSpPr>
        <p:spPr>
          <a:xfrm>
            <a:off x="6400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101</a:t>
            </a:r>
            <a:endParaRPr lang="en-US" sz="3200" dirty="0"/>
          </a:p>
        </p:txBody>
      </p:sp>
      <p:sp>
        <p:nvSpPr>
          <p:cNvPr id="6" name="Text 4"/>
          <p:cNvSpPr/>
          <p:nvPr/>
        </p:nvSpPr>
        <p:spPr>
          <a:xfrm>
            <a:off x="7315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Mises à jour livrées</a:t>
            </a:r>
            <a:endParaRPr lang="en-US" sz="1050" dirty="0"/>
          </a:p>
        </p:txBody>
      </p:sp>
      <p:sp>
        <p:nvSpPr>
          <p:cNvPr id="7" name="Shape 5"/>
          <p:cNvSpPr/>
          <p:nvPr/>
        </p:nvSpPr>
        <p:spPr>
          <a:xfrm>
            <a:off x="3383280" y="1554480"/>
            <a:ext cx="2468880" cy="1371600"/>
          </a:xfrm>
          <a:prstGeom prst="roundRect">
            <a:avLst>
              <a:gd name="adj" fmla="val 5333"/>
            </a:avLst>
          </a:prstGeom>
          <a:solidFill>
            <a:srgbClr val="FFFFFF"/>
          </a:solidFill>
          <a:ln w="12700">
            <a:solidFill>
              <a:srgbClr val="E4DCCB"/>
            </a:solidFill>
            <a:prstDash val="solid"/>
          </a:ln>
        </p:spPr>
      </p:sp>
      <p:sp>
        <p:nvSpPr>
          <p:cNvPr id="8" name="Text 6"/>
          <p:cNvSpPr/>
          <p:nvPr/>
        </p:nvSpPr>
        <p:spPr>
          <a:xfrm>
            <a:off x="33832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48</a:t>
            </a:r>
            <a:endParaRPr lang="en-US" sz="3200" dirty="0"/>
          </a:p>
        </p:txBody>
      </p:sp>
      <p:sp>
        <p:nvSpPr>
          <p:cNvPr id="9" name="Text 7"/>
          <p:cNvSpPr/>
          <p:nvPr/>
        </p:nvSpPr>
        <p:spPr>
          <a:xfrm>
            <a:off x="34747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Frontend</a:t>
            </a:r>
            <a:endParaRPr lang="en-US" sz="1050" dirty="0"/>
          </a:p>
        </p:txBody>
      </p:sp>
      <p:sp>
        <p:nvSpPr>
          <p:cNvPr id="10" name="Shape 8"/>
          <p:cNvSpPr/>
          <p:nvPr/>
        </p:nvSpPr>
        <p:spPr>
          <a:xfrm>
            <a:off x="6126480" y="1554480"/>
            <a:ext cx="2468880" cy="1371600"/>
          </a:xfrm>
          <a:prstGeom prst="roundRect">
            <a:avLst>
              <a:gd name="adj" fmla="val 5333"/>
            </a:avLst>
          </a:prstGeom>
          <a:solidFill>
            <a:srgbClr val="FFFFFF"/>
          </a:solidFill>
          <a:ln w="12700">
            <a:solidFill>
              <a:srgbClr val="E4DCCB"/>
            </a:solidFill>
            <a:prstDash val="solid"/>
          </a:ln>
        </p:spPr>
      </p:sp>
      <p:sp>
        <p:nvSpPr>
          <p:cNvPr id="11" name="Text 9"/>
          <p:cNvSpPr/>
          <p:nvPr/>
        </p:nvSpPr>
        <p:spPr>
          <a:xfrm>
            <a:off x="61264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42</a:t>
            </a:r>
            <a:endParaRPr lang="en-US" sz="3200" dirty="0"/>
          </a:p>
        </p:txBody>
      </p:sp>
      <p:sp>
        <p:nvSpPr>
          <p:cNvPr id="12" name="Text 10"/>
          <p:cNvSpPr/>
          <p:nvPr/>
        </p:nvSpPr>
        <p:spPr>
          <a:xfrm>
            <a:off x="62179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Backend</a:t>
            </a:r>
            <a:endParaRPr lang="en-US" sz="1050" dirty="0"/>
          </a:p>
        </p:txBody>
      </p:sp>
      <p:sp>
        <p:nvSpPr>
          <p:cNvPr id="13" name="Shape 11"/>
          <p:cNvSpPr/>
          <p:nvPr/>
        </p:nvSpPr>
        <p:spPr>
          <a:xfrm>
            <a:off x="8869680" y="1554480"/>
            <a:ext cx="2468880" cy="1371600"/>
          </a:xfrm>
          <a:prstGeom prst="roundRect">
            <a:avLst>
              <a:gd name="adj" fmla="val 5333"/>
            </a:avLst>
          </a:prstGeom>
          <a:solidFill>
            <a:srgbClr val="FFFFFF"/>
          </a:solidFill>
          <a:ln w="12700">
            <a:solidFill>
              <a:srgbClr val="E4DCCB"/>
            </a:solidFill>
            <a:prstDash val="solid"/>
          </a:ln>
        </p:spPr>
      </p:sp>
      <p:sp>
        <p:nvSpPr>
          <p:cNvPr id="14" name="Text 12"/>
          <p:cNvSpPr/>
          <p:nvPr/>
        </p:nvSpPr>
        <p:spPr>
          <a:xfrm>
            <a:off x="88696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11</a:t>
            </a:r>
            <a:endParaRPr lang="en-US" sz="3200" dirty="0"/>
          </a:p>
        </p:txBody>
      </p:sp>
      <p:sp>
        <p:nvSpPr>
          <p:cNvPr id="15" name="Text 13"/>
          <p:cNvSpPr/>
          <p:nvPr/>
        </p:nvSpPr>
        <p:spPr>
          <a:xfrm>
            <a:off x="89611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Base de données</a:t>
            </a:r>
            <a:endParaRPr lang="en-US" sz="1050" dirty="0"/>
          </a:p>
        </p:txBody>
      </p:sp>
      <p:sp>
        <p:nvSpPr>
          <p:cNvPr id="16" name="Text 14"/>
          <p:cNvSpPr/>
          <p:nvPr/>
        </p:nvSpPr>
        <p:spPr>
          <a:xfrm>
            <a:off x="640080" y="3337560"/>
            <a:ext cx="731520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Faits marquants</a:t>
            </a:r>
            <a:endParaRPr lang="en-US" sz="1500" dirty="0"/>
          </a:p>
        </p:txBody>
      </p:sp>
      <p:sp>
        <p:nvSpPr>
          <p:cNvPr id="17" name="Text 15"/>
          <p:cNvSpPr/>
          <p:nvPr/>
        </p:nvSpPr>
        <p:spPr>
          <a:xfrm>
            <a:off x="640080" y="3749040"/>
            <a:ext cx="10881360" cy="2468880"/>
          </a:xfrm>
          <a:prstGeom prst="rect">
            <a:avLst/>
          </a:prstGeom>
          <a:noFill/>
          <a:ln/>
        </p:spPr>
        <p:txBody>
          <a:bodyPr wrap="square" rtlCol="0" anchor="ctr"/>
          <a:lstStyle/>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Migration progressive vers Supabase : devis, chantiers, planning et fournitures désormais partagés avec l'application mobile.</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Nouveau module Planning / pointage des heures : suivi du temps, alertes automatiques, export PDF pour la paie et la comptabilité.</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Ouverture complète des espaces Client particulier et Ouvrier (suivi, notifications, réclamations, alertes urgentes).</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Audit et fiabilisation du backend : correction de plusieurs routes critiques restées sur l'ancienne base de données locale.</a:t>
            </a:r>
            <a:endParaRPr lang="en-US" sz="1300" dirty="0"/>
          </a:p>
        </p:txBody>
      </p:sp>
      <p:sp>
        <p:nvSpPr>
          <p:cNvPr id="18" name="Text 16"/>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9" name="Text 17"/>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1D6FE0"/>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Frontend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Interface et expérience utilisateur</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8FB6FF"/>
                </a:solidFill>
                <a:latin typeface="Segoe UI" pitchFamily="34" charset="0"/>
                <a:ea typeface="Segoe UI" pitchFamily="34" charset="-122"/>
                <a:cs typeface="Segoe UI" pitchFamily="34" charset="-120"/>
              </a:rPr>
              <a:t>48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Sous-ouvrages dans le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des sous-ouvrages avec le même design que l'ouvrage parent, et un bouton d'ajout repensé (style pointillé).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l'ouvrage au forfait et des fournitures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Recalcul des montants, sous-totaux par pièce, auto-remplissage des fournitures associées.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Fiabilité du formulaire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brouillon se vide au démarrage d'un nouveau chantier ; les valeurs saisies ne se réinitialisent plus involontairement.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Historique / Éditeur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menu Devis ramène toujours vers l'historique des devis plutôt que vers la création directe d'un nouveau devis.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des lots et des ouvrages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Flèches pour monter/descendre un ouvrage dans un lot, et pour réordonner les lots eux-mêmes ; le lot reste ouvert après ajout d'une fourniture.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Bibliothèque d'ouvrages : famille libre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champ Famille permet de taper une nouvelle famille (ex. Métallurgie) en plus de choisir dans la liste existante.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Description de l'ouvrage (titre + sous-titre)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d'un devis (ouvrage ou fourniture) peut désormais recevoir une description libre, affichée sous forme de sous-titre grisé sous la désignation en gras dans le devis généré (PDF et Word) — le même principe que sur les devis modèles.</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 la fiche Client et chantier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Champs réorganisés pour plus de clarté : référence et client sur une même ligne, téléphone et email sur une même ligne, adresse sur sa propre ligne, puis le reste des informations (chantier, dates, durée, type de bien) en dessous.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Double-clic sur Enregistrer : un seul devis créé au lieu de deux</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double-clic (ou un enregistrement automatique déclenché en même temps qu'un enregistrement manuel) pouvait créer deux devis identiques pour le même chantier au lieu de mettre à jour le même. Corrigé : un enregistrement déjà en cours est désormais partagé au lieu d'en déclencher un second.</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Tableau du devis : colonne Total HT (au lieu de Total TTC)</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colonne de droite du tableau d'ouvrages, sur le PDF et le Word générés, affiche maintenant le Total HT de chaque ligne plutôt que le Total TTC, comme demandé pour la lecture par les clients/partenaires.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Ouvrir sur chaque ouvrage lié à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les fournitures, chaque ouvrage d'un devis relié à la Bibliothèque d'ouvrages affiche désormais un bouton 'Ouvrir' qui montre sa fiche (code, famille, unité, temps normatif, taux horaire, description) et permet d'aller la modifier dans la Bibliothèque.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Cadres Date de début / Durée des travaux masqués si vides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Sur le PDF et le Word générés, les deux encadrés ne s'affichent plus quand ni la date de début ni la durée des travaux ne sont renseignées, au lieu d'apparaître vides.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'Transformer ce devis en facture'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Génère le même PDF que le devis (mêmes lignes, mêmes montants), avec le même numéro, mais étiqueté 'Facture' au lieu de 'Devis' et sans le numéro de version. La facture obtenue est enregistrée et retrouvable dans l'outil Factures, téléchargeable en PDF à tout moment.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 de bloc signature sur une facture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PDF généré via 'Transformer ce devis en facture' affichait encore le cadre 'Bon pour accord / Date et signature du client', qui n'a pas lieu d'être sur une facture. Retiré uniquement pour ce cas ; le devis original le garde.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Création d'un chantier depuis un devis existant rendue plus visible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bouton explicite 'Créer un chantier pour ce devis' apparaît désormais quand un devis déjà enregistré n'a pas de chantier lié — possible à tout moment, même si le client n'a pas encore validé le devis.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Écran de choix avant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signature du devis, l'entreprise choisit entre 'Modifier le devis' et 'Commencer le chantier' au lieu d'atterrir directement sur le suivi.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automatique depuis Équipe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dans Équipe' depuis la planification d'un ouvrage ramène exactement à la même fenêtre une fois le personnel ajouté.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ouvrage enrichie (prix, dépenses, marge)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Affichage du prix validé par le client, calcul automatique des dépenses et de la marge par ouvrage, bouton d'ajout rapide (équipe / dépense / note), et récapitulatif automatique des dépenses au niveau du chantier.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Persistance de la navigation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rafraîchissement de page (F5) ne ramène plus à l'écran de départ : le chantier et l'ouvrage consultés restent affichés (état conservé dans l'URL).</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Édition complète de l'équipe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Gestion des entreprises/SIRET pour les sous-traitants, liens multiples vers chantiers/devis/ouvrages, avec notifications automatiques lors de l'affectation.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carte d'ajout (design)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des personnels' devient un bouton flottant qui ouvre une carte animée avec 3 choix : Ouvrier, Sous-traitant, Planning.</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Module Planning / pointage des heures (nouveau)</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espace complet : liste des ouvriers avec badge d'heures de la semaine (vert/orange/rouge), détail hebdomadaire par ouvrier, ajout manuel de pointages, navigation semaine par semaine.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 pointage de la journée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'Pointage' dans le portail ouvrier : début/fin de journée en un clic, avec récapitulatif de la semaine en cours.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Calendrier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Cartes et tâches cliquables, édition d'un événement directement depuis sa fiche.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déroulant sur la cloche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Affiche les 5 dernières notifications sans quitter la page en cours, avec un lien vers la liste complète.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Renvoi des identifiants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pour renvoyer l'accès client par email ou WhatsApp, tableau d'informations avec icônes et boutons 'Copier'.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détail centrée et redessinée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fiche de détail d'une notification est centrée sur la page, avec un tableau d'informations clarifié.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de la route d'ouverture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Cliquer sur une notification depuis le menu déroulant ouvrait le devis lié au lieu de sa fiche de détail — corrigé, avec icône par type, heure relative et point 'non lu'.</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client particulier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Suivi de chantier, centre de notifications et réponses aux messages de l'entreprise, avec fil de discussion.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complet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Accueil (chantiers actifs, tâches du jour), archives, notifications, réclamations, signalement de retard et alerte urgente avec choix du type d'incident.</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la page d'accueil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Message de bienvenue personnalisé ('Bonjour [Nom]'), ajout rapide (tâche/RDV/dépense/note), alertes urgentes, reprise d'un devis brouillon en un clic.</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Compatibilité Safari / iOS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barre d'adresse de Safari mobile masquait parfois le bas de l'écran (boutons inaccessibles) — corrigé sur l'ensemble de l'application.</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Cohérence visuelle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Logo recentré sur toutes les pages, sélecteur de langue simplifié (5 langues, sans drapeaux), adresse d'entreprise simplifiée en une ligne.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 devis devient le point d'entrée de l'accueil</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gros bouton d'action de la page d'accueil ('+') pointe maintenant vers la création d'un devis au lieu d'un chantier, et l'ordre des sections a été inversé : Devis en cours avant Chantiers, Interventions en dernier.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type "Intervention" dans l'ajout rapide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page d'accueil, un cinquième choix 'Intervention' ouvre un formulaire dédié en plein écran, en plus des types existants Tâche/RDV/Dépense/Note.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Formulaire de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En-tête avec le logo et les coordonnées de l'entreprise (repris automatiquement du profil), puis Client, Site, Date, Entreprise, Équipement, Constat, Analyse, Préconisations et Signature, sur le modèle d'un rapport d'intervention technique classique.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Aperçu avant génération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de créer définitivement le rapport, un aperçu fidèle au document final (en-tête, sections, signature) permet de vérifier le contenu et de revenir le modifier.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et devenir de chaque intervention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fiche d'une intervention : la lier à un chantier existant, la garder en attente pour un futur devis, l'archiver, ou créer directement une facture — avec un badge de statut visible dans la liste.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entièrement modifiable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Nom, adresse, code postal, ville, email, téléphone et SIRET sont pré-remplis depuis le profil mais modifiables pour chaque rapport ; le logo peut être celui du profil ou en importer un autre à la volée, sans toucher au profil principal.</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Section Interventions sur l'accueil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section sur la page d'accueil, sous 'Devis en cours', listant les interventions avec leur statut (À faire / En cours / Terminée), et les actions rapides archiver/supprimer.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direct dans 'À faire maintenant'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intervention du jour peut être déplacée en un clic vers la liste 'À faire maintenant' de l'accueil, sans dupliquer la fiche si elle y est déjà.</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page de l'en-tête revue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'RAPPORT D'INTERVENTION', le numéro et la date de création sont désormais mis en avant en haut à droite, à côté des informations de l'entreprise, comme sur les devis et factures.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réutilisable depuis le profil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signature déjà enregistrée dans 'Ma Signature' (dessinée ou importée) peut être ajoutée en un clic au rapport, affichée en bas à droite du document comme une vraie signature.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Outil 'Facturation' renommé en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Renommé dans le menu et sur la page, dans les 5 langues de l'application.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Carte de visite professionnelle (en test interne)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 au format réel (85 x 55 mm, prêt à imprimer, recto-verso). Recto sur fond blanc : logo de l'entreprise, raison sociale, spécialité, adresse, téléphone (+33) et email, QR code vers le site web de l'entreprise en bas à droite. Verso sur fond bleu Koji : vrai logo Koji (reproduit vectoriellement), QR codes vers le site Koji et vers les stores (App Store / Google Play, à activer dès que les liens réels seront fournis). Bouton Aperçu avant téléchargement. Réservée aux comptes administrateurs pour le moment (jusqu'à nouvel ordre).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QR code personnalisé pour la carte de visite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Sous le champ 'Site web' de la fiche entreprise, possibilité d'importer son propre QR code (image), qui remplace alors celui généré automatiquement depuis le site web sur la carte de visite — utile pour pointer vers autre chose (page d'avis, WhatsApp...).</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 mention App Store / Play Store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 la mention 'Disponible sur App Store et Play Store' avec un symbole pour chaque store.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aligné sur le style de la page de connexion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badges 'Google Play' / 'App Store' du verso reprennent maintenant les mêmes icônes et le même style encadré que sur la page de connexion (composant AuthBrandPanel), avec le texte 'Disponible sur' au lieu de 'Bientôt disponible sur'.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9A4C1F"/>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Backend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API, logique métier et intégrations</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42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place initiale de l'application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Structure Next.js App Router, authentification, base de données JSON locale et première version des modules Devis, Chantiers, Équipe, Planning.</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Fiabilisation de l'envoi d'email (SMTP Gmail)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Import dynamique de nodemailer compatible Vercel (ES modules), configuration complète (TLS, authentification).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des devis réparée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génération/aperçu PDF lisait encore l'ancien fichier JSON local et ne trouvait plus les devis créés depuis la migration Supabase ; corrigée pour lire directement la table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Versioning et sauvegarde complète du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numéro de version s'incrémente à chaque enregistrement manuel ; les notes, majorations/minorations et le taux de TVA choisi, qui se perdaient silencieusement, sont désormais bien sauvegardés.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horaire par défaut sur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taux horaire du profil entreprise sert désormais de valeur par défaut pour chaque ouvrage (liste, création, édition, calcul du coût main d'œuvre).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Restauration de la description des ouvrages de bibliothèque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description déjà saisie dans la Bibliothèque d'ouvrages est désormais reprise automatiquement quand l'ouvrage est ajouté à un devis, au lieu d'être perdue comme auparavant.</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Référence client en texte libre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'Référence client' n'est plus une liste déroulante à choisir (qui pouvait donner l'impression que l'information saisie disparaissait) : c'est maintenant un champ texte simple qui garde exactement ce qui a été écrit.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 calcul du total d'un devis (majorations non comptées)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montant Total HT / TVA / Total TTC enregistré pour chaque devis ne prenait pas en compte les majorations (coordination de chantier, provision aléas, assurance décennale), même si elles étaient listées sur le document. Corrigé à la source (calcul serveur) : le total inclut désormais bien les majorations, partout où il est utilisé (tableau de bord, facturation, signature client, archives).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Deuxième cause trouvée : le total serveur retombait à 0</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calcul serveur recalculait chaque ligne à partir de zéro au lieu de faire confiance au montant déjà calculé correctement par l'éditeur, et se trompait sur deux points (un champ technique à 0 mal interprété comme 'prix fixe', une liste de fournitures non reconnue), ramenant le total à 0€ à chaque enregistrement. Corrigé : le serveur fait maintenant confiance au montant de chaque ligne tel qu'il apparaît dans l'éditeur.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de TVA de chaque ligne aligné sur le devis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de devis calculait sa propre TVA à 20% par défaut, sans tenir compte du taux choisi pour le devis (ex. 10%) — corrigé pour utiliser le taux réellement sélectionné.</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Protection contre l'effacement accidentel d'une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Renvoyer l'invitation à signer un devis déjà signé effaçait silencieusement la signature existante (nom, date) pour repartir de zéro. Une confirmation explicite est désormais nécessaire pour rouvrir un devis déjà signé.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Acceptation manuelle d'un devis, sans passer par la signature électronique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action pour marquer un devis comme accepté par le client (statut 'Signé') directement depuis l'éditeur, sans passer par Kôji Signature. Une fenêtre demande le motif — acceptation verbale ou acompte versé — avec une précision libre optionnelle (montant, date...). Le devis devient alors immédiatement éligible à la facturation et débloque l'accès normal au chantier lié, exactement comme une signature électronique. Un repère (verbal / acompte) distingue ce cas d'une vraie signature dans la liste des devis.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calcul correcte pour les majorations (coordination, aléas, assurance)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coordination de chantier et la provision pour aléas se calculaient déjà, comme il se doit, uniquement sur le total des lots. L'assurance décennale utilisait à tort la même base, alors qu'elle doit porter sur le chiffrage total de l'affaire HT (lots + coordination + provision aléas + toute ligne précédente). Chaque ligne de majoration a maintenant un menu 'Base' — 'Total des lots' ou 'Chiffrage cumulé' — pour choisir explicitement sa base de calcul, réglé sur cumulé par défaut pour l'assurance décennale ; utile si d'autres lignes cumulatives sont ajoutées plus tard. Corrigé dans le calcul du devis, le PDF et l'export Word, qui utilisaient chacun leur propre logique.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 bug bloquant majeur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chantier ne pouvait être consulté que si son devis était déjà signé par le client, empêchant toute préparation en amont. Corrigé : la fiche chantier est désormais accessible dès sa création.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Dépenses liées à un ouvrage précis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L'API des dépenses accepte désormais un identifiant de tâche (ouvrage) en plus du chantier, pour un suivi financier plus fin.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Six types de pointage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Heures de travail, jour de travail, forfait, ouvrage, passage, déplacement — chacun avec date et montant ; le montant des heures est calculé automatiquement à partir du taux horaire de l'ouvrier.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Alertes automatiques de dépassement / manque d'heures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À la fin de chaque semaine, si le total travaillé diffère du contrat de plus de 15 minutes, une notification est envoyée automatiquement à l'entreprise (une seule fois par semaine et par ouvrier).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du relevé d'heures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Génération d'un PDF mensuel par ouvrier : détail par journée/type de pointage, totaux hebdomadaires, total du mois en heures et en montant — pensé pour la comptabilité et la gestion de la paie.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Envoi d'email réel à la signature du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premier envoi des identifiants client déclenche désormais un vrai email (SMTP), et plus seulement une file d'attente locale.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client branchée sur Supabase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client qui signe un devis n'a pas de session Kôji : une clé technique dédiée (service_role) permet de retrouver et mettre à jour son devis directement dans la base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complet du portail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routes (connexion client, devis/tâches/notes du portail, création de factures) lisaient encore l'ancien fichier JSON local et ne trouvaient plus aucune donnée récente depuis la migration Supabase des devis — toutes corrigées.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du temps par ouvrage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Démarrer / Pause / Reprendre / Terminer par tâche, avec calcul automatique du temps consommé et alerte en cas de dépassement du temps prévu.</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Reconnexion automatique de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session expirée (~1h) provoquait des échecs silencieux à l'enregistrement (profil, IBAN, devis) sans reconnexion automatique ; la détection couvre désormais tous les cas d'expiration.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Corrections de plantages ponctuels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erreurs bloquantes corrigées au fil des tests (références de code manquantes, composants mal placés).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entité 'interventions'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API dédiée (creation, consultation, suppression) pour stocker les rapports d'intervention, avec historique des actions comme pour les autres modules.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du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peut être téléchargé en PDF avec le logo de l'entreprise en en-tête, dans une mise en page reprenant celle des rapports d'intervention papier existants.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Facturation directe d'une intervention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facture peut être créée directement à partir d'une intervention (sans passer par un devis signé), avec un montant saisi manuellement ; l'intervention passe alors automatiquement au statut 'Facturée'.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propre à chaque rapport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intervention conserve son propre instantané des informations d'entreprise (comme les devis), pour que le PDF reste fidèle même si le profil change ensuite.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Statut de suivi automatique (À faire / En cours / Terminée)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statut d'une intervention évolue automatiquement selon sa date (À faire tant que la date n'est pas arrivée, En cours le jour J), jusqu'à être marquée Terminée manuellement puis, si besoin, archivée.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Numéro de rapport automatique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reçoit un numéro unique généré automatiquement (ex. INT-2026-0003), affiché en en-tête avec la date de création, sur le même principe que la numérotation des devis et factures.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des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facture (issue d'un devis signé ou d'une intervention) peut désormais être téléchargée en PDF avec les informations de l'entreprise, du client et du montant — bouton ajouté dans la page Facturation et dans la fiche d'une intervention.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de sécurité complet et correction des failles trouvées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approfondi ayant confirmé 6 failles actives : fuite de données entre entreprises, base de données lisible sans connexion, portail client sans authentification, mots de passe en clair, base de données versionnée dans Git, absence de vérification centralisée. Corrigées le jour même (détail ci-dessous).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données entre entreprises corrigée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trentaine de routes (clients, devis, factures, tâches, ouvriers...) faisaient confiance à un identifiant envoyé par le navigateur pour savoir quelles données afficher, sans vérifier qu'il correspondait à la session connectée : n'importe qui pouvait lire ou modifier les données d'une autre entreprise en changeant cet identifiant. Ces routes vérifient désormais la vraie session avant de répondre.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client équipé d'une vraie session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L'espace client particulier n'avait aucune session vérifiable : ses informations (dont le mot de passe de signature) pouvaient être lues à partir du simple email d'un client, sans mot de passe. Un jeton de connexion signé a été ajouté, vérifié sur chaque page du portail client.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Mots de passe du portail client chiffrés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mots de passe des comptes client particulier étaient stockés et comparés en texte lisible. Ils sont désormais chiffrés (hachage scrypt), avec migration automatique et transparente des comptes existants à la prochaine connexion.</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ouvrier équipé d'une vraie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 portail client, l'espace ouvrier n'avait aucune session vérifiable après la connexion : ses tâches, heures et taux horaire étaient accessibles à quiconque connaissait son identifiant. Un jeton de connexion signé a été ajouté.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messages et mots de passe provisoires par email/SMS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route technique renvoyait tous les emails et SMS envoyés par l'application, tous chantiers et toutes entreprises confondus (dont des mots de passe provisoires en clair), dès qu'elle était appelée sans préciser de chantier. Corrigée : un chantier précis est désormais obligatoire, et seuls l'entreprise concernée ou son client peuvent consulter ses messages.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Import de fourniture par lien sécurisé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L'outil qui récupère automatiquement les informations d'un produit à partir d'un lien pouvait être utilisé par n'importe qui, sans connexion, pour faire aller le serveur chercher n'importe quelle adresse — un risque d'abus classique. Restreint aux utilisateurs connectés et aux liens web valides uniquement.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Les 3 sessions (entreprise, client, ouvrier) déplacées hors de portée du navigateur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jetons de connexion vivaient dans le stockage local du navigateur, lisible par le moindre script exécuté sur la page (faille XSS, extension malveillante) — une seule faille de ce type ailleurs dans l'appli aurait suffi à voler une session active. Déplacés vers des cookies HttpOnly, invisibles et inaccessibles au code JavaScript de la page, pour les trois types de compte.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 de passe de connexion signature chiffré</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mot de passe provisoire envoyé au client pour signer son devis était comparé et stocké en texte lisible. Chiffré (hachage scrypt) comme le reste ; le mot de passe en clair n'est plus jamais écrit en base, seulement affiché une fois au moment de l'envoi.</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Vraie icône téléphone sur la carte de visite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deux premières tentatives (traits abstraits) ne ressemblaient pas à un téléphone. Le moteur de génération PDF du projet a été étendu pour dessiner de vraies icônes vectorielles (courbes et arcs SVG, pas seulement des rectangles et traits droits) — utilisé pour reproduire l'icône téléphone standard, et réutilisable pour toute icône future de ce type.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Fondations du module Contacts (base de données)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entité Contact centrale (particulier ou société, plusieurs rôles cumulables : client, prospect, équipe, sous-traitant, architecte, fournisseur, société donneuse d'ordre, autre), avec une table de liaison pour les intervenants par chantier (rôle propre à chaque chantier, indépendant du rôle général de la fiche). Devis, factures et rapports d'intervention peuvent désormais pointer vers une fiche contact, sans qu'aucune migration de base de données ne soit nécessaire. Les coordonnées déjà copiées sur un devis/facture envoyé restent inchangées même si la fiche contact est modifiée ensuite. Etape technique invisible pour l'instant : l'interface (page Contacts, sélection dans les formulaires) arrive dans la foulée.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386641"/>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Base de données</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Modèle de données et infrastructure</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11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Vercel / configuration environnement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Correction de la configuration d'authentification et du SMTP sur l'environnement de production Vercel.</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Migration des devis vers Supabase (table partagée)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devis créés sur le site web et sur l'application mobile (Firas) vivent désormais dans la même table Supabase 'quotes', avec un mapping bidirectionnel dédié (lib/quote-mapping.js).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Supabase : chantiers, planning, fournitures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Ces trois modules sont branchés sur la base partagée avec l'application mobile ; les comptes utilisateurs sont également partagés entre les deux plateformes.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donnée : heures contractuelles par ouvrier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d'un paramètre 'heures contractuelles / semaine' (35h par défaut) sur chaque fiche ouvrier, utilisé pour le calcul des écarts.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du backend</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des routes serveur : suppression du code mort (module Marketplace), vérification de la cohérence entre données locales et données Supabase sur l'ensemble de l'application.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approfondi du code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du projet (pages, routes, fonctions, dépendances) pour repérer tout ce qui n'était plus utilisé ; suppression de 6 pages orphelines (onboarding, welcome, compte, anciennes pages devis en 3 étapes), d'une route de connexion de démonstration, d'un dossier de composants dupliqué obsolète, de plusieurs fonctions inutilisées et d'une dépendance logicielle non utilisée — sans toucher aux fonctionnalités actives.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la génération de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ancien générateur de devis PDF, devenu inaccessible après une précédente refonte (code jamais exécuté), a été retiré du fichier technique de génération de documents.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l'export Word des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second bloc de génération de document, devenu inaccessible après une précédente refonte (jamais exécuté), a été retiré du fichier technique de génération de documents.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données partagée verrouillée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table contenant l'essentiel des données de l'application était lisible par n'importe qui sur internet avec la simple clé publique du site, sans connexion. L'application y accède désormais avec une clé privée réservée au serveur, ce qui permet de fermer complètement l'accès public sans rien casser.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Fichier de base de données retiré du dépôt Git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fichier contenant une copie complète de la base de données de développement, avec des mots de passe réels en clair, était suivi par Git depuis plusieurs mois. Retiré du suivi et exclu définitivement.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Verrouillage de la base partagée écrit dans le script d'installation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commande qui ferme complètement l'accès public à la table de données partagée a été ajoutée au script SQL du projet, prête à être exécutée dans le tableau de bord Supabase.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B1030"/>
        </a:solidFill>
      </p:bgPr>
    </p:bg>
    <p:spTree>
      <p:nvGrpSpPr>
        <p:cNvPr id="1" name=""/>
        <p:cNvGrpSpPr/>
        <p:nvPr/>
      </p:nvGrpSpPr>
      <p:grpSpPr>
        <a:xfrm>
          <a:off x="0" y="0"/>
          <a:ext cx="0" cy="0"/>
          <a:chOff x="0" y="0"/>
          <a:chExt cx="0" cy="0"/>
        </a:xfrm>
      </p:grpSpPr>
      <p:sp>
        <p:nvSpPr>
          <p:cNvPr id="2" name="Text 0"/>
          <p:cNvSpPr/>
          <p:nvPr/>
        </p:nvSpPr>
        <p:spPr>
          <a:xfrm>
            <a:off x="640080" y="2651760"/>
            <a:ext cx="7315200" cy="91440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Merci</a:t>
            </a:r>
            <a:endParaRPr lang="en-US" sz="4000" dirty="0"/>
          </a:p>
        </p:txBody>
      </p:sp>
      <p:sp>
        <p:nvSpPr>
          <p:cNvPr id="3" name="Text 1"/>
          <p:cNvSpPr/>
          <p:nvPr/>
        </p:nvSpPr>
        <p:spPr>
          <a:xfrm>
            <a:off x="640080" y="3566160"/>
            <a:ext cx="9144000" cy="548640"/>
          </a:xfrm>
          <a:prstGeom prst="rect">
            <a:avLst/>
          </a:prstGeom>
          <a:noFill/>
          <a:ln/>
        </p:spPr>
        <p:txBody>
          <a:bodyPr wrap="square" rtlCol="0" anchor="ctr"/>
          <a:lstStyle/>
          <a:p>
            <a:pPr indent="0" marL="0">
              <a:buNone/>
            </a:pPr>
            <a:r>
              <a:rPr lang="en-US" sz="1300" dirty="0">
                <a:solidFill>
                  <a:srgbClr val="C7C9E0"/>
                </a:solidFill>
                <a:latin typeface="Segoe UI" pitchFamily="34" charset="0"/>
                <a:ea typeface="Segoe UI" pitchFamily="34" charset="-122"/>
                <a:cs typeface="Segoe UI" pitchFamily="34" charset="-120"/>
              </a:rPr>
              <a:t>Document généré automatiquement à partir de l'historique de développement du projet.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Kôji Web — Récapitulatif technique</dc:title>
  <dc:subject>PptxGenJS Presentation</dc:subject>
  <dc:creator>Équipe développement Kôji Web</dc:creator>
  <cp:lastModifiedBy>Équipe développement Kôji Web</cp:lastModifiedBy>
  <cp:revision>1</cp:revision>
  <dcterms:created xsi:type="dcterms:W3CDTF">2026-08-16T17:03:10Z</dcterms:created>
  <dcterms:modified xsi:type="dcterms:W3CDTF">2026-08-16T17:03:10Z</dcterms:modified>
</cp:coreProperties>
</file>