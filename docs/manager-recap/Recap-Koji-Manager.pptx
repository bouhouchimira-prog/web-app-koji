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Lst>
  <p:notesMasterIdLst>
    <p:notesMasterId r:id="rId41"/>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notesMaster" Target="notesMasters/notesMaster1.xml"/><Relationship Id="rId42" Type="http://schemas.openxmlformats.org/officeDocument/2006/relationships/presProps" Target="presProps.xml"/><Relationship Id="rId43" Type="http://schemas.openxmlformats.org/officeDocument/2006/relationships/viewProps" Target="viewProps.xml"/><Relationship Id="rId44" Type="http://schemas.openxmlformats.org/officeDocument/2006/relationships/theme" Target="theme/theme1.xml"/><Relationship Id="rId4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C9A96A"/>
          </a:solidFill>
          <a:ln/>
        </p:spPr>
      </p:sp>
      <p:sp>
        <p:nvSpPr>
          <p:cNvPr id="3" name="Text 1"/>
          <p:cNvSpPr/>
          <p:nvPr/>
        </p:nvSpPr>
        <p:spPr>
          <a:xfrm>
            <a:off x="640080" y="548640"/>
            <a:ext cx="3657600" cy="548640"/>
          </a:xfrm>
          <a:prstGeom prst="rect">
            <a:avLst/>
          </a:prstGeom>
          <a:noFill/>
          <a:ln/>
        </p:spPr>
        <p:txBody>
          <a:bodyPr wrap="square" rtlCol="0" anchor="ctr"/>
          <a:lstStyle/>
          <a:p>
            <a:pPr indent="0" marL="0">
              <a:buNone/>
            </a:pPr>
            <a:r>
              <a:rPr lang="en-US" sz="2000" b="1" spc="400" kern="0" dirty="0">
                <a:solidFill>
                  <a:srgbClr val="C9A96A"/>
                </a:solidFill>
                <a:latin typeface="Georgia" pitchFamily="34" charset="0"/>
                <a:ea typeface="Georgia" pitchFamily="34" charset="-122"/>
                <a:cs typeface="Georgia" pitchFamily="34" charset="-120"/>
              </a:rPr>
              <a:t>KÔJI</a:t>
            </a:r>
            <a:endParaRPr lang="en-US" sz="2000" dirty="0"/>
          </a:p>
        </p:txBody>
      </p:sp>
      <p:sp>
        <p:nvSpPr>
          <p:cNvPr id="4" name="Text 2"/>
          <p:cNvSpPr/>
          <p:nvPr/>
        </p:nvSpPr>
        <p:spPr>
          <a:xfrm>
            <a:off x="640080" y="2468880"/>
            <a:ext cx="10515600" cy="1188720"/>
          </a:xfrm>
          <a:prstGeom prst="rect">
            <a:avLst/>
          </a:prstGeom>
          <a:noFill/>
          <a:ln/>
        </p:spPr>
        <p:txBody>
          <a:bodyPr wrap="square" rtlCol="0" anchor="ctr"/>
          <a:lstStyle/>
          <a:p>
            <a:pPr indent="0" marL="0">
              <a:buNone/>
            </a:pPr>
            <a:r>
              <a:rPr lang="en-US" sz="4000" b="1" dirty="0">
                <a:solidFill>
                  <a:srgbClr val="FFFFFF"/>
                </a:solidFill>
                <a:latin typeface="Georgia" pitchFamily="34" charset="0"/>
                <a:ea typeface="Georgia" pitchFamily="34" charset="-122"/>
                <a:cs typeface="Georgia" pitchFamily="34" charset="-120"/>
              </a:rPr>
              <a:t>Kôji Web — Récapitulatif technique</a:t>
            </a:r>
            <a:endParaRPr lang="en-US" sz="4000" dirty="0"/>
          </a:p>
        </p:txBody>
      </p:sp>
      <p:sp>
        <p:nvSpPr>
          <p:cNvPr id="5" name="Text 3"/>
          <p:cNvSpPr/>
          <p:nvPr/>
        </p:nvSpPr>
        <p:spPr>
          <a:xfrm>
            <a:off x="640080" y="3429000"/>
            <a:ext cx="10515600" cy="548640"/>
          </a:xfrm>
          <a:prstGeom prst="rect">
            <a:avLst/>
          </a:prstGeom>
          <a:noFill/>
          <a:ln/>
        </p:spPr>
        <p:txBody>
          <a:bodyPr wrap="square" rtlCol="0" anchor="ctr"/>
          <a:lstStyle/>
          <a:p>
            <a:pPr indent="0" marL="0">
              <a:buNone/>
            </a:pPr>
            <a:r>
              <a:rPr lang="en-US" sz="1800" dirty="0">
                <a:solidFill>
                  <a:srgbClr val="C7C9E0"/>
                </a:solidFill>
                <a:latin typeface="Segoe UI" pitchFamily="34" charset="0"/>
                <a:ea typeface="Segoe UI" pitchFamily="34" charset="-122"/>
                <a:cs typeface="Segoe UI" pitchFamily="34" charset="-120"/>
              </a:rPr>
              <a:t>Développement produit — Frontend, Backend &amp; Base de données</a:t>
            </a:r>
            <a:endParaRPr lang="en-US" sz="1800" dirty="0"/>
          </a:p>
        </p:txBody>
      </p:sp>
      <p:sp>
        <p:nvSpPr>
          <p:cNvPr id="6" name="Text 4"/>
          <p:cNvSpPr/>
          <p:nvPr/>
        </p:nvSpPr>
        <p:spPr>
          <a:xfrm>
            <a:off x="640080" y="4114800"/>
            <a:ext cx="5486400" cy="365760"/>
          </a:xfrm>
          <a:prstGeom prst="rect">
            <a:avLst/>
          </a:prstGeom>
          <a:noFill/>
          <a:ln/>
        </p:spPr>
        <p:txBody>
          <a:bodyPr wrap="square" rtlCol="0" anchor="ctr"/>
          <a:lstStyle/>
          <a:p>
            <a:pPr indent="0" marL="0">
              <a:buNone/>
            </a:pPr>
            <a:r>
              <a:rPr lang="en-US" sz="1400" b="1" dirty="0">
                <a:solidFill>
                  <a:srgbClr val="C9A96A"/>
                </a:solidFill>
                <a:latin typeface="Segoe UI" pitchFamily="34" charset="0"/>
                <a:ea typeface="Segoe UI" pitchFamily="34" charset="-122"/>
                <a:cs typeface="Segoe UI" pitchFamily="34" charset="-120"/>
              </a:rPr>
              <a:t>Juin - Juillet 2026</a:t>
            </a:r>
            <a:endParaRPr lang="en-US" sz="1400" dirty="0"/>
          </a:p>
        </p:txBody>
      </p:sp>
      <p:sp>
        <p:nvSpPr>
          <p:cNvPr id="7" name="Text 5"/>
          <p:cNvSpPr/>
          <p:nvPr/>
        </p:nvSpPr>
        <p:spPr>
          <a:xfrm>
            <a:off x="640080" y="5943600"/>
            <a:ext cx="5486400" cy="320040"/>
          </a:xfrm>
          <a:prstGeom prst="rect">
            <a:avLst/>
          </a:prstGeom>
          <a:noFill/>
          <a:ln/>
        </p:spPr>
        <p:txBody>
          <a:bodyPr wrap="square" rtlCol="0" anchor="ctr"/>
          <a:lstStyle/>
          <a:p>
            <a:pPr indent="0" marL="0">
              <a:buNone/>
            </a:pPr>
            <a:r>
              <a:rPr lang="en-US" sz="1100" dirty="0">
                <a:solidFill>
                  <a:srgbClr val="8890B5"/>
                </a:solidFill>
                <a:latin typeface="Segoe UI" pitchFamily="34" charset="0"/>
                <a:ea typeface="Segoe UI" pitchFamily="34" charset="-122"/>
                <a:cs typeface="Segoe UI" pitchFamily="34" charset="-120"/>
              </a:rPr>
              <a:t>Préparé pour : Management</a:t>
            </a:r>
            <a:endParaRPr lang="en-US" sz="1100" dirty="0"/>
          </a:p>
        </p:txBody>
      </p:sp>
      <p:sp>
        <p:nvSpPr>
          <p:cNvPr id="8" name="Text 6"/>
          <p:cNvSpPr/>
          <p:nvPr/>
        </p:nvSpPr>
        <p:spPr>
          <a:xfrm>
            <a:off x="640080" y="6263640"/>
            <a:ext cx="5486400" cy="320040"/>
          </a:xfrm>
          <a:prstGeom prst="rect">
            <a:avLst/>
          </a:prstGeom>
          <a:noFill/>
          <a:ln/>
        </p:spPr>
        <p:txBody>
          <a:bodyPr wrap="square" rtlCol="0" anchor="ctr"/>
          <a:lstStyle/>
          <a:p>
            <a:pPr indent="0" marL="0">
              <a:buNone/>
            </a:pPr>
            <a:r>
              <a:rPr lang="en-US" sz="1100" dirty="0">
                <a:solidFill>
                  <a:srgbClr val="8890B5"/>
                </a:solidFill>
                <a:latin typeface="Segoe UI" pitchFamily="34" charset="0"/>
                <a:ea typeface="Segoe UI" pitchFamily="34" charset="-122"/>
                <a:cs typeface="Segoe UI" pitchFamily="34" charset="-120"/>
              </a:rPr>
              <a:t>Préparé par : Équipe développement Kôji Web</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3EEE3"/>
        </a:solidFill>
      </p:bgPr>
    </p:bg>
    <p:spTree>
      <p:nvGrpSpPr>
        <p:cNvPr id="1" name=""/>
        <p:cNvGrpSpPr/>
        <p:nvPr/>
      </p:nvGrpSpPr>
      <p:grpSpPr>
        <a:xfrm>
          <a:off x="0" y="0"/>
          <a:ext cx="0" cy="0"/>
          <a:chOff x="0" y="0"/>
          <a:chExt cx="0" cy="0"/>
        </a:xfrm>
      </p:grpSpPr>
      <p:sp>
        <p:nvSpPr>
          <p:cNvPr id="2" name="Text 0"/>
          <p:cNvSpPr/>
          <p:nvPr/>
        </p:nvSpPr>
        <p:spPr>
          <a:xfrm>
            <a:off x="640080" y="411480"/>
            <a:ext cx="7315200" cy="548640"/>
          </a:xfrm>
          <a:prstGeom prst="rect">
            <a:avLst/>
          </a:prstGeom>
          <a:noFill/>
          <a:ln/>
        </p:spPr>
        <p:txBody>
          <a:bodyPr wrap="square" rtlCol="0" anchor="ctr"/>
          <a:lstStyle/>
          <a:p>
            <a:pPr indent="0" marL="0">
              <a:buNone/>
            </a:pPr>
            <a:r>
              <a:rPr lang="en-US" sz="2600" b="1" dirty="0">
                <a:solidFill>
                  <a:srgbClr val="1B1F3B"/>
                </a:solidFill>
                <a:latin typeface="Georgia" pitchFamily="34" charset="0"/>
                <a:ea typeface="Georgia" pitchFamily="34" charset="-122"/>
                <a:cs typeface="Georgia" pitchFamily="34" charset="-120"/>
              </a:rPr>
              <a:t>Vue d'ensemble</a:t>
            </a:r>
            <a:endParaRPr lang="en-US" sz="2600" dirty="0"/>
          </a:p>
        </p:txBody>
      </p:sp>
      <p:sp>
        <p:nvSpPr>
          <p:cNvPr id="3" name="Text 1"/>
          <p:cNvSpPr/>
          <p:nvPr/>
        </p:nvSpPr>
        <p:spPr>
          <a:xfrm>
            <a:off x="640080" y="960120"/>
            <a:ext cx="7315200" cy="320040"/>
          </a:xfrm>
          <a:prstGeom prst="rect">
            <a:avLst/>
          </a:prstGeom>
          <a:noFill/>
          <a:ln/>
        </p:spPr>
        <p:txBody>
          <a:bodyPr wrap="square" rtlCol="0" anchor="ctr"/>
          <a:lstStyle/>
          <a:p>
            <a:pPr indent="0" marL="0">
              <a:buNone/>
            </a:pPr>
            <a:r>
              <a:rPr lang="en-US" sz="1300" dirty="0">
                <a:solidFill>
                  <a:srgbClr val="8A7C68"/>
                </a:solidFill>
                <a:latin typeface="Segoe UI" pitchFamily="34" charset="0"/>
                <a:ea typeface="Segoe UI" pitchFamily="34" charset="-122"/>
                <a:cs typeface="Segoe UI" pitchFamily="34" charset="-120"/>
              </a:rPr>
              <a:t>Juin - Juillet 2026</a:t>
            </a:r>
            <a:endParaRPr lang="en-US" sz="1300" dirty="0"/>
          </a:p>
        </p:txBody>
      </p:sp>
      <p:sp>
        <p:nvSpPr>
          <p:cNvPr id="4" name="Shape 2"/>
          <p:cNvSpPr/>
          <p:nvPr/>
        </p:nvSpPr>
        <p:spPr>
          <a:xfrm>
            <a:off x="640080" y="1554480"/>
            <a:ext cx="2468880" cy="1371600"/>
          </a:xfrm>
          <a:prstGeom prst="roundRect">
            <a:avLst>
              <a:gd name="adj" fmla="val 5333"/>
            </a:avLst>
          </a:prstGeom>
          <a:solidFill>
            <a:srgbClr val="FFFFFF"/>
          </a:solidFill>
          <a:ln w="12700">
            <a:solidFill>
              <a:srgbClr val="E4DCCB"/>
            </a:solidFill>
            <a:prstDash val="solid"/>
          </a:ln>
        </p:spPr>
      </p:sp>
      <p:sp>
        <p:nvSpPr>
          <p:cNvPr id="5" name="Text 3"/>
          <p:cNvSpPr/>
          <p:nvPr/>
        </p:nvSpPr>
        <p:spPr>
          <a:xfrm>
            <a:off x="6400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83</a:t>
            </a:r>
            <a:endParaRPr lang="en-US" sz="3200" dirty="0"/>
          </a:p>
        </p:txBody>
      </p:sp>
      <p:sp>
        <p:nvSpPr>
          <p:cNvPr id="6" name="Text 4"/>
          <p:cNvSpPr/>
          <p:nvPr/>
        </p:nvSpPr>
        <p:spPr>
          <a:xfrm>
            <a:off x="7315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Mises à jour livrées</a:t>
            </a:r>
            <a:endParaRPr lang="en-US" sz="1050" dirty="0"/>
          </a:p>
        </p:txBody>
      </p:sp>
      <p:sp>
        <p:nvSpPr>
          <p:cNvPr id="7" name="Shape 5"/>
          <p:cNvSpPr/>
          <p:nvPr/>
        </p:nvSpPr>
        <p:spPr>
          <a:xfrm>
            <a:off x="3383280" y="1554480"/>
            <a:ext cx="2468880" cy="1371600"/>
          </a:xfrm>
          <a:prstGeom prst="roundRect">
            <a:avLst>
              <a:gd name="adj" fmla="val 5333"/>
            </a:avLst>
          </a:prstGeom>
          <a:solidFill>
            <a:srgbClr val="FFFFFF"/>
          </a:solidFill>
          <a:ln w="12700">
            <a:solidFill>
              <a:srgbClr val="E4DCCB"/>
            </a:solidFill>
            <a:prstDash val="solid"/>
          </a:ln>
        </p:spPr>
      </p:sp>
      <p:sp>
        <p:nvSpPr>
          <p:cNvPr id="8" name="Text 6"/>
          <p:cNvSpPr/>
          <p:nvPr/>
        </p:nvSpPr>
        <p:spPr>
          <a:xfrm>
            <a:off x="33832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41</a:t>
            </a:r>
            <a:endParaRPr lang="en-US" sz="3200" dirty="0"/>
          </a:p>
        </p:txBody>
      </p:sp>
      <p:sp>
        <p:nvSpPr>
          <p:cNvPr id="9" name="Text 7"/>
          <p:cNvSpPr/>
          <p:nvPr/>
        </p:nvSpPr>
        <p:spPr>
          <a:xfrm>
            <a:off x="34747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Frontend</a:t>
            </a:r>
            <a:endParaRPr lang="en-US" sz="1050" dirty="0"/>
          </a:p>
        </p:txBody>
      </p:sp>
      <p:sp>
        <p:nvSpPr>
          <p:cNvPr id="10" name="Shape 8"/>
          <p:cNvSpPr/>
          <p:nvPr/>
        </p:nvSpPr>
        <p:spPr>
          <a:xfrm>
            <a:off x="6126480" y="1554480"/>
            <a:ext cx="2468880" cy="1371600"/>
          </a:xfrm>
          <a:prstGeom prst="roundRect">
            <a:avLst>
              <a:gd name="adj" fmla="val 5333"/>
            </a:avLst>
          </a:prstGeom>
          <a:solidFill>
            <a:srgbClr val="FFFFFF"/>
          </a:solidFill>
          <a:ln w="12700">
            <a:solidFill>
              <a:srgbClr val="E4DCCB"/>
            </a:solidFill>
            <a:prstDash val="solid"/>
          </a:ln>
        </p:spPr>
      </p:sp>
      <p:sp>
        <p:nvSpPr>
          <p:cNvPr id="11" name="Text 9"/>
          <p:cNvSpPr/>
          <p:nvPr/>
        </p:nvSpPr>
        <p:spPr>
          <a:xfrm>
            <a:off x="61264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32</a:t>
            </a:r>
            <a:endParaRPr lang="en-US" sz="3200" dirty="0"/>
          </a:p>
        </p:txBody>
      </p:sp>
      <p:sp>
        <p:nvSpPr>
          <p:cNvPr id="12" name="Text 10"/>
          <p:cNvSpPr/>
          <p:nvPr/>
        </p:nvSpPr>
        <p:spPr>
          <a:xfrm>
            <a:off x="62179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Backend</a:t>
            </a:r>
            <a:endParaRPr lang="en-US" sz="1050" dirty="0"/>
          </a:p>
        </p:txBody>
      </p:sp>
      <p:sp>
        <p:nvSpPr>
          <p:cNvPr id="13" name="Shape 11"/>
          <p:cNvSpPr/>
          <p:nvPr/>
        </p:nvSpPr>
        <p:spPr>
          <a:xfrm>
            <a:off x="8869680" y="1554480"/>
            <a:ext cx="2468880" cy="1371600"/>
          </a:xfrm>
          <a:prstGeom prst="roundRect">
            <a:avLst>
              <a:gd name="adj" fmla="val 5333"/>
            </a:avLst>
          </a:prstGeom>
          <a:solidFill>
            <a:srgbClr val="FFFFFF"/>
          </a:solidFill>
          <a:ln w="12700">
            <a:solidFill>
              <a:srgbClr val="E4DCCB"/>
            </a:solidFill>
            <a:prstDash val="solid"/>
          </a:ln>
        </p:spPr>
      </p:sp>
      <p:sp>
        <p:nvSpPr>
          <p:cNvPr id="14" name="Text 12"/>
          <p:cNvSpPr/>
          <p:nvPr/>
        </p:nvSpPr>
        <p:spPr>
          <a:xfrm>
            <a:off x="88696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10</a:t>
            </a:r>
            <a:endParaRPr lang="en-US" sz="3200" dirty="0"/>
          </a:p>
        </p:txBody>
      </p:sp>
      <p:sp>
        <p:nvSpPr>
          <p:cNvPr id="15" name="Text 13"/>
          <p:cNvSpPr/>
          <p:nvPr/>
        </p:nvSpPr>
        <p:spPr>
          <a:xfrm>
            <a:off x="89611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Base de données</a:t>
            </a:r>
            <a:endParaRPr lang="en-US" sz="1050" dirty="0"/>
          </a:p>
        </p:txBody>
      </p:sp>
      <p:sp>
        <p:nvSpPr>
          <p:cNvPr id="16" name="Text 14"/>
          <p:cNvSpPr/>
          <p:nvPr/>
        </p:nvSpPr>
        <p:spPr>
          <a:xfrm>
            <a:off x="640080" y="3337560"/>
            <a:ext cx="731520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Faits marquants</a:t>
            </a:r>
            <a:endParaRPr lang="en-US" sz="1500" dirty="0"/>
          </a:p>
        </p:txBody>
      </p:sp>
      <p:sp>
        <p:nvSpPr>
          <p:cNvPr id="17" name="Text 15"/>
          <p:cNvSpPr/>
          <p:nvPr/>
        </p:nvSpPr>
        <p:spPr>
          <a:xfrm>
            <a:off x="640080" y="3749040"/>
            <a:ext cx="10881360" cy="2468880"/>
          </a:xfrm>
          <a:prstGeom prst="rect">
            <a:avLst/>
          </a:prstGeom>
          <a:noFill/>
          <a:ln/>
        </p:spPr>
        <p:txBody>
          <a:bodyPr wrap="square" rtlCol="0" anchor="ctr"/>
          <a:lstStyle/>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Migration progressive vers Supabase : devis, chantiers, planning et fournitures désormais partagés avec l'application mobile.</a:t>
            </a:r>
            <a:endParaRPr lang="en-US" sz="1300" dirty="0"/>
          </a:p>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Nouveau module Planning / pointage des heures : suivi du temps, alertes automatiques, export PDF pour la paie et la comptabilité.</a:t>
            </a:r>
            <a:endParaRPr lang="en-US" sz="1300" dirty="0"/>
          </a:p>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Ouverture complète des espaces Client particulier et Ouvrier (suivi, notifications, réclamations, alertes urgentes).</a:t>
            </a:r>
            <a:endParaRPr lang="en-US" sz="1300" dirty="0"/>
          </a:p>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Audit et fiabilisation du backend : correction de plusieurs routes critiques restées sur l'ancienne base de données locale.</a:t>
            </a:r>
            <a:endParaRPr lang="en-US" sz="1300" dirty="0"/>
          </a:p>
        </p:txBody>
      </p:sp>
      <p:sp>
        <p:nvSpPr>
          <p:cNvPr id="18" name="Text 16"/>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9" name="Text 17"/>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1D6FE0"/>
          </a:solidFill>
          <a:ln/>
        </p:spPr>
      </p:sp>
      <p:sp>
        <p:nvSpPr>
          <p:cNvPr id="3" name="Text 1"/>
          <p:cNvSpPr/>
          <p:nvPr/>
        </p:nvSpPr>
        <p:spPr>
          <a:xfrm>
            <a:off x="640080" y="2468880"/>
            <a:ext cx="10058400" cy="914400"/>
          </a:xfrm>
          <a:prstGeom prst="rect">
            <a:avLst/>
          </a:prstGeom>
          <a:noFill/>
          <a:ln/>
        </p:spPr>
        <p:txBody>
          <a:bodyPr wrap="square"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Frontend</a:t>
            </a:r>
            <a:endParaRPr lang="en-US" sz="3800" dirty="0"/>
          </a:p>
        </p:txBody>
      </p:sp>
      <p:sp>
        <p:nvSpPr>
          <p:cNvPr id="4" name="Text 2"/>
          <p:cNvSpPr/>
          <p:nvPr/>
        </p:nvSpPr>
        <p:spPr>
          <a:xfrm>
            <a:off x="640080" y="3429000"/>
            <a:ext cx="10058400" cy="457200"/>
          </a:xfrm>
          <a:prstGeom prst="rect">
            <a:avLst/>
          </a:prstGeom>
          <a:noFill/>
          <a:ln/>
        </p:spPr>
        <p:txBody>
          <a:bodyPr wrap="square" rtlCol="0" anchor="ctr"/>
          <a:lstStyle/>
          <a:p>
            <a:pPr indent="0" marL="0">
              <a:buNone/>
            </a:pPr>
            <a:r>
              <a:rPr lang="en-US" sz="1500" dirty="0">
                <a:solidFill>
                  <a:srgbClr val="C7C9E0"/>
                </a:solidFill>
                <a:latin typeface="Segoe UI" pitchFamily="34" charset="0"/>
                <a:ea typeface="Segoe UI" pitchFamily="34" charset="-122"/>
                <a:cs typeface="Segoe UI" pitchFamily="34" charset="-120"/>
              </a:rPr>
              <a:t>Interface et expérience utilisateur</a:t>
            </a:r>
            <a:endParaRPr lang="en-US" sz="1500" dirty="0"/>
          </a:p>
        </p:txBody>
      </p:sp>
      <p:sp>
        <p:nvSpPr>
          <p:cNvPr id="5" name="Text 3"/>
          <p:cNvSpPr/>
          <p:nvPr/>
        </p:nvSpPr>
        <p:spPr>
          <a:xfrm>
            <a:off x="640080" y="3931920"/>
            <a:ext cx="5486400" cy="365760"/>
          </a:xfrm>
          <a:prstGeom prst="rect">
            <a:avLst/>
          </a:prstGeom>
          <a:noFill/>
          <a:ln/>
        </p:spPr>
        <p:txBody>
          <a:bodyPr wrap="square" rtlCol="0" anchor="ctr"/>
          <a:lstStyle/>
          <a:p>
            <a:pPr indent="0" marL="0">
              <a:buNone/>
            </a:pPr>
            <a:r>
              <a:rPr lang="en-US" sz="1200" b="1" dirty="0">
                <a:solidFill>
                  <a:srgbClr val="8FB6FF"/>
                </a:solidFill>
                <a:latin typeface="Segoe UI" pitchFamily="34" charset="0"/>
                <a:ea typeface="Segoe UI" pitchFamily="34" charset="-122"/>
                <a:cs typeface="Segoe UI" pitchFamily="34" charset="-120"/>
              </a:rPr>
              <a:t>41 mise(s) à jour</a:t>
            </a:r>
            <a:endParaRPr lang="en-US" sz="12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Sous-ouvrages dans le devis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Ajout des sous-ouvrages avec le même design que l'ouvrage parent, et un bouton d'ajout repensé (style pointillé).</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Refonte de l'ouvrage au forfait et des fournitures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Recalcul des montants, sous-totaux par pièce, auto-remplissage des fournitures associées.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Fiabilité du formulaire devis</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brouillon se vide au démarrage d'un nouveau chantier ; les valeurs saisies ne se réinitialisent plus involontairement.</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Séparation Historique / Éditeur</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menu Devis ramène toujours vers l'historique des devis plutôt que vers la création directe d'un nouveau devis.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Réorganisation des lots et des ouvrages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Flèches pour monter/descendre un ouvrage dans un lot, et pour réordonner les lots eux-mêmes ; le lot reste ouvert après ajout d'une fourniture.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Bibliothèque d'ouvrages : famille libre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champ Famille permet de taper une nouvelle famille (ex. Métallurgie) en plus de choisir dans la liste existante.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Description de l'ouvrage (titre + sous-titre)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ligne d'un devis (ouvrage ou fourniture) peut désormais recevoir une description libre, affichée sous forme de sous-titre grisé sous la désignation en gras dans le devis généré (PDF et Word) — le même principe que sur les devis modèles.</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Réorganisation de la fiche Client et chantier</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Champs réorganisés pour plus de clarté : référence et client sur une même ligne, téléphone et email sur une même ligne, adresse sur sa propre ligne, puis le reste des informations (chantier, dates, durée, type de bien) en dessous.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Double-clic sur Enregistrer : un seul devis créé au lieu de deux</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double-clic (ou un enregistrement automatique déclenché en même temps qu'un enregistrement manuel) pouvait créer deux devis identiques pour le même chantier au lieu de mettre à jour le même. Corrigé : un enregistrement déjà en cours est désormais partagé au lieu d'en déclencher un second.</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Tableau du devis : colonne Total HT (au lieu de Total TTC)</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colonne de droite du tableau d'ouvrages, sur le PDF et le Word générés, affiche maintenant le Total HT de chaque ligne plutôt que le Total TTC, comme demandé pour la lecture par les clients/partenaires.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Bouton Ouvrir sur chaque ouvrage lié à la bibliothèque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Comme pour les fournitures, chaque ouvrage d'un devis relié à la Bibliothèque d'ouvrages affiche désormais un bouton 'Ouvrir' qui montre sa fiche (code, famille, unité, temps normatif, taux horaire, description) et permet d'aller la modifier dans la Bibliothèque.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Cadres Date de début / Durée des travaux masqués si vides</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Sur le PDF et le Word générés, les deux encadrés ne s'affichent plus quand ni la date de début ni la durée des travaux ne sont renseignées, au lieu d'apparaître vides.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Bouton 'Transformer ce devis en facture'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Génère le même PDF que le devis (mêmes lignes, mêmes montants), avec le même numéro, mais étiqueté 'Facture' au lieu de 'Devis' et sans le numéro de version. La facture obtenue est enregistrée et retrouvable dans l'outil Factures, téléchargeable en PDF à tout moment.</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Chantiers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Écran de choix avant signature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Avant signature du devis, l'entreprise choisit entre 'Modifier le devis' et 'Commencer le chantier' au lieu d'atterrir directement sur le suivi.</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Retour automatique depuis Équipe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bouton 'Ajouter dans Équipe' depuis la planification d'un ouvrage ramène exactement à la même fenêtre une fois le personnel ajouté.</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Fiche ouvrage enrichie (prix, dépenses, marge)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Affichage du prix validé par le client, calcul automatique des dépenses et de la marge par ouvrage, bouton d'ajout rapide (équipe / dépense / note), et récapitulatif automatique des dépenses au niveau du chantier.</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Persistance de la navigation</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rafraîchissement de page (F5) ne ramène plus à l'écran de départ : le chantier et l'ouvrage consultés restent affichés (état conservé dans l'URL).</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Édition complète de l'équipe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Gestion des entreprises/SIRET pour les sous-traitants, liens multiples vers chantiers/devis/ouvrages, avec notifications automatiques lors de l'affectation.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carte d'ajout (design)</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bouton 'Ajouter des personnels' devient un bouton flottant qui ouvre une carte animée avec 3 choix : Ouvrier, Sous-traitant, Planning.</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Module Planning / pointage des heures (nouveau)</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 espace complet : liste des ouvriers avec badge d'heures de la semaine (vert/orange/rouge), détail hebdomadaire par ouvrier, ajout manuel de pointages, navigation semaine par semaine.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Espace ouvrier : pointage de la journée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 onglet 'Pointage' dans le portail ouvrier : début/fin de journée en un clic, avec récapitulatif de la semaine en cours.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Calendrier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Cartes et tâches cliquables, édition d'un événement directement depuis sa fiche.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Notifications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Menu déroulant sur la cloche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Affiche les 5 dernières notifications sans quitter la page en cours, avec un lien vers la liste complète.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Renvoi des identifiants client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Boutons pour renvoyer l'accès client par email ou WhatsApp, tableau d'informations avec icônes et boutons 'Copier'.</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Fiche détail centrée et redessinée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fiche de détail d'une notification est centrée sur la page, avec un tableau d'informations clarifié.</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 de la route d'ouverture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Cliquer sur une notification depuis le menu déroulant ouvrait le devis lié au lieu de sa fiche de détail — corrigé, avec icône par type, heure relative et point 'non lu'.</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Signature &amp; portails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Espace client particulier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Suivi de chantier, centre de notifications et réponses aux messages de l'entreprise, avec fil de discussion.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Espace ouvrier complet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Accueil (chantiers actifs, tâches du jour), archives, notifications, réclamations, signalement de retard et alerte urgente avec choix du type d'incident.</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Accueil &amp; stabilité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Refonte de la page d'accueil</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Message de bienvenue personnalisé ('Bonjour [Nom]'), ajout rapide (tâche/RDV/dépense/note), alertes urgentes, reprise d'un devis brouillon en un clic.</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Compatibilité Safari / iOS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barre d'adresse de Safari mobile masquait parfois le bas de l'écran (boutons inaccessibles) — corrigé sur l'ensemble de l'application.</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Cohérence visuelle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Logo recentré sur toutes les pages, sélecteur de langue simplifié (5 langues, sans drapeaux), adresse d'entreprise simplifiée en une ligne.</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Nouveau type "Intervention" dans l'ajout rapide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Depuis la page d'accueil, un cinquième choix 'Intervention' ouvre un formulaire dédié en plein écran, en plus des types existants Tâche/RDV/Dépense/Note.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Formulaire de rapport d'intervention</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En-tête avec le logo et les coordonnées de l'entreprise (repris automatiquement du profil), puis Client, Site, Date, Entreprise, Équipement, Constat, Analyse, Préconisations et Signature, sur le modèle d'un rapport d'intervention technique classique.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Aperçu avant génération</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Avant de créer définitivement le rapport, un aperçu fidèle au document final (en-tête, sections, signature) permet de vérifier le contenu et de revenir le modifier.</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Suivi et devenir de chaque intervention</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Depuis la fiche d'une intervention : la lier à un chantier existant, la garder en attente pour un futur devis, l'archiver, ou créer directement une facture — avec un badge de statut visible dans la liste.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En-tête d'entreprise entièrement modifiable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Nom, adresse, code postal, ville, email, téléphone et SIRET sont pré-remplis depuis le profil mais modifiables pour chaque rapport ; le logo peut être celui du profil ou en importer un autre à la volée, sans toucher au profil principal.</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Section Interventions sur l'accueil</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Nouvelle section sur la page d'accueil, sous 'Devis en cours', listant les interventions avec leur statut (À faire / En cours / Terminée), et les actions rapides archiver/supprimer.</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Passage direct dans 'À faire maintenant'</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intervention du jour peut être déplacée en un clic vers la liste 'À faire maintenant' de l'accueil, sans dupliquer la fiche si elle y est déjà.</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Mise en page de l'en-tête revue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'RAPPORT D'INTERVENTION', le numéro et la date de création sont désormais mis en avant en haut à droite, à côté des informations de l'entreprise, comme sur les devis et factures.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Signature réutilisable depuis le profil</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signature déjà enregistrée dans 'Ma Signature' (dessinée ou importée) peut être ajoutée en un clic au rapport, affichée en bas à droite du document comme une vraie signature.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Facturation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Outil 'Facturation' renommé en 'Factures'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Renommé dans le menu et sur la page, dans les 5 langues de l'application.</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9A4C1F"/>
          </a:solidFill>
          <a:ln/>
        </p:spPr>
      </p:sp>
      <p:sp>
        <p:nvSpPr>
          <p:cNvPr id="3" name="Text 1"/>
          <p:cNvSpPr/>
          <p:nvPr/>
        </p:nvSpPr>
        <p:spPr>
          <a:xfrm>
            <a:off x="640080" y="2468880"/>
            <a:ext cx="10058400" cy="914400"/>
          </a:xfrm>
          <a:prstGeom prst="rect">
            <a:avLst/>
          </a:prstGeom>
          <a:noFill/>
          <a:ln/>
        </p:spPr>
        <p:txBody>
          <a:bodyPr wrap="square"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Backend</a:t>
            </a:r>
            <a:endParaRPr lang="en-US" sz="3800" dirty="0"/>
          </a:p>
        </p:txBody>
      </p:sp>
      <p:sp>
        <p:nvSpPr>
          <p:cNvPr id="4" name="Text 2"/>
          <p:cNvSpPr/>
          <p:nvPr/>
        </p:nvSpPr>
        <p:spPr>
          <a:xfrm>
            <a:off x="640080" y="3429000"/>
            <a:ext cx="10058400" cy="457200"/>
          </a:xfrm>
          <a:prstGeom prst="rect">
            <a:avLst/>
          </a:prstGeom>
          <a:noFill/>
          <a:ln/>
        </p:spPr>
        <p:txBody>
          <a:bodyPr wrap="square" rtlCol="0" anchor="ctr"/>
          <a:lstStyle/>
          <a:p>
            <a:pPr indent="0" marL="0">
              <a:buNone/>
            </a:pPr>
            <a:r>
              <a:rPr lang="en-US" sz="1500" dirty="0">
                <a:solidFill>
                  <a:srgbClr val="C7C9E0"/>
                </a:solidFill>
                <a:latin typeface="Segoe UI" pitchFamily="34" charset="0"/>
                <a:ea typeface="Segoe UI" pitchFamily="34" charset="-122"/>
                <a:cs typeface="Segoe UI" pitchFamily="34" charset="-120"/>
              </a:rPr>
              <a:t>API, logique métier et intégrations</a:t>
            </a:r>
            <a:endParaRPr lang="en-US" sz="1500" dirty="0"/>
          </a:p>
        </p:txBody>
      </p:sp>
      <p:sp>
        <p:nvSpPr>
          <p:cNvPr id="5" name="Text 3"/>
          <p:cNvSpPr/>
          <p:nvPr/>
        </p:nvSpPr>
        <p:spPr>
          <a:xfrm>
            <a:off x="640080" y="3931920"/>
            <a:ext cx="5486400" cy="365760"/>
          </a:xfrm>
          <a:prstGeom prst="rect">
            <a:avLst/>
          </a:prstGeom>
          <a:noFill/>
          <a:ln/>
        </p:spPr>
        <p:txBody>
          <a:bodyPr wrap="square" rtlCol="0" anchor="ctr"/>
          <a:lstStyle/>
          <a:p>
            <a:pPr indent="0" marL="0">
              <a:buNone/>
            </a:pPr>
            <a:r>
              <a:rPr lang="en-US" sz="1200" b="1" dirty="0">
                <a:solidFill>
                  <a:srgbClr val="C9A96A"/>
                </a:solidFill>
                <a:latin typeface="Segoe UI" pitchFamily="34" charset="0"/>
                <a:ea typeface="Segoe UI" pitchFamily="34" charset="-122"/>
                <a:cs typeface="Segoe UI" pitchFamily="34" charset="-120"/>
              </a:rPr>
              <a:t>32 mise(s) à jour</a:t>
            </a:r>
            <a:endParaRPr lang="en-US" sz="12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Fondations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Mise en place initiale de l'application</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Structure Next.js App Router, authentification, base de données JSON locale et première version des modules Devis, Chantiers, Équipe, Planning.</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Fiabilisation de l'envoi d'email (SMTP Gmail)</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Import dynamique de nodemailer compatible Vercel (ES modules), configuration complète (TLS, authentification).</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Génération PDF des devis réparée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génération/aperçu PDF lisait encore l'ancien fichier JSON local et ne trouvait plus les devis créés depuis la migration Supabase ; corrigée pour lire directement la table partagée.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Versioning et sauvegarde complète du devis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numéro de version s'incrémente à chaque enregistrement manuel ; les notes, majorations/minorations et le taux de TVA choisi, qui se perdaient silencieusement, sont désormais bien sauvegardés.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Taux horaire par défaut sur la bibliothèque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taux horaire du profil entreprise sert désormais de valeur par défaut pour chaque ouvrage (liste, création, édition, calcul du coût main d'œuvre).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Restauration de la description des ouvrages de bibliothèque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description déjà saisie dans la Bibliothèque d'ouvrages est désormais reprise automatiquement quand l'ouvrage est ajouté à un devis, au lieu d'être perdue comme auparavant.</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Référence client en texte libre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'Référence client' n'est plus une liste déroulante à choisir (qui pouvait donner l'impression que l'information saisie disparaissait) : c'est maintenant un champ texte simple qui garde exactement ce qui a été écrit.</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 du calcul du total d'un devis (majorations non comptées)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montant Total HT / TVA / Total TTC enregistré pour chaque devis ne prenait pas en compte les majorations (coordination de chantier, provision aléas, assurance décennale), même si elles étaient listées sur le document. Corrigé à la source (calcul serveur) : le total inclut désormais bien les majorations, partout où il est utilisé (tableau de bord, facturation, signature client, archives).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Deuxième cause trouvée : le total serveur retombait à 0</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calcul serveur recalculait chaque ligne à partir de zéro au lieu de faire confiance au montant déjà calculé correctement par l'éditeur, et se trompait sur deux points (un champ technique à 0 mal interprété comme 'prix fixe', une liste de fournitures non reconnue), ramenant le total à 0€ à chaque enregistrement. Corrigé : le serveur fait maintenant confiance au montant de chaque ligne tel qu'il apparaît dans l'éditeur.</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Taux de TVA de chaque ligne aligné sur le devis</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ligne de devis calculait sa propre TVA à 20% par défaut, sans tenir compte du taux choisi pour le devis (ex. 10%) — corrigé pour utiliser le taux réellement sélectionné.</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Chantiers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 d'un bug bloquant majeur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chantier ne pouvait être consulté que si son devis était déjà signé par le client, empêchant toute préparation en amont. Corrigé : la fiche chantier est désormais accessible dès sa création.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Dépenses liées à un ouvrage précis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L'API des dépenses accepte désormais un identifiant de tâche (ouvrage) en plus du chantier, pour un suivi financier plus fin.</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Six types de pointage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Heures de travail, jour de travail, forfait, ouvrage, passage, déplacement — chacun avec date et montant ; le montant des heures est calculé automatiquement à partir du taux horaire de l'ouvrier.</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Alertes automatiques de dépassement / manque d'heures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À la fin de chaque semaine, si le total travaillé diffère du contrat de plus de 15 minutes, une notification est envoyée automatiquement à l'entreprise (une seule fois par semaine et par ouvrier).</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Export PDF du relevé d'heures</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Génération d'un PDF mensuel par ouvrier : détail par journée/type de pointage, totaux hebdomadaires, total du mois en heures et en montant — pensé pour la comptabilité et la gestion de la paie.</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Notifications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Envoi d'email réel à la signature du devis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premier envoi des identifiants client déclenche désormais un vrai email (SMTP), et plus seulement une file d'attente locale.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Signature &amp; portails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Signature client branchée sur Supabase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client qui signe un devis n'a pas de session Kôji : une clé technique dédiée (service_role) permet de retrouver et mettre à jour son devis directement dans la base partagée.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Audit complet du portail client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Plusieurs routes (connexion client, devis/tâches/notes du portail, création de factures) lisaient encore l'ancien fichier JSON local et ne trouvaient plus aucune donnée récente depuis la migration Supabase des devis — toutes corrigées.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Suivi du temps par ouvrage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Boutons Démarrer / Pause / Reprendre / Terminer par tâche, avec calcul automatique du temps consommé et alerte en cas de dépassement du temps prévu.</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Accueil &amp; stabilité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Reconnexion automatique de session</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session expirée (~1h) provoquait des échecs silencieux à l'enregistrement (profil, IBAN, devis) sans reconnexion automatique ; la détection couvre désormais tous les cas d'expiration.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Corrections de plantages ponctuels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Plusieurs erreurs bloquantes corrigées au fil des tests (références de code manquantes, composants mal placés).</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entité 'interventions'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API dédiée (creation, consultation, suppression) pour stocker les rapports d'intervention, avec historique des actions comme pour les autres modules.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Génération PDF du rapport d'intervention</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rapport peut être téléchargé en PDF avec le logo de l'entreprise en en-tête, dans une mise en page reprenant celle des rapports d'intervention papier existants.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Facturation directe d'une intervention</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facture peut être créée directement à partir d'une intervention (sans passer par un devis signé), avec un montant saisi manuellement ; l'intervention passe alors automatiquement au statut 'Facturée'.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En-tête d'entreprise propre à chaque rapport</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intervention conserve son propre instantané des informations d'entreprise (comme les devis), pour que le PDF reste fidèle même si le profil change ensuite.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Statut de suivi automatique (À faire / En cours / Terminée)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statut d'une intervention évolue automatiquement selon sa date (À faire tant que la date n'est pas arrivée, En cours le jour J), jusqu'à être marquée Terminée manuellement puis, si besoin, archivée.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Numéro de rapport automatique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rapport reçoit un numéro unique généré automatiquement (ex. INT-2026-0003), affiché en en-tête avec la date de création, sur le même principe que la numérotation des devis et factures.</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Facturation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Export PDF des factures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facture (issue d'un devis signé ou d'une intervention) peut désormais être téléchargée en PDF avec les informations de l'entreprise, du client et du montant — bouton ajouté dans la page Facturation et dans la fiche d'une intervention.</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Sécurité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Audit de sécurité complet et correction des failles trouvées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Audit approfondi ayant confirmé 6 failles actives : fuite de données entre entreprises, base de données lisible sans connexion, portail client sans authentification, mots de passe en clair, base de données versionnée dans Git, absence de vérification centralisée. Corrigées le jour même (détail ci-dessous).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Fuite de données entre entreprises corrigée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trentaine de routes (clients, devis, factures, tâches, ouvriers...) faisaient confiance à un identifiant envoyé par le navigateur pour savoir quelles données afficher, sans vérifier qu'il correspondait à la session connectée : n'importe qui pouvait lire ou modifier les données d'une autre entreprise en changeant cet identifiant. Ces routes vérifient désormais la vraie session avant de répondre.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Portail client équipé d'une vraie session</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L'espace client particulier n'avait aucune session vérifiable : ses informations (dont le mot de passe de signature) pouvaient être lues à partir du simple email d'un client, sans mot de passe. Un jeton de connexion signé a été ajouté, vérifié sur chaque page du portail client.</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Mots de passe du portail client chiffrés</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mots de passe des comptes client particulier étaient stockés et comparés en texte lisible. Ils sont désormais chiffrés (hachage scrypt), avec migration automatique et transparente des comptes existants à la prochaine connexion.</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386641"/>
          </a:solidFill>
          <a:ln/>
        </p:spPr>
      </p:sp>
      <p:sp>
        <p:nvSpPr>
          <p:cNvPr id="3" name="Text 1"/>
          <p:cNvSpPr/>
          <p:nvPr/>
        </p:nvSpPr>
        <p:spPr>
          <a:xfrm>
            <a:off x="640080" y="2468880"/>
            <a:ext cx="10058400" cy="914400"/>
          </a:xfrm>
          <a:prstGeom prst="rect">
            <a:avLst/>
          </a:prstGeom>
          <a:noFill/>
          <a:ln/>
        </p:spPr>
        <p:txBody>
          <a:bodyPr wrap="square"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Base de données</a:t>
            </a:r>
            <a:endParaRPr lang="en-US" sz="3800" dirty="0"/>
          </a:p>
        </p:txBody>
      </p:sp>
      <p:sp>
        <p:nvSpPr>
          <p:cNvPr id="4" name="Text 2"/>
          <p:cNvSpPr/>
          <p:nvPr/>
        </p:nvSpPr>
        <p:spPr>
          <a:xfrm>
            <a:off x="640080" y="3429000"/>
            <a:ext cx="10058400" cy="457200"/>
          </a:xfrm>
          <a:prstGeom prst="rect">
            <a:avLst/>
          </a:prstGeom>
          <a:noFill/>
          <a:ln/>
        </p:spPr>
        <p:txBody>
          <a:bodyPr wrap="square" rtlCol="0" anchor="ctr"/>
          <a:lstStyle/>
          <a:p>
            <a:pPr indent="0" marL="0">
              <a:buNone/>
            </a:pPr>
            <a:r>
              <a:rPr lang="en-US" sz="1500" dirty="0">
                <a:solidFill>
                  <a:srgbClr val="C7C9E0"/>
                </a:solidFill>
                <a:latin typeface="Segoe UI" pitchFamily="34" charset="0"/>
                <a:ea typeface="Segoe UI" pitchFamily="34" charset="-122"/>
                <a:cs typeface="Segoe UI" pitchFamily="34" charset="-120"/>
              </a:rPr>
              <a:t>Modèle de données et infrastructure</a:t>
            </a:r>
            <a:endParaRPr lang="en-US" sz="1500" dirty="0"/>
          </a:p>
        </p:txBody>
      </p:sp>
      <p:sp>
        <p:nvSpPr>
          <p:cNvPr id="5" name="Text 3"/>
          <p:cNvSpPr/>
          <p:nvPr/>
        </p:nvSpPr>
        <p:spPr>
          <a:xfrm>
            <a:off x="640080" y="3931920"/>
            <a:ext cx="5486400" cy="365760"/>
          </a:xfrm>
          <a:prstGeom prst="rect">
            <a:avLst/>
          </a:prstGeom>
          <a:noFill/>
          <a:ln/>
        </p:spPr>
        <p:txBody>
          <a:bodyPr wrap="square" rtlCol="0" anchor="ctr"/>
          <a:lstStyle/>
          <a:p>
            <a:pPr indent="0" marL="0">
              <a:buNone/>
            </a:pPr>
            <a:r>
              <a:rPr lang="en-US" sz="1200" b="1" dirty="0">
                <a:solidFill>
                  <a:srgbClr val="C9A96A"/>
                </a:solidFill>
                <a:latin typeface="Segoe UI" pitchFamily="34" charset="0"/>
                <a:ea typeface="Segoe UI" pitchFamily="34" charset="-122"/>
                <a:cs typeface="Segoe UI" pitchFamily="34" charset="-120"/>
              </a:rPr>
              <a:t>10 mise(s) à jour</a:t>
            </a:r>
            <a:endParaRPr lang="en-US" sz="12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Fondations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Connexion Vercel / configuration environnement</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Correction de la configuration d'authentification et du SMTP sur l'environnement de production Vercel.</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Migration des devis vers Supabase (table partagée)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devis créés sur le site web et sur l'application mobile (Firas) vivent désormais dans la même table Supabase 'quotes', avec un mapping bidirectionnel dédié (lib/quote-mapping.js).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33</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Chantiers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Connexion Supabase : chantiers, planning, fournitures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Ces trois modules sont branchés sur la base partagée avec l'application mobile ; les comptes utilisateurs sont également partagés entre les deux plateformes.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34</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donnée : heures contractuelles par ouvrier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Ajout d'un paramètre 'heures contractuelles / semaine' (35h par défaut) sur chaque fiche ouvrier, utilisé pour le calcul des écarts.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35</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Accueil &amp; stabilité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Nettoyage du backend</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Audit complet des routes serveur : suppression du code mort (module Marketplace), vérification de la cohérence entre données locales et données Supabase sur l'ensemble de l'application.</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36</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Maintenance technique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Nettoyage approfondi du code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Audit complet du projet (pages, routes, fonctions, dépendances) pour repérer tout ce qui n'était plus utilisé ; suppression de 6 pages orphelines (onboarding, welcome, compte, anciennes pages devis en 3 étapes), d'une route de connexion de démonstration, d'un dossier de composants dupliqué obsolète, de plusieurs fonctions inutilisées et d'une dépendance logicielle non utilisée — sans toucher aux fonctionnalités actives.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386641"/>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Suppression de code mort dans la génération de devis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ancien générateur de devis PDF, devenu inaccessible après une précédente refonte (code jamais exécuté), a été retiré du fichier technique de génération de documents.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386641"/>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Suppression de code mort dans l'export Word des devis</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second bloc de génération de document, devenu inaccessible après une précédente refonte (jamais exécuté), a été retiré du fichier technique de génération de documents.</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37</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Sécurité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Base de données partagée verrouillée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table contenant l'essentiel des données de l'application était lisible par n'importe qui sur internet avec la simple clé publique du site, sans connexion. L'application y accède désormais avec une clé privée réservée au serveur, ce qui permet de fermer complètement l'accès public sans rien casser.</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386641"/>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Fichier de base de données retiré du dépôt Git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fichier contenant une copie complète de la base de données de développement, avec des mots de passe réels en clair, était suivi par Git depuis plusieurs mois. Retiré du suivi et exclu définitivement.</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Kôji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38</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0B1030"/>
        </a:solidFill>
      </p:bgPr>
    </p:bg>
    <p:spTree>
      <p:nvGrpSpPr>
        <p:cNvPr id="1" name=""/>
        <p:cNvGrpSpPr/>
        <p:nvPr/>
      </p:nvGrpSpPr>
      <p:grpSpPr>
        <a:xfrm>
          <a:off x="0" y="0"/>
          <a:ext cx="0" cy="0"/>
          <a:chOff x="0" y="0"/>
          <a:chExt cx="0" cy="0"/>
        </a:xfrm>
      </p:grpSpPr>
      <p:sp>
        <p:nvSpPr>
          <p:cNvPr id="2" name="Text 0"/>
          <p:cNvSpPr/>
          <p:nvPr/>
        </p:nvSpPr>
        <p:spPr>
          <a:xfrm>
            <a:off x="640080" y="2651760"/>
            <a:ext cx="7315200" cy="914400"/>
          </a:xfrm>
          <a:prstGeom prst="rect">
            <a:avLst/>
          </a:prstGeom>
          <a:noFill/>
          <a:ln/>
        </p:spPr>
        <p:txBody>
          <a:bodyPr wrap="square" rtlCol="0" anchor="ctr"/>
          <a:lstStyle/>
          <a:p>
            <a:pPr indent="0" marL="0">
              <a:buNone/>
            </a:pPr>
            <a:r>
              <a:rPr lang="en-US" sz="4000" b="1" dirty="0">
                <a:solidFill>
                  <a:srgbClr val="FFFFFF"/>
                </a:solidFill>
                <a:latin typeface="Georgia" pitchFamily="34" charset="0"/>
                <a:ea typeface="Georgia" pitchFamily="34" charset="-122"/>
                <a:cs typeface="Georgia" pitchFamily="34" charset="-120"/>
              </a:rPr>
              <a:t>Merci</a:t>
            </a:r>
            <a:endParaRPr lang="en-US" sz="4000" dirty="0"/>
          </a:p>
        </p:txBody>
      </p:sp>
      <p:sp>
        <p:nvSpPr>
          <p:cNvPr id="3" name="Text 1"/>
          <p:cNvSpPr/>
          <p:nvPr/>
        </p:nvSpPr>
        <p:spPr>
          <a:xfrm>
            <a:off x="640080" y="3566160"/>
            <a:ext cx="9144000" cy="548640"/>
          </a:xfrm>
          <a:prstGeom prst="rect">
            <a:avLst/>
          </a:prstGeom>
          <a:noFill/>
          <a:ln/>
        </p:spPr>
        <p:txBody>
          <a:bodyPr wrap="square" rtlCol="0" anchor="ctr"/>
          <a:lstStyle/>
          <a:p>
            <a:pPr indent="0" marL="0">
              <a:buNone/>
            </a:pPr>
            <a:r>
              <a:rPr lang="en-US" sz="1300" dirty="0">
                <a:solidFill>
                  <a:srgbClr val="C7C9E0"/>
                </a:solidFill>
                <a:latin typeface="Segoe UI" pitchFamily="34" charset="0"/>
                <a:ea typeface="Segoe UI" pitchFamily="34" charset="-122"/>
                <a:cs typeface="Segoe UI" pitchFamily="34" charset="-120"/>
              </a:rPr>
              <a:t>Document généré automatiquement à partir de l'historique de développement du projet.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39</Slides>
  <Notes>39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39</vt:i4>
      </vt:variant>
    </vt:vector>
  </HeadingPairs>
  <TitlesOfParts>
    <vt:vector size="4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Kôji Web — Récapitulatif technique</dc:title>
  <dc:subject>PptxGenJS Presentation</dc:subject>
  <dc:creator>Équipe développement Kôji Web</dc:creator>
  <cp:lastModifiedBy>Équipe développement Kôji Web</cp:lastModifiedBy>
  <cp:revision>1</cp:revision>
  <dcterms:created xsi:type="dcterms:W3CDTF">2026-08-12T16:08:37Z</dcterms:created>
  <dcterms:modified xsi:type="dcterms:W3CDTF">2026-08-12T16:08:37Z</dcterms:modified>
</cp:coreProperties>
</file>