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Lst>
  <p:notesMasterIdLst>
    <p:notesMasterId r:id="rId9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notesMaster" Target="notesMasters/notesMaster1.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A"/>
          </a:solidFill>
          <a:ln/>
        </p:spPr>
      </p:sp>
      <p:sp>
        <p:nvSpPr>
          <p:cNvPr id="3" name="Text 1"/>
          <p:cNvSpPr/>
          <p:nvPr/>
        </p:nvSpPr>
        <p:spPr>
          <a:xfrm>
            <a:off x="640080" y="548640"/>
            <a:ext cx="3657600" cy="548640"/>
          </a:xfrm>
          <a:prstGeom prst="rect">
            <a:avLst/>
          </a:prstGeom>
          <a:noFill/>
          <a:ln/>
        </p:spPr>
        <p:txBody>
          <a:bodyPr wrap="square" rtlCol="0" anchor="ctr"/>
          <a:lstStyle/>
          <a:p>
            <a:pPr indent="0" marL="0">
              <a:buNone/>
            </a:pPr>
            <a:r>
              <a:rPr lang="en-US" sz="2000" b="1" spc="400" kern="0" dirty="0">
                <a:solidFill>
                  <a:srgbClr val="C9A96A"/>
                </a:solidFill>
                <a:latin typeface="Georgia" pitchFamily="34" charset="0"/>
                <a:ea typeface="Georgia" pitchFamily="34" charset="-122"/>
                <a:cs typeface="Georgia" pitchFamily="34" charset="-120"/>
              </a:rPr>
              <a:t>KOJI</a:t>
            </a:r>
            <a:endParaRPr lang="en-US" sz="2000" dirty="0"/>
          </a:p>
        </p:txBody>
      </p:sp>
      <p:sp>
        <p:nvSpPr>
          <p:cNvPr id="4" name="Text 2"/>
          <p:cNvSpPr/>
          <p:nvPr/>
        </p:nvSpPr>
        <p:spPr>
          <a:xfrm>
            <a:off x="640080" y="2286000"/>
            <a:ext cx="10515600" cy="1005840"/>
          </a:xfrm>
          <a:prstGeom prst="rect">
            <a:avLst/>
          </a:prstGeom>
          <a:noFill/>
          <a:ln/>
        </p:spPr>
        <p:txBody>
          <a:bodyPr wrap="square"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Cahier des charges</a:t>
            </a:r>
            <a:endParaRPr lang="en-US" sz="4200" dirty="0"/>
          </a:p>
        </p:txBody>
      </p:sp>
      <p:sp>
        <p:nvSpPr>
          <p:cNvPr id="5" name="Text 3"/>
          <p:cNvSpPr/>
          <p:nvPr/>
        </p:nvSpPr>
        <p:spPr>
          <a:xfrm>
            <a:off x="640080" y="3246120"/>
            <a:ext cx="10515600" cy="548640"/>
          </a:xfrm>
          <a:prstGeom prst="rect">
            <a:avLst/>
          </a:prstGeom>
          <a:noFill/>
          <a:ln/>
        </p:spPr>
        <p:txBody>
          <a:bodyPr wrap="square" rtlCol="0" anchor="ctr"/>
          <a:lstStyle/>
          <a:p>
            <a:pPr indent="0" marL="0">
              <a:buNone/>
            </a:pPr>
            <a:r>
              <a:rPr lang="en-US" sz="1700" dirty="0">
                <a:solidFill>
                  <a:srgbClr val="C7C9E0"/>
                </a:solidFill>
                <a:latin typeface="Segoe UI" pitchFamily="34" charset="0"/>
                <a:ea typeface="Segoe UI" pitchFamily="34" charset="-122"/>
                <a:cs typeface="Segoe UI" pitchFamily="34" charset="-120"/>
              </a:rPr>
              <a:t>Application Web Koji — Gestion d'entreprise du bâtiment</a:t>
            </a:r>
            <a:endParaRPr lang="en-US" sz="1700" dirty="0"/>
          </a:p>
        </p:txBody>
      </p:sp>
      <p:sp>
        <p:nvSpPr>
          <p:cNvPr id="6" name="Text 4"/>
          <p:cNvSpPr/>
          <p:nvPr/>
        </p:nvSpPr>
        <p:spPr>
          <a:xfrm>
            <a:off x="640080" y="3886200"/>
            <a:ext cx="5486400" cy="365760"/>
          </a:xfrm>
          <a:prstGeom prst="rect">
            <a:avLst/>
          </a:prstGeom>
          <a:noFill/>
          <a:ln/>
        </p:spPr>
        <p:txBody>
          <a:bodyPr wrap="square" rtlCol="0" anchor="ctr"/>
          <a:lstStyle/>
          <a:p>
            <a:pPr indent="0" marL="0">
              <a:buNone/>
            </a:pPr>
            <a:r>
              <a:rPr lang="en-US" sz="1300" b="1" dirty="0">
                <a:solidFill>
                  <a:srgbClr val="C9A96A"/>
                </a:solidFill>
                <a:latin typeface="Segoe UI" pitchFamily="34" charset="0"/>
                <a:ea typeface="Segoe UI" pitchFamily="34" charset="-122"/>
                <a:cs typeface="Segoe UI" pitchFamily="34" charset="-120"/>
              </a:rPr>
              <a:t>2026</a:t>
            </a:r>
            <a:endParaRPr lang="en-US" sz="1300" dirty="0"/>
          </a:p>
        </p:txBody>
      </p:sp>
      <p:sp>
        <p:nvSpPr>
          <p:cNvPr id="7" name="Text 5"/>
          <p:cNvSpPr/>
          <p:nvPr/>
        </p:nvSpPr>
        <p:spPr>
          <a:xfrm>
            <a:off x="640080" y="5669280"/>
            <a:ext cx="7315200" cy="320040"/>
          </a:xfrm>
          <a:prstGeom prst="rect">
            <a:avLst/>
          </a:prstGeom>
          <a:noFill/>
          <a:ln/>
        </p:spPr>
        <p:txBody>
          <a:bodyPr wrap="square" rtlCol="0" anchor="ctr"/>
          <a:lstStyle/>
          <a:p>
            <a:pPr indent="0" marL="0">
              <a:buNone/>
            </a:pPr>
            <a:r>
              <a:rPr lang="en-US" sz="1200" dirty="0">
                <a:solidFill>
                  <a:srgbClr val="C7C9E0"/>
                </a:solidFill>
                <a:latin typeface="Segoe UI" pitchFamily="34" charset="0"/>
                <a:ea typeface="Segoe UI" pitchFamily="34" charset="-122"/>
                <a:cs typeface="Segoe UI" pitchFamily="34" charset="-120"/>
              </a:rPr>
              <a:t>Cahier des charges préparé par : BOUHOUCHI Amira</a:t>
            </a:r>
            <a:endParaRPr lang="en-US" sz="1200" dirty="0"/>
          </a:p>
        </p:txBody>
      </p:sp>
      <p:sp>
        <p:nvSpPr>
          <p:cNvPr id="8" name="Text 6"/>
          <p:cNvSpPr/>
          <p:nvPr/>
        </p:nvSpPr>
        <p:spPr>
          <a:xfrm>
            <a:off x="640080" y="6035040"/>
            <a:ext cx="7315200" cy="320040"/>
          </a:xfrm>
          <a:prstGeom prst="rect">
            <a:avLst/>
          </a:prstGeom>
          <a:noFill/>
          <a:ln/>
        </p:spPr>
        <p:txBody>
          <a:bodyPr wrap="square" rtlCol="0" anchor="ctr"/>
          <a:lstStyle/>
          <a:p>
            <a:pPr indent="0" marL="0">
              <a:buNone/>
            </a:pPr>
            <a:r>
              <a:rPr lang="en-US" sz="1200" dirty="0">
                <a:solidFill>
                  <a:srgbClr val="C7C9E0"/>
                </a:solidFill>
                <a:latin typeface="Segoe UI" pitchFamily="34" charset="0"/>
                <a:ea typeface="Segoe UI" pitchFamily="34" charset="-122"/>
                <a:cs typeface="Segoe UI" pitchFamily="34" charset="-120"/>
              </a:rPr>
              <a:t>Application Koji Web développée par : BOUHOUCHI Amira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640080" y="411480"/>
            <a:ext cx="10515600" cy="548640"/>
          </a:xfrm>
          <a:prstGeom prst="rect">
            <a:avLst/>
          </a:prstGeom>
          <a:noFill/>
          <a:ln/>
        </p:spPr>
        <p:txBody>
          <a:bodyPr wrap="square" rtlCol="0" anchor="ctr"/>
          <a:lstStyle/>
          <a:p>
            <a:pPr indent="0" marL="0">
              <a:buNone/>
            </a:pPr>
            <a:r>
              <a:rPr lang="en-US" sz="2600" b="1" dirty="0">
                <a:solidFill>
                  <a:srgbClr val="1B1F3B"/>
                </a:solidFill>
                <a:latin typeface="Georgia" pitchFamily="34" charset="0"/>
                <a:ea typeface="Georgia" pitchFamily="34" charset="-122"/>
                <a:cs typeface="Georgia" pitchFamily="34" charset="-120"/>
              </a:rPr>
              <a:t>Présentation du projet</a:t>
            </a:r>
            <a:endParaRPr lang="en-US" sz="2600" dirty="0"/>
          </a:p>
        </p:txBody>
      </p:sp>
      <p:sp>
        <p:nvSpPr>
          <p:cNvPr id="3" name="Text 1"/>
          <p:cNvSpPr/>
          <p:nvPr/>
        </p:nvSpPr>
        <p:spPr>
          <a:xfrm>
            <a:off x="640080" y="1051560"/>
            <a:ext cx="10881360" cy="1463040"/>
          </a:xfrm>
          <a:prstGeom prst="rect">
            <a:avLst/>
          </a:prstGeom>
          <a:noFill/>
          <a:ln/>
        </p:spPr>
        <p:txBody>
          <a:bodyPr wrap="square" rtlCol="0" anchor="ctr"/>
          <a:lstStyle/>
          <a:p>
            <a:pPr indent="0" marL="0">
              <a:lnSpc>
                <a:spcPts val="1800"/>
              </a:lnSpc>
              <a:buNone/>
            </a:pPr>
            <a:r>
              <a:rPr lang="en-US" sz="1200" dirty="0">
                <a:solidFill>
                  <a:srgbClr val="1B1F3B"/>
                </a:solidFill>
                <a:latin typeface="Segoe UI" pitchFamily="34" charset="0"/>
                <a:ea typeface="Segoe UI" pitchFamily="34" charset="-122"/>
                <a:cs typeface="Segoe UI" pitchFamily="34" charset="-120"/>
              </a:rPr>
              <a:t>Koji Web est une application de gestion destinée aux entreprises du bâtiment (plomberie, électricité, climatisation, tous corps d'état) : elle couvre l'ensemble du cycle d'activité, de la création d'un devis jusqu'à la facturation, en passant par le suivi de chantier, la gestion de l'équipe et le pointage des heures. Trois profils l'utilisent : l'entreprise (gérant/administratif), le client particulier (portail de suivi) et l'ouvrier/sous-traitant (portail terrain). Ce document décrit, module par module, chaque fonctionnalité de l'application, ce qu'elle permet de faire et comment elle a été réalisée techniquement.</a:t>
            </a:r>
            <a:endParaRPr lang="en-US" sz="1200" dirty="0"/>
          </a:p>
        </p:txBody>
      </p:sp>
      <p:sp>
        <p:nvSpPr>
          <p:cNvPr id="4" name="Text 2"/>
          <p:cNvSpPr/>
          <p:nvPr/>
        </p:nvSpPr>
        <p:spPr>
          <a:xfrm>
            <a:off x="640080" y="2651760"/>
            <a:ext cx="731520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Objectifs de l'application</a:t>
            </a:r>
            <a:endParaRPr lang="en-US" sz="1500" dirty="0"/>
          </a:p>
        </p:txBody>
      </p:sp>
      <p:sp>
        <p:nvSpPr>
          <p:cNvPr id="5" name="Text 3"/>
          <p:cNvSpPr/>
          <p:nvPr/>
        </p:nvSpPr>
        <p:spPr>
          <a:xfrm>
            <a:off x="640080" y="3063240"/>
            <a:ext cx="10881360" cy="3291840"/>
          </a:xfrm>
          <a:prstGeom prst="rect">
            <a:avLst/>
          </a:prstGeom>
          <a:noFill/>
          <a:ln/>
        </p:spPr>
        <p:txBody>
          <a:bodyPr wrap="square" rtlCol="0" anchor="ctr"/>
          <a:lstStyle/>
          <a:p>
            <a:pPr marL="342900" indent="-342900">
              <a:lnSpc>
                <a:spcPts val="1900"/>
              </a:lnSpc>
              <a:spcAft>
                <a:spcPts val="800"/>
              </a:spcAft>
              <a:buSzPct val="100000"/>
              <a:buChar char="•"/>
            </a:pPr>
            <a:r>
              <a:rPr lang="en-US" sz="1250" dirty="0">
                <a:solidFill>
                  <a:srgbClr val="1B1F3B"/>
                </a:solidFill>
                <a:latin typeface="Segoe UI" pitchFamily="34" charset="0"/>
                <a:ea typeface="Segoe UI" pitchFamily="34" charset="-122"/>
                <a:cs typeface="Segoe UI" pitchFamily="34" charset="-120"/>
              </a:rPr>
              <a:t>Remplacer les devis papier/Excel par un outil de chiffrage structuré (lots, ouvrages, fournitures, main d'œuvre)</a:t>
            </a:r>
            <a:endParaRPr lang="en-US" sz="1250" dirty="0"/>
          </a:p>
          <a:p>
            <a:pPr marL="342900" indent="-342900">
              <a:lnSpc>
                <a:spcPts val="1900"/>
              </a:lnSpc>
              <a:spcAft>
                <a:spcPts val="800"/>
              </a:spcAft>
              <a:buSzPct val="100000"/>
              <a:buChar char="•"/>
            </a:pPr>
            <a:r>
              <a:rPr lang="en-US" sz="1250" dirty="0">
                <a:solidFill>
                  <a:srgbClr val="1B1F3B"/>
                </a:solidFill>
                <a:latin typeface="Segoe UI" pitchFamily="34" charset="0"/>
                <a:ea typeface="Segoe UI" pitchFamily="34" charset="-122"/>
                <a:cs typeface="Segoe UI" pitchFamily="34" charset="-120"/>
              </a:rPr>
              <a:t>Faire signer les devis électroniquement et transformer automatiquement un devis signé en chantier suivi</a:t>
            </a:r>
            <a:endParaRPr lang="en-US" sz="1250" dirty="0"/>
          </a:p>
          <a:p>
            <a:pPr marL="342900" indent="-342900">
              <a:lnSpc>
                <a:spcPts val="1900"/>
              </a:lnSpc>
              <a:spcAft>
                <a:spcPts val="800"/>
              </a:spcAft>
              <a:buSzPct val="100000"/>
              <a:buChar char="•"/>
            </a:pPr>
            <a:r>
              <a:rPr lang="en-US" sz="1250" dirty="0">
                <a:solidFill>
                  <a:srgbClr val="1B1F3B"/>
                </a:solidFill>
                <a:latin typeface="Segoe UI" pitchFamily="34" charset="0"/>
                <a:ea typeface="Segoe UI" pitchFamily="34" charset="-122"/>
                <a:cs typeface="Segoe UI" pitchFamily="34" charset="-120"/>
              </a:rPr>
              <a:t>Suivre l'avancement de chaque chantier, ouvrage par ouvrage, avec l'équipe assignée</a:t>
            </a:r>
            <a:endParaRPr lang="en-US" sz="1250" dirty="0"/>
          </a:p>
          <a:p>
            <a:pPr marL="342900" indent="-342900">
              <a:lnSpc>
                <a:spcPts val="1900"/>
              </a:lnSpc>
              <a:spcAft>
                <a:spcPts val="800"/>
              </a:spcAft>
              <a:buSzPct val="100000"/>
              <a:buChar char="•"/>
            </a:pPr>
            <a:r>
              <a:rPr lang="en-US" sz="1250" dirty="0">
                <a:solidFill>
                  <a:srgbClr val="1B1F3B"/>
                </a:solidFill>
                <a:latin typeface="Segoe UI" pitchFamily="34" charset="0"/>
                <a:ea typeface="Segoe UI" pitchFamily="34" charset="-122"/>
                <a:cs typeface="Segoe UI" pitchFamily="34" charset="-120"/>
              </a:rPr>
              <a:t>Gérer l'équipe (ouvriers et sous-traitants), leurs heures travaillées et leur paie</a:t>
            </a:r>
            <a:endParaRPr lang="en-US" sz="1250" dirty="0"/>
          </a:p>
          <a:p>
            <a:pPr marL="342900" indent="-342900">
              <a:lnSpc>
                <a:spcPts val="1900"/>
              </a:lnSpc>
              <a:spcAft>
                <a:spcPts val="800"/>
              </a:spcAft>
              <a:buSzPct val="100000"/>
              <a:buChar char="•"/>
            </a:pPr>
            <a:r>
              <a:rPr lang="en-US" sz="1250" dirty="0">
                <a:solidFill>
                  <a:srgbClr val="1B1F3B"/>
                </a:solidFill>
                <a:latin typeface="Segoe UI" pitchFamily="34" charset="0"/>
                <a:ea typeface="Segoe UI" pitchFamily="34" charset="-122"/>
                <a:cs typeface="Segoe UI" pitchFamily="34" charset="-120"/>
              </a:rPr>
              <a:t>Facturer les chantiers et les interventions, et générer les documents PDF correspondants</a:t>
            </a:r>
            <a:endParaRPr lang="en-US" sz="1250" dirty="0"/>
          </a:p>
          <a:p>
            <a:pPr marL="342900" indent="-342900">
              <a:lnSpc>
                <a:spcPts val="1900"/>
              </a:lnSpc>
              <a:spcAft>
                <a:spcPts val="800"/>
              </a:spcAft>
              <a:buSzPct val="100000"/>
              <a:buChar char="•"/>
            </a:pPr>
            <a:r>
              <a:rPr lang="en-US" sz="1250" dirty="0">
                <a:solidFill>
                  <a:srgbClr val="1B1F3B"/>
                </a:solidFill>
                <a:latin typeface="Segoe UI" pitchFamily="34" charset="0"/>
                <a:ea typeface="Segoe UI" pitchFamily="34" charset="-122"/>
                <a:cs typeface="Segoe UI" pitchFamily="34" charset="-120"/>
              </a:rPr>
              <a:t>Donner au client particulier un accès de suivi (avancement, notifications, échanges) et à l'ouvrier un portail terrain (tâches du jour, pointage, remontées de problèmes)</a:t>
            </a:r>
            <a:endParaRPr lang="en-US" sz="125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640080" y="411480"/>
            <a:ext cx="7315200" cy="548640"/>
          </a:xfrm>
          <a:prstGeom prst="rect">
            <a:avLst/>
          </a:prstGeom>
          <a:noFill/>
          <a:ln/>
        </p:spPr>
        <p:txBody>
          <a:bodyPr wrap="square" rtlCol="0" anchor="ctr"/>
          <a:lstStyle/>
          <a:p>
            <a:pPr indent="0" marL="0">
              <a:buNone/>
            </a:pPr>
            <a:r>
              <a:rPr lang="en-US" sz="2600" b="1" dirty="0">
                <a:solidFill>
                  <a:srgbClr val="1B1F3B"/>
                </a:solidFill>
                <a:latin typeface="Georgia" pitchFamily="34" charset="0"/>
                <a:ea typeface="Georgia" pitchFamily="34" charset="-122"/>
                <a:cs typeface="Georgia" pitchFamily="34" charset="-120"/>
              </a:rPr>
              <a:t>Sommaire</a:t>
            </a:r>
            <a:endParaRPr lang="en-US" sz="2600" dirty="0"/>
          </a:p>
        </p:txBody>
      </p:sp>
      <p:sp>
        <p:nvSpPr>
          <p:cNvPr id="3" name="Text 1"/>
          <p:cNvSpPr/>
          <p:nvPr/>
        </p:nvSpPr>
        <p:spPr>
          <a:xfrm>
            <a:off x="640080" y="1280160"/>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01</a:t>
            </a:r>
            <a:endParaRPr lang="en-US" sz="1300" dirty="0"/>
          </a:p>
        </p:txBody>
      </p:sp>
      <p:sp>
        <p:nvSpPr>
          <p:cNvPr id="4" name="Text 2"/>
          <p:cNvSpPr/>
          <p:nvPr/>
        </p:nvSpPr>
        <p:spPr>
          <a:xfrm>
            <a:off x="1143000" y="1280160"/>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Architecture technique &amp; outils</a:t>
            </a:r>
            <a:endParaRPr lang="en-US" sz="1300" dirty="0"/>
          </a:p>
        </p:txBody>
      </p:sp>
      <p:sp>
        <p:nvSpPr>
          <p:cNvPr id="5" name="Text 3"/>
          <p:cNvSpPr/>
          <p:nvPr/>
        </p:nvSpPr>
        <p:spPr>
          <a:xfrm>
            <a:off x="640080" y="1847088"/>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02</a:t>
            </a:r>
            <a:endParaRPr lang="en-US" sz="1300" dirty="0"/>
          </a:p>
        </p:txBody>
      </p:sp>
      <p:sp>
        <p:nvSpPr>
          <p:cNvPr id="6" name="Text 4"/>
          <p:cNvSpPr/>
          <p:nvPr/>
        </p:nvSpPr>
        <p:spPr>
          <a:xfrm>
            <a:off x="1143000" y="1847088"/>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Authentification et gestion des comptes</a:t>
            </a:r>
            <a:endParaRPr lang="en-US" sz="1300" dirty="0"/>
          </a:p>
        </p:txBody>
      </p:sp>
      <p:sp>
        <p:nvSpPr>
          <p:cNvPr id="7" name="Text 5"/>
          <p:cNvSpPr/>
          <p:nvPr/>
        </p:nvSpPr>
        <p:spPr>
          <a:xfrm>
            <a:off x="640080" y="2414016"/>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03</a:t>
            </a:r>
            <a:endParaRPr lang="en-US" sz="1300" dirty="0"/>
          </a:p>
        </p:txBody>
      </p:sp>
      <p:sp>
        <p:nvSpPr>
          <p:cNvPr id="8" name="Text 6"/>
          <p:cNvSpPr/>
          <p:nvPr/>
        </p:nvSpPr>
        <p:spPr>
          <a:xfrm>
            <a:off x="1143000" y="2414016"/>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Accueil (tableau de bord)</a:t>
            </a:r>
            <a:endParaRPr lang="en-US" sz="1300" dirty="0"/>
          </a:p>
        </p:txBody>
      </p:sp>
      <p:sp>
        <p:nvSpPr>
          <p:cNvPr id="9" name="Text 7"/>
          <p:cNvSpPr/>
          <p:nvPr/>
        </p:nvSpPr>
        <p:spPr>
          <a:xfrm>
            <a:off x="640080" y="2980944"/>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04</a:t>
            </a:r>
            <a:endParaRPr lang="en-US" sz="1300" dirty="0"/>
          </a:p>
        </p:txBody>
      </p:sp>
      <p:sp>
        <p:nvSpPr>
          <p:cNvPr id="10" name="Text 8"/>
          <p:cNvSpPr/>
          <p:nvPr/>
        </p:nvSpPr>
        <p:spPr>
          <a:xfrm>
            <a:off x="1143000" y="2980944"/>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Bibliothèque d'ouvrages</a:t>
            </a:r>
            <a:endParaRPr lang="en-US" sz="1300" dirty="0"/>
          </a:p>
        </p:txBody>
      </p:sp>
      <p:sp>
        <p:nvSpPr>
          <p:cNvPr id="11" name="Text 9"/>
          <p:cNvSpPr/>
          <p:nvPr/>
        </p:nvSpPr>
        <p:spPr>
          <a:xfrm>
            <a:off x="640080" y="3547872"/>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05</a:t>
            </a:r>
            <a:endParaRPr lang="en-US" sz="1300" dirty="0"/>
          </a:p>
        </p:txBody>
      </p:sp>
      <p:sp>
        <p:nvSpPr>
          <p:cNvPr id="12" name="Text 10"/>
          <p:cNvSpPr/>
          <p:nvPr/>
        </p:nvSpPr>
        <p:spPr>
          <a:xfrm>
            <a:off x="1143000" y="3547872"/>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Devis</a:t>
            </a:r>
            <a:endParaRPr lang="en-US" sz="1300" dirty="0"/>
          </a:p>
        </p:txBody>
      </p:sp>
      <p:sp>
        <p:nvSpPr>
          <p:cNvPr id="13" name="Text 11"/>
          <p:cNvSpPr/>
          <p:nvPr/>
        </p:nvSpPr>
        <p:spPr>
          <a:xfrm>
            <a:off x="640080" y="4114800"/>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06</a:t>
            </a:r>
            <a:endParaRPr lang="en-US" sz="1300" dirty="0"/>
          </a:p>
        </p:txBody>
      </p:sp>
      <p:sp>
        <p:nvSpPr>
          <p:cNvPr id="14" name="Text 12"/>
          <p:cNvSpPr/>
          <p:nvPr/>
        </p:nvSpPr>
        <p:spPr>
          <a:xfrm>
            <a:off x="1143000" y="4114800"/>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Signature électronique</a:t>
            </a:r>
            <a:endParaRPr lang="en-US" sz="1300" dirty="0"/>
          </a:p>
        </p:txBody>
      </p:sp>
      <p:sp>
        <p:nvSpPr>
          <p:cNvPr id="15" name="Text 13"/>
          <p:cNvSpPr/>
          <p:nvPr/>
        </p:nvSpPr>
        <p:spPr>
          <a:xfrm>
            <a:off x="640080" y="4681728"/>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07</a:t>
            </a:r>
            <a:endParaRPr lang="en-US" sz="1300" dirty="0"/>
          </a:p>
        </p:txBody>
      </p:sp>
      <p:sp>
        <p:nvSpPr>
          <p:cNvPr id="16" name="Text 14"/>
          <p:cNvSpPr/>
          <p:nvPr/>
        </p:nvSpPr>
        <p:spPr>
          <a:xfrm>
            <a:off x="1143000" y="4681728"/>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Chantiers</a:t>
            </a:r>
            <a:endParaRPr lang="en-US" sz="1300" dirty="0"/>
          </a:p>
        </p:txBody>
      </p:sp>
      <p:sp>
        <p:nvSpPr>
          <p:cNvPr id="17" name="Text 15"/>
          <p:cNvSpPr/>
          <p:nvPr/>
        </p:nvSpPr>
        <p:spPr>
          <a:xfrm>
            <a:off x="640080" y="5248656"/>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08</a:t>
            </a:r>
            <a:endParaRPr lang="en-US" sz="1300" dirty="0"/>
          </a:p>
        </p:txBody>
      </p:sp>
      <p:sp>
        <p:nvSpPr>
          <p:cNvPr id="18" name="Text 16"/>
          <p:cNvSpPr/>
          <p:nvPr/>
        </p:nvSpPr>
        <p:spPr>
          <a:xfrm>
            <a:off x="1143000" y="5248656"/>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Équipe (Ouvriers &amp; Sous-traitants)</a:t>
            </a:r>
            <a:endParaRPr lang="en-US" sz="1300" dirty="0"/>
          </a:p>
        </p:txBody>
      </p:sp>
      <p:sp>
        <p:nvSpPr>
          <p:cNvPr id="19" name="Text 17"/>
          <p:cNvSpPr/>
          <p:nvPr/>
        </p:nvSpPr>
        <p:spPr>
          <a:xfrm>
            <a:off x="640080" y="5815584"/>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09</a:t>
            </a:r>
            <a:endParaRPr lang="en-US" sz="1300" dirty="0"/>
          </a:p>
        </p:txBody>
      </p:sp>
      <p:sp>
        <p:nvSpPr>
          <p:cNvPr id="20" name="Text 18"/>
          <p:cNvSpPr/>
          <p:nvPr/>
        </p:nvSpPr>
        <p:spPr>
          <a:xfrm>
            <a:off x="1143000" y="5815584"/>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Calendrier &amp; Planning</a:t>
            </a:r>
            <a:endParaRPr lang="en-US" sz="1300" dirty="0"/>
          </a:p>
        </p:txBody>
      </p:sp>
      <p:sp>
        <p:nvSpPr>
          <p:cNvPr id="21" name="Text 19"/>
          <p:cNvSpPr/>
          <p:nvPr/>
        </p:nvSpPr>
        <p:spPr>
          <a:xfrm>
            <a:off x="640080" y="6382512"/>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10</a:t>
            </a:r>
            <a:endParaRPr lang="en-US" sz="1300" dirty="0"/>
          </a:p>
        </p:txBody>
      </p:sp>
      <p:sp>
        <p:nvSpPr>
          <p:cNvPr id="22" name="Text 20"/>
          <p:cNvSpPr/>
          <p:nvPr/>
        </p:nvSpPr>
        <p:spPr>
          <a:xfrm>
            <a:off x="1143000" y="6382512"/>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Fournitures</a:t>
            </a:r>
            <a:endParaRPr lang="en-US" sz="1300" dirty="0"/>
          </a:p>
        </p:txBody>
      </p:sp>
      <p:sp>
        <p:nvSpPr>
          <p:cNvPr id="23" name="Text 21"/>
          <p:cNvSpPr/>
          <p:nvPr/>
        </p:nvSpPr>
        <p:spPr>
          <a:xfrm>
            <a:off x="640080" y="6949440"/>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11</a:t>
            </a:r>
            <a:endParaRPr lang="en-US" sz="1300" dirty="0"/>
          </a:p>
        </p:txBody>
      </p:sp>
      <p:sp>
        <p:nvSpPr>
          <p:cNvPr id="24" name="Text 22"/>
          <p:cNvSpPr/>
          <p:nvPr/>
        </p:nvSpPr>
        <p:spPr>
          <a:xfrm>
            <a:off x="1143000" y="6949440"/>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Facturation</a:t>
            </a:r>
            <a:endParaRPr lang="en-US" sz="1300" dirty="0"/>
          </a:p>
        </p:txBody>
      </p:sp>
      <p:sp>
        <p:nvSpPr>
          <p:cNvPr id="25" name="Text 23"/>
          <p:cNvSpPr/>
          <p:nvPr/>
        </p:nvSpPr>
        <p:spPr>
          <a:xfrm>
            <a:off x="6217920" y="1280160"/>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12</a:t>
            </a:r>
            <a:endParaRPr lang="en-US" sz="1300" dirty="0"/>
          </a:p>
        </p:txBody>
      </p:sp>
      <p:sp>
        <p:nvSpPr>
          <p:cNvPr id="26" name="Text 24"/>
          <p:cNvSpPr/>
          <p:nvPr/>
        </p:nvSpPr>
        <p:spPr>
          <a:xfrm>
            <a:off x="6720840" y="1280160"/>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Interventions</a:t>
            </a:r>
            <a:endParaRPr lang="en-US" sz="1300" dirty="0"/>
          </a:p>
        </p:txBody>
      </p:sp>
      <p:sp>
        <p:nvSpPr>
          <p:cNvPr id="27" name="Text 25"/>
          <p:cNvSpPr/>
          <p:nvPr/>
        </p:nvSpPr>
        <p:spPr>
          <a:xfrm>
            <a:off x="6217920" y="1847088"/>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13</a:t>
            </a:r>
            <a:endParaRPr lang="en-US" sz="1300" dirty="0"/>
          </a:p>
        </p:txBody>
      </p:sp>
      <p:sp>
        <p:nvSpPr>
          <p:cNvPr id="28" name="Text 26"/>
          <p:cNvSpPr/>
          <p:nvPr/>
        </p:nvSpPr>
        <p:spPr>
          <a:xfrm>
            <a:off x="6720840" y="1847088"/>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Notifications</a:t>
            </a:r>
            <a:endParaRPr lang="en-US" sz="1300" dirty="0"/>
          </a:p>
        </p:txBody>
      </p:sp>
      <p:sp>
        <p:nvSpPr>
          <p:cNvPr id="29" name="Text 27"/>
          <p:cNvSpPr/>
          <p:nvPr/>
        </p:nvSpPr>
        <p:spPr>
          <a:xfrm>
            <a:off x="6217920" y="2414016"/>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14</a:t>
            </a:r>
            <a:endParaRPr lang="en-US" sz="1300" dirty="0"/>
          </a:p>
        </p:txBody>
      </p:sp>
      <p:sp>
        <p:nvSpPr>
          <p:cNvPr id="30" name="Text 28"/>
          <p:cNvSpPr/>
          <p:nvPr/>
        </p:nvSpPr>
        <p:spPr>
          <a:xfrm>
            <a:off x="6720840" y="2414016"/>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Archives</a:t>
            </a:r>
            <a:endParaRPr lang="en-US" sz="1300" dirty="0"/>
          </a:p>
        </p:txBody>
      </p:sp>
      <p:sp>
        <p:nvSpPr>
          <p:cNvPr id="31" name="Text 29"/>
          <p:cNvSpPr/>
          <p:nvPr/>
        </p:nvSpPr>
        <p:spPr>
          <a:xfrm>
            <a:off x="6217920" y="2980944"/>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15</a:t>
            </a:r>
            <a:endParaRPr lang="en-US" sz="1300" dirty="0"/>
          </a:p>
        </p:txBody>
      </p:sp>
      <p:sp>
        <p:nvSpPr>
          <p:cNvPr id="32" name="Text 30"/>
          <p:cNvSpPr/>
          <p:nvPr/>
        </p:nvSpPr>
        <p:spPr>
          <a:xfrm>
            <a:off x="6720840" y="2980944"/>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Espace Client Particulier</a:t>
            </a:r>
            <a:endParaRPr lang="en-US" sz="1300" dirty="0"/>
          </a:p>
        </p:txBody>
      </p:sp>
      <p:sp>
        <p:nvSpPr>
          <p:cNvPr id="33" name="Text 31"/>
          <p:cNvSpPr/>
          <p:nvPr/>
        </p:nvSpPr>
        <p:spPr>
          <a:xfrm>
            <a:off x="6217920" y="3547872"/>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16</a:t>
            </a:r>
            <a:endParaRPr lang="en-US" sz="1300" dirty="0"/>
          </a:p>
        </p:txBody>
      </p:sp>
      <p:sp>
        <p:nvSpPr>
          <p:cNvPr id="34" name="Text 32"/>
          <p:cNvSpPr/>
          <p:nvPr/>
        </p:nvSpPr>
        <p:spPr>
          <a:xfrm>
            <a:off x="6720840" y="3547872"/>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Espace Ouvrier</a:t>
            </a:r>
            <a:endParaRPr lang="en-US" sz="1300" dirty="0"/>
          </a:p>
        </p:txBody>
      </p:sp>
      <p:sp>
        <p:nvSpPr>
          <p:cNvPr id="35" name="Text 33"/>
          <p:cNvSpPr/>
          <p:nvPr/>
        </p:nvSpPr>
        <p:spPr>
          <a:xfrm>
            <a:off x="6217920" y="4114800"/>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17</a:t>
            </a:r>
            <a:endParaRPr lang="en-US" sz="1300" dirty="0"/>
          </a:p>
        </p:txBody>
      </p:sp>
      <p:sp>
        <p:nvSpPr>
          <p:cNvPr id="36" name="Text 34"/>
          <p:cNvSpPr/>
          <p:nvPr/>
        </p:nvSpPr>
        <p:spPr>
          <a:xfrm>
            <a:off x="6720840" y="4114800"/>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Paramètres</a:t>
            </a:r>
            <a:endParaRPr lang="en-US" sz="1300" dirty="0"/>
          </a:p>
        </p:txBody>
      </p:sp>
      <p:sp>
        <p:nvSpPr>
          <p:cNvPr id="37" name="Text 35"/>
          <p:cNvSpPr/>
          <p:nvPr/>
        </p:nvSpPr>
        <p:spPr>
          <a:xfrm>
            <a:off x="6217920" y="4681728"/>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18</a:t>
            </a:r>
            <a:endParaRPr lang="en-US" sz="1300" dirty="0"/>
          </a:p>
        </p:txBody>
      </p:sp>
      <p:sp>
        <p:nvSpPr>
          <p:cNvPr id="38" name="Text 36"/>
          <p:cNvSpPr/>
          <p:nvPr/>
        </p:nvSpPr>
        <p:spPr>
          <a:xfrm>
            <a:off x="6720840" y="4681728"/>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Abonnement</a:t>
            </a:r>
            <a:endParaRPr lang="en-US" sz="1300" dirty="0"/>
          </a:p>
        </p:txBody>
      </p:sp>
      <p:sp>
        <p:nvSpPr>
          <p:cNvPr id="39" name="Text 37"/>
          <p:cNvSpPr/>
          <p:nvPr/>
        </p:nvSpPr>
        <p:spPr>
          <a:xfrm>
            <a:off x="6217920" y="5248656"/>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19</a:t>
            </a:r>
            <a:endParaRPr lang="en-US" sz="1300" dirty="0"/>
          </a:p>
        </p:txBody>
      </p:sp>
      <p:sp>
        <p:nvSpPr>
          <p:cNvPr id="40" name="Text 38"/>
          <p:cNvSpPr/>
          <p:nvPr/>
        </p:nvSpPr>
        <p:spPr>
          <a:xfrm>
            <a:off x="6720840" y="5248656"/>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Marketplace</a:t>
            </a:r>
            <a:endParaRPr lang="en-US" sz="1300" dirty="0"/>
          </a:p>
        </p:txBody>
      </p:sp>
      <p:sp>
        <p:nvSpPr>
          <p:cNvPr id="41" name="Text 39"/>
          <p:cNvSpPr/>
          <p:nvPr/>
        </p:nvSpPr>
        <p:spPr>
          <a:xfrm>
            <a:off x="6217920" y="5815584"/>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20</a:t>
            </a:r>
            <a:endParaRPr lang="en-US" sz="1300" dirty="0"/>
          </a:p>
        </p:txBody>
      </p:sp>
      <p:sp>
        <p:nvSpPr>
          <p:cNvPr id="42" name="Text 40"/>
          <p:cNvSpPr/>
          <p:nvPr/>
        </p:nvSpPr>
        <p:spPr>
          <a:xfrm>
            <a:off x="6720840" y="5815584"/>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Sécurité, données et multilinguisme</a:t>
            </a:r>
            <a:endParaRPr lang="en-US" sz="1300" dirty="0"/>
          </a:p>
        </p:txBody>
      </p:sp>
      <p:sp>
        <p:nvSpPr>
          <p:cNvPr id="43" name="Text 41"/>
          <p:cNvSpPr/>
          <p:nvPr/>
        </p:nvSpPr>
        <p:spPr>
          <a:xfrm>
            <a:off x="6217920" y="6382512"/>
            <a:ext cx="457200" cy="457200"/>
          </a:xfrm>
          <a:prstGeom prst="rect">
            <a:avLst/>
          </a:prstGeom>
          <a:noFill/>
          <a:ln/>
        </p:spPr>
        <p:txBody>
          <a:bodyPr wrap="square" rtlCol="0" anchor="ctr"/>
          <a:lstStyle/>
          <a:p>
            <a:pPr indent="0" marL="0">
              <a:buNone/>
            </a:pPr>
            <a:r>
              <a:rPr lang="en-US" sz="1300" b="1" dirty="0">
                <a:solidFill>
                  <a:srgbClr val="C9A96A"/>
                </a:solidFill>
                <a:latin typeface="Georgia" pitchFamily="34" charset="0"/>
                <a:ea typeface="Georgia" pitchFamily="34" charset="-122"/>
                <a:cs typeface="Georgia" pitchFamily="34" charset="-120"/>
              </a:rPr>
              <a:t>21</a:t>
            </a:r>
            <a:endParaRPr lang="en-US" sz="1300" dirty="0"/>
          </a:p>
        </p:txBody>
      </p:sp>
      <p:sp>
        <p:nvSpPr>
          <p:cNvPr id="44" name="Text 42"/>
          <p:cNvSpPr/>
          <p:nvPr/>
        </p:nvSpPr>
        <p:spPr>
          <a:xfrm>
            <a:off x="6720840" y="6382512"/>
            <a:ext cx="4846320" cy="457200"/>
          </a:xfrm>
          <a:prstGeom prst="rect">
            <a:avLst/>
          </a:prstGeom>
          <a:noFill/>
          <a:ln/>
        </p:spPr>
        <p:txBody>
          <a:bodyPr wrap="square" rtlCol="0" anchor="t"/>
          <a:lstStyle/>
          <a:p>
            <a:pPr indent="0" marL="0">
              <a:buNone/>
            </a:pPr>
            <a:r>
              <a:rPr lang="en-US" sz="1300" dirty="0">
                <a:solidFill>
                  <a:srgbClr val="1B1F3B"/>
                </a:solidFill>
                <a:latin typeface="Segoe UI" pitchFamily="34" charset="0"/>
                <a:ea typeface="Segoe UI" pitchFamily="34" charset="-122"/>
                <a:cs typeface="Segoe UI" pitchFamily="34" charset="-120"/>
              </a:rPr>
              <a:t>Évolutions récentes — Koji Pro (Octobre 2026)</a:t>
            </a:r>
            <a:endParaRPr lang="en-US" sz="1300" dirty="0"/>
          </a:p>
        </p:txBody>
      </p:sp>
      <p:sp>
        <p:nvSpPr>
          <p:cNvPr id="45" name="Text 43"/>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46" name="Text 44"/>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01</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Architecture technique &amp; outils</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Vue d'ensemble des langages, frameworks et services utilisés pour construire et faire fonctionner Koji Web.</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ARCHITECTURE TECHNIQUE &amp; OUTILS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Frontend</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Interface construite avec React (Next.js, App Router), en JavaScript. Chaque page est un composant client ("use client") qui appelle les API internes de l'application.</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Next.js (App Router), React, CSS pur (fichier global app/globals.css, sans framework CSS tiers), système de traduction interne (5 langues).</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Backend</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La logique serveur (création/consultation/modification des données) est exposée sous forme d'API internes à l'application, une route par fonctionnalité (devis, chantiers, équipe, factures, interventions, notifications...).</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Next.js API Routes (Node.js), organisées sous app/api/*, chacune avec ses méthodes GET/POST/PATCH.</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ARCHITECTURE TECHNIQUE &amp; OUTILS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Base de données</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Les données sont réparties entre une base partagée avec l'application mobile (devis, chantiers, comptes) et un espace de stockage propre à la version web (équipe, tâches, notifications, dépenses, interventions...).</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Supabase (PostgreSQL managé) pour les tables partagées avec l'app mobile Flutter (quotes, chantiers, comptes) ; un espace de données JSON (table koji_web_state) pour le reste, avec repli automatique sur un fichier local en développement.</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Authentification</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Connexion sécurisée par mot de passe pour l'entreprise et le client particulier, avec renouvellement automatique de la session ; système d'identifiants séparé pour les ouvriers.</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Supabase Auth (email/mot de passe, jetons d'accès/rafraîchissement) pour entreprise et particulier ; identifiant + mot de passe propre à l'application pour les ouvriers (haché, sans dépendre de Supabase).</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ARCHITECTURE TECHNIQUE &amp; OUTILS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Génération de documents (PDF)</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Tous les documents (devis, factures, relevés d'heures, rapports d'intervention) sont produits en PDF téléchargeable, avec l'en-tête et le logo de l'entreprise.</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Générateur de PDF entièrement fait maison en JavaScript (aucune librairie externe) : construction bas niveau du fichier PDF (police, mise en page, images encodées en base64, pagination automatique).</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Emails et SMS</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Envoi d'emails (accès client, identifiants, relances) directement depuis l'application.</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Serveur SMTP (Gmail) via la librairie nodemailer ; file d'attente locale pour les messages non envoyés (secours).</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ARCHITECTURE TECHNIQUE &amp; OUTILS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Multilingue</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L'application est disponible en 5 langues, sélectionnables à tout moment depuis le menu du haut.</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Système de traduction interne (lib/i18n.js) : chaque texte de l'interface existe en français, anglais, arabe (avec sens de lecture droite-à-gauche), allemand et italien.</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Hébergement &amp; déploiement</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L'application est déployée en ligne et mise à jour automatiquement à chaque envoi de code.</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Hébergement Vercel, déploiement automatique (CI/CD) déclenché par chaque envoi (push) sur la branche principale du dépôt GitHub.</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02</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Authentification et gestion des comptes</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Ensemble des écrans permettant de créer un compte, s'y connecter, le récupérer en cas d'oubli, et gérer l'abonnement à l'application.</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AUTHENTIFICATION ET GESTION DES COMPTES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Connexion (Login)</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 écran unique avec 3 onglets : Entreprise, Particulier, Ouvrier. La connexion Entreprise/Particulier se fait en 2 étapes (email puis mot de passe) avec une liste de comptes déjà utilisés sur l'appareil pour se reconnecter rapidement.</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/login ; connexion Entreprise/Particulier via Supabase Auth (API /api/auth/login, /api/auth/client-portal-login) ; connexion Ouvrier via un identifiant propre (API /api/worker-auth).</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Inscription (Signup)</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Formulaire en 2 étapes (email, puis nom/mot de passe avec indicateur de robustesse), avec choix Entreprise/Particulier, puis écran "vérifiez votre email".</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/signup, API /api/auth/signup ; création du compte dans Supabase Auth + envoi d'un email d'activation.</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AUTHENTIFICATION ET GESTION DES COMPTES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Activation du compte</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Lien reçu par email qui active le compte à partir d'un jeton unique, avec états de chargement/succès/erreur.</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/activate, API /api/auth/activate (vérifie et consomme le jeton d'activation).</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Mot de passe oublié</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Formulaire d'envoi d'un lien de réinitialisation par email, séparé Entreprise/Particulier.</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/forgot-password, API /api/auth/forgot-password (génère un lien de récupération Supabase).</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AUTHENTIFICATION ET GESTION DES COMPTES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Réinitialisation du mot de passe</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Écran de saisie d'un nouveau mot de passe, utilisé aussi bien pour l'activation initiale que pour une réinitialisation.</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/set-password, API /api/auth/set-password ; lit le jeton dans l'URL (lien classique ou lien de récupération Supabase).</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Session persistante et reconnexion automatique</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Une fois connecté, l'utilisateur reste connecté ; si sa session expire (environ 1h), elle est renouvelée automatiquement en arrière-plan sans le déconnecter, y compris si l'erreur d'expiration est renvoyée sous une forme inhabituelle.</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lib/client-api.js : jeton stocké dans le navigateur (localStorage), en-tête d'autorisation ajouté à chaque appel, détection d'expiration puis appel à /api/auth/refresh et nouvelle tentative automatique.</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11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AUTHENTIFICATION ET GESTION DES COMPTES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Protection des pages</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Toute page de l'application (hors connexion/inscription) vérifie qu'un utilisateur est bien connecté et le renvoie vers la page de connexion sinon.</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Vérification côté navigateur dans components/Shell.jsx (composant présent sur toutes les pages protégées), et vérification côté serveur sur chaque API sensible.</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Déconnexion</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Bouton "Déconnexion" présent dans le menu latéral (tiroir de navigation), accessible depuis n'importe quelle page.</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Fonction logout() dans components/Shell.jsx : suppression de la session locale puis retour à l'écran de connexion.</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12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AUTHENTIFICATION ET GESTION DES COMPTES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Abonnement / période d'essai</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Période d'essai limitée à 1 devis ; l'entreprise est ensuite invitée à souscrire à la formule unique Koji Pro (devis/chantiers illimités, suivi de chantiers et d'équipe, pointage, calendrier, facturation, signature électronique, carte de visite offerte...), avec une option payante additionnelle 'Site web Koji' et un accès Marketplace annoncé 'bientôt disponible'.</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/abonnement (choix mensuel/annuel + option Site web) ; paiement réel via Stripe Checkout (lib/stripe.js, /api/billing/checkout) ; formule et statut suivis via webhook Stripe (/api/webhooks/stripe) et stockés dans business_info ; gestion/résiliation via le Customer Portal Stripe (/api/billing/portal) ; les comptes créés avant ce système gardent un accès illimité ('grandfathered').</a:t>
            </a:r>
            <a:endParaRPr lang="en-US" sz="1000" dirty="0"/>
          </a:p>
        </p:txBody>
      </p:sp>
      <p:sp>
        <p:nvSpPr>
          <p:cNvPr id="10" name="Text 8"/>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1" name="Text 9"/>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13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03</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Accueil (tableau de bord)</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Page d'atterrissage après connexion : vue d'ensemble de l'activité du jour et accès rapide aux principales actions.</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14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ACCUEIL (TABLEAU DE BORD)</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Message de bienvenue personnalisé</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Affiche "Bonjour [Prénom]" en haut de page, basé sur le nom du compte connecté.</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Lecture du profil utilisateur stocké localement à la connexion.</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"À faire maintenant"</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Liste des tâches et rendez-vous du jour (et à venir), avec possibilité de les marquer comme terminés directement depuis l'accueil.</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Fusion des rendez-vous (API /api/calendar-events) et des tâches (API /api/tasks) filtrés par date, triés chronologiquement.</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15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ACCUEIL (TABLEAU DE BORD)</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Ajout rapide</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Bouton "+Ajouter" ouvrant une fenêtre à 5 choix : Tâche, RDV, Dépense, Note, Intervention. Les 4 premiers se créent directement dans la fenêtre ; "Intervention" ouvre le formulaire dédié en plein écran.</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Composant QuickAddModal dans app/page.jsx ; création via /api/tasks, /api/calendar-events, /api/expenses ; redirection vers /interventions?new=1 pour le type Intervention.</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Chantiers (aperçu)</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Les chantiers actifs les plus récents, avec leur statut, et un lien vers la liste complète.</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API /api/projects, filtrage sur le statut non archivé.</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16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ACCUEIL (TABLEAU DE BORD)</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Devis en cours (aperçu)</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Les devis non encore signés (brouillon, prêt à envoyer, envoyé), avec montant et statut.</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API /api/quotes, filtrage sur le statut.</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Interventions (aperçu)</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Les derniers rapports d'intervention, avec leur statut (À faire / En cours / Terminée), et actions rapides archiver/supprimer directement depuis l'accueil.</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API /api/interventions ; statut calculé automatiquement à partir de la date d'intervention.</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17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ACCUEIL (TABLEAU DE BORD)</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Chiffre d'affaires</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Montant signé, montant facturé et montant restant à facturer, calculés automatiquement.</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Calcul à partir des devis signés (/api/quotes) et des factures émises (/api/invoices).</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Alertes urgentes</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Remontée des signalements urgents envoyés par les ouvriers ou les clients (fuite, incendie, dégât...), directement visibles sur l'accueil.</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API /api/urgent-alerts.</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18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04</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Bibliothèque d'ouvrages</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Catalogue des ouvrages (prestations types) que l'entreprise propose, utilisé pour construire les devis rapidement plutôt que de tout ressaisir à chaque fois.</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19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BIBLIOTHÈQUE D'OUVRAGES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Catalogue d'ouvrages</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Liste des ouvrages disponibles (peinture, carrelage, plomberie...), avec leur famille, temps normatif, unité, et coût de main d'œuvre calculé.</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/bibliotheque-ouvrages ; catalogue initial fourni par data/catalog-ouvrages.json, complété par les ouvrages créés par l'entreprise (API /api/ouvrages).</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Création / édition d'un ouvrage</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Formulaire de création avec famille (au choix libre ou dans la liste existante), temps normatif, unité, taux horaire.</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Le taux horaire du profil entreprise est utilisé par défaut si aucun n'est saisi pour l'ouvrage.</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20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BIBLIOTHÈQUE D'OUVRAGES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Suppression et corbeille</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 ouvrage supprimé est conservé (non définitivement effacé) pour pouvoir être restauré.</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Table deletedOuvrages distincte, gardant une trace des ouvrages supprimés.</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Import de fournitures</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Import de fournitures depuis un fichier ou une URL de fiche produit fournisseur.</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API /api/supplies/import.</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21</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05</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Devis</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Cœur de l'application : composer un devis détaillé (lots, ouvrages, fournitures), l'envoyer au client, le faire signer, puis le transformer automatiquement en chantier suivi.</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22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DEVIS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Historique des devis</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Liste de tous les devis, avec statut (Brouillon, Prêt à envoyer, Envoyé, Signé), montant et client ; le menu "Devis" ramène toujours ici plutôt que vers un nouveau devis vierge.</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Composant DevisHistory.jsx, API /api/quotes.</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Éditeur de devis</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Construction du devis par pièces/lots, chaque lot contenant des ouvrages (issus de la bibliothèque ou saisis à la main), et chaque ouvrage pouvant avoir des sous-ouvrages.</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Composant DevisEditor.jsx (plus de 2500 lignes) — le module le plus important de l'application.</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23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DEVIS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Réorganisation des lots et ouvrages</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Flèches pour monter/descendre un ouvrage dans un lot, ou un lot entier dans le devis.</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Ouvrage au forfait</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 ouvrage peut être chiffré au forfait (montant fixe) plutôt qu'au temps normatif × taux horaire.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24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DEVIS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Fournitures liées à un ouvrage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Ajout de fournitures à un ouvrage, avec auto-remplissage depuis la bibliothèque de fournitures et calcul du coût matière.</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Majorations, réductions et TVA</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Application de majorations/minorations (avec motif) au niveau du devis ou d'un ouvrage, et choix du taux de TVA appliqué.</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25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DEVIS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Numérotation et versions</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Chaque devis a un numéro et un numéro de version, incrémenté automatiquement à chaque enregistrement manuel d'un devis déjà créé.</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Génération PDF / aperçu</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Génération du devis final en PDF, avec mentions légales du chantier et détail des désignations, téléchargeable ou prévisualisable.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26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DEVIS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Envoi au client</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Le devis peut être envoyé par email au client, avec génération d'un lien de signature.</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Transformation en chantier</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Une fois signé par le client, le devis devient automatiquement un chantier suivi dans le module Chantiers, sans ressaisie.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27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DEVIS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Brouillon et reprise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 devis non terminé reste en brouillon et peut être repris plus tard depuis l'accueil ("Finir votre chantier") ou l'historique.</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28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06</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Signature électronique</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Permet à l'entreprise de disposer de sa propre signature réutilisable, et au client de signer un devis à distance, sans papier.</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29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SIGNATURE ÉLECTRONIQUE</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"Ma Signature"</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Page permettant à l'entreprise d'enregistrer sa signature : soit dessinée à la souris/au doigt, soit importée depuis une image.</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/signature ; dessin sur &amp;lt;canvas&amp;gt; exporté en image, ou import de fichier ; sauvegarde via API /api/signature-settings.</a:t>
            </a:r>
            <a:endParaRPr lang="en-US" sz="1000" dirty="0"/>
          </a:p>
        </p:txBody>
      </p:sp>
      <p:sp>
        <p:nvSpPr>
          <p:cNvPr id="10" name="Shape 8"/>
          <p:cNvSpPr/>
          <p:nvPr/>
        </p:nvSpPr>
        <p:spPr>
          <a:xfrm>
            <a:off x="640080" y="3813048"/>
            <a:ext cx="10881360" cy="1737360"/>
          </a:xfrm>
          <a:prstGeom prst="roundRect">
            <a:avLst>
              <a:gd name="adj" fmla="val 3158"/>
            </a:avLst>
          </a:prstGeom>
          <a:solidFill>
            <a:srgbClr val="FFFFFF"/>
          </a:solidFill>
          <a:ln w="12700">
            <a:solidFill>
              <a:srgbClr val="E4DCCB"/>
            </a:solidFill>
            <a:prstDash val="solid"/>
          </a:ln>
        </p:spPr>
      </p:sp>
      <p:sp>
        <p:nvSpPr>
          <p:cNvPr id="11" name="Shape 9"/>
          <p:cNvSpPr/>
          <p:nvPr/>
        </p:nvSpPr>
        <p:spPr>
          <a:xfrm>
            <a:off x="640080" y="3813048"/>
            <a:ext cx="54864" cy="173736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Lien de signature client</a:t>
            </a:r>
            <a:endParaRPr lang="en-US" sz="1500" dirty="0"/>
          </a:p>
        </p:txBody>
      </p:sp>
      <p:sp>
        <p:nvSpPr>
          <p:cNvPr id="13" name="Text 11"/>
          <p:cNvSpPr/>
          <p:nvPr/>
        </p:nvSpPr>
        <p:spPr>
          <a:xfrm>
            <a:off x="914400" y="434340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Depuis "Ma Signature", génération et copie du lien de signature à envoyer au client pour un devis donné.</a:t>
            </a:r>
            <a:endParaRPr lang="en-US" sz="1150" dirty="0"/>
          </a:p>
        </p:txBody>
      </p:sp>
      <p:sp>
        <p:nvSpPr>
          <p:cNvPr id="14" name="Text 12"/>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5" name="Text 13"/>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30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SIGNATURE ÉLECTRONIQUE</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Page de signature (client)</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Page publique (sans compte requis) affichant le détail du devis et un formulaire de signature (nom, email, téléphone, lieu, message, case de consentement).</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publique /signature/[jeton] ; API /api/signatures/[jeton] ; accès via une clé technique dédiée (le client n'a pas de session Koji).</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Connexion par identifiant à la signature</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Alternative pour un client déjà connu : connexion par identifiant + mot de passe pour retrouver directement le devis à signer.</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/signature/login, API /api/auth/signature-login.</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31</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SIGNATURE ÉLECTRONIQUE</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Accès automatique au portail client</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Une fois le devis signé, un identifiant et un mot de passe pour le portail client particulier sont générés et envoyés automatiquement par email.</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32</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07</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Chantiers</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Suivi des chantiers en cours : chaque devis signé devient un chantier ; ce module permet de suivre l'avancement ouvrage par ouvrage, l'équipe, les dépenses et le budget.</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33</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CHANTIERS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Liste des chantiers</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Vue d'ensemble de tous les chantiers, avec statut et accès rapide à chacun.</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/chantiers, API /api/projects (table Supabase chantiers).</a:t>
            </a:r>
            <a:endParaRPr lang="en-US" sz="1000" dirty="0"/>
          </a:p>
        </p:txBody>
      </p:sp>
      <p:sp>
        <p:nvSpPr>
          <p:cNvPr id="10" name="Shape 8"/>
          <p:cNvSpPr/>
          <p:nvPr/>
        </p:nvSpPr>
        <p:spPr>
          <a:xfrm>
            <a:off x="640080" y="3813048"/>
            <a:ext cx="10881360" cy="1737360"/>
          </a:xfrm>
          <a:prstGeom prst="roundRect">
            <a:avLst>
              <a:gd name="adj" fmla="val 3158"/>
            </a:avLst>
          </a:prstGeom>
          <a:solidFill>
            <a:srgbClr val="FFFFFF"/>
          </a:solidFill>
          <a:ln w="12700">
            <a:solidFill>
              <a:srgbClr val="E4DCCB"/>
            </a:solidFill>
            <a:prstDash val="solid"/>
          </a:ln>
        </p:spPr>
      </p:sp>
      <p:sp>
        <p:nvSpPr>
          <p:cNvPr id="11" name="Shape 9"/>
          <p:cNvSpPr/>
          <p:nvPr/>
        </p:nvSpPr>
        <p:spPr>
          <a:xfrm>
            <a:off x="640080" y="3813048"/>
            <a:ext cx="54864" cy="173736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Écran de choix avant signature</a:t>
            </a:r>
            <a:endParaRPr lang="en-US" sz="1500" dirty="0"/>
          </a:p>
        </p:txBody>
      </p:sp>
      <p:sp>
        <p:nvSpPr>
          <p:cNvPr id="13" name="Text 11"/>
          <p:cNvSpPr/>
          <p:nvPr/>
        </p:nvSpPr>
        <p:spPr>
          <a:xfrm>
            <a:off x="914400" y="434340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Pour un chantier dont le devis n'est pas encore signé, un écran propose "Modifier le devis" ou "Commencer le chantier", au lieu d'aller directement au suivi.</a:t>
            </a:r>
            <a:endParaRPr lang="en-US" sz="1150" dirty="0"/>
          </a:p>
        </p:txBody>
      </p:sp>
      <p:sp>
        <p:nvSpPr>
          <p:cNvPr id="14" name="Text 12"/>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5" name="Text 13"/>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34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CHANTIERS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Fiche chantier</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Détail d'un chantier : liste des ouvrages du devis, équipe assignée, rendez-vous, budget, documents et messages, avec navigation restaurée automatiquement après un rafraîchissement de page.</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Fiche ouvrage</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Détail d'un ouvrage du chantier : statut (à faire / en cours / terminé / validé), équipe assignée, dates, et prix validé par le client.</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35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CHANTIERS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Finances de l'ouvrage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Calcul automatique, pour chaque ouvrage, du prix validé, des dépenses associées (fournitures, factures, salaires) et de la marge (ce qui a été gagné).</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Ajout rapide sur un ouvrage</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Bouton permettant d'ajouter directement, depuis la fiche ouvrage, un ouvrier/sous-traitant, une dépense, ou une note pour le client/les ouvriers.</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36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CHANTIERS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Planification d'un ouvrage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Assignation de l'équipe à un ouvrage, dates de début/fin, et éventuel rendez-vous lié.</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Budget du chantier</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Suivi budgétaire estimé/réel par poste (main d'œuvre, fournitures, budget global), avec calcul automatique des dépenses totales et de la marge du chantier à partir de toutes les dépenses enregistrées.</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37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CHANTIERS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Documents et messages du chantier</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Documents liés au chantier (photos, factures, notes) et fil de messages avec le client (notes envoyées, réponses du client, pièces jointes).</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Archivage</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 chantier terminé peut être archivé, avec conservation de son historique.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38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08</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Équipe (Ouvriers &amp; Sous-traitants)</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Gestion du personnel de l'entreprise, de ses accès au portail ouvrier, et suivi de ses heures travaillées pour la paie.</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39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ÉQUIPE (OUVRIERS &amp; SOUS-TRAITANTS)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Fiches Ouvrier / Sous-traitant</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Création et édition d'une fiche personnel : coordonnées, métier, disponibilité, taux horaire, photo ; pour un sous-traitant, informations d'entreprise (SIRET) et liaison à un ou plusieurs chantiers/devis/ouvrages.</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/equipe, API /api/workers.</a:t>
            </a:r>
            <a:endParaRPr lang="en-US" sz="1000" dirty="0"/>
          </a:p>
        </p:txBody>
      </p:sp>
      <p:sp>
        <p:nvSpPr>
          <p:cNvPr id="10" name="Shape 8"/>
          <p:cNvSpPr/>
          <p:nvPr/>
        </p:nvSpPr>
        <p:spPr>
          <a:xfrm>
            <a:off x="640080" y="3813048"/>
            <a:ext cx="10881360" cy="1737360"/>
          </a:xfrm>
          <a:prstGeom prst="roundRect">
            <a:avLst>
              <a:gd name="adj" fmla="val 3158"/>
            </a:avLst>
          </a:prstGeom>
          <a:solidFill>
            <a:srgbClr val="FFFFFF"/>
          </a:solidFill>
          <a:ln w="12700">
            <a:solidFill>
              <a:srgbClr val="E4DCCB"/>
            </a:solidFill>
            <a:prstDash val="solid"/>
          </a:ln>
        </p:spPr>
      </p:sp>
      <p:sp>
        <p:nvSpPr>
          <p:cNvPr id="11" name="Shape 9"/>
          <p:cNvSpPr/>
          <p:nvPr/>
        </p:nvSpPr>
        <p:spPr>
          <a:xfrm>
            <a:off x="640080" y="3813048"/>
            <a:ext cx="54864" cy="173736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Carte d'ajout</a:t>
            </a:r>
            <a:endParaRPr lang="en-US" sz="1500" dirty="0"/>
          </a:p>
        </p:txBody>
      </p:sp>
      <p:sp>
        <p:nvSpPr>
          <p:cNvPr id="13" name="Text 11"/>
          <p:cNvSpPr/>
          <p:nvPr/>
        </p:nvSpPr>
        <p:spPr>
          <a:xfrm>
            <a:off x="914400" y="434340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Bouton flottant "+" ouvrant une carte avec 3 choix : Ouvrier, Sous-traitant, ou Planning.</a:t>
            </a:r>
            <a:endParaRPr lang="en-US" sz="1150" dirty="0"/>
          </a:p>
        </p:txBody>
      </p:sp>
      <p:sp>
        <p:nvSpPr>
          <p:cNvPr id="14" name="Text 12"/>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5" name="Text 13"/>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40</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ÉQUIPE (OUVRIERS &amp; SOUS-TRAITANTS)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Accès au portail ouvrier</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Génération d'un identifiant et d'un mot de passe provisoire pour que l'ouvrier accède à son propre portail, avec possibilité de régénérer les identifiants et d'activer/désactiver l'accès.</a:t>
            </a:r>
            <a:endParaRPr lang="en-US" sz="1150" dirty="0"/>
          </a:p>
        </p:txBody>
      </p:sp>
      <p:sp>
        <p:nvSpPr>
          <p:cNvPr id="8" name="Shape 6"/>
          <p:cNvSpPr/>
          <p:nvPr/>
        </p:nvSpPr>
        <p:spPr>
          <a:xfrm>
            <a:off x="640080" y="2944368"/>
            <a:ext cx="10881360" cy="2606040"/>
          </a:xfrm>
          <a:prstGeom prst="roundRect">
            <a:avLst>
              <a:gd name="adj" fmla="val 2105"/>
            </a:avLst>
          </a:prstGeom>
          <a:solidFill>
            <a:srgbClr val="FFFFFF"/>
          </a:solidFill>
          <a:ln w="12700">
            <a:solidFill>
              <a:srgbClr val="E4DCCB"/>
            </a:solidFill>
            <a:prstDash val="solid"/>
          </a:ln>
        </p:spPr>
      </p:sp>
      <p:sp>
        <p:nvSpPr>
          <p:cNvPr id="9" name="Shape 7"/>
          <p:cNvSpPr/>
          <p:nvPr/>
        </p:nvSpPr>
        <p:spPr>
          <a:xfrm>
            <a:off x="640080" y="2944368"/>
            <a:ext cx="54864" cy="260604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Planning / pointage des heures</a:t>
            </a:r>
            <a:endParaRPr lang="en-US" sz="1500" dirty="0"/>
          </a:p>
        </p:txBody>
      </p:sp>
      <p:sp>
        <p:nvSpPr>
          <p:cNvPr id="11" name="Text 9"/>
          <p:cNvSpPr/>
          <p:nvPr/>
        </p:nvSpPr>
        <p:spPr>
          <a:xfrm>
            <a:off x="914400" y="347472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Suivi hebdomadaire des heures par ouvrier, avec 6 types de saisie possibles : heures de travail, jour de travail, forfait, ouvrage, passage, déplacement, chacun avec une date et un montant.</a:t>
            </a:r>
            <a:endParaRPr lang="en-US" sz="1150" dirty="0"/>
          </a:p>
        </p:txBody>
      </p:sp>
      <p:sp>
        <p:nvSpPr>
          <p:cNvPr id="12" name="Text 10"/>
          <p:cNvSpPr/>
          <p:nvPr/>
        </p:nvSpPr>
        <p:spPr>
          <a:xfrm>
            <a:off x="914400" y="468172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3" name="Text 11"/>
          <p:cNvSpPr/>
          <p:nvPr/>
        </p:nvSpPr>
        <p:spPr>
          <a:xfrm>
            <a:off x="914400" y="492861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API /api/attendance ; le montant des heures de travail est calculé automatiquement à partir du taux horaire de l'ouvrier.</a:t>
            </a:r>
            <a:endParaRPr lang="en-US" sz="1000" dirty="0"/>
          </a:p>
        </p:txBody>
      </p:sp>
      <p:sp>
        <p:nvSpPr>
          <p:cNvPr id="14" name="Text 12"/>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5" name="Text 13"/>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41</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ÉQUIPE (OUVRIERS &amp; SOUS-TRAITANTS)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Heures contractuelles et alertes</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Chaque ouvrier a un nombre d'heures contractuelles par semaine (35h par défaut) ; une alerte est envoyée automatiquement à l'entreprise si les heures réellement travaillées sur une semaine terminée sont trop hautes ou trop basses par rapport au contrat.</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Export PDF du relevé d'heures</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Génération d'un PDF mensuel par ouvrier détaillant chaque journée/type de pointage, les totaux hebdomadaires, et le total du mois en heures et en montant, pour la comptabilité et la paie.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42</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ÉQUIPE (OUVRIERS &amp; SOUS-TRAITANTS)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Calendrier de l'équipe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Cartes et tâches cliquables avec édition d'un événement directement depuis sa fiche.</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43</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09</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Calendrier &amp; Planning</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Vision temporelle de l'activité : rendez-vous d'un côté, assignation des ouvriers aux ouvrages de l'autre.</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44</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CALENDRIER &amp; PLANNING</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Calendrier</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Vue calendrier des rendez-vous (client, chantier, urgence, maintenance) et des tâches planifiées.</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/calendrier, API /api/calendar-events.</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Planning (assignation)</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Sélection d'un chantier, liste de ses tâches, et assignation des ouvriers/sous-traitants à chaque tâche.</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/planning, API /api/tasks (action assign).</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45</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CALENDRIER &amp; PLANNING</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Création rapide de tâche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Ajout d'une nouvelle tâche directement depuis le planning (libellé, pièce, date d'échéance).</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46</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10</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Fournitures</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Catalogue des matériaux et produits utilisés dans les devis et achetés auprès des fournisseurs.</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47</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FOURNITURES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Gestion des fournitures</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Création, édition, catégorisation des fournitures (matériaux), avec prix d'achat/de vente.</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/fournitures, API /api/supplies, /api/categories.</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Gestion des fournisseurs</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Répertoire des fournisseurs associés aux fournitures.</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API /api/suppliers.</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48</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FOURNITURES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Import depuis une URL</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Ajout rapide d'une fourniture en collant le lien d'une fiche produit fournisseur.</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Indication d'affichage</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 indice précise, sous la description, que celle-ci sera visible sur le devis et la facture envoyés au client.</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49</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11</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Facturation</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Émission des factures à partir des devis signés (ou des interventions), avec suivi du montant restant à facturer.</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50</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FACTURATION</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Création de facture</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Facture générée à partir d'un devis signé, avec choix du mode de montant : fixe, pourcentage, acompte, ou solde restant.</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/facturation, API /api/invoices.</a:t>
            </a:r>
            <a:endParaRPr lang="en-US" sz="1000" dirty="0"/>
          </a:p>
        </p:txBody>
      </p:sp>
      <p:sp>
        <p:nvSpPr>
          <p:cNvPr id="10" name="Shape 8"/>
          <p:cNvSpPr/>
          <p:nvPr/>
        </p:nvSpPr>
        <p:spPr>
          <a:xfrm>
            <a:off x="640080" y="3813048"/>
            <a:ext cx="10881360" cy="1737360"/>
          </a:xfrm>
          <a:prstGeom prst="roundRect">
            <a:avLst>
              <a:gd name="adj" fmla="val 3158"/>
            </a:avLst>
          </a:prstGeom>
          <a:solidFill>
            <a:srgbClr val="FFFFFF"/>
          </a:solidFill>
          <a:ln w="12700">
            <a:solidFill>
              <a:srgbClr val="E4DCCB"/>
            </a:solidFill>
            <a:prstDash val="solid"/>
          </a:ln>
        </p:spPr>
      </p:sp>
      <p:sp>
        <p:nvSpPr>
          <p:cNvPr id="11" name="Shape 9"/>
          <p:cNvSpPr/>
          <p:nvPr/>
        </p:nvSpPr>
        <p:spPr>
          <a:xfrm>
            <a:off x="640080" y="3813048"/>
            <a:ext cx="54864" cy="173736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Facturation directe d'une intervention</a:t>
            </a:r>
            <a:endParaRPr lang="en-US" sz="1500" dirty="0"/>
          </a:p>
        </p:txBody>
      </p:sp>
      <p:sp>
        <p:nvSpPr>
          <p:cNvPr id="13" name="Text 11"/>
          <p:cNvSpPr/>
          <p:nvPr/>
        </p:nvSpPr>
        <p:spPr>
          <a:xfrm>
            <a:off x="914400" y="434340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Une facture peut aussi être créée directement depuis un rapport d'intervention (sans devis signé derrière), avec un montant saisi manuellement.</a:t>
            </a:r>
            <a:endParaRPr lang="en-US" sz="1150" dirty="0"/>
          </a:p>
        </p:txBody>
      </p:sp>
      <p:sp>
        <p:nvSpPr>
          <p:cNvPr id="14" name="Text 12"/>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5" name="Text 13"/>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51</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FACTURATION</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Suivi du solde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Calcul automatique du montant déjà facturé, du montant restant, et du statut (à facturer / partielle / soldée).</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Statuts de facture</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Brouillon, Émise, Payée, Annulée, avec actions dédiées pour faire évoluer chaque facture.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52</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FACTURATION</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Export PDF</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Chaque facture (issue d'un devis ou d'une intervention) peut être téléchargée en PDF avec les informations de l'entreprise, du client et du montant.</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53</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12</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Interventions</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Module dédié aux rapports d'intervention type SAV/maintenance (constat, analyse, préconisations), indépendant d'un devis, avec son propre suivi et sa propre facturation.</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54</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INTERVENTIONS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Création d'un rapport</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Formulaire avec en-tête d'entreprise modifiable (logo, nom, adresse, email, téléphone, SIRET), client, site, date, équipement, constat, analyse, préconisations, signature.</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/interventions, API /api/interventions.</a:t>
            </a:r>
            <a:endParaRPr lang="en-US" sz="1000" dirty="0"/>
          </a:p>
        </p:txBody>
      </p:sp>
      <p:sp>
        <p:nvSpPr>
          <p:cNvPr id="10" name="Shape 8"/>
          <p:cNvSpPr/>
          <p:nvPr/>
        </p:nvSpPr>
        <p:spPr>
          <a:xfrm>
            <a:off x="640080" y="3813048"/>
            <a:ext cx="10881360" cy="1737360"/>
          </a:xfrm>
          <a:prstGeom prst="roundRect">
            <a:avLst>
              <a:gd name="adj" fmla="val 3158"/>
            </a:avLst>
          </a:prstGeom>
          <a:solidFill>
            <a:srgbClr val="FFFFFF"/>
          </a:solidFill>
          <a:ln w="12700">
            <a:solidFill>
              <a:srgbClr val="E4DCCB"/>
            </a:solidFill>
            <a:prstDash val="solid"/>
          </a:ln>
        </p:spPr>
      </p:sp>
      <p:sp>
        <p:nvSpPr>
          <p:cNvPr id="11" name="Shape 9"/>
          <p:cNvSpPr/>
          <p:nvPr/>
        </p:nvSpPr>
        <p:spPr>
          <a:xfrm>
            <a:off x="640080" y="3813048"/>
            <a:ext cx="54864" cy="173736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Aperçu avant génération</a:t>
            </a:r>
            <a:endParaRPr lang="en-US" sz="1500" dirty="0"/>
          </a:p>
        </p:txBody>
      </p:sp>
      <p:sp>
        <p:nvSpPr>
          <p:cNvPr id="13" name="Text 11"/>
          <p:cNvSpPr/>
          <p:nvPr/>
        </p:nvSpPr>
        <p:spPr>
          <a:xfrm>
            <a:off x="914400" y="434340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Aperçu fidèle au document final avant de créer définitivement le rapport, avec retour possible pour modifier.</a:t>
            </a:r>
            <a:endParaRPr lang="en-US" sz="1150" dirty="0"/>
          </a:p>
        </p:txBody>
      </p:sp>
      <p:sp>
        <p:nvSpPr>
          <p:cNvPr id="14" name="Text 12"/>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5" name="Text 13"/>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55</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INTERVENTIONS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Numéro automatique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Chaque rapport reçoit un numéro unique généré automatiquement (ex. INT-2026-0003), affiché en en-tête avec la date de création.</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Signature réutilisable</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La signature déjà enregistrée dans "Ma Signature" peut être importée en un clic sur le rapport, affichée en bas à droite comme une vraie signature.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56</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INTERVENTIONS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Statut de suivi automatique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Le statut évolue automatiquement selon la date : "À faire" tant que la date n'est pas arrivée, "En cours" le jour J, jusqu'à être marquée "Terminée" manuellement.</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Devenir du rapport</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Une intervention peut être liée à un chantier existant, gardée en attente pour un futur devis, archivée, ou directement transformée en facture.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57</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INTERVENTIONS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Passage dans "À faire maintenant"</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Une intervention du jour peut être déplacée en un clic vers la liste "À faire maintenant" de l'accueil.</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Export PDF</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Génération du rapport en PDF, avec mise en page reprenant celle d'un rapport d'intervention professionnel classique.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58</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INTERVENTIONS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Section dédiée sur l'accueil</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Liste des interventions visible directement sur l'accueil, sous "Devis en cours".</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59</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13</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Notifications</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Centre de notifications informant l'entreprise des événements importants (devis signé, ouvrage terminé, message client, dépassement d'heures...).</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60</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NOTIFICATIONS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Centre de notifications</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Liste complète des notifications avec recherche et filtres, chacune associée à un type (devis signé, accès client envoyé, alerte urgente, dépassement d'heures...).</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/notifications, API /api/notifications.</a:t>
            </a:r>
            <a:endParaRPr lang="en-US" sz="1000" dirty="0"/>
          </a:p>
        </p:txBody>
      </p:sp>
      <p:sp>
        <p:nvSpPr>
          <p:cNvPr id="10" name="Shape 8"/>
          <p:cNvSpPr/>
          <p:nvPr/>
        </p:nvSpPr>
        <p:spPr>
          <a:xfrm>
            <a:off x="640080" y="3813048"/>
            <a:ext cx="10881360" cy="1737360"/>
          </a:xfrm>
          <a:prstGeom prst="roundRect">
            <a:avLst>
              <a:gd name="adj" fmla="val 3158"/>
            </a:avLst>
          </a:prstGeom>
          <a:solidFill>
            <a:srgbClr val="FFFFFF"/>
          </a:solidFill>
          <a:ln w="12700">
            <a:solidFill>
              <a:srgbClr val="E4DCCB"/>
            </a:solidFill>
            <a:prstDash val="solid"/>
          </a:ln>
        </p:spPr>
      </p:sp>
      <p:sp>
        <p:nvSpPr>
          <p:cNvPr id="11" name="Shape 9"/>
          <p:cNvSpPr/>
          <p:nvPr/>
        </p:nvSpPr>
        <p:spPr>
          <a:xfrm>
            <a:off x="640080" y="3813048"/>
            <a:ext cx="54864" cy="173736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Menu déroulant rapide</a:t>
            </a:r>
            <a:endParaRPr lang="en-US" sz="1500" dirty="0"/>
          </a:p>
        </p:txBody>
      </p:sp>
      <p:sp>
        <p:nvSpPr>
          <p:cNvPr id="13" name="Text 11"/>
          <p:cNvSpPr/>
          <p:nvPr/>
        </p:nvSpPr>
        <p:spPr>
          <a:xfrm>
            <a:off x="914400" y="434340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La cloche dans le menu du haut ouvre les 5 dernières notifications sans quitter la page en cours.</a:t>
            </a:r>
            <a:endParaRPr lang="en-US" sz="1150" dirty="0"/>
          </a:p>
        </p:txBody>
      </p:sp>
      <p:sp>
        <p:nvSpPr>
          <p:cNvPr id="14" name="Text 12"/>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5" name="Text 13"/>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61</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NOTIFICATIONS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Fiche détail</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Détail d'une notification, avec les informations associées (ex. identifiants client) et boutons pour les copier ou les renvoyer par email/WhatsApp.</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Renvoi des identifiants client</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Depuis la notification d'envoi d'accès client, possibilité de renvoyer l'identifiant et le mot de passe par email ou WhatsApp.</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62</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14</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Archives</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Conservation des chantiers et devis terminés ou archivés, consultables sans encombrer les listes actives.</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63</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ARCHIVES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Chantiers et devis archivés</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Deux onglets listant respectivement les chantiers et les devis archivés.</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/archives, API /api/project-archives.</a:t>
            </a:r>
            <a:endParaRPr lang="en-US" sz="1000" dirty="0"/>
          </a:p>
        </p:txBody>
      </p:sp>
      <p:sp>
        <p:nvSpPr>
          <p:cNvPr id="10" name="Shape 8"/>
          <p:cNvSpPr/>
          <p:nvPr/>
        </p:nvSpPr>
        <p:spPr>
          <a:xfrm>
            <a:off x="640080" y="3813048"/>
            <a:ext cx="10881360" cy="1737360"/>
          </a:xfrm>
          <a:prstGeom prst="roundRect">
            <a:avLst>
              <a:gd name="adj" fmla="val 3158"/>
            </a:avLst>
          </a:prstGeom>
          <a:solidFill>
            <a:srgbClr val="FFFFFF"/>
          </a:solidFill>
          <a:ln w="12700">
            <a:solidFill>
              <a:srgbClr val="E4DCCB"/>
            </a:solidFill>
            <a:prstDash val="solid"/>
          </a:ln>
        </p:spPr>
      </p:sp>
      <p:sp>
        <p:nvSpPr>
          <p:cNvPr id="11" name="Shape 9"/>
          <p:cNvSpPr/>
          <p:nvPr/>
        </p:nvSpPr>
        <p:spPr>
          <a:xfrm>
            <a:off x="640080" y="3813048"/>
            <a:ext cx="54864" cy="173736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Ajout manuel</a:t>
            </a:r>
            <a:endParaRPr lang="en-US" sz="1500" dirty="0"/>
          </a:p>
        </p:txBody>
      </p:sp>
      <p:sp>
        <p:nvSpPr>
          <p:cNvPr id="13" name="Text 11"/>
          <p:cNvSpPr/>
          <p:nvPr/>
        </p:nvSpPr>
        <p:spPr>
          <a:xfrm>
            <a:off x="914400" y="434340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Possibilité d'ajouter manuellement un chantier archivé qui n'a pas de devis derrière lui.</a:t>
            </a:r>
            <a:endParaRPr lang="en-US" sz="1150" dirty="0"/>
          </a:p>
        </p:txBody>
      </p:sp>
      <p:sp>
        <p:nvSpPr>
          <p:cNvPr id="14" name="Text 12"/>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5" name="Text 13"/>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64</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ARCHIVES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Fiche détail d'archive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Détail d'un chantier archivé avec ses documents (photos, factures, reçus, notes) et son historique de messages.</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65</a:t>
            </a:r>
            <a:endParaRPr lang="en-US" sz="8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15</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Espace Client Particulier</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Portail dédié au client final : suivi de son chantier, échange avec l'entreprise, et signalement en cas de problème.</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66</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ESPACE CLIENT PARTICULIER</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Tableau de bord client</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Statistiques (devis reçus/signés, travaux réalisés) et liste des chantiers du client, chacun avec un anneau de progression.</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/client, connexion via /login (onglet Particulier).</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Profil client</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Modification des informations personnelles (nom, téléphone, adresse).</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/client/profil, API /api/client/profile.</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67</a:t>
            </a:r>
            <a:endParaRPr lang="en-US" sz="8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ESPACE CLIENT PARTICULIER</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Notifications client</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Fil de notifications filtré sur les événements qui concernent le client (réponse de l'entreprise, démarrage/validation d'un ouvrage).</a:t>
            </a:r>
            <a:endParaRPr lang="en-US" sz="1150" dirty="0"/>
          </a:p>
        </p:txBody>
      </p:sp>
      <p:sp>
        <p:nvSpPr>
          <p:cNvPr id="8" name="Shape 6"/>
          <p:cNvSpPr/>
          <p:nvPr/>
        </p:nvSpPr>
        <p:spPr>
          <a:xfrm>
            <a:off x="640080" y="2944368"/>
            <a:ext cx="10881360" cy="2606040"/>
          </a:xfrm>
          <a:prstGeom prst="roundRect">
            <a:avLst>
              <a:gd name="adj" fmla="val 2105"/>
            </a:avLst>
          </a:prstGeom>
          <a:solidFill>
            <a:srgbClr val="FFFFFF"/>
          </a:solidFill>
          <a:ln w="12700">
            <a:solidFill>
              <a:srgbClr val="E4DCCB"/>
            </a:solidFill>
            <a:prstDash val="solid"/>
          </a:ln>
        </p:spPr>
      </p:sp>
      <p:sp>
        <p:nvSpPr>
          <p:cNvPr id="9" name="Shape 7"/>
          <p:cNvSpPr/>
          <p:nvPr/>
        </p:nvSpPr>
        <p:spPr>
          <a:xfrm>
            <a:off x="640080" y="2944368"/>
            <a:ext cx="54864" cy="260604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Suivi de chantier</a:t>
            </a:r>
            <a:endParaRPr lang="en-US" sz="1500" dirty="0"/>
          </a:p>
        </p:txBody>
      </p:sp>
      <p:sp>
        <p:nvSpPr>
          <p:cNvPr id="11" name="Text 9"/>
          <p:cNvSpPr/>
          <p:nvPr/>
        </p:nvSpPr>
        <p:spPr>
          <a:xfrm>
            <a:off x="914400" y="347472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Détail du chantier avec, pour chaque ouvrage, une barre d'étapes (démarré / en cours / validé / terminé) et un bouton pour valider un ouvrage terminé.</a:t>
            </a:r>
            <a:endParaRPr lang="en-US" sz="1150" dirty="0"/>
          </a:p>
        </p:txBody>
      </p:sp>
      <p:sp>
        <p:nvSpPr>
          <p:cNvPr id="12" name="Text 10"/>
          <p:cNvSpPr/>
          <p:nvPr/>
        </p:nvSpPr>
        <p:spPr>
          <a:xfrm>
            <a:off x="914400" y="468172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3" name="Text 11"/>
          <p:cNvSpPr/>
          <p:nvPr/>
        </p:nvSpPr>
        <p:spPr>
          <a:xfrm>
            <a:off x="914400" y="492861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/client/chantier/[id].</a:t>
            </a:r>
            <a:endParaRPr lang="en-US" sz="1000" dirty="0"/>
          </a:p>
        </p:txBody>
      </p:sp>
      <p:sp>
        <p:nvSpPr>
          <p:cNvPr id="14" name="Text 12"/>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5" name="Text 13"/>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68</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ESPACE CLIENT PARTICULIER</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Notes et documents</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Le client peut laisser une note ou un document (photo) sur un ouvrage, et voir les réponses de l'entreprise.</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Alerte urgente</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Signalement d'un problème urgent (dégât, fuite, incendie...) directement depuis un ouvrage ou pour le chantier en général.</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69</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ESPACE CLIENT PARTICULIER</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Consultation du devis signé</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Détail du devis signé, avec téléchargement du PDF.</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/client/devis/[id].</a:t>
            </a:r>
            <a:endParaRPr lang="en-US" sz="1000" dirty="0"/>
          </a:p>
        </p:txBody>
      </p:sp>
      <p:sp>
        <p:nvSpPr>
          <p:cNvPr id="10" name="Text 8"/>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1" name="Text 9"/>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70</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16</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Espace Ouvrier</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Portail terrain destiné aux ouvriers et sous-traitants : leurs chantiers, leurs tâches du jour, leur pointage, et un moyen de signaler un problème.</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71</a:t>
            </a:r>
            <a:endParaRPr lang="en-US" sz="8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ESPACE OUVRIER</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Connexion et accueil</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Connexion par identifiant + mot de passe fourni par l'entreprise ; accueil listant les chantiers actifs et les tâches du jour.</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/worker, session séparée (koji-worker-session), API /api/worker-auth, /api/worker-portal.</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Suivi d'un ouvrage</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Boutons Démarrer / Pause / Reprendre / Terminer sur chaque tâche, avec calcul automatique du temps consommé et alerte en cas de dépassement du temps prévu.</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API /api/worker-actions.</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72</a:t>
            </a:r>
            <a:endParaRPr lang="en-US" sz="8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ESPACE OUVRIER</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Pointage de la journée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Un onglet dédié permet de pointer le début et la fin de sa journée en un clic, avec récapitulatif de la semaine en cours.</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Documents et photos</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Ajout de photos ou documents sur une tâche, visibles ensuite par l'entreprise.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73</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ESPACE OUVRIER</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Réclamations et retards</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Signalement d'un problème de chantier (manque de matériel, problème technique/sécurité) ou d'un retard, envoyé directement à l'entreprise.</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Alerte urgente</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Signalement d'un incident grave (urgence, dégât, fuite, incendie) avec notification immédiate à l'entreprise.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74</a:t>
            </a:r>
            <a:endParaRPr lang="en-US" sz="8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ESPACE OUVRIER</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Archives et notifications</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Historique des chantiers terminés et centre de notifications propre à l'ouvrier.</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75</a:t>
            </a:r>
            <a:endParaRPr lang="en-US" sz="8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17</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Paramètres</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Configuration du profil de l'entreprise, utilisé comme référence par défaut sur tous les documents générés (devis, factures, interventions).</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76</a:t>
            </a:r>
            <a:endParaRPr lang="en-US" sz="8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PARAMÈTRES</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Profil entreprise</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Raison sociale, forme juridique, SIRET/SIREN, TVA, adresse, email professionnel, téléphone, logo.</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/parametres, API /api/auth/profile.</a:t>
            </a:r>
            <a:endParaRPr lang="en-US" sz="1000" dirty="0"/>
          </a:p>
        </p:txBody>
      </p:sp>
      <p:sp>
        <p:nvSpPr>
          <p:cNvPr id="10" name="Shape 8"/>
          <p:cNvSpPr/>
          <p:nvPr/>
        </p:nvSpPr>
        <p:spPr>
          <a:xfrm>
            <a:off x="640080" y="3813048"/>
            <a:ext cx="10881360" cy="1737360"/>
          </a:xfrm>
          <a:prstGeom prst="roundRect">
            <a:avLst>
              <a:gd name="adj" fmla="val 3158"/>
            </a:avLst>
          </a:prstGeom>
          <a:solidFill>
            <a:srgbClr val="FFFFFF"/>
          </a:solidFill>
          <a:ln w="12700">
            <a:solidFill>
              <a:srgbClr val="E4DCCB"/>
            </a:solidFill>
            <a:prstDash val="solid"/>
          </a:ln>
        </p:spPr>
      </p:sp>
      <p:sp>
        <p:nvSpPr>
          <p:cNvPr id="11" name="Shape 9"/>
          <p:cNvSpPr/>
          <p:nvPr/>
        </p:nvSpPr>
        <p:spPr>
          <a:xfrm>
            <a:off x="640080" y="3813048"/>
            <a:ext cx="54864" cy="173736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Tarification</a:t>
            </a:r>
            <a:endParaRPr lang="en-US" sz="1500" dirty="0"/>
          </a:p>
        </p:txBody>
      </p:sp>
      <p:sp>
        <p:nvSpPr>
          <p:cNvPr id="13" name="Text 11"/>
          <p:cNvSpPr/>
          <p:nvPr/>
        </p:nvSpPr>
        <p:spPr>
          <a:xfrm>
            <a:off x="914400" y="434340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Taux journalier et heures par jour, utilisés pour calculer automatiquement le taux horaire par défaut appliqué dans la bibliothèque d'ouvrages.</a:t>
            </a:r>
            <a:endParaRPr lang="en-US" sz="1150" dirty="0"/>
          </a:p>
        </p:txBody>
      </p:sp>
      <p:sp>
        <p:nvSpPr>
          <p:cNvPr id="14" name="Text 12"/>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5" name="Text 13"/>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77</a:t>
            </a:r>
            <a:endParaRPr lang="en-US" sz="8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PARAMÈTRES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Coordonnées bancaires</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IBAN, BIC, titulaire du compte, affichés sur les factures.</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Métiers de l'entreprise</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Sélection multiple des corps de métier exercés.</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78</a:t>
            </a:r>
            <a:endParaRPr lang="en-US" sz="8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PARAMÈTRES</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Accès à "Ma Signature"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Bouton renvoyant vers la page de gestion de la signature de l'entreprise.</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79</a:t>
            </a:r>
            <a:endParaRPr lang="en-US" sz="8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18</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Abonnement</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Formule unique Koji Pro avec paiement réel via Stripe, plus une option payante et une fonctionnalité annoncée à venir.</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80</a:t>
            </a:r>
            <a:endParaRPr lang="en-US" sz="8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ABONNEMENT</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Koji Pro (formule unique)</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Devis et chantiers illimités, suivi de chantiers en temps réel, suivi des travaux et de l'équipe, pointage des ouvriers, calendrier &amp; planning, génération de devis PDF &amp; Word, signature électronique, facturation (acomptes/intermédiaires/finales), espace client dédié, bibliothèque d'ouvrages &amp; fournisseurs, carte de visite Koji offerte. Choix mensuel ou annuel (2 mois offerts à l'année).</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Page /abonnement ; paiement Stripe Checkout ; prix définis via scripts/stripe-setup.js.</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Option Site web Koji</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Option payante additionnelle (14,99€/mois, ou tarif annuel équivalent), activable à la souscription ou ajoutée/retirée ensuite depuis Paramètres &gt; Abonnement.</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Ligne Stripe supplémentaire sur le même abonnement (facture détaillée) ; ajout/retrait via /api/billing/addon (Stripe Subscription Items API).</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81</a:t>
            </a:r>
            <a:endParaRPr lang="en-US" sz="8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ABONNEMENT</a:t>
            </a:r>
            <a:endParaRPr lang="en-US" sz="950" dirty="0"/>
          </a:p>
        </p:txBody>
      </p:sp>
      <p:sp>
        <p:nvSpPr>
          <p:cNvPr id="4" name="Shape 2"/>
          <p:cNvSpPr/>
          <p:nvPr/>
        </p:nvSpPr>
        <p:spPr>
          <a:xfrm>
            <a:off x="640080" y="1005840"/>
            <a:ext cx="10881360" cy="2606040"/>
          </a:xfrm>
          <a:prstGeom prst="roundRect">
            <a:avLst>
              <a:gd name="adj" fmla="val 2105"/>
            </a:avLst>
          </a:prstGeom>
          <a:solidFill>
            <a:srgbClr val="FFFFFF"/>
          </a:solidFill>
          <a:ln w="12700">
            <a:solidFill>
              <a:srgbClr val="E4DCCB"/>
            </a:solidFill>
            <a:prstDash val="solid"/>
          </a:ln>
        </p:spPr>
      </p:sp>
      <p:sp>
        <p:nvSpPr>
          <p:cNvPr id="5" name="Shape 3"/>
          <p:cNvSpPr/>
          <p:nvPr/>
        </p:nvSpPr>
        <p:spPr>
          <a:xfrm>
            <a:off x="640080" y="1005840"/>
            <a:ext cx="54864" cy="260604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Marketplace</a:t>
            </a:r>
            <a:endParaRPr lang="en-US" sz="1500" dirty="0"/>
          </a:p>
        </p:txBody>
      </p:sp>
      <p:sp>
        <p:nvSpPr>
          <p:cNvPr id="7" name="Text 5"/>
          <p:cNvSpPr/>
          <p:nvPr/>
        </p:nvSpPr>
        <p:spPr>
          <a:xfrm>
            <a:off x="914400" y="1536192"/>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Annoncée dans la liste des fonctionnalités comme 'Bientôt disponible' ; tarif non encore défini, non vendable pour l'instant.</a:t>
            </a:r>
            <a:endParaRPr lang="en-US" sz="1150" dirty="0"/>
          </a:p>
        </p:txBody>
      </p:sp>
      <p:sp>
        <p:nvSpPr>
          <p:cNvPr id="8" name="Text 6"/>
          <p:cNvSpPr/>
          <p:nvPr/>
        </p:nvSpPr>
        <p:spPr>
          <a:xfrm>
            <a:off x="914400" y="2743200"/>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9" name="Text 7"/>
          <p:cNvSpPr/>
          <p:nvPr/>
        </p:nvSpPr>
        <p:spPr>
          <a:xfrm>
            <a:off x="914400" y="2990088"/>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Affichage informatif uniquement sur /abonnement et /parametres/abonnement, sans prix Stripe associé.</a:t>
            </a:r>
            <a:endParaRPr lang="en-US" sz="1000" dirty="0"/>
          </a:p>
        </p:txBody>
      </p:sp>
      <p:sp>
        <p:nvSpPr>
          <p:cNvPr id="10" name="Shape 8"/>
          <p:cNvSpPr/>
          <p:nvPr/>
        </p:nvSpPr>
        <p:spPr>
          <a:xfrm>
            <a:off x="640080" y="3813048"/>
            <a:ext cx="10881360" cy="2606040"/>
          </a:xfrm>
          <a:prstGeom prst="roundRect">
            <a:avLst>
              <a:gd name="adj" fmla="val 2105"/>
            </a:avLst>
          </a:prstGeom>
          <a:solidFill>
            <a:srgbClr val="FFFFFF"/>
          </a:solidFill>
          <a:ln w="12700">
            <a:solidFill>
              <a:srgbClr val="E4DCCB"/>
            </a:solidFill>
            <a:prstDash val="solid"/>
          </a:ln>
        </p:spPr>
      </p:sp>
      <p:sp>
        <p:nvSpPr>
          <p:cNvPr id="11" name="Shape 9"/>
          <p:cNvSpPr/>
          <p:nvPr/>
        </p:nvSpPr>
        <p:spPr>
          <a:xfrm>
            <a:off x="640080" y="3813048"/>
            <a:ext cx="54864" cy="2606040"/>
          </a:xfrm>
          <a:prstGeom prst="rect">
            <a:avLst/>
          </a:prstGeom>
          <a:solidFill>
            <a:srgbClr val="1D6FE0"/>
          </a:solidFill>
          <a:ln/>
        </p:spPr>
      </p:sp>
      <p:sp>
        <p:nvSpPr>
          <p:cNvPr id="12" name="Text 10"/>
          <p:cNvSpPr/>
          <p:nvPr/>
        </p:nvSpPr>
        <p:spPr>
          <a:xfrm>
            <a:off x="914400" y="394106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Gestion de l'abonnement</a:t>
            </a:r>
            <a:endParaRPr lang="en-US" sz="1500" dirty="0"/>
          </a:p>
        </p:txBody>
      </p:sp>
      <p:sp>
        <p:nvSpPr>
          <p:cNvPr id="13" name="Text 11"/>
          <p:cNvSpPr/>
          <p:nvPr/>
        </p:nvSpPr>
        <p:spPr>
          <a:xfrm>
            <a:off x="914400" y="4343400"/>
            <a:ext cx="10332720" cy="105156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Depuis Paramètres &gt; Abonnement : formule et statut actuels, bouton 'Gérer mon abonnement' ouvrant l'espace Stripe (moyen de paiement, factures, résiliation).</a:t>
            </a:r>
            <a:endParaRPr lang="en-US" sz="1150" dirty="0"/>
          </a:p>
        </p:txBody>
      </p:sp>
      <p:sp>
        <p:nvSpPr>
          <p:cNvPr id="14" name="Text 12"/>
          <p:cNvSpPr/>
          <p:nvPr/>
        </p:nvSpPr>
        <p:spPr>
          <a:xfrm>
            <a:off x="914400" y="5550408"/>
            <a:ext cx="10332720" cy="228600"/>
          </a:xfrm>
          <a:prstGeom prst="rect">
            <a:avLst/>
          </a:prstGeom>
          <a:noFill/>
          <a:ln/>
        </p:spPr>
        <p:txBody>
          <a:bodyPr wrap="square" rtlCol="0" anchor="ctr"/>
          <a:lstStyle/>
          <a:p>
            <a:pPr indent="0" marL="0">
              <a:buNone/>
            </a:pPr>
            <a:r>
              <a:rPr lang="en-US" sz="800" b="1" spc="100" kern="0" dirty="0">
                <a:solidFill>
                  <a:srgbClr val="9A7C5C"/>
                </a:solidFill>
                <a:latin typeface="Segoe UI" pitchFamily="34" charset="0"/>
                <a:ea typeface="Segoe UI" pitchFamily="34" charset="-122"/>
                <a:cs typeface="Segoe UI" pitchFamily="34" charset="-120"/>
              </a:rPr>
              <a:t>RÉALISATION TECHNIQUE</a:t>
            </a:r>
            <a:endParaRPr lang="en-US" sz="800" dirty="0"/>
          </a:p>
        </p:txBody>
      </p:sp>
      <p:sp>
        <p:nvSpPr>
          <p:cNvPr id="15" name="Text 13"/>
          <p:cNvSpPr/>
          <p:nvPr/>
        </p:nvSpPr>
        <p:spPr>
          <a:xfrm>
            <a:off x="914400" y="5797296"/>
            <a:ext cx="10332720" cy="548640"/>
          </a:xfrm>
          <a:prstGeom prst="rect">
            <a:avLst/>
          </a:prstGeom>
          <a:noFill/>
          <a:ln/>
        </p:spPr>
        <p:txBody>
          <a:bodyPr wrap="square" rtlCol="0" anchor="ctr"/>
          <a:lstStyle/>
          <a:p>
            <a:pPr indent="0" marL="0">
              <a:lnSpc>
                <a:spcPts val="1400"/>
              </a:lnSpc>
              <a:buNone/>
            </a:pPr>
            <a:r>
              <a:rPr lang="en-US" sz="1000" i="1" dirty="0">
                <a:solidFill>
                  <a:srgbClr val="8A7C68"/>
                </a:solidFill>
                <a:latin typeface="Segoe UI" pitchFamily="34" charset="0"/>
                <a:ea typeface="Segoe UI" pitchFamily="34" charset="-122"/>
                <a:cs typeface="Segoe UI" pitchFamily="34" charset="-120"/>
              </a:rPr>
              <a:t>/api/billing/portal (Stripe Customer Portal).</a:t>
            </a:r>
            <a:endParaRPr lang="en-US" sz="1000" dirty="0"/>
          </a:p>
        </p:txBody>
      </p:sp>
      <p:sp>
        <p:nvSpPr>
          <p:cNvPr id="16" name="Text 1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7" name="Text 1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82</a:t>
            </a:r>
            <a:endParaRPr lang="en-US" sz="8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ABONNEMENT</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Comptes existants préservés</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Les comptes créés avant la mise en place du paiement réel gardent un accès illimité ; seuls les nouveaux comptes sont réellement soumis à la période d'essai limitée tant qu'ils n'ont pas souscrit.</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83</a:t>
            </a:r>
            <a:endParaRPr lang="en-US" sz="8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19</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Marketplace</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Emplacement réservé pour une future fonctionnalité de mise en relation.</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84</a:t>
            </a:r>
            <a:endParaRPr lang="en-US" sz="8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MARKETPLACE</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Statut actuel</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Page "bientôt disponible" — accessible depuis le menu, sans fonctionnalité active pour le moment.</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85</a:t>
            </a:r>
            <a:endParaRPr lang="en-US" sz="8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20</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Sécurité, données et multilinguisme</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Éléments transverses garantissant la cohérence, la sécurité et l'accessibilité de l'application à travers tous les modules.</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86</a:t>
            </a:r>
            <a:endParaRPr lang="en-US" sz="8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SÉCURITÉ, DONNÉES ET MULTILINGUISME</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Cloisonnement des données</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Chaque entreprise ne voit que ses propres devis, chantiers, équipe et documents.</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Partage avec l'application mobile</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Les devis, chantiers et comptes sont stockés dans une base commune avec l'application mobile Koji, pour que les deux applications restent synchronisées.</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87</a:t>
            </a:r>
            <a:endParaRPr lang="en-US" sz="8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SÉCURITÉ, DONNÉES ET MULTILINGUISME</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Mots de passe</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Mots de passe des ouvriers hachés (jamais stockés en clair) ; mots de passe entreprise/particulier gérés par Supabase Auth.</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Multilingue</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5 langues disponibles (français, anglais, arabe, allemand, italien), avec adaptation du sens de lecture pour l'arabe.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88</a:t>
            </a:r>
            <a:endParaRPr lang="en-US" sz="8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SÉCURITÉ, DONNÉES ET MULTILINGUISME</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Historique des actions</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Chaque action importante (création, modification, suppression) est journalisée pour garder une trace de l'activité.</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89</a:t>
            </a:r>
            <a:endParaRPr lang="en-US" sz="8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C9A96A"/>
          </a:solidFill>
          <a:ln/>
        </p:spPr>
      </p:sp>
      <p:sp>
        <p:nvSpPr>
          <p:cNvPr id="3" name="Text 1"/>
          <p:cNvSpPr/>
          <p:nvPr/>
        </p:nvSpPr>
        <p:spPr>
          <a:xfrm>
            <a:off x="640080" y="1920240"/>
            <a:ext cx="2743200" cy="548640"/>
          </a:xfrm>
          <a:prstGeom prst="rect">
            <a:avLst/>
          </a:prstGeom>
          <a:noFill/>
          <a:ln/>
        </p:spPr>
        <p:txBody>
          <a:bodyPr wrap="square" rtlCol="0" anchor="ctr"/>
          <a:lstStyle/>
          <a:p>
            <a:pPr indent="0" marL="0">
              <a:buNone/>
            </a:pPr>
            <a:r>
              <a:rPr lang="en-US" sz="1500" b="1" dirty="0">
                <a:solidFill>
                  <a:srgbClr val="C9A96A"/>
                </a:solidFill>
                <a:latin typeface="Segoe UI" pitchFamily="34" charset="0"/>
                <a:ea typeface="Segoe UI" pitchFamily="34" charset="-122"/>
                <a:cs typeface="Segoe UI" pitchFamily="34" charset="-120"/>
              </a:rPr>
              <a:t>21</a:t>
            </a:r>
            <a:endParaRPr lang="en-US" sz="1500" dirty="0"/>
          </a:p>
        </p:txBody>
      </p:sp>
      <p:sp>
        <p:nvSpPr>
          <p:cNvPr id="4" name="Text 2"/>
          <p:cNvSpPr/>
          <p:nvPr/>
        </p:nvSpPr>
        <p:spPr>
          <a:xfrm>
            <a:off x="640080" y="2377440"/>
            <a:ext cx="10515600" cy="91440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Évolutions récentes — Koji Pro (Octobre 2026)</a:t>
            </a:r>
            <a:endParaRPr lang="en-US" sz="3400" dirty="0"/>
          </a:p>
        </p:txBody>
      </p:sp>
      <p:sp>
        <p:nvSpPr>
          <p:cNvPr id="5" name="Text 3"/>
          <p:cNvSpPr/>
          <p:nvPr/>
        </p:nvSpPr>
        <p:spPr>
          <a:xfrm>
            <a:off x="640080" y="3429000"/>
            <a:ext cx="10058400" cy="118872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Refonte complète de l'interface Koji Pro réalisée en octobre 2026, incluant la redesign du dashboard web et de l'application mobile.</a:t>
            </a:r>
            <a:endParaRPr lang="en-US" sz="13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90</a:t>
            </a:r>
            <a:endParaRPr lang="en-US" sz="8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ÉVOLUTIONS RÉCENTES — KOJI PRO (OCTOBRE 2026)</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Refonte intégrale du dashboard entreprise (50 pages web)</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Le dashboard Koji Pro a été entièrement refondu selon la nouvelle Design Appliqué (DA) : 50 pages répartis sur 12 modules (Chantiers, Devis, Facturation, Fournitures, Bibliothèque, Comptabilité, Contacts, Calendrier, KojiPage, Profil, Équipe, Urgences). Chaque module et sous-page respecte le design system PRO-01 à PRO-17, avec KPIs, listes, fiches détail et formulaires cohérents.</a:t>
            </a:r>
            <a:endParaRPr lang="en-US" sz="1150" dirty="0"/>
          </a:p>
        </p:txBody>
      </p:sp>
      <p:sp>
        <p:nvSpPr>
          <p:cNvPr id="8" name="Shape 6"/>
          <p:cNvSpPr/>
          <p:nvPr/>
        </p:nvSpPr>
        <p:spPr>
          <a:xfrm>
            <a:off x="640080" y="2944368"/>
            <a:ext cx="10881360" cy="1737360"/>
          </a:xfrm>
          <a:prstGeom prst="roundRect">
            <a:avLst>
              <a:gd name="adj" fmla="val 3158"/>
            </a:avLst>
          </a:prstGeom>
          <a:solidFill>
            <a:srgbClr val="FFFFFF"/>
          </a:solidFill>
          <a:ln w="12700">
            <a:solidFill>
              <a:srgbClr val="E4DCCB"/>
            </a:solidFill>
            <a:prstDash val="solid"/>
          </a:ln>
        </p:spPr>
      </p:sp>
      <p:sp>
        <p:nvSpPr>
          <p:cNvPr id="9" name="Shape 7"/>
          <p:cNvSpPr/>
          <p:nvPr/>
        </p:nvSpPr>
        <p:spPr>
          <a:xfrm>
            <a:off x="640080" y="2944368"/>
            <a:ext cx="54864" cy="1737360"/>
          </a:xfrm>
          <a:prstGeom prst="rect">
            <a:avLst/>
          </a:prstGeom>
          <a:solidFill>
            <a:srgbClr val="1D6FE0"/>
          </a:solidFill>
          <a:ln/>
        </p:spPr>
      </p:sp>
      <p:sp>
        <p:nvSpPr>
          <p:cNvPr id="10" name="Text 8"/>
          <p:cNvSpPr/>
          <p:nvPr/>
        </p:nvSpPr>
        <p:spPr>
          <a:xfrm>
            <a:off x="914400" y="3072384"/>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Refonte intégrale de l'app mobile entreprise (5 fichiers Flutter)</a:t>
            </a:r>
            <a:endParaRPr lang="en-US" sz="1500" dirty="0"/>
          </a:p>
        </p:txBody>
      </p:sp>
      <p:sp>
        <p:nvSpPr>
          <p:cNvPr id="11" name="Text 9"/>
          <p:cNvSpPr/>
          <p:nvPr/>
        </p:nvSpPr>
        <p:spPr>
          <a:xfrm>
            <a:off x="914400" y="3474720"/>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L'application mobile Koji Pro a été refondée sur 5 fichiers (Accueil, Listes Devis/Clients/Équipe/Facturation, Assistant IA Devis, Profil et Paramètres, Options avancées). Tous les écrans utilisent le nouveau design system KOJI Pro (couleurs, composants, KPI cards mobiles, mise en page responsive).</a:t>
            </a:r>
            <a:endParaRPr lang="en-US" sz="1150" dirty="0"/>
          </a:p>
        </p:txBody>
      </p:sp>
      <p:sp>
        <p:nvSpPr>
          <p:cNvPr id="12" name="Text 10"/>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13" name="Text 11"/>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91</a:t>
            </a:r>
            <a:endParaRPr lang="en-US" sz="8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3108960" cy="365760"/>
          </a:xfrm>
          <a:prstGeom prst="roundRect">
            <a:avLst>
              <a:gd name="adj" fmla="val 50000"/>
            </a:avLst>
          </a:prstGeom>
          <a:solidFill>
            <a:srgbClr val="F7EADF"/>
          </a:solidFill>
          <a:ln/>
        </p:spPr>
      </p:sp>
      <p:sp>
        <p:nvSpPr>
          <p:cNvPr id="3" name="Text 1"/>
          <p:cNvSpPr/>
          <p:nvPr/>
        </p:nvSpPr>
        <p:spPr>
          <a:xfrm>
            <a:off x="640080" y="411480"/>
            <a:ext cx="3108960" cy="365760"/>
          </a:xfrm>
          <a:prstGeom prst="rect">
            <a:avLst/>
          </a:prstGeom>
          <a:noFill/>
          <a:ln/>
        </p:spPr>
        <p:txBody>
          <a:bodyPr wrap="square" rtlCol="0" anchor="ctr"/>
          <a:lstStyle/>
          <a:p>
            <a:pPr algn="ctr" indent="0" marL="0">
              <a:buNone/>
            </a:pPr>
            <a:r>
              <a:rPr lang="en-US" sz="950" b="1" spc="100" kern="0" dirty="0">
                <a:solidFill>
                  <a:srgbClr val="9A7C5C"/>
                </a:solidFill>
                <a:latin typeface="Segoe UI" pitchFamily="34" charset="0"/>
                <a:ea typeface="Segoe UI" pitchFamily="34" charset="-122"/>
                <a:cs typeface="Segoe UI" pitchFamily="34" charset="-120"/>
              </a:rPr>
              <a:t>ÉVOLUTIONS RÉCENTES — KOJI PRO (OCTOBRE 2026)</a:t>
            </a:r>
            <a:endParaRPr lang="en-US" sz="950" dirty="0"/>
          </a:p>
        </p:txBody>
      </p:sp>
      <p:sp>
        <p:nvSpPr>
          <p:cNvPr id="4" name="Shape 2"/>
          <p:cNvSpPr/>
          <p:nvPr/>
        </p:nvSpPr>
        <p:spPr>
          <a:xfrm>
            <a:off x="640080" y="1005840"/>
            <a:ext cx="10881360" cy="1737360"/>
          </a:xfrm>
          <a:prstGeom prst="roundRect">
            <a:avLst>
              <a:gd name="adj" fmla="val 3158"/>
            </a:avLst>
          </a:prstGeom>
          <a:solidFill>
            <a:srgbClr val="FFFFFF"/>
          </a:solidFill>
          <a:ln w="12700">
            <a:solidFill>
              <a:srgbClr val="E4DCCB"/>
            </a:solidFill>
            <a:prstDash val="solid"/>
          </a:ln>
        </p:spPr>
      </p:sp>
      <p:sp>
        <p:nvSpPr>
          <p:cNvPr id="5" name="Shape 3"/>
          <p:cNvSpPr/>
          <p:nvPr/>
        </p:nvSpPr>
        <p:spPr>
          <a:xfrm>
            <a:off x="640080" y="1005840"/>
            <a:ext cx="54864" cy="1737360"/>
          </a:xfrm>
          <a:prstGeom prst="rect">
            <a:avLst/>
          </a:prstGeom>
          <a:solidFill>
            <a:srgbClr val="1D6FE0"/>
          </a:solidFill>
          <a:ln/>
        </p:spPr>
      </p:sp>
      <p:sp>
        <p:nvSpPr>
          <p:cNvPr id="6" name="Text 4"/>
          <p:cNvSpPr/>
          <p:nvPr/>
        </p:nvSpPr>
        <p:spPr>
          <a:xfrm>
            <a:off x="914400" y="1133856"/>
            <a:ext cx="1033272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Validation et tests de la refonte Koji Pro</a:t>
            </a:r>
            <a:endParaRPr lang="en-US" sz="1500" dirty="0"/>
          </a:p>
        </p:txBody>
      </p:sp>
      <p:sp>
        <p:nvSpPr>
          <p:cNvPr id="7" name="Text 5"/>
          <p:cNvSpPr/>
          <p:nvPr/>
        </p:nvSpPr>
        <p:spPr>
          <a:xfrm>
            <a:off x="914400" y="1536192"/>
            <a:ext cx="10332720" cy="1005840"/>
          </a:xfrm>
          <a:prstGeom prst="rect">
            <a:avLst/>
          </a:prstGeom>
          <a:noFill/>
          <a:ln/>
        </p:spPr>
        <p:txBody>
          <a:bodyPr wrap="square" rtlCol="0" anchor="ctr"/>
          <a:lstStyle/>
          <a:p>
            <a:pPr indent="0" marL="0">
              <a:lnSpc>
                <a:spcPts val="1600"/>
              </a:lnSpc>
              <a:buNone/>
            </a:pPr>
            <a:r>
              <a:rPr lang="en-US" sz="1150" dirty="0">
                <a:solidFill>
                  <a:srgbClr val="1B1F3B"/>
                </a:solidFill>
                <a:latin typeface="Segoe UI" pitchFamily="34" charset="0"/>
                <a:ea typeface="Segoe UI" pitchFamily="34" charset="-122"/>
                <a:cs typeface="Segoe UI" pitchFamily="34" charset="-120"/>
              </a:rPr>
              <a:t>Tests Playwright pour le web : 16/16 pages PRO passent les validations (sélecteurs CSS, KPIs, listes, formulaires). Tests Flutter : 0 erreurs de compilation (flutter analyze). Tous les composants respectent la DA et les spécifications PRO-01 à PRO-17.</a:t>
            </a:r>
            <a:endParaRPr lang="en-US" sz="1150" dirty="0"/>
          </a:p>
        </p:txBody>
      </p:sp>
      <p:sp>
        <p:nvSpPr>
          <p:cNvPr id="8" name="Text 6"/>
          <p:cNvSpPr/>
          <p:nvPr/>
        </p:nvSpPr>
        <p:spPr>
          <a:xfrm>
            <a:off x="365760" y="6510528"/>
            <a:ext cx="5486400" cy="274320"/>
          </a:xfrm>
          <a:prstGeom prst="rect">
            <a:avLst/>
          </a:prstGeom>
          <a:noFill/>
          <a:ln/>
        </p:spPr>
        <p:txBody>
          <a:bodyPr wrap="square" rtlCol="0" anchor="ctr"/>
          <a:lstStyle/>
          <a:p>
            <a:pPr indent="0" marL="0">
              <a:buNone/>
            </a:pPr>
            <a:r>
              <a:rPr lang="en-US" sz="850" dirty="0">
                <a:solidFill>
                  <a:srgbClr val="8A7C68"/>
                </a:solidFill>
                <a:latin typeface="Segoe UI" pitchFamily="34" charset="0"/>
                <a:ea typeface="Segoe UI" pitchFamily="34" charset="-122"/>
                <a:cs typeface="Segoe UI" pitchFamily="34" charset="-120"/>
              </a:rPr>
              <a:t>Koji Web — Cahier des charges</a:t>
            </a:r>
            <a:endParaRPr lang="en-US" sz="850" dirty="0"/>
          </a:p>
        </p:txBody>
      </p:sp>
      <p:sp>
        <p:nvSpPr>
          <p:cNvPr id="9" name="Text 7"/>
          <p:cNvSpPr/>
          <p:nvPr/>
        </p:nvSpPr>
        <p:spPr>
          <a:xfrm>
            <a:off x="9601200" y="6510528"/>
            <a:ext cx="2194560" cy="274320"/>
          </a:xfrm>
          <a:prstGeom prst="rect">
            <a:avLst/>
          </a:prstGeom>
          <a:noFill/>
          <a:ln/>
        </p:spPr>
        <p:txBody>
          <a:bodyPr wrap="square" rtlCol="0" anchor="ctr"/>
          <a:lstStyle/>
          <a:p>
            <a:pPr algn="r" indent="0" marL="0">
              <a:buNone/>
            </a:pPr>
            <a:r>
              <a:rPr lang="en-US" sz="850" dirty="0">
                <a:solidFill>
                  <a:srgbClr val="8A7C68"/>
                </a:solidFill>
                <a:latin typeface="Segoe UI" pitchFamily="34" charset="0"/>
                <a:ea typeface="Segoe UI" pitchFamily="34" charset="-122"/>
                <a:cs typeface="Segoe UI" pitchFamily="34" charset="-120"/>
              </a:rPr>
              <a:t>92</a:t>
            </a:r>
            <a:endParaRPr lang="en-US" sz="8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B1030"/>
        </a:solidFill>
      </p:bgPr>
    </p:bg>
    <p:spTree>
      <p:nvGrpSpPr>
        <p:cNvPr id="1" name=""/>
        <p:cNvGrpSpPr/>
        <p:nvPr/>
      </p:nvGrpSpPr>
      <p:grpSpPr>
        <a:xfrm>
          <a:off x="0" y="0"/>
          <a:ext cx="0" cy="0"/>
          <a:chOff x="0" y="0"/>
          <a:chExt cx="0" cy="0"/>
        </a:xfrm>
      </p:grpSpPr>
      <p:sp>
        <p:nvSpPr>
          <p:cNvPr id="2" name="Text 0"/>
          <p:cNvSpPr/>
          <p:nvPr/>
        </p:nvSpPr>
        <p:spPr>
          <a:xfrm>
            <a:off x="640080" y="2286000"/>
            <a:ext cx="91440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Fin du cahier des charges</a:t>
            </a:r>
            <a:endParaRPr lang="en-US" sz="3400" dirty="0"/>
          </a:p>
        </p:txBody>
      </p:sp>
      <p:sp>
        <p:nvSpPr>
          <p:cNvPr id="3" name="Text 1"/>
          <p:cNvSpPr/>
          <p:nvPr/>
        </p:nvSpPr>
        <p:spPr>
          <a:xfrm>
            <a:off x="640080" y="3200400"/>
            <a:ext cx="9144000" cy="822960"/>
          </a:xfrm>
          <a:prstGeom prst="rect">
            <a:avLst/>
          </a:prstGeom>
          <a:noFill/>
          <a:ln/>
        </p:spPr>
        <p:txBody>
          <a:bodyPr wrap="square" rtlCol="0" anchor="ctr"/>
          <a:lstStyle/>
          <a:p>
            <a:pPr indent="0" marL="0">
              <a:lnSpc>
                <a:spcPts val="1800"/>
              </a:lnSpc>
              <a:buNone/>
            </a:pPr>
            <a:r>
              <a:rPr lang="en-US" sz="1300" dirty="0">
                <a:solidFill>
                  <a:srgbClr val="C7C9E0"/>
                </a:solidFill>
                <a:latin typeface="Segoe UI" pitchFamily="34" charset="0"/>
                <a:ea typeface="Segoe UI" pitchFamily="34" charset="-122"/>
                <a:cs typeface="Segoe UI" pitchFamily="34" charset="-120"/>
              </a:rPr>
              <a:t>Ce document liste l'ensemble des fonctionnalités de l'application Koji Web telles que développées à ce jour. Il est mis à jour à chaque évolution notable de l'application.</a:t>
            </a:r>
            <a:endParaRPr lang="en-US" sz="1300" dirty="0"/>
          </a:p>
        </p:txBody>
      </p:sp>
      <p:sp>
        <p:nvSpPr>
          <p:cNvPr id="4" name="Text 2"/>
          <p:cNvSpPr/>
          <p:nvPr/>
        </p:nvSpPr>
        <p:spPr>
          <a:xfrm>
            <a:off x="640080" y="4846320"/>
            <a:ext cx="7315200" cy="320040"/>
          </a:xfrm>
          <a:prstGeom prst="rect">
            <a:avLst/>
          </a:prstGeom>
          <a:noFill/>
          <a:ln/>
        </p:spPr>
        <p:txBody>
          <a:bodyPr wrap="square" rtlCol="0" anchor="ctr"/>
          <a:lstStyle/>
          <a:p>
            <a:pPr indent="0" marL="0">
              <a:buNone/>
            </a:pPr>
            <a:r>
              <a:rPr lang="en-US" sz="1200" b="1" dirty="0">
                <a:solidFill>
                  <a:srgbClr val="C9A96A"/>
                </a:solidFill>
                <a:latin typeface="Segoe UI" pitchFamily="34" charset="0"/>
                <a:ea typeface="Segoe UI" pitchFamily="34" charset="-122"/>
                <a:cs typeface="Segoe UI" pitchFamily="34" charset="-120"/>
              </a:rPr>
              <a:t>Cahier des charges préparé par : BOUHOUCHI Amira</a:t>
            </a:r>
            <a:endParaRPr lang="en-US" sz="1200" dirty="0"/>
          </a:p>
        </p:txBody>
      </p:sp>
      <p:sp>
        <p:nvSpPr>
          <p:cNvPr id="5" name="Text 3"/>
          <p:cNvSpPr/>
          <p:nvPr/>
        </p:nvSpPr>
        <p:spPr>
          <a:xfrm>
            <a:off x="640080" y="5193792"/>
            <a:ext cx="7315200" cy="320040"/>
          </a:xfrm>
          <a:prstGeom prst="rect">
            <a:avLst/>
          </a:prstGeom>
          <a:noFill/>
          <a:ln/>
        </p:spPr>
        <p:txBody>
          <a:bodyPr wrap="square" rtlCol="0" anchor="ctr"/>
          <a:lstStyle/>
          <a:p>
            <a:pPr indent="0" marL="0">
              <a:buNone/>
            </a:pPr>
            <a:r>
              <a:rPr lang="en-US" sz="1200" b="1" dirty="0">
                <a:solidFill>
                  <a:srgbClr val="C9A96A"/>
                </a:solidFill>
                <a:latin typeface="Segoe UI" pitchFamily="34" charset="0"/>
                <a:ea typeface="Segoe UI" pitchFamily="34" charset="-122"/>
                <a:cs typeface="Segoe UI" pitchFamily="34" charset="-120"/>
              </a:rPr>
              <a:t>Application Koji Web développée par : BOUHOUCHI Amira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94</Slides>
  <Notes>94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94</vt:i4>
      </vt:variant>
    </vt:vector>
  </HeadingPairs>
  <TitlesOfParts>
    <vt:vector size="9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Cahier des charges — Application Web Koji — Gestion d'entreprise du bâtiment</dc:title>
  <dc:subject>PptxGenJS Presentation</dc:subject>
  <dc:creator>BOUHOUCHI Amira</dc:creator>
  <cp:lastModifiedBy>BOUHOUCHI Amira</cp:lastModifiedBy>
  <cp:revision>1</cp:revision>
  <dcterms:created xsi:type="dcterms:W3CDTF">2026-10-31T15:31:51Z</dcterms:created>
  <dcterms:modified xsi:type="dcterms:W3CDTF">2026-10-31T15:31:51Z</dcterms:modified>
</cp:coreProperties>
</file>