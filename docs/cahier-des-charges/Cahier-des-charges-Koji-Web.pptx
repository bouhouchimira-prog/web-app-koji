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slideMasters/slideMaster54.xml" ContentType="application/vnd.openxmlformats-officedocument.presentationml.slideMaster+xml"/>
  <Override PartName="/ppt/slides/slide54.xml" ContentType="application/vnd.openxmlformats-officedocument.presentationml.slide+xml"/>
  <Override PartName="/ppt/slideMasters/slideMaster55.xml" ContentType="application/vnd.openxmlformats-officedocument.presentationml.slideMaster+xml"/>
  <Override PartName="/ppt/slides/slide55.xml" ContentType="application/vnd.openxmlformats-officedocument.presentationml.slide+xml"/>
  <Override PartName="/ppt/slideMasters/slideMaster56.xml" ContentType="application/vnd.openxmlformats-officedocument.presentationml.slideMaster+xml"/>
  <Override PartName="/ppt/slides/slide56.xml" ContentType="application/vnd.openxmlformats-officedocument.presentationml.slide+xml"/>
  <Override PartName="/ppt/slideMasters/slideMaster57.xml" ContentType="application/vnd.openxmlformats-officedocument.presentationml.slideMaster+xml"/>
  <Override PartName="/ppt/slides/slide57.xml" ContentType="application/vnd.openxmlformats-officedocument.presentationml.slide+xml"/>
  <Override PartName="/ppt/slideMasters/slideMaster58.xml" ContentType="application/vnd.openxmlformats-officedocument.presentationml.slideMaster+xml"/>
  <Override PartName="/ppt/slides/slide58.xml" ContentType="application/vnd.openxmlformats-officedocument.presentationml.slide+xml"/>
  <Override PartName="/ppt/slideMasters/slideMaster59.xml" ContentType="application/vnd.openxmlformats-officedocument.presentationml.slideMaster+xml"/>
  <Override PartName="/ppt/slides/slide59.xml" ContentType="application/vnd.openxmlformats-officedocument.presentationml.slide+xml"/>
  <Override PartName="/ppt/slideMasters/slideMaster60.xml" ContentType="application/vnd.openxmlformats-officedocument.presentationml.slideMaster+xml"/>
  <Override PartName="/ppt/slides/slide60.xml" ContentType="application/vnd.openxmlformats-officedocument.presentationml.slide+xml"/>
  <Override PartName="/ppt/slideMasters/slideMaster61.xml" ContentType="application/vnd.openxmlformats-officedocument.presentationml.slideMaster+xml"/>
  <Override PartName="/ppt/slides/slide61.xml" ContentType="application/vnd.openxmlformats-officedocument.presentationml.slide+xml"/>
  <Override PartName="/ppt/slideMasters/slideMaster62.xml" ContentType="application/vnd.openxmlformats-officedocument.presentationml.slideMaster+xml"/>
  <Override PartName="/ppt/slides/slide62.xml" ContentType="application/vnd.openxmlformats-officedocument.presentationml.slide+xml"/>
  <Override PartName="/ppt/slideMasters/slideMaster63.xml" ContentType="application/vnd.openxmlformats-officedocument.presentationml.slideMaster+xml"/>
  <Override PartName="/ppt/slides/slide63.xml" ContentType="application/vnd.openxmlformats-officedocument.presentationml.slide+xml"/>
  <Override PartName="/ppt/slideMasters/slideMaster64.xml" ContentType="application/vnd.openxmlformats-officedocument.presentationml.slideMaster+xml"/>
  <Override PartName="/ppt/slides/slide64.xml" ContentType="application/vnd.openxmlformats-officedocument.presentationml.slide+xml"/>
  <Override PartName="/ppt/slideMasters/slideMaster65.xml" ContentType="application/vnd.openxmlformats-officedocument.presentationml.slideMaster+xml"/>
  <Override PartName="/ppt/slides/slide65.xml" ContentType="application/vnd.openxmlformats-officedocument.presentationml.slide+xml"/>
  <Override PartName="/ppt/slideMasters/slideMaster66.xml" ContentType="application/vnd.openxmlformats-officedocument.presentationml.slideMaster+xml"/>
  <Override PartName="/ppt/slides/slide66.xml" ContentType="application/vnd.openxmlformats-officedocument.presentationml.slide+xml"/>
  <Override PartName="/ppt/slideMasters/slideMaster67.xml" ContentType="application/vnd.openxmlformats-officedocument.presentationml.slideMaster+xml"/>
  <Override PartName="/ppt/slides/slide67.xml" ContentType="application/vnd.openxmlformats-officedocument.presentationml.slide+xml"/>
  <Override PartName="/ppt/slideMasters/slideMaster68.xml" ContentType="application/vnd.openxmlformats-officedocument.presentationml.slideMaster+xml"/>
  <Override PartName="/ppt/slides/slide68.xml" ContentType="application/vnd.openxmlformats-officedocument.presentationml.slide+xml"/>
  <Override PartName="/ppt/slideMasters/slideMaster69.xml" ContentType="application/vnd.openxmlformats-officedocument.presentationml.slideMaster+xml"/>
  <Override PartName="/ppt/slides/slide69.xml" ContentType="application/vnd.openxmlformats-officedocument.presentationml.slide+xml"/>
  <Override PartName="/ppt/slideMasters/slideMaster70.xml" ContentType="application/vnd.openxmlformats-officedocument.presentationml.slideMaster+xml"/>
  <Override PartName="/ppt/slides/slide70.xml" ContentType="application/vnd.openxmlformats-officedocument.presentationml.slide+xml"/>
  <Override PartName="/ppt/slideMasters/slideMaster71.xml" ContentType="application/vnd.openxmlformats-officedocument.presentationml.slideMaster+xml"/>
  <Override PartName="/ppt/slides/slide71.xml" ContentType="application/vnd.openxmlformats-officedocument.presentationml.slide+xml"/>
  <Override PartName="/ppt/slideMasters/slideMaster72.xml" ContentType="application/vnd.openxmlformats-officedocument.presentationml.slideMaster+xml"/>
  <Override PartName="/ppt/slides/slide72.xml" ContentType="application/vnd.openxmlformats-officedocument.presentationml.slide+xml"/>
  <Override PartName="/ppt/slideMasters/slideMaster73.xml" ContentType="application/vnd.openxmlformats-officedocument.presentationml.slideMaster+xml"/>
  <Override PartName="/ppt/slides/slide73.xml" ContentType="application/vnd.openxmlformats-officedocument.presentationml.slide+xml"/>
  <Override PartName="/ppt/slideMasters/slideMaster74.xml" ContentType="application/vnd.openxmlformats-officedocument.presentationml.slideMaster+xml"/>
  <Override PartName="/ppt/slides/slide74.xml" ContentType="application/vnd.openxmlformats-officedocument.presentationml.slide+xml"/>
  <Override PartName="/ppt/slideMasters/slideMaster75.xml" ContentType="application/vnd.openxmlformats-officedocument.presentationml.slideMaster+xml"/>
  <Override PartName="/ppt/slides/slide75.xml" ContentType="application/vnd.openxmlformats-officedocument.presentationml.slide+xml"/>
  <Override PartName="/ppt/slideMasters/slideMaster76.xml" ContentType="application/vnd.openxmlformats-officedocument.presentationml.slideMaster+xml"/>
  <Override PartName="/ppt/slides/slide76.xml" ContentType="application/vnd.openxmlformats-officedocument.presentationml.slide+xml"/>
  <Override PartName="/ppt/slideMasters/slideMaster77.xml" ContentType="application/vnd.openxmlformats-officedocument.presentationml.slideMaster+xml"/>
  <Override PartName="/ppt/slides/slide77.xml" ContentType="application/vnd.openxmlformats-officedocument.presentationml.slide+xml"/>
  <Override PartName="/ppt/slideMasters/slideMaster78.xml" ContentType="application/vnd.openxmlformats-officedocument.presentationml.slideMaster+xml"/>
  <Override PartName="/ppt/slides/slide78.xml" ContentType="application/vnd.openxmlformats-officedocument.presentationml.slide+xml"/>
  <Override PartName="/ppt/slideMasters/slideMaster79.xml" ContentType="application/vnd.openxmlformats-officedocument.presentationml.slideMaster+xml"/>
  <Override PartName="/ppt/slides/slide79.xml" ContentType="application/vnd.openxmlformats-officedocument.presentationml.slide+xml"/>
  <Override PartName="/ppt/slideMasters/slideMaster80.xml" ContentType="application/vnd.openxmlformats-officedocument.presentationml.slideMaster+xml"/>
  <Override PartName="/ppt/slides/slide80.xml" ContentType="application/vnd.openxmlformats-officedocument.presentationml.slide+xml"/>
  <Override PartName="/ppt/slideMasters/slideMaster81.xml" ContentType="application/vnd.openxmlformats-officedocument.presentationml.slideMaster+xml"/>
  <Override PartName="/ppt/slides/slide81.xml" ContentType="application/vnd.openxmlformats-officedocument.presentationml.slide+xml"/>
  <Override PartName="/ppt/slideMasters/slideMaster82.xml" ContentType="application/vnd.openxmlformats-officedocument.presentationml.slideMaster+xml"/>
  <Override PartName="/ppt/slides/slide82.xml" ContentType="application/vnd.openxmlformats-officedocument.presentationml.slide+xml"/>
  <Override PartName="/ppt/slideMasters/slideMaster83.xml" ContentType="application/vnd.openxmlformats-officedocument.presentationml.slideMaster+xml"/>
  <Override PartName="/ppt/slides/slide83.xml" ContentType="application/vnd.openxmlformats-officedocument.presentationml.slide+xml"/>
  <Override PartName="/ppt/slideMasters/slideMaster84.xml" ContentType="application/vnd.openxmlformats-officedocument.presentationml.slideMaster+xml"/>
  <Override PartName="/ppt/slides/slide84.xml" ContentType="application/vnd.openxmlformats-officedocument.presentationml.slide+xml"/>
  <Override PartName="/ppt/slideMasters/slideMaster85.xml" ContentType="application/vnd.openxmlformats-officedocument.presentationml.slideMaster+xml"/>
  <Override PartName="/ppt/slides/slide85.xml" ContentType="application/vnd.openxmlformats-officedocument.presentationml.slide+xml"/>
  <Override PartName="/ppt/slideMasters/slideMaster86.xml" ContentType="application/vnd.openxmlformats-officedocument.presentationml.slideMaster+xml"/>
  <Override PartName="/ppt/slides/slide86.xml" ContentType="application/vnd.openxmlformats-officedocument.presentationml.slide+xml"/>
  <Override PartName="/ppt/slideMasters/slideMaster87.xml" ContentType="application/vnd.openxmlformats-officedocument.presentationml.slideMaster+xml"/>
  <Override PartName="/ppt/slides/slide87.xml" ContentType="application/vnd.openxmlformats-officedocument.presentationml.slide+xml"/>
  <Override PartName="/ppt/slideMasters/slideMaster88.xml" ContentType="application/vnd.openxmlformats-officedocument.presentationml.slideMaster+xml"/>
  <Override PartName="/ppt/slides/slide88.xml" ContentType="application/vnd.openxmlformats-officedocument.presentationml.slide+xml"/>
  <Override PartName="/ppt/slideMasters/slideMaster89.xml" ContentType="application/vnd.openxmlformats-officedocument.presentationml.slideMaster+xml"/>
  <Override PartName="/ppt/slides/slide8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ppt/notesSlides/notesSlide80.xml" ContentType="application/vnd.openxmlformats-officedocument.presentationml.notesSlide+xml"/>
  <Override PartName="/ppt/notesSlides/notesSlide81.xml" ContentType="application/vnd.openxmlformats-officedocument.presentationml.notesSlide+xml"/>
  <Override PartName="/ppt/notesSlides/notesSlide82.xml" ContentType="application/vnd.openxmlformats-officedocument.presentationml.notesSlide+xml"/>
  <Override PartName="/ppt/notesSlides/notesSlide83.xml" ContentType="application/vnd.openxmlformats-officedocument.presentationml.notesSlide+xml"/>
  <Override PartName="/ppt/notesSlides/notesSlide84.xml" ContentType="application/vnd.openxmlformats-officedocument.presentationml.notesSlide+xml"/>
  <Override PartName="/ppt/notesSlides/notesSlide85.xml" ContentType="application/vnd.openxmlformats-officedocument.presentationml.notesSlide+xml"/>
  <Override PartName="/ppt/notesSlides/notesSlide86.xml" ContentType="application/vnd.openxmlformats-officedocument.presentationml.notesSlide+xml"/>
  <Override PartName="/ppt/notesSlides/notesSlide87.xml" ContentType="application/vnd.openxmlformats-officedocument.presentationml.notesSlide+xml"/>
  <Override PartName="/ppt/notesSlides/notesSlide88.xml" ContentType="application/vnd.openxmlformats-officedocument.presentationml.notesSlide+xml"/>
  <Override PartName="/ppt/notesSlides/notesSlide8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 id="324" r:id="rId70"/>
    <p:sldId id="325" r:id="rId71"/>
    <p:sldId id="326" r:id="rId72"/>
    <p:sldId id="327" r:id="rId73"/>
    <p:sldId id="328" r:id="rId74"/>
    <p:sldId id="329" r:id="rId75"/>
    <p:sldId id="330" r:id="rId76"/>
    <p:sldId id="331" r:id="rId77"/>
    <p:sldId id="332" r:id="rId78"/>
    <p:sldId id="333" r:id="rId79"/>
    <p:sldId id="334" r:id="rId80"/>
    <p:sldId id="335" r:id="rId81"/>
    <p:sldId id="336" r:id="rId82"/>
    <p:sldId id="337" r:id="rId83"/>
    <p:sldId id="338" r:id="rId84"/>
    <p:sldId id="339" r:id="rId85"/>
    <p:sldId id="340" r:id="rId86"/>
    <p:sldId id="341" r:id="rId87"/>
    <p:sldId id="342" r:id="rId88"/>
    <p:sldId id="343" r:id="rId89"/>
    <p:sldId id="344" r:id="rId90"/>
  </p:sldIdLst>
  <p:notesMasterIdLst>
    <p:notesMasterId r:id="rId91"/>
  </p:notesMasterIdLst>
  <p:sldSz cx="12191695" cy="6858000"/>
  <p:notesSz cx="6858000" cy="12191695"/>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slide" Target="slides/slide61.xml"/><Relationship Id="rId63" Type="http://schemas.openxmlformats.org/officeDocument/2006/relationships/slide" Target="slides/slide62.xml"/><Relationship Id="rId64" Type="http://schemas.openxmlformats.org/officeDocument/2006/relationships/slide" Target="slides/slide63.xml"/><Relationship Id="rId65" Type="http://schemas.openxmlformats.org/officeDocument/2006/relationships/slide" Target="slides/slide64.xml"/><Relationship Id="rId66" Type="http://schemas.openxmlformats.org/officeDocument/2006/relationships/slide" Target="slides/slide65.xml"/><Relationship Id="rId67" Type="http://schemas.openxmlformats.org/officeDocument/2006/relationships/slide" Target="slides/slide66.xml"/><Relationship Id="rId68" Type="http://schemas.openxmlformats.org/officeDocument/2006/relationships/slide" Target="slides/slide67.xml"/><Relationship Id="rId69" Type="http://schemas.openxmlformats.org/officeDocument/2006/relationships/slide" Target="slides/slide68.xml"/><Relationship Id="rId70" Type="http://schemas.openxmlformats.org/officeDocument/2006/relationships/slide" Target="slides/slide69.xml"/><Relationship Id="rId71" Type="http://schemas.openxmlformats.org/officeDocument/2006/relationships/slide" Target="slides/slide70.xml"/><Relationship Id="rId72" Type="http://schemas.openxmlformats.org/officeDocument/2006/relationships/slide" Target="slides/slide71.xml"/><Relationship Id="rId73" Type="http://schemas.openxmlformats.org/officeDocument/2006/relationships/slide" Target="slides/slide72.xml"/><Relationship Id="rId74" Type="http://schemas.openxmlformats.org/officeDocument/2006/relationships/slide" Target="slides/slide73.xml"/><Relationship Id="rId75" Type="http://schemas.openxmlformats.org/officeDocument/2006/relationships/slide" Target="slides/slide74.xml"/><Relationship Id="rId76" Type="http://schemas.openxmlformats.org/officeDocument/2006/relationships/slide" Target="slides/slide75.xml"/><Relationship Id="rId77" Type="http://schemas.openxmlformats.org/officeDocument/2006/relationships/slide" Target="slides/slide76.xml"/><Relationship Id="rId78" Type="http://schemas.openxmlformats.org/officeDocument/2006/relationships/slide" Target="slides/slide77.xml"/><Relationship Id="rId79" Type="http://schemas.openxmlformats.org/officeDocument/2006/relationships/slide" Target="slides/slide78.xml"/><Relationship Id="rId80" Type="http://schemas.openxmlformats.org/officeDocument/2006/relationships/slide" Target="slides/slide79.xml"/><Relationship Id="rId81" Type="http://schemas.openxmlformats.org/officeDocument/2006/relationships/slide" Target="slides/slide80.xml"/><Relationship Id="rId82" Type="http://schemas.openxmlformats.org/officeDocument/2006/relationships/slide" Target="slides/slide81.xml"/><Relationship Id="rId83" Type="http://schemas.openxmlformats.org/officeDocument/2006/relationships/slide" Target="slides/slide82.xml"/><Relationship Id="rId84" Type="http://schemas.openxmlformats.org/officeDocument/2006/relationships/slide" Target="slides/slide83.xml"/><Relationship Id="rId85" Type="http://schemas.openxmlformats.org/officeDocument/2006/relationships/slide" Target="slides/slide84.xml"/><Relationship Id="rId86" Type="http://schemas.openxmlformats.org/officeDocument/2006/relationships/slide" Target="slides/slide85.xml"/><Relationship Id="rId87" Type="http://schemas.openxmlformats.org/officeDocument/2006/relationships/slide" Target="slides/slide86.xml"/><Relationship Id="rId88" Type="http://schemas.openxmlformats.org/officeDocument/2006/relationships/slide" Target="slides/slide87.xml"/><Relationship Id="rId89" Type="http://schemas.openxmlformats.org/officeDocument/2006/relationships/slide" Target="slides/slide88.xml"/><Relationship Id="rId90" Type="http://schemas.openxmlformats.org/officeDocument/2006/relationships/slide" Target="slides/slide89.xml"/><Relationship Id="rId91" Type="http://schemas.openxmlformats.org/officeDocument/2006/relationships/notesMaster" Target="notesMasters/notesMaster1.xml"/><Relationship Id="rId92" Type="http://schemas.openxmlformats.org/officeDocument/2006/relationships/presProps" Target="presProps.xml"/><Relationship Id="rId93" Type="http://schemas.openxmlformats.org/officeDocument/2006/relationships/viewProps" Target="viewProps.xml"/><Relationship Id="rId94" Type="http://schemas.openxmlformats.org/officeDocument/2006/relationships/theme" Target="theme/theme1.xml"/><Relationship Id="rId95"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_rels/notesSlide5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4.xml"/>
		</Relationships>
</file>

<file path=ppt/notesSlides/_rels/notesSlide5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5.xml"/>
		</Relationships>
</file>

<file path=ppt/notesSlides/_rels/notesSlide5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6.xml"/>
		</Relationships>
</file>

<file path=ppt/notesSlides/_rels/notesSlide5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7.xml"/>
		</Relationships>
</file>

<file path=ppt/notesSlides/_rels/notesSlide5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8.xml"/>
		</Relationships>
</file>

<file path=ppt/notesSlides/_rels/notesSlide5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9.xml"/>
		</Relationships>
</file>

<file path=ppt/notesSlides/_rels/notesSlide6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0.xml"/>
		</Relationships>
</file>

<file path=ppt/notesSlides/_rels/notesSlide6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1.xml"/>
		</Relationships>
</file>

<file path=ppt/notesSlides/_rels/notesSlide6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2.xml"/>
		</Relationships>
</file>

<file path=ppt/notesSlides/_rels/notesSlide6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3.xml"/>
		</Relationships>
</file>

<file path=ppt/notesSlides/_rels/notesSlide6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4.xml"/>
		</Relationships>
</file>

<file path=ppt/notesSlides/_rels/notesSlide6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5.xml"/>
		</Relationships>
</file>

<file path=ppt/notesSlides/_rels/notesSlide6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6.xml"/>
		</Relationships>
</file>

<file path=ppt/notesSlides/_rels/notesSlide6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7.xml"/>
		</Relationships>
</file>

<file path=ppt/notesSlides/_rels/notesSlide6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8.xml"/>
		</Relationships>
</file>

<file path=ppt/notesSlides/_rels/notesSlide6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9.xml"/>
		</Relationships>
</file>

<file path=ppt/notesSlides/_rels/notesSlide7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0.xml"/>
		</Relationships>
</file>

<file path=ppt/notesSlides/_rels/notesSlide7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1.xml"/>
		</Relationships>
</file>

<file path=ppt/notesSlides/_rels/notesSlide7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2.xml"/>
		</Relationships>
</file>

<file path=ppt/notesSlides/_rels/notesSlide7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3.xml"/>
		</Relationships>
</file>

<file path=ppt/notesSlides/_rels/notesSlide7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4.xml"/>
		</Relationships>
</file>

<file path=ppt/notesSlides/_rels/notesSlide7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5.xml"/>
		</Relationships>
</file>

<file path=ppt/notesSlides/_rels/notesSlide7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6.xml"/>
		</Relationships>
</file>

<file path=ppt/notesSlides/_rels/notesSlide7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7.xml"/>
		</Relationships>
</file>

<file path=ppt/notesSlides/_rels/notesSlide7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8.xml"/>
		</Relationships>
</file>

<file path=ppt/notesSlides/_rels/notesSlide7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9.xml"/>
		</Relationships>
</file>

<file path=ppt/notesSlides/_rels/notesSlide8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0.xml"/>
		</Relationships>
</file>

<file path=ppt/notesSlides/_rels/notesSlide8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1.xml"/>
		</Relationships>
</file>

<file path=ppt/notesSlides/_rels/notesSlide8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2.xml"/>
		</Relationships>
</file>

<file path=ppt/notesSlides/_rels/notesSlide8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3.xml"/>
		</Relationships>
</file>

<file path=ppt/notesSlides/_rels/notesSlide8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4.xml"/>
		</Relationships>
</file>

<file path=ppt/notesSlides/_rels/notesSlide8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5.xml"/>
		</Relationships>
</file>

<file path=ppt/notesSlides/_rels/notesSlide8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6.xml"/>
		</Relationships>
</file>

<file path=ppt/notesSlides/_rels/notesSlide8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7.xml"/>
		</Relationships>
</file>

<file path=ppt/notesSlides/_rels/notesSlide8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8.xml"/>
		</Relationships>
</file>

<file path=ppt/notesSlides/_rels/notesSlide8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9.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0.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1.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2.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3.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4.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5.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6.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7.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8.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9.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0.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1.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2.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3.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4.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5.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6.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7.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8.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9.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0.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1.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2.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3.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4.xm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5.xml"/></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6.xml"/></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7.xml"/></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8.xml"/></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9.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B1030"/>
        </a:solidFill>
      </p:bgPr>
    </p:bg>
    <p:spTree>
      <p:nvGrpSpPr>
        <p:cNvPr id="1" name=""/>
        <p:cNvGrpSpPr/>
        <p:nvPr/>
      </p:nvGrpSpPr>
      <p:grpSpPr>
        <a:xfrm>
          <a:off x="0" y="0"/>
          <a:ext cx="0" cy="0"/>
          <a:chOff x="0" y="0"/>
          <a:chExt cx="0" cy="0"/>
        </a:xfrm>
      </p:grpSpPr>
      <p:sp>
        <p:nvSpPr>
          <p:cNvPr id="2" name="Shape 0"/>
          <p:cNvSpPr/>
          <p:nvPr/>
        </p:nvSpPr>
        <p:spPr>
          <a:xfrm>
            <a:off x="0" y="0"/>
            <a:ext cx="164592" cy="6858000"/>
          </a:xfrm>
          <a:prstGeom prst="rect">
            <a:avLst/>
          </a:prstGeom>
          <a:solidFill>
            <a:srgbClr val="C9A96A"/>
          </a:solidFill>
          <a:ln/>
        </p:spPr>
      </p:sp>
      <p:sp>
        <p:nvSpPr>
          <p:cNvPr id="3" name="Text 1"/>
          <p:cNvSpPr/>
          <p:nvPr/>
        </p:nvSpPr>
        <p:spPr>
          <a:xfrm>
            <a:off x="640080" y="548640"/>
            <a:ext cx="3657600" cy="548640"/>
          </a:xfrm>
          <a:prstGeom prst="rect">
            <a:avLst/>
          </a:prstGeom>
          <a:noFill/>
          <a:ln/>
        </p:spPr>
        <p:txBody>
          <a:bodyPr wrap="square" rtlCol="0" anchor="ctr"/>
          <a:lstStyle/>
          <a:p>
            <a:pPr indent="0" marL="0">
              <a:buNone/>
            </a:pPr>
            <a:r>
              <a:rPr lang="en-US" sz="2000" b="1" spc="400" kern="0" dirty="0">
                <a:solidFill>
                  <a:srgbClr val="C9A96A"/>
                </a:solidFill>
                <a:latin typeface="Georgia" pitchFamily="34" charset="0"/>
                <a:ea typeface="Georgia" pitchFamily="34" charset="-122"/>
                <a:cs typeface="Georgia" pitchFamily="34" charset="-120"/>
              </a:rPr>
              <a:t>KÔJI</a:t>
            </a:r>
            <a:endParaRPr lang="en-US" sz="2000" dirty="0"/>
          </a:p>
        </p:txBody>
      </p:sp>
      <p:sp>
        <p:nvSpPr>
          <p:cNvPr id="4" name="Text 2"/>
          <p:cNvSpPr/>
          <p:nvPr/>
        </p:nvSpPr>
        <p:spPr>
          <a:xfrm>
            <a:off x="640080" y="2286000"/>
            <a:ext cx="10515600" cy="1005840"/>
          </a:xfrm>
          <a:prstGeom prst="rect">
            <a:avLst/>
          </a:prstGeom>
          <a:noFill/>
          <a:ln/>
        </p:spPr>
        <p:txBody>
          <a:bodyPr wrap="square" rtlCol="0" anchor="ctr"/>
          <a:lstStyle/>
          <a:p>
            <a:pPr indent="0" marL="0">
              <a:buNone/>
            </a:pPr>
            <a:r>
              <a:rPr lang="en-US" sz="4200" b="1" dirty="0">
                <a:solidFill>
                  <a:srgbClr val="FFFFFF"/>
                </a:solidFill>
                <a:latin typeface="Georgia" pitchFamily="34" charset="0"/>
                <a:ea typeface="Georgia" pitchFamily="34" charset="-122"/>
                <a:cs typeface="Georgia" pitchFamily="34" charset="-120"/>
              </a:rPr>
              <a:t>Cahier des charges</a:t>
            </a:r>
            <a:endParaRPr lang="en-US" sz="4200" dirty="0"/>
          </a:p>
        </p:txBody>
      </p:sp>
      <p:sp>
        <p:nvSpPr>
          <p:cNvPr id="5" name="Text 3"/>
          <p:cNvSpPr/>
          <p:nvPr/>
        </p:nvSpPr>
        <p:spPr>
          <a:xfrm>
            <a:off x="640080" y="3246120"/>
            <a:ext cx="10515600" cy="548640"/>
          </a:xfrm>
          <a:prstGeom prst="rect">
            <a:avLst/>
          </a:prstGeom>
          <a:noFill/>
          <a:ln/>
        </p:spPr>
        <p:txBody>
          <a:bodyPr wrap="square" rtlCol="0" anchor="ctr"/>
          <a:lstStyle/>
          <a:p>
            <a:pPr indent="0" marL="0">
              <a:buNone/>
            </a:pPr>
            <a:r>
              <a:rPr lang="en-US" sz="1700" dirty="0">
                <a:solidFill>
                  <a:srgbClr val="C7C9E0"/>
                </a:solidFill>
                <a:latin typeface="Segoe UI" pitchFamily="34" charset="0"/>
                <a:ea typeface="Segoe UI" pitchFamily="34" charset="-122"/>
                <a:cs typeface="Segoe UI" pitchFamily="34" charset="-120"/>
              </a:rPr>
              <a:t>Application Web Kôji — Gestion d'entreprise du bâtiment</a:t>
            </a:r>
            <a:endParaRPr lang="en-US" sz="1700" dirty="0"/>
          </a:p>
        </p:txBody>
      </p:sp>
      <p:sp>
        <p:nvSpPr>
          <p:cNvPr id="6" name="Text 4"/>
          <p:cNvSpPr/>
          <p:nvPr/>
        </p:nvSpPr>
        <p:spPr>
          <a:xfrm>
            <a:off x="640080" y="3886200"/>
            <a:ext cx="5486400" cy="365760"/>
          </a:xfrm>
          <a:prstGeom prst="rect">
            <a:avLst/>
          </a:prstGeom>
          <a:noFill/>
          <a:ln/>
        </p:spPr>
        <p:txBody>
          <a:bodyPr wrap="square" rtlCol="0" anchor="ctr"/>
          <a:lstStyle/>
          <a:p>
            <a:pPr indent="0" marL="0">
              <a:buNone/>
            </a:pPr>
            <a:r>
              <a:rPr lang="en-US" sz="1300" b="1" dirty="0">
                <a:solidFill>
                  <a:srgbClr val="C9A96A"/>
                </a:solidFill>
                <a:latin typeface="Segoe UI" pitchFamily="34" charset="0"/>
                <a:ea typeface="Segoe UI" pitchFamily="34" charset="-122"/>
                <a:cs typeface="Segoe UI" pitchFamily="34" charset="-120"/>
              </a:rPr>
              <a:t>2026</a:t>
            </a:r>
            <a:endParaRPr lang="en-US" sz="1300" dirty="0"/>
          </a:p>
        </p:txBody>
      </p:sp>
      <p:sp>
        <p:nvSpPr>
          <p:cNvPr id="7" name="Text 5"/>
          <p:cNvSpPr/>
          <p:nvPr/>
        </p:nvSpPr>
        <p:spPr>
          <a:xfrm>
            <a:off x="640080" y="5669280"/>
            <a:ext cx="7315200" cy="320040"/>
          </a:xfrm>
          <a:prstGeom prst="rect">
            <a:avLst/>
          </a:prstGeom>
          <a:noFill/>
          <a:ln/>
        </p:spPr>
        <p:txBody>
          <a:bodyPr wrap="square" rtlCol="0" anchor="ctr"/>
          <a:lstStyle/>
          <a:p>
            <a:pPr indent="0" marL="0">
              <a:buNone/>
            </a:pPr>
            <a:r>
              <a:rPr lang="en-US" sz="1200" dirty="0">
                <a:solidFill>
                  <a:srgbClr val="C7C9E0"/>
                </a:solidFill>
                <a:latin typeface="Segoe UI" pitchFamily="34" charset="0"/>
                <a:ea typeface="Segoe UI" pitchFamily="34" charset="-122"/>
                <a:cs typeface="Segoe UI" pitchFamily="34" charset="-120"/>
              </a:rPr>
              <a:t>Cahier des charges préparé par : BOUHOUCHI Amira</a:t>
            </a:r>
            <a:endParaRPr lang="en-US" sz="1200" dirty="0"/>
          </a:p>
        </p:txBody>
      </p:sp>
      <p:sp>
        <p:nvSpPr>
          <p:cNvPr id="8" name="Text 6"/>
          <p:cNvSpPr/>
          <p:nvPr/>
        </p:nvSpPr>
        <p:spPr>
          <a:xfrm>
            <a:off x="640080" y="6035040"/>
            <a:ext cx="7315200" cy="320040"/>
          </a:xfrm>
          <a:prstGeom prst="rect">
            <a:avLst/>
          </a:prstGeom>
          <a:noFill/>
          <a:ln/>
        </p:spPr>
        <p:txBody>
          <a:bodyPr wrap="square" rtlCol="0" anchor="ctr"/>
          <a:lstStyle/>
          <a:p>
            <a:pPr indent="0" marL="0">
              <a:buNone/>
            </a:pPr>
            <a:r>
              <a:rPr lang="en-US" sz="1200" dirty="0">
                <a:solidFill>
                  <a:srgbClr val="C7C9E0"/>
                </a:solidFill>
                <a:latin typeface="Segoe UI" pitchFamily="34" charset="0"/>
                <a:ea typeface="Segoe UI" pitchFamily="34" charset="-122"/>
                <a:cs typeface="Segoe UI" pitchFamily="34" charset="-120"/>
              </a:rPr>
              <a:t>Application Kôji Web développée par : BOUHOUCHI Amira</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3EEE3"/>
        </a:solidFill>
      </p:bgPr>
    </p:bg>
    <p:spTree>
      <p:nvGrpSpPr>
        <p:cNvPr id="1" name=""/>
        <p:cNvGrpSpPr/>
        <p:nvPr/>
      </p:nvGrpSpPr>
      <p:grpSpPr>
        <a:xfrm>
          <a:off x="0" y="0"/>
          <a:ext cx="0" cy="0"/>
          <a:chOff x="0" y="0"/>
          <a:chExt cx="0" cy="0"/>
        </a:xfrm>
      </p:grpSpPr>
      <p:sp>
        <p:nvSpPr>
          <p:cNvPr id="2" name="Text 0"/>
          <p:cNvSpPr/>
          <p:nvPr/>
        </p:nvSpPr>
        <p:spPr>
          <a:xfrm>
            <a:off x="640080" y="411480"/>
            <a:ext cx="10515600" cy="548640"/>
          </a:xfrm>
          <a:prstGeom prst="rect">
            <a:avLst/>
          </a:prstGeom>
          <a:noFill/>
          <a:ln/>
        </p:spPr>
        <p:txBody>
          <a:bodyPr wrap="square" rtlCol="0" anchor="ctr"/>
          <a:lstStyle/>
          <a:p>
            <a:pPr indent="0" marL="0">
              <a:buNone/>
            </a:pPr>
            <a:r>
              <a:rPr lang="en-US" sz="2600" b="1" dirty="0">
                <a:solidFill>
                  <a:srgbClr val="1B1F3B"/>
                </a:solidFill>
                <a:latin typeface="Georgia" pitchFamily="34" charset="0"/>
                <a:ea typeface="Georgia" pitchFamily="34" charset="-122"/>
                <a:cs typeface="Georgia" pitchFamily="34" charset="-120"/>
              </a:rPr>
              <a:t>Présentation du projet</a:t>
            </a:r>
            <a:endParaRPr lang="en-US" sz="2600" dirty="0"/>
          </a:p>
        </p:txBody>
      </p:sp>
      <p:sp>
        <p:nvSpPr>
          <p:cNvPr id="3" name="Text 1"/>
          <p:cNvSpPr/>
          <p:nvPr/>
        </p:nvSpPr>
        <p:spPr>
          <a:xfrm>
            <a:off x="640080" y="1051560"/>
            <a:ext cx="10881360" cy="1463040"/>
          </a:xfrm>
          <a:prstGeom prst="rect">
            <a:avLst/>
          </a:prstGeom>
          <a:noFill/>
          <a:ln/>
        </p:spPr>
        <p:txBody>
          <a:bodyPr wrap="square" rtlCol="0" anchor="ctr"/>
          <a:lstStyle/>
          <a:p>
            <a:pPr indent="0" marL="0">
              <a:lnSpc>
                <a:spcPts val="1800"/>
              </a:lnSpc>
              <a:buNone/>
            </a:pPr>
            <a:r>
              <a:rPr lang="en-US" sz="1200" dirty="0">
                <a:solidFill>
                  <a:srgbClr val="1B1F3B"/>
                </a:solidFill>
                <a:latin typeface="Segoe UI" pitchFamily="34" charset="0"/>
                <a:ea typeface="Segoe UI" pitchFamily="34" charset="-122"/>
                <a:cs typeface="Segoe UI" pitchFamily="34" charset="-120"/>
              </a:rPr>
              <a:t>Kôji Web est une application de gestion destinée aux entreprises du bâtiment (plomberie, électricité, climatisation, tous corps d'état) : elle couvre l'ensemble du cycle d'activité, de la création d'un devis jusqu'à la facturation, en passant par le suivi de chantier, la gestion de l'équipe et le pointage des heures. Trois profils l'utilisent : l'entreprise (gérant/administratif), le client particulier (portail de suivi) et l'ouvrier/sous-traitant (portail terrain). Ce document décrit, module par module, chaque fonctionnalité de l'application, ce qu'elle permet de faire et comment elle a été réalisée techniquement.</a:t>
            </a:r>
            <a:endParaRPr lang="en-US" sz="1200" dirty="0"/>
          </a:p>
        </p:txBody>
      </p:sp>
      <p:sp>
        <p:nvSpPr>
          <p:cNvPr id="4" name="Text 2"/>
          <p:cNvSpPr/>
          <p:nvPr/>
        </p:nvSpPr>
        <p:spPr>
          <a:xfrm>
            <a:off x="640080" y="2651760"/>
            <a:ext cx="7315200" cy="365760"/>
          </a:xfrm>
          <a:prstGeom prst="rect">
            <a:avLst/>
          </a:prstGeom>
          <a:noFill/>
          <a:ln/>
        </p:spPr>
        <p:txBody>
          <a:bodyPr wrap="square" rtlCol="0" anchor="ctr"/>
          <a:lstStyle/>
          <a:p>
            <a:pPr indent="0" marL="0">
              <a:buNone/>
            </a:pPr>
            <a:r>
              <a:rPr lang="en-US" sz="1500" b="1" dirty="0">
                <a:solidFill>
                  <a:srgbClr val="1B1F3B"/>
                </a:solidFill>
                <a:latin typeface="Georgia" pitchFamily="34" charset="0"/>
                <a:ea typeface="Georgia" pitchFamily="34" charset="-122"/>
                <a:cs typeface="Georgia" pitchFamily="34" charset="-120"/>
              </a:rPr>
              <a:t>Objectifs de l'application</a:t>
            </a:r>
            <a:endParaRPr lang="en-US" sz="1500" dirty="0"/>
          </a:p>
        </p:txBody>
      </p:sp>
      <p:sp>
        <p:nvSpPr>
          <p:cNvPr id="5" name="Text 3"/>
          <p:cNvSpPr/>
          <p:nvPr/>
        </p:nvSpPr>
        <p:spPr>
          <a:xfrm>
            <a:off x="640080" y="3063240"/>
            <a:ext cx="10881360" cy="3291840"/>
          </a:xfrm>
          <a:prstGeom prst="rect">
            <a:avLst/>
          </a:prstGeom>
          <a:noFill/>
          <a:ln/>
        </p:spPr>
        <p:txBody>
          <a:bodyPr wrap="square" rtlCol="0" anchor="ctr"/>
          <a:lstStyle/>
          <a:p>
            <a:pPr marL="342900" indent="-342900">
              <a:lnSpc>
                <a:spcPts val="1900"/>
              </a:lnSpc>
              <a:spcAft>
                <a:spcPts val="800"/>
              </a:spcAft>
              <a:buSzPct val="100000"/>
              <a:buChar char="•"/>
            </a:pPr>
            <a:r>
              <a:rPr lang="en-US" sz="1250" dirty="0">
                <a:solidFill>
                  <a:srgbClr val="1B1F3B"/>
                </a:solidFill>
                <a:latin typeface="Segoe UI" pitchFamily="34" charset="0"/>
                <a:ea typeface="Segoe UI" pitchFamily="34" charset="-122"/>
                <a:cs typeface="Segoe UI" pitchFamily="34" charset="-120"/>
              </a:rPr>
              <a:t>Remplacer les devis papier/Excel par un outil de chiffrage structuré (lots, ouvrages, fournitures, main d'œuvre)</a:t>
            </a:r>
            <a:endParaRPr lang="en-US" sz="1250" dirty="0"/>
          </a:p>
          <a:p>
            <a:pPr marL="342900" indent="-342900">
              <a:lnSpc>
                <a:spcPts val="1900"/>
              </a:lnSpc>
              <a:spcAft>
                <a:spcPts val="800"/>
              </a:spcAft>
              <a:buSzPct val="100000"/>
              <a:buChar char="•"/>
            </a:pPr>
            <a:r>
              <a:rPr lang="en-US" sz="1250" dirty="0">
                <a:solidFill>
                  <a:srgbClr val="1B1F3B"/>
                </a:solidFill>
                <a:latin typeface="Segoe UI" pitchFamily="34" charset="0"/>
                <a:ea typeface="Segoe UI" pitchFamily="34" charset="-122"/>
                <a:cs typeface="Segoe UI" pitchFamily="34" charset="-120"/>
              </a:rPr>
              <a:t>Faire signer les devis électroniquement et transformer automatiquement un devis signé en chantier suivi</a:t>
            </a:r>
            <a:endParaRPr lang="en-US" sz="1250" dirty="0"/>
          </a:p>
          <a:p>
            <a:pPr marL="342900" indent="-342900">
              <a:lnSpc>
                <a:spcPts val="1900"/>
              </a:lnSpc>
              <a:spcAft>
                <a:spcPts val="800"/>
              </a:spcAft>
              <a:buSzPct val="100000"/>
              <a:buChar char="•"/>
            </a:pPr>
            <a:r>
              <a:rPr lang="en-US" sz="1250" dirty="0">
                <a:solidFill>
                  <a:srgbClr val="1B1F3B"/>
                </a:solidFill>
                <a:latin typeface="Segoe UI" pitchFamily="34" charset="0"/>
                <a:ea typeface="Segoe UI" pitchFamily="34" charset="-122"/>
                <a:cs typeface="Segoe UI" pitchFamily="34" charset="-120"/>
              </a:rPr>
              <a:t>Suivre l'avancement de chaque chantier, ouvrage par ouvrage, avec l'équipe assignée</a:t>
            </a:r>
            <a:endParaRPr lang="en-US" sz="1250" dirty="0"/>
          </a:p>
          <a:p>
            <a:pPr marL="342900" indent="-342900">
              <a:lnSpc>
                <a:spcPts val="1900"/>
              </a:lnSpc>
              <a:spcAft>
                <a:spcPts val="800"/>
              </a:spcAft>
              <a:buSzPct val="100000"/>
              <a:buChar char="•"/>
            </a:pPr>
            <a:r>
              <a:rPr lang="en-US" sz="1250" dirty="0">
                <a:solidFill>
                  <a:srgbClr val="1B1F3B"/>
                </a:solidFill>
                <a:latin typeface="Segoe UI" pitchFamily="34" charset="0"/>
                <a:ea typeface="Segoe UI" pitchFamily="34" charset="-122"/>
                <a:cs typeface="Segoe UI" pitchFamily="34" charset="-120"/>
              </a:rPr>
              <a:t>Gérer l'équipe (ouvriers et sous-traitants), leurs heures travaillées et leur paie</a:t>
            </a:r>
            <a:endParaRPr lang="en-US" sz="1250" dirty="0"/>
          </a:p>
          <a:p>
            <a:pPr marL="342900" indent="-342900">
              <a:lnSpc>
                <a:spcPts val="1900"/>
              </a:lnSpc>
              <a:spcAft>
                <a:spcPts val="800"/>
              </a:spcAft>
              <a:buSzPct val="100000"/>
              <a:buChar char="•"/>
            </a:pPr>
            <a:r>
              <a:rPr lang="en-US" sz="1250" dirty="0">
                <a:solidFill>
                  <a:srgbClr val="1B1F3B"/>
                </a:solidFill>
                <a:latin typeface="Segoe UI" pitchFamily="34" charset="0"/>
                <a:ea typeface="Segoe UI" pitchFamily="34" charset="-122"/>
                <a:cs typeface="Segoe UI" pitchFamily="34" charset="-120"/>
              </a:rPr>
              <a:t>Facturer les chantiers et les interventions, et générer les documents PDF correspondants</a:t>
            </a:r>
            <a:endParaRPr lang="en-US" sz="1250" dirty="0"/>
          </a:p>
          <a:p>
            <a:pPr marL="342900" indent="-342900">
              <a:lnSpc>
                <a:spcPts val="1900"/>
              </a:lnSpc>
              <a:spcAft>
                <a:spcPts val="800"/>
              </a:spcAft>
              <a:buSzPct val="100000"/>
              <a:buChar char="•"/>
            </a:pPr>
            <a:r>
              <a:rPr lang="en-US" sz="1250" dirty="0">
                <a:solidFill>
                  <a:srgbClr val="1B1F3B"/>
                </a:solidFill>
                <a:latin typeface="Segoe UI" pitchFamily="34" charset="0"/>
                <a:ea typeface="Segoe UI" pitchFamily="34" charset="-122"/>
                <a:cs typeface="Segoe UI" pitchFamily="34" charset="-120"/>
              </a:rPr>
              <a:t>Donner au client particulier un accès de suivi (avancement, notifications, échanges) et à l'ouvrier un portail terrain (tâches du jour, pointage, remontées de problèmes)</a:t>
            </a:r>
            <a:endParaRPr lang="en-US" sz="1250" dirty="0"/>
          </a:p>
        </p:txBody>
      </p:sp>
      <p:sp>
        <p:nvSpPr>
          <p:cNvPr id="6" name="Text 4"/>
          <p:cNvSpPr/>
          <p:nvPr/>
        </p:nvSpPr>
        <p:spPr>
          <a:xfrm>
            <a:off x="365760" y="6510528"/>
            <a:ext cx="5486400" cy="274320"/>
          </a:xfrm>
          <a:prstGeom prst="rect">
            <a:avLst/>
          </a:prstGeom>
          <a:noFill/>
          <a:ln/>
        </p:spPr>
        <p:txBody>
          <a:bodyPr wrap="square" rtlCol="0" anchor="ctr"/>
          <a:lstStyle/>
          <a:p>
            <a:pPr indent="0" marL="0">
              <a:buNone/>
            </a:pPr>
            <a:r>
              <a:rPr lang="en-US" sz="850" dirty="0">
                <a:solidFill>
                  <a:srgbClr val="8A7C68"/>
                </a:solidFill>
                <a:latin typeface="Segoe UI" pitchFamily="34" charset="0"/>
                <a:ea typeface="Segoe UI" pitchFamily="34" charset="-122"/>
                <a:cs typeface="Segoe UI" pitchFamily="34" charset="-120"/>
              </a:rPr>
              <a:t>Kôji Web — Cahier des charges</a:t>
            </a:r>
            <a:endParaRPr lang="en-US" sz="850" dirty="0"/>
          </a:p>
        </p:txBody>
      </p:sp>
      <p:sp>
        <p:nvSpPr>
          <p:cNvPr id="7" name="Text 5"/>
          <p:cNvSpPr/>
          <p:nvPr/>
        </p:nvSpPr>
        <p:spPr>
          <a:xfrm>
            <a:off x="9601200" y="6510528"/>
            <a:ext cx="2194560" cy="274320"/>
          </a:xfrm>
          <a:prstGeom prst="rect">
            <a:avLst/>
          </a:prstGeom>
          <a:noFill/>
          <a:ln/>
        </p:spPr>
        <p:txBody>
          <a:bodyPr wrap="square" rtlCol="0" anchor="ctr"/>
          <a:lstStyle/>
          <a:p>
            <a:pPr algn="r" indent="0" marL="0">
              <a:buNone/>
            </a:pPr>
            <a:r>
              <a:rPr lang="en-US" sz="850" dirty="0">
                <a:solidFill>
                  <a:srgbClr val="8A7C68"/>
                </a:solidFill>
                <a:latin typeface="Segoe UI" pitchFamily="34" charset="0"/>
                <a:ea typeface="Segoe UI" pitchFamily="34" charset="-122"/>
                <a:cs typeface="Segoe UI" pitchFamily="34" charset="-120"/>
              </a:rPr>
              <a:t>1</a:t>
            </a:r>
            <a:endParaRPr lang="en-US" sz="8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3EEE3"/>
        </a:solidFill>
      </p:bgPr>
    </p:bg>
    <p:spTree>
      <p:nvGrpSpPr>
        <p:cNvPr id="1" name=""/>
        <p:cNvGrpSpPr/>
        <p:nvPr/>
      </p:nvGrpSpPr>
      <p:grpSpPr>
        <a:xfrm>
          <a:off x="0" y="0"/>
          <a:ext cx="0" cy="0"/>
          <a:chOff x="0" y="0"/>
          <a:chExt cx="0" cy="0"/>
        </a:xfrm>
      </p:grpSpPr>
      <p:sp>
        <p:nvSpPr>
          <p:cNvPr id="2" name="Text 0"/>
          <p:cNvSpPr/>
          <p:nvPr/>
        </p:nvSpPr>
        <p:spPr>
          <a:xfrm>
            <a:off x="640080" y="411480"/>
            <a:ext cx="7315200" cy="548640"/>
          </a:xfrm>
          <a:prstGeom prst="rect">
            <a:avLst/>
          </a:prstGeom>
          <a:noFill/>
          <a:ln/>
        </p:spPr>
        <p:txBody>
          <a:bodyPr wrap="square" rtlCol="0" anchor="ctr"/>
          <a:lstStyle/>
          <a:p>
            <a:pPr indent="0" marL="0">
              <a:buNone/>
            </a:pPr>
            <a:r>
              <a:rPr lang="en-US" sz="2600" b="1" dirty="0">
                <a:solidFill>
                  <a:srgbClr val="1B1F3B"/>
                </a:solidFill>
                <a:latin typeface="Georgia" pitchFamily="34" charset="0"/>
                <a:ea typeface="Georgia" pitchFamily="34" charset="-122"/>
                <a:cs typeface="Georgia" pitchFamily="34" charset="-120"/>
              </a:rPr>
              <a:t>Sommaire</a:t>
            </a:r>
            <a:endParaRPr lang="en-US" sz="2600" dirty="0"/>
          </a:p>
        </p:txBody>
      </p:sp>
      <p:sp>
        <p:nvSpPr>
          <p:cNvPr id="3" name="Text 1"/>
          <p:cNvSpPr/>
          <p:nvPr/>
        </p:nvSpPr>
        <p:spPr>
          <a:xfrm>
            <a:off x="640080" y="1280160"/>
            <a:ext cx="457200" cy="457200"/>
          </a:xfrm>
          <a:prstGeom prst="rect">
            <a:avLst/>
          </a:prstGeom>
          <a:noFill/>
          <a:ln/>
        </p:spPr>
        <p:txBody>
          <a:bodyPr wrap="square" rtlCol="0" anchor="ctr"/>
          <a:lstStyle/>
          <a:p>
            <a:pPr indent="0" marL="0">
              <a:buNone/>
            </a:pPr>
            <a:r>
              <a:rPr lang="en-US" sz="1300" b="1" dirty="0">
                <a:solidFill>
                  <a:srgbClr val="C9A96A"/>
                </a:solidFill>
                <a:latin typeface="Georgia" pitchFamily="34" charset="0"/>
                <a:ea typeface="Georgia" pitchFamily="34" charset="-122"/>
                <a:cs typeface="Georgia" pitchFamily="34" charset="-120"/>
              </a:rPr>
              <a:t>01</a:t>
            </a:r>
            <a:endParaRPr lang="en-US" sz="1300" dirty="0"/>
          </a:p>
        </p:txBody>
      </p:sp>
      <p:sp>
        <p:nvSpPr>
          <p:cNvPr id="4" name="Text 2"/>
          <p:cNvSpPr/>
          <p:nvPr/>
        </p:nvSpPr>
        <p:spPr>
          <a:xfrm>
            <a:off x="1143000" y="1280160"/>
            <a:ext cx="4846320" cy="457200"/>
          </a:xfrm>
          <a:prstGeom prst="rect">
            <a:avLst/>
          </a:prstGeom>
          <a:noFill/>
          <a:ln/>
        </p:spPr>
        <p:txBody>
          <a:bodyPr wrap="square" rtlCol="0" anchor="t"/>
          <a:lstStyle/>
          <a:p>
            <a:pPr indent="0" marL="0">
              <a:buNone/>
            </a:pPr>
            <a:r>
              <a:rPr lang="en-US" sz="1300" dirty="0">
                <a:solidFill>
                  <a:srgbClr val="1B1F3B"/>
                </a:solidFill>
                <a:latin typeface="Segoe UI" pitchFamily="34" charset="0"/>
                <a:ea typeface="Segoe UI" pitchFamily="34" charset="-122"/>
                <a:cs typeface="Segoe UI" pitchFamily="34" charset="-120"/>
              </a:rPr>
              <a:t>Architecture technique &amp; outils</a:t>
            </a:r>
            <a:endParaRPr lang="en-US" sz="1300" dirty="0"/>
          </a:p>
        </p:txBody>
      </p:sp>
      <p:sp>
        <p:nvSpPr>
          <p:cNvPr id="5" name="Text 3"/>
          <p:cNvSpPr/>
          <p:nvPr/>
        </p:nvSpPr>
        <p:spPr>
          <a:xfrm>
            <a:off x="640080" y="1847088"/>
            <a:ext cx="457200" cy="457200"/>
          </a:xfrm>
          <a:prstGeom prst="rect">
            <a:avLst/>
          </a:prstGeom>
          <a:noFill/>
          <a:ln/>
        </p:spPr>
        <p:txBody>
          <a:bodyPr wrap="square" rtlCol="0" anchor="ctr"/>
          <a:lstStyle/>
          <a:p>
            <a:pPr indent="0" marL="0">
              <a:buNone/>
            </a:pPr>
            <a:r>
              <a:rPr lang="en-US" sz="1300" b="1" dirty="0">
                <a:solidFill>
                  <a:srgbClr val="C9A96A"/>
                </a:solidFill>
                <a:latin typeface="Georgia" pitchFamily="34" charset="0"/>
                <a:ea typeface="Georgia" pitchFamily="34" charset="-122"/>
                <a:cs typeface="Georgia" pitchFamily="34" charset="-120"/>
              </a:rPr>
              <a:t>02</a:t>
            </a:r>
            <a:endParaRPr lang="en-US" sz="1300" dirty="0"/>
          </a:p>
        </p:txBody>
      </p:sp>
      <p:sp>
        <p:nvSpPr>
          <p:cNvPr id="6" name="Text 4"/>
          <p:cNvSpPr/>
          <p:nvPr/>
        </p:nvSpPr>
        <p:spPr>
          <a:xfrm>
            <a:off x="1143000" y="1847088"/>
            <a:ext cx="4846320" cy="457200"/>
          </a:xfrm>
          <a:prstGeom prst="rect">
            <a:avLst/>
          </a:prstGeom>
          <a:noFill/>
          <a:ln/>
        </p:spPr>
        <p:txBody>
          <a:bodyPr wrap="square" rtlCol="0" anchor="t"/>
          <a:lstStyle/>
          <a:p>
            <a:pPr indent="0" marL="0">
              <a:buNone/>
            </a:pPr>
            <a:r>
              <a:rPr lang="en-US" sz="1300" dirty="0">
                <a:solidFill>
                  <a:srgbClr val="1B1F3B"/>
                </a:solidFill>
                <a:latin typeface="Segoe UI" pitchFamily="34" charset="0"/>
                <a:ea typeface="Segoe UI" pitchFamily="34" charset="-122"/>
                <a:cs typeface="Segoe UI" pitchFamily="34" charset="-120"/>
              </a:rPr>
              <a:t>Authentification et gestion des comptes</a:t>
            </a:r>
            <a:endParaRPr lang="en-US" sz="1300" dirty="0"/>
          </a:p>
        </p:txBody>
      </p:sp>
      <p:sp>
        <p:nvSpPr>
          <p:cNvPr id="7" name="Text 5"/>
          <p:cNvSpPr/>
          <p:nvPr/>
        </p:nvSpPr>
        <p:spPr>
          <a:xfrm>
            <a:off x="640080" y="2414016"/>
            <a:ext cx="457200" cy="457200"/>
          </a:xfrm>
          <a:prstGeom prst="rect">
            <a:avLst/>
          </a:prstGeom>
          <a:noFill/>
          <a:ln/>
        </p:spPr>
        <p:txBody>
          <a:bodyPr wrap="square" rtlCol="0" anchor="ctr"/>
          <a:lstStyle/>
          <a:p>
            <a:pPr indent="0" marL="0">
              <a:buNone/>
            </a:pPr>
            <a:r>
              <a:rPr lang="en-US" sz="1300" b="1" dirty="0">
                <a:solidFill>
                  <a:srgbClr val="C9A96A"/>
                </a:solidFill>
                <a:latin typeface="Georgia" pitchFamily="34" charset="0"/>
                <a:ea typeface="Georgia" pitchFamily="34" charset="-122"/>
                <a:cs typeface="Georgia" pitchFamily="34" charset="-120"/>
              </a:rPr>
              <a:t>03</a:t>
            </a:r>
            <a:endParaRPr lang="en-US" sz="1300" dirty="0"/>
          </a:p>
        </p:txBody>
      </p:sp>
      <p:sp>
        <p:nvSpPr>
          <p:cNvPr id="8" name="Text 6"/>
          <p:cNvSpPr/>
          <p:nvPr/>
        </p:nvSpPr>
        <p:spPr>
          <a:xfrm>
            <a:off x="1143000" y="2414016"/>
            <a:ext cx="4846320" cy="457200"/>
          </a:xfrm>
          <a:prstGeom prst="rect">
            <a:avLst/>
          </a:prstGeom>
          <a:noFill/>
          <a:ln/>
        </p:spPr>
        <p:txBody>
          <a:bodyPr wrap="square" rtlCol="0" anchor="t"/>
          <a:lstStyle/>
          <a:p>
            <a:pPr indent="0" marL="0">
              <a:buNone/>
            </a:pPr>
            <a:r>
              <a:rPr lang="en-US" sz="1300" dirty="0">
                <a:solidFill>
                  <a:srgbClr val="1B1F3B"/>
                </a:solidFill>
                <a:latin typeface="Segoe UI" pitchFamily="34" charset="0"/>
                <a:ea typeface="Segoe UI" pitchFamily="34" charset="-122"/>
                <a:cs typeface="Segoe UI" pitchFamily="34" charset="-120"/>
              </a:rPr>
              <a:t>Accueil (tableau de bord)</a:t>
            </a:r>
            <a:endParaRPr lang="en-US" sz="1300" dirty="0"/>
          </a:p>
        </p:txBody>
      </p:sp>
      <p:sp>
        <p:nvSpPr>
          <p:cNvPr id="9" name="Text 7"/>
          <p:cNvSpPr/>
          <p:nvPr/>
        </p:nvSpPr>
        <p:spPr>
          <a:xfrm>
            <a:off x="640080" y="2980944"/>
            <a:ext cx="457200" cy="457200"/>
          </a:xfrm>
          <a:prstGeom prst="rect">
            <a:avLst/>
          </a:prstGeom>
          <a:noFill/>
          <a:ln/>
        </p:spPr>
        <p:txBody>
          <a:bodyPr wrap="square" rtlCol="0" anchor="ctr"/>
          <a:lstStyle/>
          <a:p>
            <a:pPr indent="0" marL="0">
              <a:buNone/>
            </a:pPr>
            <a:r>
              <a:rPr lang="en-US" sz="1300" b="1" dirty="0">
                <a:solidFill>
                  <a:srgbClr val="C9A96A"/>
                </a:solidFill>
                <a:latin typeface="Georgia" pitchFamily="34" charset="0"/>
                <a:ea typeface="Georgia" pitchFamily="34" charset="-122"/>
                <a:cs typeface="Georgia" pitchFamily="34" charset="-120"/>
              </a:rPr>
              <a:t>04</a:t>
            </a:r>
            <a:endParaRPr lang="en-US" sz="1300" dirty="0"/>
          </a:p>
        </p:txBody>
      </p:sp>
      <p:sp>
        <p:nvSpPr>
          <p:cNvPr id="10" name="Text 8"/>
          <p:cNvSpPr/>
          <p:nvPr/>
        </p:nvSpPr>
        <p:spPr>
          <a:xfrm>
            <a:off x="1143000" y="2980944"/>
            <a:ext cx="4846320" cy="457200"/>
          </a:xfrm>
          <a:prstGeom prst="rect">
            <a:avLst/>
          </a:prstGeom>
          <a:noFill/>
          <a:ln/>
        </p:spPr>
        <p:txBody>
          <a:bodyPr wrap="square" rtlCol="0" anchor="t"/>
          <a:lstStyle/>
          <a:p>
            <a:pPr indent="0" marL="0">
              <a:buNone/>
            </a:pPr>
            <a:r>
              <a:rPr lang="en-US" sz="1300" dirty="0">
                <a:solidFill>
                  <a:srgbClr val="1B1F3B"/>
                </a:solidFill>
                <a:latin typeface="Segoe UI" pitchFamily="34" charset="0"/>
                <a:ea typeface="Segoe UI" pitchFamily="34" charset="-122"/>
                <a:cs typeface="Segoe UI" pitchFamily="34" charset="-120"/>
              </a:rPr>
              <a:t>Bibliothèque d'ouvrages</a:t>
            </a:r>
            <a:endParaRPr lang="en-US" sz="1300" dirty="0"/>
          </a:p>
        </p:txBody>
      </p:sp>
      <p:sp>
        <p:nvSpPr>
          <p:cNvPr id="11" name="Text 9"/>
          <p:cNvSpPr/>
          <p:nvPr/>
        </p:nvSpPr>
        <p:spPr>
          <a:xfrm>
            <a:off x="640080" y="3547872"/>
            <a:ext cx="457200" cy="457200"/>
          </a:xfrm>
          <a:prstGeom prst="rect">
            <a:avLst/>
          </a:prstGeom>
          <a:noFill/>
          <a:ln/>
        </p:spPr>
        <p:txBody>
          <a:bodyPr wrap="square" rtlCol="0" anchor="ctr"/>
          <a:lstStyle/>
          <a:p>
            <a:pPr indent="0" marL="0">
              <a:buNone/>
            </a:pPr>
            <a:r>
              <a:rPr lang="en-US" sz="1300" b="1" dirty="0">
                <a:solidFill>
                  <a:srgbClr val="C9A96A"/>
                </a:solidFill>
                <a:latin typeface="Georgia" pitchFamily="34" charset="0"/>
                <a:ea typeface="Georgia" pitchFamily="34" charset="-122"/>
                <a:cs typeface="Georgia" pitchFamily="34" charset="-120"/>
              </a:rPr>
              <a:t>05</a:t>
            </a:r>
            <a:endParaRPr lang="en-US" sz="1300" dirty="0"/>
          </a:p>
        </p:txBody>
      </p:sp>
      <p:sp>
        <p:nvSpPr>
          <p:cNvPr id="12" name="Text 10"/>
          <p:cNvSpPr/>
          <p:nvPr/>
        </p:nvSpPr>
        <p:spPr>
          <a:xfrm>
            <a:off x="1143000" y="3547872"/>
            <a:ext cx="4846320" cy="457200"/>
          </a:xfrm>
          <a:prstGeom prst="rect">
            <a:avLst/>
          </a:prstGeom>
          <a:noFill/>
          <a:ln/>
        </p:spPr>
        <p:txBody>
          <a:bodyPr wrap="square" rtlCol="0" anchor="t"/>
          <a:lstStyle/>
          <a:p>
            <a:pPr indent="0" marL="0">
              <a:buNone/>
            </a:pPr>
            <a:r>
              <a:rPr lang="en-US" sz="1300" dirty="0">
                <a:solidFill>
                  <a:srgbClr val="1B1F3B"/>
                </a:solidFill>
                <a:latin typeface="Segoe UI" pitchFamily="34" charset="0"/>
                <a:ea typeface="Segoe UI" pitchFamily="34" charset="-122"/>
                <a:cs typeface="Segoe UI" pitchFamily="34" charset="-120"/>
              </a:rPr>
              <a:t>Devis</a:t>
            </a:r>
            <a:endParaRPr lang="en-US" sz="1300" dirty="0"/>
          </a:p>
        </p:txBody>
      </p:sp>
      <p:sp>
        <p:nvSpPr>
          <p:cNvPr id="13" name="Text 11"/>
          <p:cNvSpPr/>
          <p:nvPr/>
        </p:nvSpPr>
        <p:spPr>
          <a:xfrm>
            <a:off x="640080" y="4114800"/>
            <a:ext cx="457200" cy="457200"/>
          </a:xfrm>
          <a:prstGeom prst="rect">
            <a:avLst/>
          </a:prstGeom>
          <a:noFill/>
          <a:ln/>
        </p:spPr>
        <p:txBody>
          <a:bodyPr wrap="square" rtlCol="0" anchor="ctr"/>
          <a:lstStyle/>
          <a:p>
            <a:pPr indent="0" marL="0">
              <a:buNone/>
            </a:pPr>
            <a:r>
              <a:rPr lang="en-US" sz="1300" b="1" dirty="0">
                <a:solidFill>
                  <a:srgbClr val="C9A96A"/>
                </a:solidFill>
                <a:latin typeface="Georgia" pitchFamily="34" charset="0"/>
                <a:ea typeface="Georgia" pitchFamily="34" charset="-122"/>
                <a:cs typeface="Georgia" pitchFamily="34" charset="-120"/>
              </a:rPr>
              <a:t>06</a:t>
            </a:r>
            <a:endParaRPr lang="en-US" sz="1300" dirty="0"/>
          </a:p>
        </p:txBody>
      </p:sp>
      <p:sp>
        <p:nvSpPr>
          <p:cNvPr id="14" name="Text 12"/>
          <p:cNvSpPr/>
          <p:nvPr/>
        </p:nvSpPr>
        <p:spPr>
          <a:xfrm>
            <a:off x="1143000" y="4114800"/>
            <a:ext cx="4846320" cy="457200"/>
          </a:xfrm>
          <a:prstGeom prst="rect">
            <a:avLst/>
          </a:prstGeom>
          <a:noFill/>
          <a:ln/>
        </p:spPr>
        <p:txBody>
          <a:bodyPr wrap="square" rtlCol="0" anchor="t"/>
          <a:lstStyle/>
          <a:p>
            <a:pPr indent="0" marL="0">
              <a:buNone/>
            </a:pPr>
            <a:r>
              <a:rPr lang="en-US" sz="1300" dirty="0">
                <a:solidFill>
                  <a:srgbClr val="1B1F3B"/>
                </a:solidFill>
                <a:latin typeface="Segoe UI" pitchFamily="34" charset="0"/>
                <a:ea typeface="Segoe UI" pitchFamily="34" charset="-122"/>
                <a:cs typeface="Segoe UI" pitchFamily="34" charset="-120"/>
              </a:rPr>
              <a:t>Signature électronique</a:t>
            </a:r>
            <a:endParaRPr lang="en-US" sz="1300" dirty="0"/>
          </a:p>
        </p:txBody>
      </p:sp>
      <p:sp>
        <p:nvSpPr>
          <p:cNvPr id="15" name="Text 13"/>
          <p:cNvSpPr/>
          <p:nvPr/>
        </p:nvSpPr>
        <p:spPr>
          <a:xfrm>
            <a:off x="640080" y="4681728"/>
            <a:ext cx="457200" cy="457200"/>
          </a:xfrm>
          <a:prstGeom prst="rect">
            <a:avLst/>
          </a:prstGeom>
          <a:noFill/>
          <a:ln/>
        </p:spPr>
        <p:txBody>
          <a:bodyPr wrap="square" rtlCol="0" anchor="ctr"/>
          <a:lstStyle/>
          <a:p>
            <a:pPr indent="0" marL="0">
              <a:buNone/>
            </a:pPr>
            <a:r>
              <a:rPr lang="en-US" sz="1300" b="1" dirty="0">
                <a:solidFill>
                  <a:srgbClr val="C9A96A"/>
                </a:solidFill>
                <a:latin typeface="Georgia" pitchFamily="34" charset="0"/>
                <a:ea typeface="Georgia" pitchFamily="34" charset="-122"/>
                <a:cs typeface="Georgia" pitchFamily="34" charset="-120"/>
              </a:rPr>
              <a:t>07</a:t>
            </a:r>
            <a:endParaRPr lang="en-US" sz="1300" dirty="0"/>
          </a:p>
        </p:txBody>
      </p:sp>
      <p:sp>
        <p:nvSpPr>
          <p:cNvPr id="16" name="Text 14"/>
          <p:cNvSpPr/>
          <p:nvPr/>
        </p:nvSpPr>
        <p:spPr>
          <a:xfrm>
            <a:off x="1143000" y="4681728"/>
            <a:ext cx="4846320" cy="457200"/>
          </a:xfrm>
          <a:prstGeom prst="rect">
            <a:avLst/>
          </a:prstGeom>
          <a:noFill/>
          <a:ln/>
        </p:spPr>
        <p:txBody>
          <a:bodyPr wrap="square" rtlCol="0" anchor="t"/>
          <a:lstStyle/>
          <a:p>
            <a:pPr indent="0" marL="0">
              <a:buNone/>
            </a:pPr>
            <a:r>
              <a:rPr lang="en-US" sz="1300" dirty="0">
                <a:solidFill>
                  <a:srgbClr val="1B1F3B"/>
                </a:solidFill>
                <a:latin typeface="Segoe UI" pitchFamily="34" charset="0"/>
                <a:ea typeface="Segoe UI" pitchFamily="34" charset="-122"/>
                <a:cs typeface="Segoe UI" pitchFamily="34" charset="-120"/>
              </a:rPr>
              <a:t>Chantiers</a:t>
            </a:r>
            <a:endParaRPr lang="en-US" sz="1300" dirty="0"/>
          </a:p>
        </p:txBody>
      </p:sp>
      <p:sp>
        <p:nvSpPr>
          <p:cNvPr id="17" name="Text 15"/>
          <p:cNvSpPr/>
          <p:nvPr/>
        </p:nvSpPr>
        <p:spPr>
          <a:xfrm>
            <a:off x="640080" y="5248656"/>
            <a:ext cx="457200" cy="457200"/>
          </a:xfrm>
          <a:prstGeom prst="rect">
            <a:avLst/>
          </a:prstGeom>
          <a:noFill/>
          <a:ln/>
        </p:spPr>
        <p:txBody>
          <a:bodyPr wrap="square" rtlCol="0" anchor="ctr"/>
          <a:lstStyle/>
          <a:p>
            <a:pPr indent="0" marL="0">
              <a:buNone/>
            </a:pPr>
            <a:r>
              <a:rPr lang="en-US" sz="1300" b="1" dirty="0">
                <a:solidFill>
                  <a:srgbClr val="C9A96A"/>
                </a:solidFill>
                <a:latin typeface="Georgia" pitchFamily="34" charset="0"/>
                <a:ea typeface="Georgia" pitchFamily="34" charset="-122"/>
                <a:cs typeface="Georgia" pitchFamily="34" charset="-120"/>
              </a:rPr>
              <a:t>08</a:t>
            </a:r>
            <a:endParaRPr lang="en-US" sz="1300" dirty="0"/>
          </a:p>
        </p:txBody>
      </p:sp>
      <p:sp>
        <p:nvSpPr>
          <p:cNvPr id="18" name="Text 16"/>
          <p:cNvSpPr/>
          <p:nvPr/>
        </p:nvSpPr>
        <p:spPr>
          <a:xfrm>
            <a:off x="1143000" y="5248656"/>
            <a:ext cx="4846320" cy="457200"/>
          </a:xfrm>
          <a:prstGeom prst="rect">
            <a:avLst/>
          </a:prstGeom>
          <a:noFill/>
          <a:ln/>
        </p:spPr>
        <p:txBody>
          <a:bodyPr wrap="square" rtlCol="0" anchor="t"/>
          <a:lstStyle/>
          <a:p>
            <a:pPr indent="0" marL="0">
              <a:buNone/>
            </a:pPr>
            <a:r>
              <a:rPr lang="en-US" sz="1300" dirty="0">
                <a:solidFill>
                  <a:srgbClr val="1B1F3B"/>
                </a:solidFill>
                <a:latin typeface="Segoe UI" pitchFamily="34" charset="0"/>
                <a:ea typeface="Segoe UI" pitchFamily="34" charset="-122"/>
                <a:cs typeface="Segoe UI" pitchFamily="34" charset="-120"/>
              </a:rPr>
              <a:t>Équipe (Ouvriers &amp; Sous-traitants)</a:t>
            </a:r>
            <a:endParaRPr lang="en-US" sz="1300" dirty="0"/>
          </a:p>
        </p:txBody>
      </p:sp>
      <p:sp>
        <p:nvSpPr>
          <p:cNvPr id="19" name="Text 17"/>
          <p:cNvSpPr/>
          <p:nvPr/>
        </p:nvSpPr>
        <p:spPr>
          <a:xfrm>
            <a:off x="640080" y="5815584"/>
            <a:ext cx="457200" cy="457200"/>
          </a:xfrm>
          <a:prstGeom prst="rect">
            <a:avLst/>
          </a:prstGeom>
          <a:noFill/>
          <a:ln/>
        </p:spPr>
        <p:txBody>
          <a:bodyPr wrap="square" rtlCol="0" anchor="ctr"/>
          <a:lstStyle/>
          <a:p>
            <a:pPr indent="0" marL="0">
              <a:buNone/>
            </a:pPr>
            <a:r>
              <a:rPr lang="en-US" sz="1300" b="1" dirty="0">
                <a:solidFill>
                  <a:srgbClr val="C9A96A"/>
                </a:solidFill>
                <a:latin typeface="Georgia" pitchFamily="34" charset="0"/>
                <a:ea typeface="Georgia" pitchFamily="34" charset="-122"/>
                <a:cs typeface="Georgia" pitchFamily="34" charset="-120"/>
              </a:rPr>
              <a:t>09</a:t>
            </a:r>
            <a:endParaRPr lang="en-US" sz="1300" dirty="0"/>
          </a:p>
        </p:txBody>
      </p:sp>
      <p:sp>
        <p:nvSpPr>
          <p:cNvPr id="20" name="Text 18"/>
          <p:cNvSpPr/>
          <p:nvPr/>
        </p:nvSpPr>
        <p:spPr>
          <a:xfrm>
            <a:off x="1143000" y="5815584"/>
            <a:ext cx="4846320" cy="457200"/>
          </a:xfrm>
          <a:prstGeom prst="rect">
            <a:avLst/>
          </a:prstGeom>
          <a:noFill/>
          <a:ln/>
        </p:spPr>
        <p:txBody>
          <a:bodyPr wrap="square" rtlCol="0" anchor="t"/>
          <a:lstStyle/>
          <a:p>
            <a:pPr indent="0" marL="0">
              <a:buNone/>
            </a:pPr>
            <a:r>
              <a:rPr lang="en-US" sz="1300" dirty="0">
                <a:solidFill>
                  <a:srgbClr val="1B1F3B"/>
                </a:solidFill>
                <a:latin typeface="Segoe UI" pitchFamily="34" charset="0"/>
                <a:ea typeface="Segoe UI" pitchFamily="34" charset="-122"/>
                <a:cs typeface="Segoe UI" pitchFamily="34" charset="-120"/>
              </a:rPr>
              <a:t>Calendrier &amp; Planning</a:t>
            </a:r>
            <a:endParaRPr lang="en-US" sz="1300" dirty="0"/>
          </a:p>
        </p:txBody>
      </p:sp>
      <p:sp>
        <p:nvSpPr>
          <p:cNvPr id="21" name="Text 19"/>
          <p:cNvSpPr/>
          <p:nvPr/>
        </p:nvSpPr>
        <p:spPr>
          <a:xfrm>
            <a:off x="640080" y="6382512"/>
            <a:ext cx="457200" cy="457200"/>
          </a:xfrm>
          <a:prstGeom prst="rect">
            <a:avLst/>
          </a:prstGeom>
          <a:noFill/>
          <a:ln/>
        </p:spPr>
        <p:txBody>
          <a:bodyPr wrap="square" rtlCol="0" anchor="ctr"/>
          <a:lstStyle/>
          <a:p>
            <a:pPr indent="0" marL="0">
              <a:buNone/>
            </a:pPr>
            <a:r>
              <a:rPr lang="en-US" sz="1300" b="1" dirty="0">
                <a:solidFill>
                  <a:srgbClr val="C9A96A"/>
                </a:solidFill>
                <a:latin typeface="Georgia" pitchFamily="34" charset="0"/>
                <a:ea typeface="Georgia" pitchFamily="34" charset="-122"/>
                <a:cs typeface="Georgia" pitchFamily="34" charset="-120"/>
              </a:rPr>
              <a:t>10</a:t>
            </a:r>
            <a:endParaRPr lang="en-US" sz="1300" dirty="0"/>
          </a:p>
        </p:txBody>
      </p:sp>
      <p:sp>
        <p:nvSpPr>
          <p:cNvPr id="22" name="Text 20"/>
          <p:cNvSpPr/>
          <p:nvPr/>
        </p:nvSpPr>
        <p:spPr>
          <a:xfrm>
            <a:off x="1143000" y="6382512"/>
            <a:ext cx="4846320" cy="457200"/>
          </a:xfrm>
          <a:prstGeom prst="rect">
            <a:avLst/>
          </a:prstGeom>
          <a:noFill/>
          <a:ln/>
        </p:spPr>
        <p:txBody>
          <a:bodyPr wrap="square" rtlCol="0" anchor="t"/>
          <a:lstStyle/>
          <a:p>
            <a:pPr indent="0" marL="0">
              <a:buNone/>
            </a:pPr>
            <a:r>
              <a:rPr lang="en-US" sz="1300" dirty="0">
                <a:solidFill>
                  <a:srgbClr val="1B1F3B"/>
                </a:solidFill>
                <a:latin typeface="Segoe UI" pitchFamily="34" charset="0"/>
                <a:ea typeface="Segoe UI" pitchFamily="34" charset="-122"/>
                <a:cs typeface="Segoe UI" pitchFamily="34" charset="-120"/>
              </a:rPr>
              <a:t>Fournitures</a:t>
            </a:r>
            <a:endParaRPr lang="en-US" sz="1300" dirty="0"/>
          </a:p>
        </p:txBody>
      </p:sp>
      <p:sp>
        <p:nvSpPr>
          <p:cNvPr id="23" name="Text 21"/>
          <p:cNvSpPr/>
          <p:nvPr/>
        </p:nvSpPr>
        <p:spPr>
          <a:xfrm>
            <a:off x="6217920" y="1280160"/>
            <a:ext cx="457200" cy="457200"/>
          </a:xfrm>
          <a:prstGeom prst="rect">
            <a:avLst/>
          </a:prstGeom>
          <a:noFill/>
          <a:ln/>
        </p:spPr>
        <p:txBody>
          <a:bodyPr wrap="square" rtlCol="0" anchor="ctr"/>
          <a:lstStyle/>
          <a:p>
            <a:pPr indent="0" marL="0">
              <a:buNone/>
            </a:pPr>
            <a:r>
              <a:rPr lang="en-US" sz="1300" b="1" dirty="0">
                <a:solidFill>
                  <a:srgbClr val="C9A96A"/>
                </a:solidFill>
                <a:latin typeface="Georgia" pitchFamily="34" charset="0"/>
                <a:ea typeface="Georgia" pitchFamily="34" charset="-122"/>
                <a:cs typeface="Georgia" pitchFamily="34" charset="-120"/>
              </a:rPr>
              <a:t>11</a:t>
            </a:r>
            <a:endParaRPr lang="en-US" sz="1300" dirty="0"/>
          </a:p>
        </p:txBody>
      </p:sp>
      <p:sp>
        <p:nvSpPr>
          <p:cNvPr id="24" name="Text 22"/>
          <p:cNvSpPr/>
          <p:nvPr/>
        </p:nvSpPr>
        <p:spPr>
          <a:xfrm>
            <a:off x="6720840" y="1280160"/>
            <a:ext cx="4846320" cy="457200"/>
          </a:xfrm>
          <a:prstGeom prst="rect">
            <a:avLst/>
          </a:prstGeom>
          <a:noFill/>
          <a:ln/>
        </p:spPr>
        <p:txBody>
          <a:bodyPr wrap="square" rtlCol="0" anchor="t"/>
          <a:lstStyle/>
          <a:p>
            <a:pPr indent="0" marL="0">
              <a:buNone/>
            </a:pPr>
            <a:r>
              <a:rPr lang="en-US" sz="1300" dirty="0">
                <a:solidFill>
                  <a:srgbClr val="1B1F3B"/>
                </a:solidFill>
                <a:latin typeface="Segoe UI" pitchFamily="34" charset="0"/>
                <a:ea typeface="Segoe UI" pitchFamily="34" charset="-122"/>
                <a:cs typeface="Segoe UI" pitchFamily="34" charset="-120"/>
              </a:rPr>
              <a:t>Facturation</a:t>
            </a:r>
            <a:endParaRPr lang="en-US" sz="1300" dirty="0"/>
          </a:p>
        </p:txBody>
      </p:sp>
      <p:sp>
        <p:nvSpPr>
          <p:cNvPr id="25" name="Text 23"/>
          <p:cNvSpPr/>
          <p:nvPr/>
        </p:nvSpPr>
        <p:spPr>
          <a:xfrm>
            <a:off x="6217920" y="1847088"/>
            <a:ext cx="457200" cy="457200"/>
          </a:xfrm>
          <a:prstGeom prst="rect">
            <a:avLst/>
          </a:prstGeom>
          <a:noFill/>
          <a:ln/>
        </p:spPr>
        <p:txBody>
          <a:bodyPr wrap="square" rtlCol="0" anchor="ctr"/>
          <a:lstStyle/>
          <a:p>
            <a:pPr indent="0" marL="0">
              <a:buNone/>
            </a:pPr>
            <a:r>
              <a:rPr lang="en-US" sz="1300" b="1" dirty="0">
                <a:solidFill>
                  <a:srgbClr val="C9A96A"/>
                </a:solidFill>
                <a:latin typeface="Georgia" pitchFamily="34" charset="0"/>
                <a:ea typeface="Georgia" pitchFamily="34" charset="-122"/>
                <a:cs typeface="Georgia" pitchFamily="34" charset="-120"/>
              </a:rPr>
              <a:t>12</a:t>
            </a:r>
            <a:endParaRPr lang="en-US" sz="1300" dirty="0"/>
          </a:p>
        </p:txBody>
      </p:sp>
      <p:sp>
        <p:nvSpPr>
          <p:cNvPr id="26" name="Text 24"/>
          <p:cNvSpPr/>
          <p:nvPr/>
        </p:nvSpPr>
        <p:spPr>
          <a:xfrm>
            <a:off x="6720840" y="1847088"/>
            <a:ext cx="4846320" cy="457200"/>
          </a:xfrm>
          <a:prstGeom prst="rect">
            <a:avLst/>
          </a:prstGeom>
          <a:noFill/>
          <a:ln/>
        </p:spPr>
        <p:txBody>
          <a:bodyPr wrap="square" rtlCol="0" anchor="t"/>
          <a:lstStyle/>
          <a:p>
            <a:pPr indent="0" marL="0">
              <a:buNone/>
            </a:pPr>
            <a:r>
              <a:rPr lang="en-US" sz="1300" dirty="0">
                <a:solidFill>
                  <a:srgbClr val="1B1F3B"/>
                </a:solidFill>
                <a:latin typeface="Segoe UI" pitchFamily="34" charset="0"/>
                <a:ea typeface="Segoe UI" pitchFamily="34" charset="-122"/>
                <a:cs typeface="Segoe UI" pitchFamily="34" charset="-120"/>
              </a:rPr>
              <a:t>Interventions</a:t>
            </a:r>
            <a:endParaRPr lang="en-US" sz="1300" dirty="0"/>
          </a:p>
        </p:txBody>
      </p:sp>
      <p:sp>
        <p:nvSpPr>
          <p:cNvPr id="27" name="Text 25"/>
          <p:cNvSpPr/>
          <p:nvPr/>
        </p:nvSpPr>
        <p:spPr>
          <a:xfrm>
            <a:off x="6217920" y="2414016"/>
            <a:ext cx="457200" cy="457200"/>
          </a:xfrm>
          <a:prstGeom prst="rect">
            <a:avLst/>
          </a:prstGeom>
          <a:noFill/>
          <a:ln/>
        </p:spPr>
        <p:txBody>
          <a:bodyPr wrap="square" rtlCol="0" anchor="ctr"/>
          <a:lstStyle/>
          <a:p>
            <a:pPr indent="0" marL="0">
              <a:buNone/>
            </a:pPr>
            <a:r>
              <a:rPr lang="en-US" sz="1300" b="1" dirty="0">
                <a:solidFill>
                  <a:srgbClr val="C9A96A"/>
                </a:solidFill>
                <a:latin typeface="Georgia" pitchFamily="34" charset="0"/>
                <a:ea typeface="Georgia" pitchFamily="34" charset="-122"/>
                <a:cs typeface="Georgia" pitchFamily="34" charset="-120"/>
              </a:rPr>
              <a:t>13</a:t>
            </a:r>
            <a:endParaRPr lang="en-US" sz="1300" dirty="0"/>
          </a:p>
        </p:txBody>
      </p:sp>
      <p:sp>
        <p:nvSpPr>
          <p:cNvPr id="28" name="Text 26"/>
          <p:cNvSpPr/>
          <p:nvPr/>
        </p:nvSpPr>
        <p:spPr>
          <a:xfrm>
            <a:off x="6720840" y="2414016"/>
            <a:ext cx="4846320" cy="457200"/>
          </a:xfrm>
          <a:prstGeom prst="rect">
            <a:avLst/>
          </a:prstGeom>
          <a:noFill/>
          <a:ln/>
        </p:spPr>
        <p:txBody>
          <a:bodyPr wrap="square" rtlCol="0" anchor="t"/>
          <a:lstStyle/>
          <a:p>
            <a:pPr indent="0" marL="0">
              <a:buNone/>
            </a:pPr>
            <a:r>
              <a:rPr lang="en-US" sz="1300" dirty="0">
                <a:solidFill>
                  <a:srgbClr val="1B1F3B"/>
                </a:solidFill>
                <a:latin typeface="Segoe UI" pitchFamily="34" charset="0"/>
                <a:ea typeface="Segoe UI" pitchFamily="34" charset="-122"/>
                <a:cs typeface="Segoe UI" pitchFamily="34" charset="-120"/>
              </a:rPr>
              <a:t>Notifications</a:t>
            </a:r>
            <a:endParaRPr lang="en-US" sz="1300" dirty="0"/>
          </a:p>
        </p:txBody>
      </p:sp>
      <p:sp>
        <p:nvSpPr>
          <p:cNvPr id="29" name="Text 27"/>
          <p:cNvSpPr/>
          <p:nvPr/>
        </p:nvSpPr>
        <p:spPr>
          <a:xfrm>
            <a:off x="6217920" y="2980944"/>
            <a:ext cx="457200" cy="457200"/>
          </a:xfrm>
          <a:prstGeom prst="rect">
            <a:avLst/>
          </a:prstGeom>
          <a:noFill/>
          <a:ln/>
        </p:spPr>
        <p:txBody>
          <a:bodyPr wrap="square" rtlCol="0" anchor="ctr"/>
          <a:lstStyle/>
          <a:p>
            <a:pPr indent="0" marL="0">
              <a:buNone/>
            </a:pPr>
            <a:r>
              <a:rPr lang="en-US" sz="1300" b="1" dirty="0">
                <a:solidFill>
                  <a:srgbClr val="C9A96A"/>
                </a:solidFill>
                <a:latin typeface="Georgia" pitchFamily="34" charset="0"/>
                <a:ea typeface="Georgia" pitchFamily="34" charset="-122"/>
                <a:cs typeface="Georgia" pitchFamily="34" charset="-120"/>
              </a:rPr>
              <a:t>14</a:t>
            </a:r>
            <a:endParaRPr lang="en-US" sz="1300" dirty="0"/>
          </a:p>
        </p:txBody>
      </p:sp>
      <p:sp>
        <p:nvSpPr>
          <p:cNvPr id="30" name="Text 28"/>
          <p:cNvSpPr/>
          <p:nvPr/>
        </p:nvSpPr>
        <p:spPr>
          <a:xfrm>
            <a:off x="6720840" y="2980944"/>
            <a:ext cx="4846320" cy="457200"/>
          </a:xfrm>
          <a:prstGeom prst="rect">
            <a:avLst/>
          </a:prstGeom>
          <a:noFill/>
          <a:ln/>
        </p:spPr>
        <p:txBody>
          <a:bodyPr wrap="square" rtlCol="0" anchor="t"/>
          <a:lstStyle/>
          <a:p>
            <a:pPr indent="0" marL="0">
              <a:buNone/>
            </a:pPr>
            <a:r>
              <a:rPr lang="en-US" sz="1300" dirty="0">
                <a:solidFill>
                  <a:srgbClr val="1B1F3B"/>
                </a:solidFill>
                <a:latin typeface="Segoe UI" pitchFamily="34" charset="0"/>
                <a:ea typeface="Segoe UI" pitchFamily="34" charset="-122"/>
                <a:cs typeface="Segoe UI" pitchFamily="34" charset="-120"/>
              </a:rPr>
              <a:t>Archives</a:t>
            </a:r>
            <a:endParaRPr lang="en-US" sz="1300" dirty="0"/>
          </a:p>
        </p:txBody>
      </p:sp>
      <p:sp>
        <p:nvSpPr>
          <p:cNvPr id="31" name="Text 29"/>
          <p:cNvSpPr/>
          <p:nvPr/>
        </p:nvSpPr>
        <p:spPr>
          <a:xfrm>
            <a:off x="6217920" y="3547872"/>
            <a:ext cx="457200" cy="457200"/>
          </a:xfrm>
          <a:prstGeom prst="rect">
            <a:avLst/>
          </a:prstGeom>
          <a:noFill/>
          <a:ln/>
        </p:spPr>
        <p:txBody>
          <a:bodyPr wrap="square" rtlCol="0" anchor="ctr"/>
          <a:lstStyle/>
          <a:p>
            <a:pPr indent="0" marL="0">
              <a:buNone/>
            </a:pPr>
            <a:r>
              <a:rPr lang="en-US" sz="1300" b="1" dirty="0">
                <a:solidFill>
                  <a:srgbClr val="C9A96A"/>
                </a:solidFill>
                <a:latin typeface="Georgia" pitchFamily="34" charset="0"/>
                <a:ea typeface="Georgia" pitchFamily="34" charset="-122"/>
                <a:cs typeface="Georgia" pitchFamily="34" charset="-120"/>
              </a:rPr>
              <a:t>15</a:t>
            </a:r>
            <a:endParaRPr lang="en-US" sz="1300" dirty="0"/>
          </a:p>
        </p:txBody>
      </p:sp>
      <p:sp>
        <p:nvSpPr>
          <p:cNvPr id="32" name="Text 30"/>
          <p:cNvSpPr/>
          <p:nvPr/>
        </p:nvSpPr>
        <p:spPr>
          <a:xfrm>
            <a:off x="6720840" y="3547872"/>
            <a:ext cx="4846320" cy="457200"/>
          </a:xfrm>
          <a:prstGeom prst="rect">
            <a:avLst/>
          </a:prstGeom>
          <a:noFill/>
          <a:ln/>
        </p:spPr>
        <p:txBody>
          <a:bodyPr wrap="square" rtlCol="0" anchor="t"/>
          <a:lstStyle/>
          <a:p>
            <a:pPr indent="0" marL="0">
              <a:buNone/>
            </a:pPr>
            <a:r>
              <a:rPr lang="en-US" sz="1300" dirty="0">
                <a:solidFill>
                  <a:srgbClr val="1B1F3B"/>
                </a:solidFill>
                <a:latin typeface="Segoe UI" pitchFamily="34" charset="0"/>
                <a:ea typeface="Segoe UI" pitchFamily="34" charset="-122"/>
                <a:cs typeface="Segoe UI" pitchFamily="34" charset="-120"/>
              </a:rPr>
              <a:t>Espace Client Particulier</a:t>
            </a:r>
            <a:endParaRPr lang="en-US" sz="1300" dirty="0"/>
          </a:p>
        </p:txBody>
      </p:sp>
      <p:sp>
        <p:nvSpPr>
          <p:cNvPr id="33" name="Text 31"/>
          <p:cNvSpPr/>
          <p:nvPr/>
        </p:nvSpPr>
        <p:spPr>
          <a:xfrm>
            <a:off x="6217920" y="4114800"/>
            <a:ext cx="457200" cy="457200"/>
          </a:xfrm>
          <a:prstGeom prst="rect">
            <a:avLst/>
          </a:prstGeom>
          <a:noFill/>
          <a:ln/>
        </p:spPr>
        <p:txBody>
          <a:bodyPr wrap="square" rtlCol="0" anchor="ctr"/>
          <a:lstStyle/>
          <a:p>
            <a:pPr indent="0" marL="0">
              <a:buNone/>
            </a:pPr>
            <a:r>
              <a:rPr lang="en-US" sz="1300" b="1" dirty="0">
                <a:solidFill>
                  <a:srgbClr val="C9A96A"/>
                </a:solidFill>
                <a:latin typeface="Georgia" pitchFamily="34" charset="0"/>
                <a:ea typeface="Georgia" pitchFamily="34" charset="-122"/>
                <a:cs typeface="Georgia" pitchFamily="34" charset="-120"/>
              </a:rPr>
              <a:t>16</a:t>
            </a:r>
            <a:endParaRPr lang="en-US" sz="1300" dirty="0"/>
          </a:p>
        </p:txBody>
      </p:sp>
      <p:sp>
        <p:nvSpPr>
          <p:cNvPr id="34" name="Text 32"/>
          <p:cNvSpPr/>
          <p:nvPr/>
        </p:nvSpPr>
        <p:spPr>
          <a:xfrm>
            <a:off x="6720840" y="4114800"/>
            <a:ext cx="4846320" cy="457200"/>
          </a:xfrm>
          <a:prstGeom prst="rect">
            <a:avLst/>
          </a:prstGeom>
          <a:noFill/>
          <a:ln/>
        </p:spPr>
        <p:txBody>
          <a:bodyPr wrap="square" rtlCol="0" anchor="t"/>
          <a:lstStyle/>
          <a:p>
            <a:pPr indent="0" marL="0">
              <a:buNone/>
            </a:pPr>
            <a:r>
              <a:rPr lang="en-US" sz="1300" dirty="0">
                <a:solidFill>
                  <a:srgbClr val="1B1F3B"/>
                </a:solidFill>
                <a:latin typeface="Segoe UI" pitchFamily="34" charset="0"/>
                <a:ea typeface="Segoe UI" pitchFamily="34" charset="-122"/>
                <a:cs typeface="Segoe UI" pitchFamily="34" charset="-120"/>
              </a:rPr>
              <a:t>Espace Ouvrier</a:t>
            </a:r>
            <a:endParaRPr lang="en-US" sz="1300" dirty="0"/>
          </a:p>
        </p:txBody>
      </p:sp>
      <p:sp>
        <p:nvSpPr>
          <p:cNvPr id="35" name="Text 33"/>
          <p:cNvSpPr/>
          <p:nvPr/>
        </p:nvSpPr>
        <p:spPr>
          <a:xfrm>
            <a:off x="6217920" y="4681728"/>
            <a:ext cx="457200" cy="457200"/>
          </a:xfrm>
          <a:prstGeom prst="rect">
            <a:avLst/>
          </a:prstGeom>
          <a:noFill/>
          <a:ln/>
        </p:spPr>
        <p:txBody>
          <a:bodyPr wrap="square" rtlCol="0" anchor="ctr"/>
          <a:lstStyle/>
          <a:p>
            <a:pPr indent="0" marL="0">
              <a:buNone/>
            </a:pPr>
            <a:r>
              <a:rPr lang="en-US" sz="1300" b="1" dirty="0">
                <a:solidFill>
                  <a:srgbClr val="C9A96A"/>
                </a:solidFill>
                <a:latin typeface="Georgia" pitchFamily="34" charset="0"/>
                <a:ea typeface="Georgia" pitchFamily="34" charset="-122"/>
                <a:cs typeface="Georgia" pitchFamily="34" charset="-120"/>
              </a:rPr>
              <a:t>17</a:t>
            </a:r>
            <a:endParaRPr lang="en-US" sz="1300" dirty="0"/>
          </a:p>
        </p:txBody>
      </p:sp>
      <p:sp>
        <p:nvSpPr>
          <p:cNvPr id="36" name="Text 34"/>
          <p:cNvSpPr/>
          <p:nvPr/>
        </p:nvSpPr>
        <p:spPr>
          <a:xfrm>
            <a:off x="6720840" y="4681728"/>
            <a:ext cx="4846320" cy="457200"/>
          </a:xfrm>
          <a:prstGeom prst="rect">
            <a:avLst/>
          </a:prstGeom>
          <a:noFill/>
          <a:ln/>
        </p:spPr>
        <p:txBody>
          <a:bodyPr wrap="square" rtlCol="0" anchor="t"/>
          <a:lstStyle/>
          <a:p>
            <a:pPr indent="0" marL="0">
              <a:buNone/>
            </a:pPr>
            <a:r>
              <a:rPr lang="en-US" sz="1300" dirty="0">
                <a:solidFill>
                  <a:srgbClr val="1B1F3B"/>
                </a:solidFill>
                <a:latin typeface="Segoe UI" pitchFamily="34" charset="0"/>
                <a:ea typeface="Segoe UI" pitchFamily="34" charset="-122"/>
                <a:cs typeface="Segoe UI" pitchFamily="34" charset="-120"/>
              </a:rPr>
              <a:t>Paramètres</a:t>
            </a:r>
            <a:endParaRPr lang="en-US" sz="1300" dirty="0"/>
          </a:p>
        </p:txBody>
      </p:sp>
      <p:sp>
        <p:nvSpPr>
          <p:cNvPr id="37" name="Text 35"/>
          <p:cNvSpPr/>
          <p:nvPr/>
        </p:nvSpPr>
        <p:spPr>
          <a:xfrm>
            <a:off x="6217920" y="5248656"/>
            <a:ext cx="457200" cy="457200"/>
          </a:xfrm>
          <a:prstGeom prst="rect">
            <a:avLst/>
          </a:prstGeom>
          <a:noFill/>
          <a:ln/>
        </p:spPr>
        <p:txBody>
          <a:bodyPr wrap="square" rtlCol="0" anchor="ctr"/>
          <a:lstStyle/>
          <a:p>
            <a:pPr indent="0" marL="0">
              <a:buNone/>
            </a:pPr>
            <a:r>
              <a:rPr lang="en-US" sz="1300" b="1" dirty="0">
                <a:solidFill>
                  <a:srgbClr val="C9A96A"/>
                </a:solidFill>
                <a:latin typeface="Georgia" pitchFamily="34" charset="0"/>
                <a:ea typeface="Georgia" pitchFamily="34" charset="-122"/>
                <a:cs typeface="Georgia" pitchFamily="34" charset="-120"/>
              </a:rPr>
              <a:t>18</a:t>
            </a:r>
            <a:endParaRPr lang="en-US" sz="1300" dirty="0"/>
          </a:p>
        </p:txBody>
      </p:sp>
      <p:sp>
        <p:nvSpPr>
          <p:cNvPr id="38" name="Text 36"/>
          <p:cNvSpPr/>
          <p:nvPr/>
        </p:nvSpPr>
        <p:spPr>
          <a:xfrm>
            <a:off x="6720840" y="5248656"/>
            <a:ext cx="4846320" cy="457200"/>
          </a:xfrm>
          <a:prstGeom prst="rect">
            <a:avLst/>
          </a:prstGeom>
          <a:noFill/>
          <a:ln/>
        </p:spPr>
        <p:txBody>
          <a:bodyPr wrap="square" rtlCol="0" anchor="t"/>
          <a:lstStyle/>
          <a:p>
            <a:pPr indent="0" marL="0">
              <a:buNone/>
            </a:pPr>
            <a:r>
              <a:rPr lang="en-US" sz="1300" dirty="0">
                <a:solidFill>
                  <a:srgbClr val="1B1F3B"/>
                </a:solidFill>
                <a:latin typeface="Segoe UI" pitchFamily="34" charset="0"/>
                <a:ea typeface="Segoe UI" pitchFamily="34" charset="-122"/>
                <a:cs typeface="Segoe UI" pitchFamily="34" charset="-120"/>
              </a:rPr>
              <a:t>Abonnement</a:t>
            </a:r>
            <a:endParaRPr lang="en-US" sz="1300" dirty="0"/>
          </a:p>
        </p:txBody>
      </p:sp>
      <p:sp>
        <p:nvSpPr>
          <p:cNvPr id="39" name="Text 37"/>
          <p:cNvSpPr/>
          <p:nvPr/>
        </p:nvSpPr>
        <p:spPr>
          <a:xfrm>
            <a:off x="6217920" y="5815584"/>
            <a:ext cx="457200" cy="457200"/>
          </a:xfrm>
          <a:prstGeom prst="rect">
            <a:avLst/>
          </a:prstGeom>
          <a:noFill/>
          <a:ln/>
        </p:spPr>
        <p:txBody>
          <a:bodyPr wrap="square" rtlCol="0" anchor="ctr"/>
          <a:lstStyle/>
          <a:p>
            <a:pPr indent="0" marL="0">
              <a:buNone/>
            </a:pPr>
            <a:r>
              <a:rPr lang="en-US" sz="1300" b="1" dirty="0">
                <a:solidFill>
                  <a:srgbClr val="C9A96A"/>
                </a:solidFill>
                <a:latin typeface="Georgia" pitchFamily="34" charset="0"/>
                <a:ea typeface="Georgia" pitchFamily="34" charset="-122"/>
                <a:cs typeface="Georgia" pitchFamily="34" charset="-120"/>
              </a:rPr>
              <a:t>19</a:t>
            </a:r>
            <a:endParaRPr lang="en-US" sz="1300" dirty="0"/>
          </a:p>
        </p:txBody>
      </p:sp>
      <p:sp>
        <p:nvSpPr>
          <p:cNvPr id="40" name="Text 38"/>
          <p:cNvSpPr/>
          <p:nvPr/>
        </p:nvSpPr>
        <p:spPr>
          <a:xfrm>
            <a:off x="6720840" y="5815584"/>
            <a:ext cx="4846320" cy="457200"/>
          </a:xfrm>
          <a:prstGeom prst="rect">
            <a:avLst/>
          </a:prstGeom>
          <a:noFill/>
          <a:ln/>
        </p:spPr>
        <p:txBody>
          <a:bodyPr wrap="square" rtlCol="0" anchor="t"/>
          <a:lstStyle/>
          <a:p>
            <a:pPr indent="0" marL="0">
              <a:buNone/>
            </a:pPr>
            <a:r>
              <a:rPr lang="en-US" sz="1300" dirty="0">
                <a:solidFill>
                  <a:srgbClr val="1B1F3B"/>
                </a:solidFill>
                <a:latin typeface="Segoe UI" pitchFamily="34" charset="0"/>
                <a:ea typeface="Segoe UI" pitchFamily="34" charset="-122"/>
                <a:cs typeface="Segoe UI" pitchFamily="34" charset="-120"/>
              </a:rPr>
              <a:t>Marketplace</a:t>
            </a:r>
            <a:endParaRPr lang="en-US" sz="1300" dirty="0"/>
          </a:p>
        </p:txBody>
      </p:sp>
      <p:sp>
        <p:nvSpPr>
          <p:cNvPr id="41" name="Text 39"/>
          <p:cNvSpPr/>
          <p:nvPr/>
        </p:nvSpPr>
        <p:spPr>
          <a:xfrm>
            <a:off x="6217920" y="6382512"/>
            <a:ext cx="457200" cy="457200"/>
          </a:xfrm>
          <a:prstGeom prst="rect">
            <a:avLst/>
          </a:prstGeom>
          <a:noFill/>
          <a:ln/>
        </p:spPr>
        <p:txBody>
          <a:bodyPr wrap="square" rtlCol="0" anchor="ctr"/>
          <a:lstStyle/>
          <a:p>
            <a:pPr indent="0" marL="0">
              <a:buNone/>
            </a:pPr>
            <a:r>
              <a:rPr lang="en-US" sz="1300" b="1" dirty="0">
                <a:solidFill>
                  <a:srgbClr val="C9A96A"/>
                </a:solidFill>
                <a:latin typeface="Georgia" pitchFamily="34" charset="0"/>
                <a:ea typeface="Georgia" pitchFamily="34" charset="-122"/>
                <a:cs typeface="Georgia" pitchFamily="34" charset="-120"/>
              </a:rPr>
              <a:t>20</a:t>
            </a:r>
            <a:endParaRPr lang="en-US" sz="1300" dirty="0"/>
          </a:p>
        </p:txBody>
      </p:sp>
      <p:sp>
        <p:nvSpPr>
          <p:cNvPr id="42" name="Text 40"/>
          <p:cNvSpPr/>
          <p:nvPr/>
        </p:nvSpPr>
        <p:spPr>
          <a:xfrm>
            <a:off x="6720840" y="6382512"/>
            <a:ext cx="4846320" cy="457200"/>
          </a:xfrm>
          <a:prstGeom prst="rect">
            <a:avLst/>
          </a:prstGeom>
          <a:noFill/>
          <a:ln/>
        </p:spPr>
        <p:txBody>
          <a:bodyPr wrap="square" rtlCol="0" anchor="t"/>
          <a:lstStyle/>
          <a:p>
            <a:pPr indent="0" marL="0">
              <a:buNone/>
            </a:pPr>
            <a:r>
              <a:rPr lang="en-US" sz="1300" dirty="0">
                <a:solidFill>
                  <a:srgbClr val="1B1F3B"/>
                </a:solidFill>
                <a:latin typeface="Segoe UI" pitchFamily="34" charset="0"/>
                <a:ea typeface="Segoe UI" pitchFamily="34" charset="-122"/>
                <a:cs typeface="Segoe UI" pitchFamily="34" charset="-120"/>
              </a:rPr>
              <a:t>Sécurité, données et multilinguisme</a:t>
            </a:r>
            <a:endParaRPr lang="en-US" sz="1300" dirty="0"/>
          </a:p>
        </p:txBody>
      </p:sp>
      <p:sp>
        <p:nvSpPr>
          <p:cNvPr id="43" name="Text 41"/>
          <p:cNvSpPr/>
          <p:nvPr/>
        </p:nvSpPr>
        <p:spPr>
          <a:xfrm>
            <a:off x="365760" y="6510528"/>
            <a:ext cx="5486400" cy="274320"/>
          </a:xfrm>
          <a:prstGeom prst="rect">
            <a:avLst/>
          </a:prstGeom>
          <a:noFill/>
          <a:ln/>
        </p:spPr>
        <p:txBody>
          <a:bodyPr wrap="square" rtlCol="0" anchor="ctr"/>
          <a:lstStyle/>
          <a:p>
            <a:pPr indent="0" marL="0">
              <a:buNone/>
            </a:pPr>
            <a:r>
              <a:rPr lang="en-US" sz="850" dirty="0">
                <a:solidFill>
                  <a:srgbClr val="8A7C68"/>
                </a:solidFill>
                <a:latin typeface="Segoe UI" pitchFamily="34" charset="0"/>
                <a:ea typeface="Segoe UI" pitchFamily="34" charset="-122"/>
                <a:cs typeface="Segoe UI" pitchFamily="34" charset="-120"/>
              </a:rPr>
              <a:t>Kôji Web — Cahier des charges</a:t>
            </a:r>
            <a:endParaRPr lang="en-US" sz="850" dirty="0"/>
          </a:p>
        </p:txBody>
      </p:sp>
      <p:sp>
        <p:nvSpPr>
          <p:cNvPr id="44" name="Text 42"/>
          <p:cNvSpPr/>
          <p:nvPr/>
        </p:nvSpPr>
        <p:spPr>
          <a:xfrm>
            <a:off x="9601200" y="6510528"/>
            <a:ext cx="2194560" cy="274320"/>
          </a:xfrm>
          <a:prstGeom prst="rect">
            <a:avLst/>
          </a:prstGeom>
          <a:noFill/>
          <a:ln/>
        </p:spPr>
        <p:txBody>
          <a:bodyPr wrap="square" rtlCol="0" anchor="ctr"/>
          <a:lstStyle/>
          <a:p>
            <a:pPr algn="r" indent="0" marL="0">
              <a:buNone/>
            </a:pPr>
            <a:r>
              <a:rPr lang="en-US" sz="850" dirty="0">
                <a:solidFill>
                  <a:srgbClr val="8A7C68"/>
                </a:solidFill>
                <a:latin typeface="Segoe UI" pitchFamily="34" charset="0"/>
                <a:ea typeface="Segoe UI" pitchFamily="34" charset="-122"/>
                <a:cs typeface="Segoe UI" pitchFamily="34" charset="-120"/>
              </a:rPr>
              <a:t>2</a:t>
            </a:r>
            <a:endParaRPr lang="en-US" sz="8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0B1030"/>
        </a:solidFill>
      </p:bgPr>
    </p:bg>
    <p:spTree>
      <p:nvGrpSpPr>
        <p:cNvPr id="1" name=""/>
        <p:cNvGrpSpPr/>
        <p:nvPr/>
      </p:nvGrpSpPr>
      <p:grpSpPr>
        <a:xfrm>
          <a:off x="0" y="0"/>
          <a:ext cx="0" cy="0"/>
          <a:chOff x="0" y="0"/>
          <a:chExt cx="0" cy="0"/>
        </a:xfrm>
      </p:grpSpPr>
      <p:sp>
        <p:nvSpPr>
          <p:cNvPr id="2" name="Shape 0"/>
          <p:cNvSpPr/>
          <p:nvPr/>
        </p:nvSpPr>
        <p:spPr>
          <a:xfrm>
            <a:off x="0" y="3246120"/>
            <a:ext cx="12191695" cy="54864"/>
          </a:xfrm>
          <a:prstGeom prst="rect">
            <a:avLst/>
          </a:prstGeom>
          <a:solidFill>
            <a:srgbClr val="C9A96A"/>
          </a:solidFill>
          <a:ln/>
        </p:spPr>
      </p:sp>
      <p:sp>
        <p:nvSpPr>
          <p:cNvPr id="3" name="Text 1"/>
          <p:cNvSpPr/>
          <p:nvPr/>
        </p:nvSpPr>
        <p:spPr>
          <a:xfrm>
            <a:off x="640080" y="1920240"/>
            <a:ext cx="2743200" cy="548640"/>
          </a:xfrm>
          <a:prstGeom prst="rect">
            <a:avLst/>
          </a:prstGeom>
          <a:noFill/>
          <a:ln/>
        </p:spPr>
        <p:txBody>
          <a:bodyPr wrap="square" rtlCol="0" anchor="ctr"/>
          <a:lstStyle/>
          <a:p>
            <a:pPr indent="0" marL="0">
              <a:buNone/>
            </a:pPr>
            <a:r>
              <a:rPr lang="en-US" sz="1500" b="1" dirty="0">
                <a:solidFill>
                  <a:srgbClr val="C9A96A"/>
                </a:solidFill>
                <a:latin typeface="Segoe UI" pitchFamily="34" charset="0"/>
                <a:ea typeface="Segoe UI" pitchFamily="34" charset="-122"/>
                <a:cs typeface="Segoe UI" pitchFamily="34" charset="-120"/>
              </a:rPr>
              <a:t>01</a:t>
            </a:r>
            <a:endParaRPr lang="en-US" sz="1500" dirty="0"/>
          </a:p>
        </p:txBody>
      </p:sp>
      <p:sp>
        <p:nvSpPr>
          <p:cNvPr id="4" name="Text 2"/>
          <p:cNvSpPr/>
          <p:nvPr/>
        </p:nvSpPr>
        <p:spPr>
          <a:xfrm>
            <a:off x="640080" y="2377440"/>
            <a:ext cx="10515600" cy="914400"/>
          </a:xfrm>
          <a:prstGeom prst="rect">
            <a:avLst/>
          </a:prstGeom>
          <a:noFill/>
          <a:ln/>
        </p:spPr>
        <p:txBody>
          <a:bodyPr wrap="square" rtlCol="0" anchor="ctr"/>
          <a:lstStyle/>
          <a:p>
            <a:pPr indent="0" marL="0">
              <a:buNone/>
            </a:pPr>
            <a:r>
              <a:rPr lang="en-US" sz="3400" b="1" dirty="0">
                <a:solidFill>
                  <a:srgbClr val="FFFFFF"/>
                </a:solidFill>
                <a:latin typeface="Georgia" pitchFamily="34" charset="0"/>
                <a:ea typeface="Georgia" pitchFamily="34" charset="-122"/>
                <a:cs typeface="Georgia" pitchFamily="34" charset="-120"/>
              </a:rPr>
              <a:t>Architecture technique &amp; outils</a:t>
            </a:r>
            <a:endParaRPr lang="en-US" sz="3400" dirty="0"/>
          </a:p>
        </p:txBody>
      </p:sp>
      <p:sp>
        <p:nvSpPr>
          <p:cNvPr id="5" name="Text 3"/>
          <p:cNvSpPr/>
          <p:nvPr/>
        </p:nvSpPr>
        <p:spPr>
          <a:xfrm>
            <a:off x="640080" y="3429000"/>
            <a:ext cx="10058400" cy="1188720"/>
          </a:xfrm>
          <a:prstGeom prst="rect">
            <a:avLst/>
          </a:prstGeom>
          <a:noFill/>
          <a:ln/>
        </p:spPr>
        <p:txBody>
          <a:bodyPr wrap="square" rtlCol="0" anchor="ctr"/>
          <a:lstStyle/>
          <a:p>
            <a:pPr indent="0" marL="0">
              <a:lnSpc>
                <a:spcPts val="1800"/>
              </a:lnSpc>
              <a:buNone/>
            </a:pPr>
            <a:r>
              <a:rPr lang="en-US" sz="1300" dirty="0">
                <a:solidFill>
                  <a:srgbClr val="C7C9E0"/>
                </a:solidFill>
                <a:latin typeface="Segoe UI" pitchFamily="34" charset="0"/>
                <a:ea typeface="Segoe UI" pitchFamily="34" charset="-122"/>
                <a:cs typeface="Segoe UI" pitchFamily="34" charset="-120"/>
              </a:rPr>
              <a:t>Vue d'ensemble des langages, frameworks et services utilisés pour construire et faire fonctionner Kôji Web.</a:t>
            </a:r>
            <a:endParaRPr lang="en-US" sz="1300" dirty="0"/>
          </a:p>
        </p:txBody>
      </p:sp>
      <p:sp>
        <p:nvSpPr>
          <p:cNvPr id="6" name="Text 4"/>
          <p:cNvSpPr/>
          <p:nvPr/>
        </p:nvSpPr>
        <p:spPr>
          <a:xfrm>
            <a:off x="365760" y="6510528"/>
            <a:ext cx="5486400" cy="274320"/>
          </a:xfrm>
          <a:prstGeom prst="rect">
            <a:avLst/>
          </a:prstGeom>
          <a:noFill/>
          <a:ln/>
        </p:spPr>
        <p:txBody>
          <a:bodyPr wrap="square" rtlCol="0" anchor="ctr"/>
          <a:lstStyle/>
          <a:p>
            <a:pPr indent="0" marL="0">
              <a:buNone/>
            </a:pPr>
            <a:r>
              <a:rPr lang="en-US" sz="850" dirty="0">
                <a:solidFill>
                  <a:srgbClr val="8A7C68"/>
                </a:solidFill>
                <a:latin typeface="Segoe UI" pitchFamily="34" charset="0"/>
                <a:ea typeface="Segoe UI" pitchFamily="34" charset="-122"/>
                <a:cs typeface="Segoe UI" pitchFamily="34" charset="-120"/>
              </a:rPr>
              <a:t>Kôji Web — Cahier des charges</a:t>
            </a:r>
            <a:endParaRPr lang="en-US" sz="850" dirty="0"/>
          </a:p>
        </p:txBody>
      </p:sp>
      <p:sp>
        <p:nvSpPr>
          <p:cNvPr id="7" name="Text 5"/>
          <p:cNvSpPr/>
          <p:nvPr/>
        </p:nvSpPr>
        <p:spPr>
          <a:xfrm>
            <a:off x="9601200" y="6510528"/>
            <a:ext cx="2194560" cy="274320"/>
          </a:xfrm>
          <a:prstGeom prst="rect">
            <a:avLst/>
          </a:prstGeom>
          <a:noFill/>
          <a:ln/>
        </p:spPr>
        <p:txBody>
          <a:bodyPr wrap="square" rtlCol="0" anchor="ctr"/>
          <a:lstStyle/>
          <a:p>
            <a:pPr algn="r" indent="0" marL="0">
              <a:buNone/>
            </a:pPr>
            <a:r>
              <a:rPr lang="en-US" sz="850" dirty="0">
                <a:solidFill>
                  <a:srgbClr val="8A7C68"/>
                </a:solidFill>
                <a:latin typeface="Segoe UI" pitchFamily="34" charset="0"/>
                <a:ea typeface="Segoe UI" pitchFamily="34" charset="-122"/>
                <a:cs typeface="Segoe UI" pitchFamily="34" charset="-120"/>
              </a:rPr>
              <a:t>3</a:t>
            </a:r>
            <a:endParaRPr lang="en-US" sz="8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3108960" cy="365760"/>
          </a:xfrm>
          <a:prstGeom prst="roundRect">
            <a:avLst>
              <a:gd name="adj" fmla="val 50000"/>
            </a:avLst>
          </a:prstGeom>
          <a:solidFill>
            <a:srgbClr val="F7EADF"/>
          </a:solidFill>
          <a:ln/>
        </p:spPr>
      </p:sp>
      <p:sp>
        <p:nvSpPr>
          <p:cNvPr id="3" name="Text 1"/>
          <p:cNvSpPr/>
          <p:nvPr/>
        </p:nvSpPr>
        <p:spPr>
          <a:xfrm>
            <a:off x="640080" y="411480"/>
            <a:ext cx="3108960" cy="365760"/>
          </a:xfrm>
          <a:prstGeom prst="rect">
            <a:avLst/>
          </a:prstGeom>
          <a:noFill/>
          <a:ln/>
        </p:spPr>
        <p:txBody>
          <a:bodyPr wrap="square" rtlCol="0" anchor="ctr"/>
          <a:lstStyle/>
          <a:p>
            <a:pPr algn="ctr" indent="0" marL="0">
              <a:buNone/>
            </a:pPr>
            <a:r>
              <a:rPr lang="en-US" sz="950" b="1" spc="100" kern="0" dirty="0">
                <a:solidFill>
                  <a:srgbClr val="9A7C5C"/>
                </a:solidFill>
                <a:latin typeface="Segoe UI" pitchFamily="34" charset="0"/>
                <a:ea typeface="Segoe UI" pitchFamily="34" charset="-122"/>
                <a:cs typeface="Segoe UI" pitchFamily="34" charset="-120"/>
              </a:rPr>
              <a:t>ARCHITECTURE TECHNIQUE &amp; OUTILS</a:t>
            </a:r>
            <a:endParaRPr lang="en-US" sz="950" dirty="0"/>
          </a:p>
        </p:txBody>
      </p:sp>
      <p:sp>
        <p:nvSpPr>
          <p:cNvPr id="4" name="Shape 2"/>
          <p:cNvSpPr/>
          <p:nvPr/>
        </p:nvSpPr>
        <p:spPr>
          <a:xfrm>
            <a:off x="640080" y="1005840"/>
            <a:ext cx="10881360" cy="2606040"/>
          </a:xfrm>
          <a:prstGeom prst="roundRect">
            <a:avLst>
              <a:gd name="adj" fmla="val 2105"/>
            </a:avLst>
          </a:prstGeom>
          <a:solidFill>
            <a:srgbClr val="FFFFFF"/>
          </a:solidFill>
          <a:ln w="12700">
            <a:solidFill>
              <a:srgbClr val="E4DCCB"/>
            </a:solidFill>
            <a:prstDash val="solid"/>
          </a:ln>
        </p:spPr>
      </p:sp>
      <p:sp>
        <p:nvSpPr>
          <p:cNvPr id="5" name="Shape 3"/>
          <p:cNvSpPr/>
          <p:nvPr/>
        </p:nvSpPr>
        <p:spPr>
          <a:xfrm>
            <a:off x="640080" y="1005840"/>
            <a:ext cx="54864" cy="2606040"/>
          </a:xfrm>
          <a:prstGeom prst="rect">
            <a:avLst/>
          </a:prstGeom>
          <a:solidFill>
            <a:srgbClr val="1D6FE0"/>
          </a:solidFill>
          <a:ln/>
        </p:spPr>
      </p:sp>
      <p:sp>
        <p:nvSpPr>
          <p:cNvPr id="6" name="Text 4"/>
          <p:cNvSpPr/>
          <p:nvPr/>
        </p:nvSpPr>
        <p:spPr>
          <a:xfrm>
            <a:off x="914400" y="1133856"/>
            <a:ext cx="10332720" cy="365760"/>
          </a:xfrm>
          <a:prstGeom prst="rect">
            <a:avLst/>
          </a:prstGeom>
          <a:noFill/>
          <a:ln/>
        </p:spPr>
        <p:txBody>
          <a:bodyPr wrap="square" rtlCol="0" anchor="ctr"/>
          <a:lstStyle/>
          <a:p>
            <a:pPr indent="0" marL="0">
              <a:buNone/>
            </a:pPr>
            <a:r>
              <a:rPr lang="en-US" sz="1500" b="1" dirty="0">
                <a:solidFill>
                  <a:srgbClr val="1B1F3B"/>
                </a:solidFill>
                <a:latin typeface="Georgia" pitchFamily="34" charset="0"/>
                <a:ea typeface="Georgia" pitchFamily="34" charset="-122"/>
                <a:cs typeface="Georgia" pitchFamily="34" charset="-120"/>
              </a:rPr>
              <a:t>Frontend</a:t>
            </a:r>
            <a:endParaRPr lang="en-US" sz="1500" dirty="0"/>
          </a:p>
        </p:txBody>
      </p:sp>
      <p:sp>
        <p:nvSpPr>
          <p:cNvPr id="7" name="Text 5"/>
          <p:cNvSpPr/>
          <p:nvPr/>
        </p:nvSpPr>
        <p:spPr>
          <a:xfrm>
            <a:off x="914400" y="1536192"/>
            <a:ext cx="10332720" cy="1051560"/>
          </a:xfrm>
          <a:prstGeom prst="rect">
            <a:avLst/>
          </a:prstGeom>
          <a:noFill/>
          <a:ln/>
        </p:spPr>
        <p:txBody>
          <a:bodyPr wrap="square" rtlCol="0" anchor="ctr"/>
          <a:lstStyle/>
          <a:p>
            <a:pPr indent="0" marL="0">
              <a:lnSpc>
                <a:spcPts val="1600"/>
              </a:lnSpc>
              <a:buNone/>
            </a:pPr>
            <a:r>
              <a:rPr lang="en-US" sz="1150" dirty="0">
                <a:solidFill>
                  <a:srgbClr val="1B1F3B"/>
                </a:solidFill>
                <a:latin typeface="Segoe UI" pitchFamily="34" charset="0"/>
                <a:ea typeface="Segoe UI" pitchFamily="34" charset="-122"/>
                <a:cs typeface="Segoe UI" pitchFamily="34" charset="-120"/>
              </a:rPr>
              <a:t>Interface construite avec React (Next.js, App Router), en JavaScript. Chaque page est un composant client ("use client") qui appelle les API internes de l'application.</a:t>
            </a:r>
            <a:endParaRPr lang="en-US" sz="1150" dirty="0"/>
          </a:p>
        </p:txBody>
      </p:sp>
      <p:sp>
        <p:nvSpPr>
          <p:cNvPr id="8" name="Text 6"/>
          <p:cNvSpPr/>
          <p:nvPr/>
        </p:nvSpPr>
        <p:spPr>
          <a:xfrm>
            <a:off x="914400" y="2743200"/>
            <a:ext cx="10332720" cy="228600"/>
          </a:xfrm>
          <a:prstGeom prst="rect">
            <a:avLst/>
          </a:prstGeom>
          <a:noFill/>
          <a:ln/>
        </p:spPr>
        <p:txBody>
          <a:bodyPr wrap="square" rtlCol="0" anchor="ctr"/>
          <a:lstStyle/>
          <a:p>
            <a:pPr indent="0" marL="0">
              <a:buNone/>
            </a:pPr>
            <a:r>
              <a:rPr lang="en-US" sz="800" b="1" spc="100" kern="0" dirty="0">
                <a:solidFill>
                  <a:srgbClr val="9A7C5C"/>
                </a:solidFill>
                <a:latin typeface="Segoe UI" pitchFamily="34" charset="0"/>
                <a:ea typeface="Segoe UI" pitchFamily="34" charset="-122"/>
                <a:cs typeface="Segoe UI" pitchFamily="34" charset="-120"/>
              </a:rPr>
              <a:t>RÉALISATION TECHNIQUE</a:t>
            </a:r>
            <a:endParaRPr lang="en-US" sz="800" dirty="0"/>
          </a:p>
        </p:txBody>
      </p:sp>
      <p:sp>
        <p:nvSpPr>
          <p:cNvPr id="9" name="Text 7"/>
          <p:cNvSpPr/>
          <p:nvPr/>
        </p:nvSpPr>
        <p:spPr>
          <a:xfrm>
            <a:off x="914400" y="2990088"/>
            <a:ext cx="10332720" cy="548640"/>
          </a:xfrm>
          <a:prstGeom prst="rect">
            <a:avLst/>
          </a:prstGeom>
          <a:noFill/>
          <a:ln/>
        </p:spPr>
        <p:txBody>
          <a:bodyPr wrap="square" rtlCol="0" anchor="ctr"/>
          <a:lstStyle/>
          <a:p>
            <a:pPr indent="0" marL="0">
              <a:lnSpc>
                <a:spcPts val="1400"/>
              </a:lnSpc>
              <a:buNone/>
            </a:pPr>
            <a:r>
              <a:rPr lang="en-US" sz="1000" i="1" dirty="0">
                <a:solidFill>
                  <a:srgbClr val="8A7C68"/>
                </a:solidFill>
                <a:latin typeface="Segoe UI" pitchFamily="34" charset="0"/>
                <a:ea typeface="Segoe UI" pitchFamily="34" charset="-122"/>
                <a:cs typeface="Segoe UI" pitchFamily="34" charset="-120"/>
              </a:rPr>
              <a:t>Next.js (App Router), React, CSS pur (fichier global app/globals.css, sans framework CSS tiers), système de traduction interne (5 langues).</a:t>
            </a:r>
            <a:endParaRPr lang="en-US" sz="1000" dirty="0"/>
          </a:p>
        </p:txBody>
      </p:sp>
      <p:sp>
        <p:nvSpPr>
          <p:cNvPr id="10" name="Shape 8"/>
          <p:cNvSpPr/>
          <p:nvPr/>
        </p:nvSpPr>
        <p:spPr>
          <a:xfrm>
            <a:off x="640080" y="3813048"/>
            <a:ext cx="10881360" cy="2606040"/>
          </a:xfrm>
          <a:prstGeom prst="roundRect">
            <a:avLst>
              <a:gd name="adj" fmla="val 2105"/>
            </a:avLst>
          </a:prstGeom>
          <a:solidFill>
            <a:srgbClr val="FFFFFF"/>
          </a:solidFill>
          <a:ln w="12700">
            <a:solidFill>
              <a:srgbClr val="E4DCCB"/>
            </a:solidFill>
            <a:prstDash val="solid"/>
          </a:ln>
        </p:spPr>
      </p:sp>
      <p:sp>
        <p:nvSpPr>
          <p:cNvPr id="11" name="Shape 9"/>
          <p:cNvSpPr/>
          <p:nvPr/>
        </p:nvSpPr>
        <p:spPr>
          <a:xfrm>
            <a:off x="640080" y="3813048"/>
            <a:ext cx="54864" cy="2606040"/>
          </a:xfrm>
          <a:prstGeom prst="rect">
            <a:avLst/>
          </a:prstGeom>
          <a:solidFill>
            <a:srgbClr val="1D6FE0"/>
          </a:solidFill>
          <a:ln/>
        </p:spPr>
      </p:sp>
      <p:sp>
        <p:nvSpPr>
          <p:cNvPr id="12" name="Text 10"/>
          <p:cNvSpPr/>
          <p:nvPr/>
        </p:nvSpPr>
        <p:spPr>
          <a:xfrm>
            <a:off x="914400" y="3941064"/>
            <a:ext cx="10332720" cy="365760"/>
          </a:xfrm>
          <a:prstGeom prst="rect">
            <a:avLst/>
          </a:prstGeom>
          <a:noFill/>
          <a:ln/>
        </p:spPr>
        <p:txBody>
          <a:bodyPr wrap="square" rtlCol="0" anchor="ctr"/>
          <a:lstStyle/>
          <a:p>
            <a:pPr indent="0" marL="0">
              <a:buNone/>
            </a:pPr>
            <a:r>
              <a:rPr lang="en-US" sz="1500" b="1" dirty="0">
                <a:solidFill>
                  <a:srgbClr val="1B1F3B"/>
                </a:solidFill>
                <a:latin typeface="Georgia" pitchFamily="34" charset="0"/>
                <a:ea typeface="Georgia" pitchFamily="34" charset="-122"/>
                <a:cs typeface="Georgia" pitchFamily="34" charset="-120"/>
              </a:rPr>
              <a:t>Backend</a:t>
            </a:r>
            <a:endParaRPr lang="en-US" sz="1500" dirty="0"/>
          </a:p>
        </p:txBody>
      </p:sp>
      <p:sp>
        <p:nvSpPr>
          <p:cNvPr id="13" name="Text 11"/>
          <p:cNvSpPr/>
          <p:nvPr/>
        </p:nvSpPr>
        <p:spPr>
          <a:xfrm>
            <a:off x="914400" y="4343400"/>
            <a:ext cx="10332720" cy="1051560"/>
          </a:xfrm>
          <a:prstGeom prst="rect">
            <a:avLst/>
          </a:prstGeom>
          <a:noFill/>
          <a:ln/>
        </p:spPr>
        <p:txBody>
          <a:bodyPr wrap="square" rtlCol="0" anchor="ctr"/>
          <a:lstStyle/>
          <a:p>
            <a:pPr indent="0" marL="0">
              <a:lnSpc>
                <a:spcPts val="1600"/>
              </a:lnSpc>
              <a:buNone/>
            </a:pPr>
            <a:r>
              <a:rPr lang="en-US" sz="1150" dirty="0">
                <a:solidFill>
                  <a:srgbClr val="1B1F3B"/>
                </a:solidFill>
                <a:latin typeface="Segoe UI" pitchFamily="34" charset="0"/>
                <a:ea typeface="Segoe UI" pitchFamily="34" charset="-122"/>
                <a:cs typeface="Segoe UI" pitchFamily="34" charset="-120"/>
              </a:rPr>
              <a:t>La logique serveur (création/consultation/modification des données) est exposée sous forme d'API internes à l'application, une route par fonctionnalité (devis, chantiers, équipe, factures, interventions, notifications...).</a:t>
            </a:r>
            <a:endParaRPr lang="en-US" sz="1150" dirty="0"/>
          </a:p>
        </p:txBody>
      </p:sp>
      <p:sp>
        <p:nvSpPr>
          <p:cNvPr id="14" name="Text 12"/>
          <p:cNvSpPr/>
          <p:nvPr/>
        </p:nvSpPr>
        <p:spPr>
          <a:xfrm>
            <a:off x="914400" y="5550408"/>
            <a:ext cx="10332720" cy="228600"/>
          </a:xfrm>
          <a:prstGeom prst="rect">
            <a:avLst/>
          </a:prstGeom>
          <a:noFill/>
          <a:ln/>
        </p:spPr>
        <p:txBody>
          <a:bodyPr wrap="square" rtlCol="0" anchor="ctr"/>
          <a:lstStyle/>
          <a:p>
            <a:pPr indent="0" marL="0">
              <a:buNone/>
            </a:pPr>
            <a:r>
              <a:rPr lang="en-US" sz="800" b="1" spc="100" kern="0" dirty="0">
                <a:solidFill>
                  <a:srgbClr val="9A7C5C"/>
                </a:solidFill>
                <a:latin typeface="Segoe UI" pitchFamily="34" charset="0"/>
                <a:ea typeface="Segoe UI" pitchFamily="34" charset="-122"/>
                <a:cs typeface="Segoe UI" pitchFamily="34" charset="-120"/>
              </a:rPr>
              <a:t>RÉALISATION TECHNIQUE</a:t>
            </a:r>
            <a:endParaRPr lang="en-US" sz="800" dirty="0"/>
          </a:p>
        </p:txBody>
      </p:sp>
      <p:sp>
        <p:nvSpPr>
          <p:cNvPr id="15" name="Text 13"/>
          <p:cNvSpPr/>
          <p:nvPr/>
        </p:nvSpPr>
        <p:spPr>
          <a:xfrm>
            <a:off x="914400" y="5797296"/>
            <a:ext cx="10332720" cy="548640"/>
          </a:xfrm>
          <a:prstGeom prst="rect">
            <a:avLst/>
          </a:prstGeom>
          <a:noFill/>
          <a:ln/>
        </p:spPr>
        <p:txBody>
          <a:bodyPr wrap="square" rtlCol="0" anchor="ctr"/>
          <a:lstStyle/>
          <a:p>
            <a:pPr indent="0" marL="0">
              <a:lnSpc>
                <a:spcPts val="1400"/>
              </a:lnSpc>
              <a:buNone/>
            </a:pPr>
            <a:r>
              <a:rPr lang="en-US" sz="1000" i="1" dirty="0">
                <a:solidFill>
                  <a:srgbClr val="8A7C68"/>
                </a:solidFill>
                <a:latin typeface="Segoe UI" pitchFamily="34" charset="0"/>
                <a:ea typeface="Segoe UI" pitchFamily="34" charset="-122"/>
                <a:cs typeface="Segoe UI" pitchFamily="34" charset="-120"/>
              </a:rPr>
              <a:t>Next.js API Routes (Node.js), organisées sous app/api/*, chacune avec ses méthodes GET/POST/PATCH.</a:t>
            </a:r>
            <a:endParaRPr lang="en-US" sz="1000" dirty="0"/>
          </a:p>
        </p:txBody>
      </p:sp>
      <p:sp>
        <p:nvSpPr>
          <p:cNvPr id="16" name="Text 14"/>
          <p:cNvSpPr/>
          <p:nvPr/>
        </p:nvSpPr>
        <p:spPr>
          <a:xfrm>
            <a:off x="365760" y="6510528"/>
            <a:ext cx="5486400" cy="274320"/>
          </a:xfrm>
          <a:prstGeom prst="rect">
            <a:avLst/>
          </a:prstGeom>
          <a:noFill/>
          <a:ln/>
        </p:spPr>
        <p:txBody>
          <a:bodyPr wrap="square" rtlCol="0" anchor="ctr"/>
          <a:lstStyle/>
          <a:p>
            <a:pPr indent="0" marL="0">
              <a:buNone/>
            </a:pPr>
            <a:r>
              <a:rPr lang="en-US" sz="850" dirty="0">
                <a:solidFill>
                  <a:srgbClr val="8A7C68"/>
                </a:solidFill>
                <a:latin typeface="Segoe UI" pitchFamily="34" charset="0"/>
                <a:ea typeface="Segoe UI" pitchFamily="34" charset="-122"/>
                <a:cs typeface="Segoe UI" pitchFamily="34" charset="-120"/>
              </a:rPr>
              <a:t>Kôji Web — Cahier des charges</a:t>
            </a:r>
            <a:endParaRPr lang="en-US" sz="850" dirty="0"/>
          </a:p>
        </p:txBody>
      </p:sp>
      <p:sp>
        <p:nvSpPr>
          <p:cNvPr id="17" name="Text 15"/>
          <p:cNvSpPr/>
          <p:nvPr/>
        </p:nvSpPr>
        <p:spPr>
          <a:xfrm>
            <a:off x="9601200" y="6510528"/>
            <a:ext cx="2194560" cy="274320"/>
          </a:xfrm>
          <a:prstGeom prst="rect">
            <a:avLst/>
          </a:prstGeom>
          <a:noFill/>
          <a:ln/>
        </p:spPr>
        <p:txBody>
          <a:bodyPr wrap="square" rtlCol="0" anchor="ctr"/>
          <a:lstStyle/>
          <a:p>
            <a:pPr algn="r" indent="0" marL="0">
              <a:buNone/>
            </a:pPr>
            <a:r>
              <a:rPr lang="en-US" sz="850" dirty="0">
                <a:solidFill>
                  <a:srgbClr val="8A7C68"/>
                </a:solidFill>
                <a:latin typeface="Segoe UI" pitchFamily="34" charset="0"/>
                <a:ea typeface="Segoe UI" pitchFamily="34" charset="-122"/>
                <a:cs typeface="Segoe UI" pitchFamily="34" charset="-120"/>
              </a:rPr>
              <a:t>4</a:t>
            </a:r>
            <a:endParaRPr lang="en-US" sz="8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3108960" cy="365760"/>
          </a:xfrm>
          <a:prstGeom prst="roundRect">
            <a:avLst>
              <a:gd name="adj" fmla="val 50000"/>
            </a:avLst>
          </a:prstGeom>
          <a:solidFill>
            <a:srgbClr val="F7EADF"/>
          </a:solidFill>
          <a:ln/>
        </p:spPr>
      </p:sp>
      <p:sp>
        <p:nvSpPr>
          <p:cNvPr id="3" name="Text 1"/>
          <p:cNvSpPr/>
          <p:nvPr/>
        </p:nvSpPr>
        <p:spPr>
          <a:xfrm>
            <a:off x="640080" y="411480"/>
            <a:ext cx="3108960" cy="365760"/>
          </a:xfrm>
          <a:prstGeom prst="rect">
            <a:avLst/>
          </a:prstGeom>
          <a:noFill/>
          <a:ln/>
        </p:spPr>
        <p:txBody>
          <a:bodyPr wrap="square" rtlCol="0" anchor="ctr"/>
          <a:lstStyle/>
          <a:p>
            <a:pPr algn="ctr" indent="0" marL="0">
              <a:buNone/>
            </a:pPr>
            <a:r>
              <a:rPr lang="en-US" sz="950" b="1" spc="100" kern="0" dirty="0">
                <a:solidFill>
                  <a:srgbClr val="9A7C5C"/>
                </a:solidFill>
                <a:latin typeface="Segoe UI" pitchFamily="34" charset="0"/>
                <a:ea typeface="Segoe UI" pitchFamily="34" charset="-122"/>
                <a:cs typeface="Segoe UI" pitchFamily="34" charset="-120"/>
              </a:rPr>
              <a:t>ARCHITECTURE TECHNIQUE &amp; OUTILS</a:t>
            </a:r>
            <a:endParaRPr lang="en-US" sz="950" dirty="0"/>
          </a:p>
        </p:txBody>
      </p:sp>
      <p:sp>
        <p:nvSpPr>
          <p:cNvPr id="4" name="Shape 2"/>
          <p:cNvSpPr/>
          <p:nvPr/>
        </p:nvSpPr>
        <p:spPr>
          <a:xfrm>
            <a:off x="640080" y="1005840"/>
            <a:ext cx="10881360" cy="2606040"/>
          </a:xfrm>
          <a:prstGeom prst="roundRect">
            <a:avLst>
              <a:gd name="adj" fmla="val 2105"/>
            </a:avLst>
          </a:prstGeom>
          <a:solidFill>
            <a:srgbClr val="FFFFFF"/>
          </a:solidFill>
          <a:ln w="12700">
            <a:solidFill>
              <a:srgbClr val="E4DCCB"/>
            </a:solidFill>
            <a:prstDash val="solid"/>
          </a:ln>
        </p:spPr>
      </p:sp>
      <p:sp>
        <p:nvSpPr>
          <p:cNvPr id="5" name="Shape 3"/>
          <p:cNvSpPr/>
          <p:nvPr/>
        </p:nvSpPr>
        <p:spPr>
          <a:xfrm>
            <a:off x="640080" y="1005840"/>
            <a:ext cx="54864" cy="2606040"/>
          </a:xfrm>
          <a:prstGeom prst="rect">
            <a:avLst/>
          </a:prstGeom>
          <a:solidFill>
            <a:srgbClr val="1D6FE0"/>
          </a:solidFill>
          <a:ln/>
        </p:spPr>
      </p:sp>
      <p:sp>
        <p:nvSpPr>
          <p:cNvPr id="6" name="Text 4"/>
          <p:cNvSpPr/>
          <p:nvPr/>
        </p:nvSpPr>
        <p:spPr>
          <a:xfrm>
            <a:off x="914400" y="1133856"/>
            <a:ext cx="10332720" cy="365760"/>
          </a:xfrm>
          <a:prstGeom prst="rect">
            <a:avLst/>
          </a:prstGeom>
          <a:noFill/>
          <a:ln/>
        </p:spPr>
        <p:txBody>
          <a:bodyPr wrap="square" rtlCol="0" anchor="ctr"/>
          <a:lstStyle/>
          <a:p>
            <a:pPr indent="0" marL="0">
              <a:buNone/>
            </a:pPr>
            <a:r>
              <a:rPr lang="en-US" sz="1500" b="1" dirty="0">
                <a:solidFill>
                  <a:srgbClr val="1B1F3B"/>
                </a:solidFill>
                <a:latin typeface="Georgia" pitchFamily="34" charset="0"/>
                <a:ea typeface="Georgia" pitchFamily="34" charset="-122"/>
                <a:cs typeface="Georgia" pitchFamily="34" charset="-120"/>
              </a:rPr>
              <a:t>Base de données</a:t>
            </a:r>
            <a:endParaRPr lang="en-US" sz="1500" dirty="0"/>
          </a:p>
        </p:txBody>
      </p:sp>
      <p:sp>
        <p:nvSpPr>
          <p:cNvPr id="7" name="Text 5"/>
          <p:cNvSpPr/>
          <p:nvPr/>
        </p:nvSpPr>
        <p:spPr>
          <a:xfrm>
            <a:off x="914400" y="1536192"/>
            <a:ext cx="10332720" cy="1051560"/>
          </a:xfrm>
          <a:prstGeom prst="rect">
            <a:avLst/>
          </a:prstGeom>
          <a:noFill/>
          <a:ln/>
        </p:spPr>
        <p:txBody>
          <a:bodyPr wrap="square" rtlCol="0" anchor="ctr"/>
          <a:lstStyle/>
          <a:p>
            <a:pPr indent="0" marL="0">
              <a:lnSpc>
                <a:spcPts val="1600"/>
              </a:lnSpc>
              <a:buNone/>
            </a:pPr>
            <a:r>
              <a:rPr lang="en-US" sz="1150" dirty="0">
                <a:solidFill>
                  <a:srgbClr val="1B1F3B"/>
                </a:solidFill>
                <a:latin typeface="Segoe UI" pitchFamily="34" charset="0"/>
                <a:ea typeface="Segoe UI" pitchFamily="34" charset="-122"/>
                <a:cs typeface="Segoe UI" pitchFamily="34" charset="-120"/>
              </a:rPr>
              <a:t>Les données sont réparties entre une base partagée avec l'application mobile (devis, chantiers, comptes) et un espace de stockage propre à la version web (équipe, tâches, notifications, dépenses, interventions...).</a:t>
            </a:r>
            <a:endParaRPr lang="en-US" sz="1150" dirty="0"/>
          </a:p>
        </p:txBody>
      </p:sp>
      <p:sp>
        <p:nvSpPr>
          <p:cNvPr id="8" name="Text 6"/>
          <p:cNvSpPr/>
          <p:nvPr/>
        </p:nvSpPr>
        <p:spPr>
          <a:xfrm>
            <a:off x="914400" y="2743200"/>
            <a:ext cx="10332720" cy="228600"/>
          </a:xfrm>
          <a:prstGeom prst="rect">
            <a:avLst/>
          </a:prstGeom>
          <a:noFill/>
          <a:ln/>
        </p:spPr>
        <p:txBody>
          <a:bodyPr wrap="square" rtlCol="0" anchor="ctr"/>
          <a:lstStyle/>
          <a:p>
            <a:pPr indent="0" marL="0">
              <a:buNone/>
            </a:pPr>
            <a:r>
              <a:rPr lang="en-US" sz="800" b="1" spc="100" kern="0" dirty="0">
                <a:solidFill>
                  <a:srgbClr val="9A7C5C"/>
                </a:solidFill>
                <a:latin typeface="Segoe UI" pitchFamily="34" charset="0"/>
                <a:ea typeface="Segoe UI" pitchFamily="34" charset="-122"/>
                <a:cs typeface="Segoe UI" pitchFamily="34" charset="-120"/>
              </a:rPr>
              <a:t>RÉALISATION TECHNIQUE</a:t>
            </a:r>
            <a:endParaRPr lang="en-US" sz="800" dirty="0"/>
          </a:p>
        </p:txBody>
      </p:sp>
      <p:sp>
        <p:nvSpPr>
          <p:cNvPr id="9" name="Text 7"/>
          <p:cNvSpPr/>
          <p:nvPr/>
        </p:nvSpPr>
        <p:spPr>
          <a:xfrm>
            <a:off x="914400" y="2990088"/>
            <a:ext cx="10332720" cy="548640"/>
          </a:xfrm>
          <a:prstGeom prst="rect">
            <a:avLst/>
          </a:prstGeom>
          <a:noFill/>
          <a:ln/>
        </p:spPr>
        <p:txBody>
          <a:bodyPr wrap="square" rtlCol="0" anchor="ctr"/>
          <a:lstStyle/>
          <a:p>
            <a:pPr indent="0" marL="0">
              <a:lnSpc>
                <a:spcPts val="1400"/>
              </a:lnSpc>
              <a:buNone/>
            </a:pPr>
            <a:r>
              <a:rPr lang="en-US" sz="1000" i="1" dirty="0">
                <a:solidFill>
                  <a:srgbClr val="8A7C68"/>
                </a:solidFill>
                <a:latin typeface="Segoe UI" pitchFamily="34" charset="0"/>
                <a:ea typeface="Segoe UI" pitchFamily="34" charset="-122"/>
                <a:cs typeface="Segoe UI" pitchFamily="34" charset="-120"/>
              </a:rPr>
              <a:t>Supabase (PostgreSQL managé) pour les tables partagées avec l'app mobile Flutter (quotes, chantiers, comptes) ; un espace de données JSON (table koji_web_state) pour le reste, avec repli automatique sur un fichier local en développement.</a:t>
            </a:r>
            <a:endParaRPr lang="en-US" sz="1000" dirty="0"/>
          </a:p>
        </p:txBody>
      </p:sp>
      <p:sp>
        <p:nvSpPr>
          <p:cNvPr id="10" name="Shape 8"/>
          <p:cNvSpPr/>
          <p:nvPr/>
        </p:nvSpPr>
        <p:spPr>
          <a:xfrm>
            <a:off x="640080" y="3813048"/>
            <a:ext cx="10881360" cy="2606040"/>
          </a:xfrm>
          <a:prstGeom prst="roundRect">
            <a:avLst>
              <a:gd name="adj" fmla="val 2105"/>
            </a:avLst>
          </a:prstGeom>
          <a:solidFill>
            <a:srgbClr val="FFFFFF"/>
          </a:solidFill>
          <a:ln w="12700">
            <a:solidFill>
              <a:srgbClr val="E4DCCB"/>
            </a:solidFill>
            <a:prstDash val="solid"/>
          </a:ln>
        </p:spPr>
      </p:sp>
      <p:sp>
        <p:nvSpPr>
          <p:cNvPr id="11" name="Shape 9"/>
          <p:cNvSpPr/>
          <p:nvPr/>
        </p:nvSpPr>
        <p:spPr>
          <a:xfrm>
            <a:off x="640080" y="3813048"/>
            <a:ext cx="54864" cy="2606040"/>
          </a:xfrm>
          <a:prstGeom prst="rect">
            <a:avLst/>
          </a:prstGeom>
          <a:solidFill>
            <a:srgbClr val="1D6FE0"/>
          </a:solidFill>
          <a:ln/>
        </p:spPr>
      </p:sp>
      <p:sp>
        <p:nvSpPr>
          <p:cNvPr id="12" name="Text 10"/>
          <p:cNvSpPr/>
          <p:nvPr/>
        </p:nvSpPr>
        <p:spPr>
          <a:xfrm>
            <a:off x="914400" y="3941064"/>
            <a:ext cx="10332720" cy="365760"/>
          </a:xfrm>
          <a:prstGeom prst="rect">
            <a:avLst/>
          </a:prstGeom>
          <a:noFill/>
          <a:ln/>
        </p:spPr>
        <p:txBody>
          <a:bodyPr wrap="square" rtlCol="0" anchor="ctr"/>
          <a:lstStyle/>
          <a:p>
            <a:pPr indent="0" marL="0">
              <a:buNone/>
            </a:pPr>
            <a:r>
              <a:rPr lang="en-US" sz="1500" b="1" dirty="0">
                <a:solidFill>
                  <a:srgbClr val="1B1F3B"/>
                </a:solidFill>
                <a:latin typeface="Georgia" pitchFamily="34" charset="0"/>
                <a:ea typeface="Georgia" pitchFamily="34" charset="-122"/>
                <a:cs typeface="Georgia" pitchFamily="34" charset="-120"/>
              </a:rPr>
              <a:t>Authentification</a:t>
            </a:r>
            <a:endParaRPr lang="en-US" sz="1500" dirty="0"/>
          </a:p>
        </p:txBody>
      </p:sp>
      <p:sp>
        <p:nvSpPr>
          <p:cNvPr id="13" name="Text 11"/>
          <p:cNvSpPr/>
          <p:nvPr/>
        </p:nvSpPr>
        <p:spPr>
          <a:xfrm>
            <a:off x="914400" y="4343400"/>
            <a:ext cx="10332720" cy="1051560"/>
          </a:xfrm>
          <a:prstGeom prst="rect">
            <a:avLst/>
          </a:prstGeom>
          <a:noFill/>
          <a:ln/>
        </p:spPr>
        <p:txBody>
          <a:bodyPr wrap="square" rtlCol="0" anchor="ctr"/>
          <a:lstStyle/>
          <a:p>
            <a:pPr indent="0" marL="0">
              <a:lnSpc>
                <a:spcPts val="1600"/>
              </a:lnSpc>
              <a:buNone/>
            </a:pPr>
            <a:r>
              <a:rPr lang="en-US" sz="1150" dirty="0">
                <a:solidFill>
                  <a:srgbClr val="1B1F3B"/>
                </a:solidFill>
                <a:latin typeface="Segoe UI" pitchFamily="34" charset="0"/>
                <a:ea typeface="Segoe UI" pitchFamily="34" charset="-122"/>
                <a:cs typeface="Segoe UI" pitchFamily="34" charset="-120"/>
              </a:rPr>
              <a:t>Connexion sécurisée par mot de passe pour l'entreprise et le client particulier, avec renouvellement automatique de la session ; système d'identifiants séparé pour les ouvriers.</a:t>
            </a:r>
            <a:endParaRPr lang="en-US" sz="1150" dirty="0"/>
          </a:p>
        </p:txBody>
      </p:sp>
      <p:sp>
        <p:nvSpPr>
          <p:cNvPr id="14" name="Text 12"/>
          <p:cNvSpPr/>
          <p:nvPr/>
        </p:nvSpPr>
        <p:spPr>
          <a:xfrm>
            <a:off x="914400" y="5550408"/>
            <a:ext cx="10332720" cy="228600"/>
          </a:xfrm>
          <a:prstGeom prst="rect">
            <a:avLst/>
          </a:prstGeom>
          <a:noFill/>
          <a:ln/>
        </p:spPr>
        <p:txBody>
          <a:bodyPr wrap="square" rtlCol="0" anchor="ctr"/>
          <a:lstStyle/>
          <a:p>
            <a:pPr indent="0" marL="0">
              <a:buNone/>
            </a:pPr>
            <a:r>
              <a:rPr lang="en-US" sz="800" b="1" spc="100" kern="0" dirty="0">
                <a:solidFill>
                  <a:srgbClr val="9A7C5C"/>
                </a:solidFill>
                <a:latin typeface="Segoe UI" pitchFamily="34" charset="0"/>
                <a:ea typeface="Segoe UI" pitchFamily="34" charset="-122"/>
                <a:cs typeface="Segoe UI" pitchFamily="34" charset="-120"/>
              </a:rPr>
              <a:t>RÉALISATION TECHNIQUE</a:t>
            </a:r>
            <a:endParaRPr lang="en-US" sz="800" dirty="0"/>
          </a:p>
        </p:txBody>
      </p:sp>
      <p:sp>
        <p:nvSpPr>
          <p:cNvPr id="15" name="Text 13"/>
          <p:cNvSpPr/>
          <p:nvPr/>
        </p:nvSpPr>
        <p:spPr>
          <a:xfrm>
            <a:off x="914400" y="5797296"/>
            <a:ext cx="10332720" cy="548640"/>
          </a:xfrm>
          <a:prstGeom prst="rect">
            <a:avLst/>
          </a:prstGeom>
          <a:noFill/>
          <a:ln/>
        </p:spPr>
        <p:txBody>
          <a:bodyPr wrap="square" rtlCol="0" anchor="ctr"/>
          <a:lstStyle/>
          <a:p>
            <a:pPr indent="0" marL="0">
              <a:lnSpc>
                <a:spcPts val="1400"/>
              </a:lnSpc>
              <a:buNone/>
            </a:pPr>
            <a:r>
              <a:rPr lang="en-US" sz="1000" i="1" dirty="0">
                <a:solidFill>
                  <a:srgbClr val="8A7C68"/>
                </a:solidFill>
                <a:latin typeface="Segoe UI" pitchFamily="34" charset="0"/>
                <a:ea typeface="Segoe UI" pitchFamily="34" charset="-122"/>
                <a:cs typeface="Segoe UI" pitchFamily="34" charset="-120"/>
              </a:rPr>
              <a:t>Supabase Auth (email/mot de passe, jetons d'accès/rafraîchissement) pour entreprise et particulier ; identifiant + mot de passe propre à l'application pour les ouvriers (haché, sans dépendre de Supabase).</a:t>
            </a:r>
            <a:endParaRPr lang="en-US" sz="1000" dirty="0"/>
          </a:p>
        </p:txBody>
      </p:sp>
      <p:sp>
        <p:nvSpPr>
          <p:cNvPr id="16" name="Text 14"/>
          <p:cNvSpPr/>
          <p:nvPr/>
        </p:nvSpPr>
        <p:spPr>
          <a:xfrm>
            <a:off x="365760" y="6510528"/>
            <a:ext cx="5486400" cy="274320"/>
          </a:xfrm>
          <a:prstGeom prst="rect">
            <a:avLst/>
          </a:prstGeom>
          <a:noFill/>
          <a:ln/>
        </p:spPr>
        <p:txBody>
          <a:bodyPr wrap="square" rtlCol="0" anchor="ctr"/>
          <a:lstStyle/>
          <a:p>
            <a:pPr indent="0" marL="0">
              <a:buNone/>
            </a:pPr>
            <a:r>
              <a:rPr lang="en-US" sz="850" dirty="0">
                <a:solidFill>
                  <a:srgbClr val="8A7C68"/>
                </a:solidFill>
                <a:latin typeface="Segoe UI" pitchFamily="34" charset="0"/>
                <a:ea typeface="Segoe UI" pitchFamily="34" charset="-122"/>
                <a:cs typeface="Segoe UI" pitchFamily="34" charset="-120"/>
              </a:rPr>
              <a:t>Kôji Web — Cahier des charges</a:t>
            </a:r>
            <a:endParaRPr lang="en-US" sz="850" dirty="0"/>
          </a:p>
        </p:txBody>
      </p:sp>
      <p:sp>
        <p:nvSpPr>
          <p:cNvPr id="17" name="Text 15"/>
          <p:cNvSpPr/>
          <p:nvPr/>
        </p:nvSpPr>
        <p:spPr>
          <a:xfrm>
            <a:off x="9601200" y="6510528"/>
            <a:ext cx="2194560" cy="274320"/>
          </a:xfrm>
          <a:prstGeom prst="rect">
            <a:avLst/>
          </a:prstGeom>
          <a:noFill/>
          <a:ln/>
        </p:spPr>
        <p:txBody>
          <a:bodyPr wrap="square" rtlCol="0" anchor="ctr"/>
          <a:lstStyle/>
          <a:p>
            <a:pPr algn="r" indent="0" marL="0">
              <a:buNone/>
            </a:pPr>
            <a:r>
              <a:rPr lang="en-US" sz="850" dirty="0">
                <a:solidFill>
                  <a:srgbClr val="8A7C68"/>
                </a:solidFill>
                <a:latin typeface="Segoe UI" pitchFamily="34" charset="0"/>
                <a:ea typeface="Segoe UI" pitchFamily="34" charset="-122"/>
                <a:cs typeface="Segoe UI" pitchFamily="34" charset="-120"/>
              </a:rPr>
              <a:t>5</a:t>
            </a:r>
            <a:endParaRPr lang="en-US" sz="8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3108960" cy="365760"/>
          </a:xfrm>
          <a:prstGeom prst="roundRect">
            <a:avLst>
              <a:gd name="adj" fmla="val 50000"/>
            </a:avLst>
          </a:prstGeom>
          <a:solidFill>
            <a:srgbClr val="F7EADF"/>
          </a:solidFill>
          <a:ln/>
        </p:spPr>
      </p:sp>
      <p:sp>
        <p:nvSpPr>
          <p:cNvPr id="3" name="Text 1"/>
          <p:cNvSpPr/>
          <p:nvPr/>
        </p:nvSpPr>
        <p:spPr>
          <a:xfrm>
            <a:off x="640080" y="411480"/>
            <a:ext cx="3108960" cy="365760"/>
          </a:xfrm>
          <a:prstGeom prst="rect">
            <a:avLst/>
          </a:prstGeom>
          <a:noFill/>
          <a:ln/>
        </p:spPr>
        <p:txBody>
          <a:bodyPr wrap="square" rtlCol="0" anchor="ctr"/>
          <a:lstStyle/>
          <a:p>
            <a:pPr algn="ctr" indent="0" marL="0">
              <a:buNone/>
            </a:pPr>
            <a:r>
              <a:rPr lang="en-US" sz="950" b="1" spc="100" kern="0" dirty="0">
                <a:solidFill>
                  <a:srgbClr val="9A7C5C"/>
                </a:solidFill>
                <a:latin typeface="Segoe UI" pitchFamily="34" charset="0"/>
                <a:ea typeface="Segoe UI" pitchFamily="34" charset="-122"/>
                <a:cs typeface="Segoe UI" pitchFamily="34" charset="-120"/>
              </a:rPr>
              <a:t>ARCHITECTURE TECHNIQUE &amp; OUTILS</a:t>
            </a:r>
            <a:endParaRPr lang="en-US" sz="950" dirty="0"/>
          </a:p>
        </p:txBody>
      </p:sp>
      <p:sp>
        <p:nvSpPr>
          <p:cNvPr id="4" name="Shape 2"/>
          <p:cNvSpPr/>
          <p:nvPr/>
        </p:nvSpPr>
        <p:spPr>
          <a:xfrm>
            <a:off x="640080" y="1005840"/>
            <a:ext cx="10881360" cy="2606040"/>
          </a:xfrm>
          <a:prstGeom prst="roundRect">
            <a:avLst>
              <a:gd name="adj" fmla="val 2105"/>
            </a:avLst>
          </a:prstGeom>
          <a:solidFill>
            <a:srgbClr val="FFFFFF"/>
          </a:solidFill>
          <a:ln w="12700">
            <a:solidFill>
              <a:srgbClr val="E4DCCB"/>
            </a:solidFill>
            <a:prstDash val="solid"/>
          </a:ln>
        </p:spPr>
      </p:sp>
      <p:sp>
        <p:nvSpPr>
          <p:cNvPr id="5" name="Shape 3"/>
          <p:cNvSpPr/>
          <p:nvPr/>
        </p:nvSpPr>
        <p:spPr>
          <a:xfrm>
            <a:off x="640080" y="1005840"/>
            <a:ext cx="54864" cy="2606040"/>
          </a:xfrm>
          <a:prstGeom prst="rect">
            <a:avLst/>
          </a:prstGeom>
          <a:solidFill>
            <a:srgbClr val="1D6FE0"/>
          </a:solidFill>
          <a:ln/>
        </p:spPr>
      </p:sp>
      <p:sp>
        <p:nvSpPr>
          <p:cNvPr id="6" name="Text 4"/>
          <p:cNvSpPr/>
          <p:nvPr/>
        </p:nvSpPr>
        <p:spPr>
          <a:xfrm>
            <a:off x="914400" y="1133856"/>
            <a:ext cx="10332720" cy="365760"/>
          </a:xfrm>
          <a:prstGeom prst="rect">
            <a:avLst/>
          </a:prstGeom>
          <a:noFill/>
          <a:ln/>
        </p:spPr>
        <p:txBody>
          <a:bodyPr wrap="square" rtlCol="0" anchor="ctr"/>
          <a:lstStyle/>
          <a:p>
            <a:pPr indent="0" marL="0">
              <a:buNone/>
            </a:pPr>
            <a:r>
              <a:rPr lang="en-US" sz="1500" b="1" dirty="0">
                <a:solidFill>
                  <a:srgbClr val="1B1F3B"/>
                </a:solidFill>
                <a:latin typeface="Georgia" pitchFamily="34" charset="0"/>
                <a:ea typeface="Georgia" pitchFamily="34" charset="-122"/>
                <a:cs typeface="Georgia" pitchFamily="34" charset="-120"/>
              </a:rPr>
              <a:t>Génération de documents (PDF)</a:t>
            </a:r>
            <a:endParaRPr lang="en-US" sz="1500" dirty="0"/>
          </a:p>
        </p:txBody>
      </p:sp>
      <p:sp>
        <p:nvSpPr>
          <p:cNvPr id="7" name="Text 5"/>
          <p:cNvSpPr/>
          <p:nvPr/>
        </p:nvSpPr>
        <p:spPr>
          <a:xfrm>
            <a:off x="914400" y="1536192"/>
            <a:ext cx="10332720" cy="1051560"/>
          </a:xfrm>
          <a:prstGeom prst="rect">
            <a:avLst/>
          </a:prstGeom>
          <a:noFill/>
          <a:ln/>
        </p:spPr>
        <p:txBody>
          <a:bodyPr wrap="square" rtlCol="0" anchor="ctr"/>
          <a:lstStyle/>
          <a:p>
            <a:pPr indent="0" marL="0">
              <a:lnSpc>
                <a:spcPts val="1600"/>
              </a:lnSpc>
              <a:buNone/>
            </a:pPr>
            <a:r>
              <a:rPr lang="en-US" sz="1150" dirty="0">
                <a:solidFill>
                  <a:srgbClr val="1B1F3B"/>
                </a:solidFill>
                <a:latin typeface="Segoe UI" pitchFamily="34" charset="0"/>
                <a:ea typeface="Segoe UI" pitchFamily="34" charset="-122"/>
                <a:cs typeface="Segoe UI" pitchFamily="34" charset="-120"/>
              </a:rPr>
              <a:t>Tous les documents (devis, factures, relevés d'heures, rapports d'intervention) sont produits en PDF téléchargeable, avec l'en-tête et le logo de l'entreprise.</a:t>
            </a:r>
            <a:endParaRPr lang="en-US" sz="1150" dirty="0"/>
          </a:p>
        </p:txBody>
      </p:sp>
      <p:sp>
        <p:nvSpPr>
          <p:cNvPr id="8" name="Text 6"/>
          <p:cNvSpPr/>
          <p:nvPr/>
        </p:nvSpPr>
        <p:spPr>
          <a:xfrm>
            <a:off x="914400" y="2743200"/>
            <a:ext cx="10332720" cy="228600"/>
          </a:xfrm>
          <a:prstGeom prst="rect">
            <a:avLst/>
          </a:prstGeom>
          <a:noFill/>
          <a:ln/>
        </p:spPr>
        <p:txBody>
          <a:bodyPr wrap="square" rtlCol="0" anchor="ctr"/>
          <a:lstStyle/>
          <a:p>
            <a:pPr indent="0" marL="0">
              <a:buNone/>
            </a:pPr>
            <a:r>
              <a:rPr lang="en-US" sz="800" b="1" spc="100" kern="0" dirty="0">
                <a:solidFill>
                  <a:srgbClr val="9A7C5C"/>
                </a:solidFill>
                <a:latin typeface="Segoe UI" pitchFamily="34" charset="0"/>
                <a:ea typeface="Segoe UI" pitchFamily="34" charset="-122"/>
                <a:cs typeface="Segoe UI" pitchFamily="34" charset="-120"/>
              </a:rPr>
              <a:t>RÉALISATION TECHNIQUE</a:t>
            </a:r>
            <a:endParaRPr lang="en-US" sz="800" dirty="0"/>
          </a:p>
        </p:txBody>
      </p:sp>
      <p:sp>
        <p:nvSpPr>
          <p:cNvPr id="9" name="Text 7"/>
          <p:cNvSpPr/>
          <p:nvPr/>
        </p:nvSpPr>
        <p:spPr>
          <a:xfrm>
            <a:off x="914400" y="2990088"/>
            <a:ext cx="10332720" cy="548640"/>
          </a:xfrm>
          <a:prstGeom prst="rect">
            <a:avLst/>
          </a:prstGeom>
          <a:noFill/>
          <a:ln/>
        </p:spPr>
        <p:txBody>
          <a:bodyPr wrap="square" rtlCol="0" anchor="ctr"/>
          <a:lstStyle/>
          <a:p>
            <a:pPr indent="0" marL="0">
              <a:lnSpc>
                <a:spcPts val="1400"/>
              </a:lnSpc>
              <a:buNone/>
            </a:pPr>
            <a:r>
              <a:rPr lang="en-US" sz="1000" i="1" dirty="0">
                <a:solidFill>
                  <a:srgbClr val="8A7C68"/>
                </a:solidFill>
                <a:latin typeface="Segoe UI" pitchFamily="34" charset="0"/>
                <a:ea typeface="Segoe UI" pitchFamily="34" charset="-122"/>
                <a:cs typeface="Segoe UI" pitchFamily="34" charset="-120"/>
              </a:rPr>
              <a:t>Générateur de PDF entièrement fait maison en JavaScript (aucune librairie externe) : construction bas niveau du fichier PDF (police, mise en page, images encodées en base64, pagination automatique).</a:t>
            </a:r>
            <a:endParaRPr lang="en-US" sz="1000" dirty="0"/>
          </a:p>
        </p:txBody>
      </p:sp>
      <p:sp>
        <p:nvSpPr>
          <p:cNvPr id="10" name="Shape 8"/>
          <p:cNvSpPr/>
          <p:nvPr/>
        </p:nvSpPr>
        <p:spPr>
          <a:xfrm>
            <a:off x="640080" y="3813048"/>
            <a:ext cx="10881360" cy="2606040"/>
          </a:xfrm>
          <a:prstGeom prst="roundRect">
            <a:avLst>
              <a:gd name="adj" fmla="val 2105"/>
            </a:avLst>
          </a:prstGeom>
          <a:solidFill>
            <a:srgbClr val="FFFFFF"/>
          </a:solidFill>
          <a:ln w="12700">
            <a:solidFill>
              <a:srgbClr val="E4DCCB"/>
            </a:solidFill>
            <a:prstDash val="solid"/>
          </a:ln>
        </p:spPr>
      </p:sp>
      <p:sp>
        <p:nvSpPr>
          <p:cNvPr id="11" name="Shape 9"/>
          <p:cNvSpPr/>
          <p:nvPr/>
        </p:nvSpPr>
        <p:spPr>
          <a:xfrm>
            <a:off x="640080" y="3813048"/>
            <a:ext cx="54864" cy="2606040"/>
          </a:xfrm>
          <a:prstGeom prst="rect">
            <a:avLst/>
          </a:prstGeom>
          <a:solidFill>
            <a:srgbClr val="1D6FE0"/>
          </a:solidFill>
          <a:ln/>
        </p:spPr>
      </p:sp>
      <p:sp>
        <p:nvSpPr>
          <p:cNvPr id="12" name="Text 10"/>
          <p:cNvSpPr/>
          <p:nvPr/>
        </p:nvSpPr>
        <p:spPr>
          <a:xfrm>
            <a:off x="914400" y="3941064"/>
            <a:ext cx="10332720" cy="365760"/>
          </a:xfrm>
          <a:prstGeom prst="rect">
            <a:avLst/>
          </a:prstGeom>
          <a:noFill/>
          <a:ln/>
        </p:spPr>
        <p:txBody>
          <a:bodyPr wrap="square" rtlCol="0" anchor="ctr"/>
          <a:lstStyle/>
          <a:p>
            <a:pPr indent="0" marL="0">
              <a:buNone/>
            </a:pPr>
            <a:r>
              <a:rPr lang="en-US" sz="1500" b="1" dirty="0">
                <a:solidFill>
                  <a:srgbClr val="1B1F3B"/>
                </a:solidFill>
                <a:latin typeface="Georgia" pitchFamily="34" charset="0"/>
                <a:ea typeface="Georgia" pitchFamily="34" charset="-122"/>
                <a:cs typeface="Georgia" pitchFamily="34" charset="-120"/>
              </a:rPr>
              <a:t>Emails et SMS</a:t>
            </a:r>
            <a:endParaRPr lang="en-US" sz="1500" dirty="0"/>
          </a:p>
        </p:txBody>
      </p:sp>
      <p:sp>
        <p:nvSpPr>
          <p:cNvPr id="13" name="Text 11"/>
          <p:cNvSpPr/>
          <p:nvPr/>
        </p:nvSpPr>
        <p:spPr>
          <a:xfrm>
            <a:off x="914400" y="4343400"/>
            <a:ext cx="10332720" cy="1051560"/>
          </a:xfrm>
          <a:prstGeom prst="rect">
            <a:avLst/>
          </a:prstGeom>
          <a:noFill/>
          <a:ln/>
        </p:spPr>
        <p:txBody>
          <a:bodyPr wrap="square" rtlCol="0" anchor="ctr"/>
          <a:lstStyle/>
          <a:p>
            <a:pPr indent="0" marL="0">
              <a:lnSpc>
                <a:spcPts val="1600"/>
              </a:lnSpc>
              <a:buNone/>
            </a:pPr>
            <a:r>
              <a:rPr lang="en-US" sz="1150" dirty="0">
                <a:solidFill>
                  <a:srgbClr val="1B1F3B"/>
                </a:solidFill>
                <a:latin typeface="Segoe UI" pitchFamily="34" charset="0"/>
                <a:ea typeface="Segoe UI" pitchFamily="34" charset="-122"/>
                <a:cs typeface="Segoe UI" pitchFamily="34" charset="-120"/>
              </a:rPr>
              <a:t>Envoi d'emails (accès client, identifiants, relances) directement depuis l'application.</a:t>
            </a:r>
            <a:endParaRPr lang="en-US" sz="1150" dirty="0"/>
          </a:p>
        </p:txBody>
      </p:sp>
      <p:sp>
        <p:nvSpPr>
          <p:cNvPr id="14" name="Text 12"/>
          <p:cNvSpPr/>
          <p:nvPr/>
        </p:nvSpPr>
        <p:spPr>
          <a:xfrm>
            <a:off x="914400" y="5550408"/>
            <a:ext cx="10332720" cy="228600"/>
          </a:xfrm>
          <a:prstGeom prst="rect">
            <a:avLst/>
          </a:prstGeom>
          <a:noFill/>
          <a:ln/>
        </p:spPr>
        <p:txBody>
          <a:bodyPr wrap="square" rtlCol="0" anchor="ctr"/>
          <a:lstStyle/>
          <a:p>
            <a:pPr indent="0" marL="0">
              <a:buNone/>
            </a:pPr>
            <a:r>
              <a:rPr lang="en-US" sz="800" b="1" spc="100" kern="0" dirty="0">
                <a:solidFill>
                  <a:srgbClr val="9A7C5C"/>
                </a:solidFill>
                <a:latin typeface="Segoe UI" pitchFamily="34" charset="0"/>
                <a:ea typeface="Segoe UI" pitchFamily="34" charset="-122"/>
                <a:cs typeface="Segoe UI" pitchFamily="34" charset="-120"/>
              </a:rPr>
              <a:t>RÉALISATION TECHNIQUE</a:t>
            </a:r>
            <a:endParaRPr lang="en-US" sz="800" dirty="0"/>
          </a:p>
        </p:txBody>
      </p:sp>
      <p:sp>
        <p:nvSpPr>
          <p:cNvPr id="15" name="Text 13"/>
          <p:cNvSpPr/>
          <p:nvPr/>
        </p:nvSpPr>
        <p:spPr>
          <a:xfrm>
            <a:off x="914400" y="5797296"/>
            <a:ext cx="10332720" cy="548640"/>
          </a:xfrm>
          <a:prstGeom prst="rect">
            <a:avLst/>
          </a:prstGeom>
          <a:noFill/>
          <a:ln/>
        </p:spPr>
        <p:txBody>
          <a:bodyPr wrap="square" rtlCol="0" anchor="ctr"/>
          <a:lstStyle/>
          <a:p>
            <a:pPr indent="0" marL="0">
              <a:lnSpc>
                <a:spcPts val="1400"/>
              </a:lnSpc>
              <a:buNone/>
            </a:pPr>
            <a:r>
              <a:rPr lang="en-US" sz="1000" i="1" dirty="0">
                <a:solidFill>
                  <a:srgbClr val="8A7C68"/>
                </a:solidFill>
                <a:latin typeface="Segoe UI" pitchFamily="34" charset="0"/>
                <a:ea typeface="Segoe UI" pitchFamily="34" charset="-122"/>
                <a:cs typeface="Segoe UI" pitchFamily="34" charset="-120"/>
              </a:rPr>
              <a:t>Serveur SMTP (Gmail) via la librairie nodemailer ; file d'attente locale pour les messages non envoyés (secours).</a:t>
            </a:r>
            <a:endParaRPr lang="en-US" sz="1000" dirty="0"/>
          </a:p>
        </p:txBody>
      </p:sp>
      <p:sp>
        <p:nvSpPr>
          <p:cNvPr id="16" name="Text 14"/>
          <p:cNvSpPr/>
          <p:nvPr/>
        </p:nvSpPr>
        <p:spPr>
          <a:xfrm>
            <a:off x="365760" y="6510528"/>
            <a:ext cx="5486400" cy="274320"/>
          </a:xfrm>
          <a:prstGeom prst="rect">
            <a:avLst/>
          </a:prstGeom>
          <a:noFill/>
          <a:ln/>
        </p:spPr>
        <p:txBody>
          <a:bodyPr wrap="square" rtlCol="0" anchor="ctr"/>
          <a:lstStyle/>
          <a:p>
            <a:pPr indent="0" marL="0">
              <a:buNone/>
            </a:pPr>
            <a:r>
              <a:rPr lang="en-US" sz="850" dirty="0">
                <a:solidFill>
                  <a:srgbClr val="8A7C68"/>
                </a:solidFill>
                <a:latin typeface="Segoe UI" pitchFamily="34" charset="0"/>
                <a:ea typeface="Segoe UI" pitchFamily="34" charset="-122"/>
                <a:cs typeface="Segoe UI" pitchFamily="34" charset="-120"/>
              </a:rPr>
              <a:t>Kôji Web — Cahier des charges</a:t>
            </a:r>
            <a:endParaRPr lang="en-US" sz="850" dirty="0"/>
          </a:p>
        </p:txBody>
      </p:sp>
      <p:sp>
        <p:nvSpPr>
          <p:cNvPr id="17" name="Text 15"/>
          <p:cNvSpPr/>
          <p:nvPr/>
        </p:nvSpPr>
        <p:spPr>
          <a:xfrm>
            <a:off x="9601200" y="6510528"/>
            <a:ext cx="2194560" cy="274320"/>
          </a:xfrm>
          <a:prstGeom prst="rect">
            <a:avLst/>
          </a:prstGeom>
          <a:noFill/>
          <a:ln/>
        </p:spPr>
        <p:txBody>
          <a:bodyPr wrap="square" rtlCol="0" anchor="ctr"/>
          <a:lstStyle/>
          <a:p>
            <a:pPr algn="r" indent="0" marL="0">
              <a:buNone/>
            </a:pPr>
            <a:r>
              <a:rPr lang="en-US" sz="850" dirty="0">
                <a:solidFill>
                  <a:srgbClr val="8A7C68"/>
                </a:solidFill>
                <a:latin typeface="Segoe UI" pitchFamily="34" charset="0"/>
                <a:ea typeface="Segoe UI" pitchFamily="34" charset="-122"/>
                <a:cs typeface="Segoe UI" pitchFamily="34" charset="-120"/>
              </a:rPr>
              <a:t>6</a:t>
            </a:r>
            <a:endParaRPr lang="en-US" sz="8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3108960" cy="365760"/>
          </a:xfrm>
          <a:prstGeom prst="roundRect">
            <a:avLst>
              <a:gd name="adj" fmla="val 50000"/>
            </a:avLst>
          </a:prstGeom>
          <a:solidFill>
            <a:srgbClr val="F7EADF"/>
          </a:solidFill>
          <a:ln/>
        </p:spPr>
      </p:sp>
      <p:sp>
        <p:nvSpPr>
          <p:cNvPr id="3" name="Text 1"/>
          <p:cNvSpPr/>
          <p:nvPr/>
        </p:nvSpPr>
        <p:spPr>
          <a:xfrm>
            <a:off x="640080" y="411480"/>
            <a:ext cx="3108960" cy="365760"/>
          </a:xfrm>
          <a:prstGeom prst="rect">
            <a:avLst/>
          </a:prstGeom>
          <a:noFill/>
          <a:ln/>
        </p:spPr>
        <p:txBody>
          <a:bodyPr wrap="square" rtlCol="0" anchor="ctr"/>
          <a:lstStyle/>
          <a:p>
            <a:pPr algn="ctr" indent="0" marL="0">
              <a:buNone/>
            </a:pPr>
            <a:r>
              <a:rPr lang="en-US" sz="950" b="1" spc="100" kern="0" dirty="0">
                <a:solidFill>
                  <a:srgbClr val="9A7C5C"/>
                </a:solidFill>
                <a:latin typeface="Segoe UI" pitchFamily="34" charset="0"/>
                <a:ea typeface="Segoe UI" pitchFamily="34" charset="-122"/>
                <a:cs typeface="Segoe UI" pitchFamily="34" charset="-120"/>
              </a:rPr>
              <a:t>ARCHITECTURE TECHNIQUE &amp; OUTILS</a:t>
            </a:r>
            <a:endParaRPr lang="en-US" sz="950" dirty="0"/>
          </a:p>
        </p:txBody>
      </p:sp>
      <p:sp>
        <p:nvSpPr>
          <p:cNvPr id="4" name="Shape 2"/>
          <p:cNvSpPr/>
          <p:nvPr/>
        </p:nvSpPr>
        <p:spPr>
          <a:xfrm>
            <a:off x="640080" y="1005840"/>
            <a:ext cx="10881360" cy="2606040"/>
          </a:xfrm>
          <a:prstGeom prst="roundRect">
            <a:avLst>
              <a:gd name="adj" fmla="val 2105"/>
            </a:avLst>
          </a:prstGeom>
          <a:solidFill>
            <a:srgbClr val="FFFFFF"/>
          </a:solidFill>
          <a:ln w="12700">
            <a:solidFill>
              <a:srgbClr val="E4DCCB"/>
            </a:solidFill>
            <a:prstDash val="solid"/>
          </a:ln>
        </p:spPr>
      </p:sp>
      <p:sp>
        <p:nvSpPr>
          <p:cNvPr id="5" name="Shape 3"/>
          <p:cNvSpPr/>
          <p:nvPr/>
        </p:nvSpPr>
        <p:spPr>
          <a:xfrm>
            <a:off x="640080" y="1005840"/>
            <a:ext cx="54864" cy="2606040"/>
          </a:xfrm>
          <a:prstGeom prst="rect">
            <a:avLst/>
          </a:prstGeom>
          <a:solidFill>
            <a:srgbClr val="1D6FE0"/>
          </a:solidFill>
          <a:ln/>
        </p:spPr>
      </p:sp>
      <p:sp>
        <p:nvSpPr>
          <p:cNvPr id="6" name="Text 4"/>
          <p:cNvSpPr/>
          <p:nvPr/>
        </p:nvSpPr>
        <p:spPr>
          <a:xfrm>
            <a:off x="914400" y="1133856"/>
            <a:ext cx="10332720" cy="365760"/>
          </a:xfrm>
          <a:prstGeom prst="rect">
            <a:avLst/>
          </a:prstGeom>
          <a:noFill/>
          <a:ln/>
        </p:spPr>
        <p:txBody>
          <a:bodyPr wrap="square" rtlCol="0" anchor="ctr"/>
          <a:lstStyle/>
          <a:p>
            <a:pPr indent="0" marL="0">
              <a:buNone/>
            </a:pPr>
            <a:r>
              <a:rPr lang="en-US" sz="1500" b="1" dirty="0">
                <a:solidFill>
                  <a:srgbClr val="1B1F3B"/>
                </a:solidFill>
                <a:latin typeface="Georgia" pitchFamily="34" charset="0"/>
                <a:ea typeface="Georgia" pitchFamily="34" charset="-122"/>
                <a:cs typeface="Georgia" pitchFamily="34" charset="-120"/>
              </a:rPr>
              <a:t>Multilingue</a:t>
            </a:r>
            <a:endParaRPr lang="en-US" sz="1500" dirty="0"/>
          </a:p>
        </p:txBody>
      </p:sp>
      <p:sp>
        <p:nvSpPr>
          <p:cNvPr id="7" name="Text 5"/>
          <p:cNvSpPr/>
          <p:nvPr/>
        </p:nvSpPr>
        <p:spPr>
          <a:xfrm>
            <a:off x="914400" y="1536192"/>
            <a:ext cx="10332720" cy="1051560"/>
          </a:xfrm>
          <a:prstGeom prst="rect">
            <a:avLst/>
          </a:prstGeom>
          <a:noFill/>
          <a:ln/>
        </p:spPr>
        <p:txBody>
          <a:bodyPr wrap="square" rtlCol="0" anchor="ctr"/>
          <a:lstStyle/>
          <a:p>
            <a:pPr indent="0" marL="0">
              <a:lnSpc>
                <a:spcPts val="1600"/>
              </a:lnSpc>
              <a:buNone/>
            </a:pPr>
            <a:r>
              <a:rPr lang="en-US" sz="1150" dirty="0">
                <a:solidFill>
                  <a:srgbClr val="1B1F3B"/>
                </a:solidFill>
                <a:latin typeface="Segoe UI" pitchFamily="34" charset="0"/>
                <a:ea typeface="Segoe UI" pitchFamily="34" charset="-122"/>
                <a:cs typeface="Segoe UI" pitchFamily="34" charset="-120"/>
              </a:rPr>
              <a:t>L'application est disponible en 5 langues, sélectionnables à tout moment depuis le menu du haut.</a:t>
            </a:r>
            <a:endParaRPr lang="en-US" sz="1150" dirty="0"/>
          </a:p>
        </p:txBody>
      </p:sp>
      <p:sp>
        <p:nvSpPr>
          <p:cNvPr id="8" name="Text 6"/>
          <p:cNvSpPr/>
          <p:nvPr/>
        </p:nvSpPr>
        <p:spPr>
          <a:xfrm>
            <a:off x="914400" y="2743200"/>
            <a:ext cx="10332720" cy="228600"/>
          </a:xfrm>
          <a:prstGeom prst="rect">
            <a:avLst/>
          </a:prstGeom>
          <a:noFill/>
          <a:ln/>
        </p:spPr>
        <p:txBody>
          <a:bodyPr wrap="square" rtlCol="0" anchor="ctr"/>
          <a:lstStyle/>
          <a:p>
            <a:pPr indent="0" marL="0">
              <a:buNone/>
            </a:pPr>
            <a:r>
              <a:rPr lang="en-US" sz="800" b="1" spc="100" kern="0" dirty="0">
                <a:solidFill>
                  <a:srgbClr val="9A7C5C"/>
                </a:solidFill>
                <a:latin typeface="Segoe UI" pitchFamily="34" charset="0"/>
                <a:ea typeface="Segoe UI" pitchFamily="34" charset="-122"/>
                <a:cs typeface="Segoe UI" pitchFamily="34" charset="-120"/>
              </a:rPr>
              <a:t>RÉALISATION TECHNIQUE</a:t>
            </a:r>
            <a:endParaRPr lang="en-US" sz="800" dirty="0"/>
          </a:p>
        </p:txBody>
      </p:sp>
      <p:sp>
        <p:nvSpPr>
          <p:cNvPr id="9" name="Text 7"/>
          <p:cNvSpPr/>
          <p:nvPr/>
        </p:nvSpPr>
        <p:spPr>
          <a:xfrm>
            <a:off x="914400" y="2990088"/>
            <a:ext cx="10332720" cy="548640"/>
          </a:xfrm>
          <a:prstGeom prst="rect">
            <a:avLst/>
          </a:prstGeom>
          <a:noFill/>
          <a:ln/>
        </p:spPr>
        <p:txBody>
          <a:bodyPr wrap="square" rtlCol="0" anchor="ctr"/>
          <a:lstStyle/>
          <a:p>
            <a:pPr indent="0" marL="0">
              <a:lnSpc>
                <a:spcPts val="1400"/>
              </a:lnSpc>
              <a:buNone/>
            </a:pPr>
            <a:r>
              <a:rPr lang="en-US" sz="1000" i="1" dirty="0">
                <a:solidFill>
                  <a:srgbClr val="8A7C68"/>
                </a:solidFill>
                <a:latin typeface="Segoe UI" pitchFamily="34" charset="0"/>
                <a:ea typeface="Segoe UI" pitchFamily="34" charset="-122"/>
                <a:cs typeface="Segoe UI" pitchFamily="34" charset="-120"/>
              </a:rPr>
              <a:t>Système de traduction interne (lib/i18n.js) : chaque texte de l'interface existe en français, anglais, arabe (avec sens de lecture droite-à-gauche), allemand et italien.</a:t>
            </a:r>
            <a:endParaRPr lang="en-US" sz="1000" dirty="0"/>
          </a:p>
        </p:txBody>
      </p:sp>
      <p:sp>
        <p:nvSpPr>
          <p:cNvPr id="10" name="Shape 8"/>
          <p:cNvSpPr/>
          <p:nvPr/>
        </p:nvSpPr>
        <p:spPr>
          <a:xfrm>
            <a:off x="640080" y="3813048"/>
            <a:ext cx="10881360" cy="2606040"/>
          </a:xfrm>
          <a:prstGeom prst="roundRect">
            <a:avLst>
              <a:gd name="adj" fmla="val 2105"/>
            </a:avLst>
          </a:prstGeom>
          <a:solidFill>
            <a:srgbClr val="FFFFFF"/>
          </a:solidFill>
          <a:ln w="12700">
            <a:solidFill>
              <a:srgbClr val="E4DCCB"/>
            </a:solidFill>
            <a:prstDash val="solid"/>
          </a:ln>
        </p:spPr>
      </p:sp>
      <p:sp>
        <p:nvSpPr>
          <p:cNvPr id="11" name="Shape 9"/>
          <p:cNvSpPr/>
          <p:nvPr/>
        </p:nvSpPr>
        <p:spPr>
          <a:xfrm>
            <a:off x="640080" y="3813048"/>
            <a:ext cx="54864" cy="2606040"/>
          </a:xfrm>
          <a:prstGeom prst="rect">
            <a:avLst/>
          </a:prstGeom>
          <a:solidFill>
            <a:srgbClr val="1D6FE0"/>
          </a:solidFill>
          <a:ln/>
        </p:spPr>
      </p:sp>
      <p:sp>
        <p:nvSpPr>
          <p:cNvPr id="12" name="Text 10"/>
          <p:cNvSpPr/>
          <p:nvPr/>
        </p:nvSpPr>
        <p:spPr>
          <a:xfrm>
            <a:off x="914400" y="3941064"/>
            <a:ext cx="10332720" cy="365760"/>
          </a:xfrm>
          <a:prstGeom prst="rect">
            <a:avLst/>
          </a:prstGeom>
          <a:noFill/>
          <a:ln/>
        </p:spPr>
        <p:txBody>
          <a:bodyPr wrap="square" rtlCol="0" anchor="ctr"/>
          <a:lstStyle/>
          <a:p>
            <a:pPr indent="0" marL="0">
              <a:buNone/>
            </a:pPr>
            <a:r>
              <a:rPr lang="en-US" sz="1500" b="1" dirty="0">
                <a:solidFill>
                  <a:srgbClr val="1B1F3B"/>
                </a:solidFill>
                <a:latin typeface="Georgia" pitchFamily="34" charset="0"/>
                <a:ea typeface="Georgia" pitchFamily="34" charset="-122"/>
                <a:cs typeface="Georgia" pitchFamily="34" charset="-120"/>
              </a:rPr>
              <a:t>Hébergement &amp; déploiement</a:t>
            </a:r>
            <a:endParaRPr lang="en-US" sz="1500" dirty="0"/>
          </a:p>
        </p:txBody>
      </p:sp>
      <p:sp>
        <p:nvSpPr>
          <p:cNvPr id="13" name="Text 11"/>
          <p:cNvSpPr/>
          <p:nvPr/>
        </p:nvSpPr>
        <p:spPr>
          <a:xfrm>
            <a:off x="914400" y="4343400"/>
            <a:ext cx="10332720" cy="1051560"/>
          </a:xfrm>
          <a:prstGeom prst="rect">
            <a:avLst/>
          </a:prstGeom>
          <a:noFill/>
          <a:ln/>
        </p:spPr>
        <p:txBody>
          <a:bodyPr wrap="square" rtlCol="0" anchor="ctr"/>
          <a:lstStyle/>
          <a:p>
            <a:pPr indent="0" marL="0">
              <a:lnSpc>
                <a:spcPts val="1600"/>
              </a:lnSpc>
              <a:buNone/>
            </a:pPr>
            <a:r>
              <a:rPr lang="en-US" sz="1150" dirty="0">
                <a:solidFill>
                  <a:srgbClr val="1B1F3B"/>
                </a:solidFill>
                <a:latin typeface="Segoe UI" pitchFamily="34" charset="0"/>
                <a:ea typeface="Segoe UI" pitchFamily="34" charset="-122"/>
                <a:cs typeface="Segoe UI" pitchFamily="34" charset="-120"/>
              </a:rPr>
              <a:t>L'application est déployée en ligne et mise à jour automatiquement à chaque envoi de code.</a:t>
            </a:r>
            <a:endParaRPr lang="en-US" sz="1150" dirty="0"/>
          </a:p>
        </p:txBody>
      </p:sp>
      <p:sp>
        <p:nvSpPr>
          <p:cNvPr id="14" name="Text 12"/>
          <p:cNvSpPr/>
          <p:nvPr/>
        </p:nvSpPr>
        <p:spPr>
          <a:xfrm>
            <a:off x="914400" y="5550408"/>
            <a:ext cx="10332720" cy="228600"/>
          </a:xfrm>
          <a:prstGeom prst="rect">
            <a:avLst/>
          </a:prstGeom>
          <a:noFill/>
          <a:ln/>
        </p:spPr>
        <p:txBody>
          <a:bodyPr wrap="square" rtlCol="0" anchor="ctr"/>
          <a:lstStyle/>
          <a:p>
            <a:pPr indent="0" marL="0">
              <a:buNone/>
            </a:pPr>
            <a:r>
              <a:rPr lang="en-US" sz="800" b="1" spc="100" kern="0" dirty="0">
                <a:solidFill>
                  <a:srgbClr val="9A7C5C"/>
                </a:solidFill>
                <a:latin typeface="Segoe UI" pitchFamily="34" charset="0"/>
                <a:ea typeface="Segoe UI" pitchFamily="34" charset="-122"/>
                <a:cs typeface="Segoe UI" pitchFamily="34" charset="-120"/>
              </a:rPr>
              <a:t>RÉALISATION TECHNIQUE</a:t>
            </a:r>
            <a:endParaRPr lang="en-US" sz="800" dirty="0"/>
          </a:p>
        </p:txBody>
      </p:sp>
      <p:sp>
        <p:nvSpPr>
          <p:cNvPr id="15" name="Text 13"/>
          <p:cNvSpPr/>
          <p:nvPr/>
        </p:nvSpPr>
        <p:spPr>
          <a:xfrm>
            <a:off x="914400" y="5797296"/>
            <a:ext cx="10332720" cy="548640"/>
          </a:xfrm>
          <a:prstGeom prst="rect">
            <a:avLst/>
          </a:prstGeom>
          <a:noFill/>
          <a:ln/>
        </p:spPr>
        <p:txBody>
          <a:bodyPr wrap="square" rtlCol="0" anchor="ctr"/>
          <a:lstStyle/>
          <a:p>
            <a:pPr indent="0" marL="0">
              <a:lnSpc>
                <a:spcPts val="1400"/>
              </a:lnSpc>
              <a:buNone/>
            </a:pPr>
            <a:r>
              <a:rPr lang="en-US" sz="1000" i="1" dirty="0">
                <a:solidFill>
                  <a:srgbClr val="8A7C68"/>
                </a:solidFill>
                <a:latin typeface="Segoe UI" pitchFamily="34" charset="0"/>
                <a:ea typeface="Segoe UI" pitchFamily="34" charset="-122"/>
                <a:cs typeface="Segoe UI" pitchFamily="34" charset="-120"/>
              </a:rPr>
              <a:t>Hébergement Vercel, déploiement automatique (CI/CD) déclenché par chaque envoi (push) sur la branche principale du dépôt GitHub.</a:t>
            </a:r>
            <a:endParaRPr lang="en-US" sz="1000" dirty="0"/>
          </a:p>
        </p:txBody>
      </p:sp>
      <p:sp>
        <p:nvSpPr>
          <p:cNvPr id="16" name="Text 14"/>
          <p:cNvSpPr/>
          <p:nvPr/>
        </p:nvSpPr>
        <p:spPr>
          <a:xfrm>
            <a:off x="365760" y="6510528"/>
            <a:ext cx="5486400" cy="274320"/>
          </a:xfrm>
          <a:prstGeom prst="rect">
            <a:avLst/>
          </a:prstGeom>
          <a:noFill/>
          <a:ln/>
        </p:spPr>
        <p:txBody>
          <a:bodyPr wrap="square" rtlCol="0" anchor="ctr"/>
          <a:lstStyle/>
          <a:p>
            <a:pPr indent="0" marL="0">
              <a:buNone/>
            </a:pPr>
            <a:r>
              <a:rPr lang="en-US" sz="850" dirty="0">
                <a:solidFill>
                  <a:srgbClr val="8A7C68"/>
                </a:solidFill>
                <a:latin typeface="Segoe UI" pitchFamily="34" charset="0"/>
                <a:ea typeface="Segoe UI" pitchFamily="34" charset="-122"/>
                <a:cs typeface="Segoe UI" pitchFamily="34" charset="-120"/>
              </a:rPr>
              <a:t>Kôji Web — Cahier des charges</a:t>
            </a:r>
            <a:endParaRPr lang="en-US" sz="850" dirty="0"/>
          </a:p>
        </p:txBody>
      </p:sp>
      <p:sp>
        <p:nvSpPr>
          <p:cNvPr id="17" name="Text 15"/>
          <p:cNvSpPr/>
          <p:nvPr/>
        </p:nvSpPr>
        <p:spPr>
          <a:xfrm>
            <a:off x="9601200" y="6510528"/>
            <a:ext cx="2194560" cy="274320"/>
          </a:xfrm>
          <a:prstGeom prst="rect">
            <a:avLst/>
          </a:prstGeom>
          <a:noFill/>
          <a:ln/>
        </p:spPr>
        <p:txBody>
          <a:bodyPr wrap="square" rtlCol="0" anchor="ctr"/>
          <a:lstStyle/>
          <a:p>
            <a:pPr algn="r" indent="0" marL="0">
              <a:buNone/>
            </a:pPr>
            <a:r>
              <a:rPr lang="en-US" sz="850" dirty="0">
                <a:solidFill>
                  <a:srgbClr val="8A7C68"/>
                </a:solidFill>
                <a:latin typeface="Segoe UI" pitchFamily="34" charset="0"/>
                <a:ea typeface="Segoe UI" pitchFamily="34" charset="-122"/>
                <a:cs typeface="Segoe UI" pitchFamily="34" charset="-120"/>
              </a:rPr>
              <a:t>7</a:t>
            </a:r>
            <a:endParaRPr lang="en-US" sz="8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0B1030"/>
        </a:solidFill>
      </p:bgPr>
    </p:bg>
    <p:spTree>
      <p:nvGrpSpPr>
        <p:cNvPr id="1" name=""/>
        <p:cNvGrpSpPr/>
        <p:nvPr/>
      </p:nvGrpSpPr>
      <p:grpSpPr>
        <a:xfrm>
          <a:off x="0" y="0"/>
          <a:ext cx="0" cy="0"/>
          <a:chOff x="0" y="0"/>
          <a:chExt cx="0" cy="0"/>
        </a:xfrm>
      </p:grpSpPr>
      <p:sp>
        <p:nvSpPr>
          <p:cNvPr id="2" name="Shape 0"/>
          <p:cNvSpPr/>
          <p:nvPr/>
        </p:nvSpPr>
        <p:spPr>
          <a:xfrm>
            <a:off x="0" y="3246120"/>
            <a:ext cx="12191695" cy="54864"/>
          </a:xfrm>
          <a:prstGeom prst="rect">
            <a:avLst/>
          </a:prstGeom>
          <a:solidFill>
            <a:srgbClr val="C9A96A"/>
          </a:solidFill>
          <a:ln/>
        </p:spPr>
      </p:sp>
      <p:sp>
        <p:nvSpPr>
          <p:cNvPr id="3" name="Text 1"/>
          <p:cNvSpPr/>
          <p:nvPr/>
        </p:nvSpPr>
        <p:spPr>
          <a:xfrm>
            <a:off x="640080" y="1920240"/>
            <a:ext cx="2743200" cy="548640"/>
          </a:xfrm>
          <a:prstGeom prst="rect">
            <a:avLst/>
          </a:prstGeom>
          <a:noFill/>
          <a:ln/>
        </p:spPr>
        <p:txBody>
          <a:bodyPr wrap="square" rtlCol="0" anchor="ctr"/>
          <a:lstStyle/>
          <a:p>
            <a:pPr indent="0" marL="0">
              <a:buNone/>
            </a:pPr>
            <a:r>
              <a:rPr lang="en-US" sz="1500" b="1" dirty="0">
                <a:solidFill>
                  <a:srgbClr val="C9A96A"/>
                </a:solidFill>
                <a:latin typeface="Segoe UI" pitchFamily="34" charset="0"/>
                <a:ea typeface="Segoe UI" pitchFamily="34" charset="-122"/>
                <a:cs typeface="Segoe UI" pitchFamily="34" charset="-120"/>
              </a:rPr>
              <a:t>02</a:t>
            </a:r>
            <a:endParaRPr lang="en-US" sz="1500" dirty="0"/>
          </a:p>
        </p:txBody>
      </p:sp>
      <p:sp>
        <p:nvSpPr>
          <p:cNvPr id="4" name="Text 2"/>
          <p:cNvSpPr/>
          <p:nvPr/>
        </p:nvSpPr>
        <p:spPr>
          <a:xfrm>
            <a:off x="640080" y="2377440"/>
            <a:ext cx="10515600" cy="914400"/>
          </a:xfrm>
          <a:prstGeom prst="rect">
            <a:avLst/>
          </a:prstGeom>
          <a:noFill/>
          <a:ln/>
        </p:spPr>
        <p:txBody>
          <a:bodyPr wrap="square" rtlCol="0" anchor="ctr"/>
          <a:lstStyle/>
          <a:p>
            <a:pPr indent="0" marL="0">
              <a:buNone/>
            </a:pPr>
            <a:r>
              <a:rPr lang="en-US" sz="3400" b="1" dirty="0">
                <a:solidFill>
                  <a:srgbClr val="FFFFFF"/>
                </a:solidFill>
                <a:latin typeface="Georgia" pitchFamily="34" charset="0"/>
                <a:ea typeface="Georgia" pitchFamily="34" charset="-122"/>
                <a:cs typeface="Georgia" pitchFamily="34" charset="-120"/>
              </a:rPr>
              <a:t>Authentification et gestion des comptes</a:t>
            </a:r>
            <a:endParaRPr lang="en-US" sz="3400" dirty="0"/>
          </a:p>
        </p:txBody>
      </p:sp>
      <p:sp>
        <p:nvSpPr>
          <p:cNvPr id="5" name="Text 3"/>
          <p:cNvSpPr/>
          <p:nvPr/>
        </p:nvSpPr>
        <p:spPr>
          <a:xfrm>
            <a:off x="640080" y="3429000"/>
            <a:ext cx="10058400" cy="1188720"/>
          </a:xfrm>
          <a:prstGeom prst="rect">
            <a:avLst/>
          </a:prstGeom>
          <a:noFill/>
          <a:ln/>
        </p:spPr>
        <p:txBody>
          <a:bodyPr wrap="square" rtlCol="0" anchor="ctr"/>
          <a:lstStyle/>
          <a:p>
            <a:pPr indent="0" marL="0">
              <a:lnSpc>
                <a:spcPts val="1800"/>
              </a:lnSpc>
              <a:buNone/>
            </a:pPr>
            <a:r>
              <a:rPr lang="en-US" sz="1300" dirty="0">
                <a:solidFill>
                  <a:srgbClr val="C7C9E0"/>
                </a:solidFill>
                <a:latin typeface="Segoe UI" pitchFamily="34" charset="0"/>
                <a:ea typeface="Segoe UI" pitchFamily="34" charset="-122"/>
                <a:cs typeface="Segoe UI" pitchFamily="34" charset="-120"/>
              </a:rPr>
              <a:t>Ensemble des écrans permettant de créer un compte, s'y connecter, le récupérer en cas d'oubli, et gérer l'abonnement à l'application.</a:t>
            </a:r>
            <a:endParaRPr lang="en-US" sz="1300" dirty="0"/>
          </a:p>
        </p:txBody>
      </p:sp>
      <p:sp>
        <p:nvSpPr>
          <p:cNvPr id="6" name="Text 4"/>
          <p:cNvSpPr/>
          <p:nvPr/>
        </p:nvSpPr>
        <p:spPr>
          <a:xfrm>
            <a:off x="365760" y="6510528"/>
            <a:ext cx="5486400" cy="274320"/>
          </a:xfrm>
          <a:prstGeom prst="rect">
            <a:avLst/>
          </a:prstGeom>
          <a:noFill/>
          <a:ln/>
        </p:spPr>
        <p:txBody>
          <a:bodyPr wrap="square" rtlCol="0" anchor="ctr"/>
          <a:lstStyle/>
          <a:p>
            <a:pPr indent="0" marL="0">
              <a:buNone/>
            </a:pPr>
            <a:r>
              <a:rPr lang="en-US" sz="850" dirty="0">
                <a:solidFill>
                  <a:srgbClr val="8A7C68"/>
                </a:solidFill>
                <a:latin typeface="Segoe UI" pitchFamily="34" charset="0"/>
                <a:ea typeface="Segoe UI" pitchFamily="34" charset="-122"/>
                <a:cs typeface="Segoe UI" pitchFamily="34" charset="-120"/>
              </a:rPr>
              <a:t>Kôji Web — Cahier des charges</a:t>
            </a:r>
            <a:endParaRPr lang="en-US" sz="850" dirty="0"/>
          </a:p>
        </p:txBody>
      </p:sp>
      <p:sp>
        <p:nvSpPr>
          <p:cNvPr id="7" name="Text 5"/>
          <p:cNvSpPr/>
          <p:nvPr/>
        </p:nvSpPr>
        <p:spPr>
          <a:xfrm>
            <a:off x="9601200" y="6510528"/>
            <a:ext cx="2194560" cy="274320"/>
          </a:xfrm>
          <a:prstGeom prst="rect">
            <a:avLst/>
          </a:prstGeom>
          <a:noFill/>
          <a:ln/>
        </p:spPr>
        <p:txBody>
          <a:bodyPr wrap="square" rtlCol="0" anchor="ctr"/>
          <a:lstStyle/>
          <a:p>
            <a:pPr algn="r" indent="0" marL="0">
              <a:buNone/>
            </a:pPr>
            <a:r>
              <a:rPr lang="en-US" sz="850" dirty="0">
                <a:solidFill>
                  <a:srgbClr val="8A7C68"/>
                </a:solidFill>
                <a:latin typeface="Segoe UI" pitchFamily="34" charset="0"/>
                <a:ea typeface="Segoe UI" pitchFamily="34" charset="-122"/>
                <a:cs typeface="Segoe UI" pitchFamily="34" charset="-120"/>
              </a:rPr>
              <a:t>8</a:t>
            </a:r>
            <a:endParaRPr lang="en-US" sz="8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3108960" cy="365760"/>
          </a:xfrm>
          <a:prstGeom prst="roundRect">
            <a:avLst>
              <a:gd name="adj" fmla="val 50000"/>
            </a:avLst>
          </a:prstGeom>
          <a:solidFill>
            <a:srgbClr val="F7EADF"/>
          </a:solidFill>
          <a:ln/>
        </p:spPr>
      </p:sp>
      <p:sp>
        <p:nvSpPr>
          <p:cNvPr id="3" name="Text 1"/>
          <p:cNvSpPr/>
          <p:nvPr/>
        </p:nvSpPr>
        <p:spPr>
          <a:xfrm>
            <a:off x="640080" y="411480"/>
            <a:ext cx="3108960" cy="365760"/>
          </a:xfrm>
          <a:prstGeom prst="rect">
            <a:avLst/>
          </a:prstGeom>
          <a:noFill/>
          <a:ln/>
        </p:spPr>
        <p:txBody>
          <a:bodyPr wrap="square" rtlCol="0" anchor="ctr"/>
          <a:lstStyle/>
          <a:p>
            <a:pPr algn="ctr" indent="0" marL="0">
              <a:buNone/>
            </a:pPr>
            <a:r>
              <a:rPr lang="en-US" sz="950" b="1" spc="100" kern="0" dirty="0">
                <a:solidFill>
                  <a:srgbClr val="9A7C5C"/>
                </a:solidFill>
                <a:latin typeface="Segoe UI" pitchFamily="34" charset="0"/>
                <a:ea typeface="Segoe UI" pitchFamily="34" charset="-122"/>
                <a:cs typeface="Segoe UI" pitchFamily="34" charset="-120"/>
              </a:rPr>
              <a:t>AUTHENTIFICATION ET GESTION DES COMPTES</a:t>
            </a:r>
            <a:endParaRPr lang="en-US" sz="950" dirty="0"/>
          </a:p>
        </p:txBody>
      </p:sp>
      <p:sp>
        <p:nvSpPr>
          <p:cNvPr id="4" name="Shape 2"/>
          <p:cNvSpPr/>
          <p:nvPr/>
        </p:nvSpPr>
        <p:spPr>
          <a:xfrm>
            <a:off x="640080" y="1005840"/>
            <a:ext cx="10881360" cy="2606040"/>
          </a:xfrm>
          <a:prstGeom prst="roundRect">
            <a:avLst>
              <a:gd name="adj" fmla="val 2105"/>
            </a:avLst>
          </a:prstGeom>
          <a:solidFill>
            <a:srgbClr val="FFFFFF"/>
          </a:solidFill>
          <a:ln w="12700">
            <a:solidFill>
              <a:srgbClr val="E4DCCB"/>
            </a:solidFill>
            <a:prstDash val="solid"/>
          </a:ln>
        </p:spPr>
      </p:sp>
      <p:sp>
        <p:nvSpPr>
          <p:cNvPr id="5" name="Shape 3"/>
          <p:cNvSpPr/>
          <p:nvPr/>
        </p:nvSpPr>
        <p:spPr>
          <a:xfrm>
            <a:off x="640080" y="1005840"/>
            <a:ext cx="54864" cy="2606040"/>
          </a:xfrm>
          <a:prstGeom prst="rect">
            <a:avLst/>
          </a:prstGeom>
          <a:solidFill>
            <a:srgbClr val="1D6FE0"/>
          </a:solidFill>
          <a:ln/>
        </p:spPr>
      </p:sp>
      <p:sp>
        <p:nvSpPr>
          <p:cNvPr id="6" name="Text 4"/>
          <p:cNvSpPr/>
          <p:nvPr/>
        </p:nvSpPr>
        <p:spPr>
          <a:xfrm>
            <a:off x="914400" y="1133856"/>
            <a:ext cx="10332720" cy="365760"/>
          </a:xfrm>
          <a:prstGeom prst="rect">
            <a:avLst/>
          </a:prstGeom>
          <a:noFill/>
          <a:ln/>
        </p:spPr>
        <p:txBody>
          <a:bodyPr wrap="square" rtlCol="0" anchor="ctr"/>
          <a:lstStyle/>
          <a:p>
            <a:pPr indent="0" marL="0">
              <a:buNone/>
            </a:pPr>
            <a:r>
              <a:rPr lang="en-US" sz="1500" b="1" dirty="0">
                <a:solidFill>
                  <a:srgbClr val="1B1F3B"/>
                </a:solidFill>
                <a:latin typeface="Georgia" pitchFamily="34" charset="0"/>
                <a:ea typeface="Georgia" pitchFamily="34" charset="-122"/>
                <a:cs typeface="Georgia" pitchFamily="34" charset="-120"/>
              </a:rPr>
              <a:t>Connexion (Login)</a:t>
            </a:r>
            <a:endParaRPr lang="en-US" sz="1500" dirty="0"/>
          </a:p>
        </p:txBody>
      </p:sp>
      <p:sp>
        <p:nvSpPr>
          <p:cNvPr id="7" name="Text 5"/>
          <p:cNvSpPr/>
          <p:nvPr/>
        </p:nvSpPr>
        <p:spPr>
          <a:xfrm>
            <a:off x="914400" y="1536192"/>
            <a:ext cx="10332720" cy="1051560"/>
          </a:xfrm>
          <a:prstGeom prst="rect">
            <a:avLst/>
          </a:prstGeom>
          <a:noFill/>
          <a:ln/>
        </p:spPr>
        <p:txBody>
          <a:bodyPr wrap="square" rtlCol="0" anchor="ctr"/>
          <a:lstStyle/>
          <a:p>
            <a:pPr indent="0" marL="0">
              <a:lnSpc>
                <a:spcPts val="1600"/>
              </a:lnSpc>
              <a:buNone/>
            </a:pPr>
            <a:r>
              <a:rPr lang="en-US" sz="1150" dirty="0">
                <a:solidFill>
                  <a:srgbClr val="1B1F3B"/>
                </a:solidFill>
                <a:latin typeface="Segoe UI" pitchFamily="34" charset="0"/>
                <a:ea typeface="Segoe UI" pitchFamily="34" charset="-122"/>
                <a:cs typeface="Segoe UI" pitchFamily="34" charset="-120"/>
              </a:rPr>
              <a:t>Un écran unique avec 3 onglets : Entreprise, Particulier, Ouvrier. La connexion Entreprise/Particulier se fait en 2 étapes (email puis mot de passe) avec une liste de comptes déjà utilisés sur l'appareil pour se reconnecter rapidement.</a:t>
            </a:r>
            <a:endParaRPr lang="en-US" sz="1150" dirty="0"/>
          </a:p>
        </p:txBody>
      </p:sp>
      <p:sp>
        <p:nvSpPr>
          <p:cNvPr id="8" name="Text 6"/>
          <p:cNvSpPr/>
          <p:nvPr/>
        </p:nvSpPr>
        <p:spPr>
          <a:xfrm>
            <a:off x="914400" y="2743200"/>
            <a:ext cx="10332720" cy="228600"/>
          </a:xfrm>
          <a:prstGeom prst="rect">
            <a:avLst/>
          </a:prstGeom>
          <a:noFill/>
          <a:ln/>
        </p:spPr>
        <p:txBody>
          <a:bodyPr wrap="square" rtlCol="0" anchor="ctr"/>
          <a:lstStyle/>
          <a:p>
            <a:pPr indent="0" marL="0">
              <a:buNone/>
            </a:pPr>
            <a:r>
              <a:rPr lang="en-US" sz="800" b="1" spc="100" kern="0" dirty="0">
                <a:solidFill>
                  <a:srgbClr val="9A7C5C"/>
                </a:solidFill>
                <a:latin typeface="Segoe UI" pitchFamily="34" charset="0"/>
                <a:ea typeface="Segoe UI" pitchFamily="34" charset="-122"/>
                <a:cs typeface="Segoe UI" pitchFamily="34" charset="-120"/>
              </a:rPr>
              <a:t>RÉALISATION TECHNIQUE</a:t>
            </a:r>
            <a:endParaRPr lang="en-US" sz="800" dirty="0"/>
          </a:p>
        </p:txBody>
      </p:sp>
      <p:sp>
        <p:nvSpPr>
          <p:cNvPr id="9" name="Text 7"/>
          <p:cNvSpPr/>
          <p:nvPr/>
        </p:nvSpPr>
        <p:spPr>
          <a:xfrm>
            <a:off x="914400" y="2990088"/>
            <a:ext cx="10332720" cy="548640"/>
          </a:xfrm>
          <a:prstGeom prst="rect">
            <a:avLst/>
          </a:prstGeom>
          <a:noFill/>
          <a:ln/>
        </p:spPr>
        <p:txBody>
          <a:bodyPr wrap="square" rtlCol="0" anchor="ctr"/>
          <a:lstStyle/>
          <a:p>
            <a:pPr indent="0" marL="0">
              <a:lnSpc>
                <a:spcPts val="1400"/>
              </a:lnSpc>
              <a:buNone/>
            </a:pPr>
            <a:r>
              <a:rPr lang="en-US" sz="1000" i="1" dirty="0">
                <a:solidFill>
                  <a:srgbClr val="8A7C68"/>
                </a:solidFill>
                <a:latin typeface="Segoe UI" pitchFamily="34" charset="0"/>
                <a:ea typeface="Segoe UI" pitchFamily="34" charset="-122"/>
                <a:cs typeface="Segoe UI" pitchFamily="34" charset="-120"/>
              </a:rPr>
              <a:t>Page /login ; connexion Entreprise/Particulier via Supabase Auth (API /api/auth/login, /api/auth/client-portal-login) ; connexion Ouvrier via un identifiant propre (API /api/worker-auth).</a:t>
            </a:r>
            <a:endParaRPr lang="en-US" sz="1000" dirty="0"/>
          </a:p>
        </p:txBody>
      </p:sp>
      <p:sp>
        <p:nvSpPr>
          <p:cNvPr id="10" name="Shape 8"/>
          <p:cNvSpPr/>
          <p:nvPr/>
        </p:nvSpPr>
        <p:spPr>
          <a:xfrm>
            <a:off x="640080" y="3813048"/>
            <a:ext cx="10881360" cy="2606040"/>
          </a:xfrm>
          <a:prstGeom prst="roundRect">
            <a:avLst>
              <a:gd name="adj" fmla="val 2105"/>
            </a:avLst>
          </a:prstGeom>
          <a:solidFill>
            <a:srgbClr val="FFFFFF"/>
          </a:solidFill>
          <a:ln w="12700">
            <a:solidFill>
              <a:srgbClr val="E4DCCB"/>
            </a:solidFill>
            <a:prstDash val="solid"/>
          </a:ln>
        </p:spPr>
      </p:sp>
      <p:sp>
        <p:nvSpPr>
          <p:cNvPr id="11" name="Shape 9"/>
          <p:cNvSpPr/>
          <p:nvPr/>
        </p:nvSpPr>
        <p:spPr>
          <a:xfrm>
            <a:off x="640080" y="3813048"/>
            <a:ext cx="54864" cy="2606040"/>
          </a:xfrm>
          <a:prstGeom prst="rect">
            <a:avLst/>
          </a:prstGeom>
          <a:solidFill>
            <a:srgbClr val="1D6FE0"/>
          </a:solidFill>
          <a:ln/>
        </p:spPr>
      </p:sp>
      <p:sp>
        <p:nvSpPr>
          <p:cNvPr id="12" name="Text 10"/>
          <p:cNvSpPr/>
          <p:nvPr/>
        </p:nvSpPr>
        <p:spPr>
          <a:xfrm>
            <a:off x="914400" y="3941064"/>
            <a:ext cx="10332720" cy="365760"/>
          </a:xfrm>
          <a:prstGeom prst="rect">
            <a:avLst/>
          </a:prstGeom>
          <a:noFill/>
          <a:ln/>
        </p:spPr>
        <p:txBody>
          <a:bodyPr wrap="square" rtlCol="0" anchor="ctr"/>
          <a:lstStyle/>
          <a:p>
            <a:pPr indent="0" marL="0">
              <a:buNone/>
            </a:pPr>
            <a:r>
              <a:rPr lang="en-US" sz="1500" b="1" dirty="0">
                <a:solidFill>
                  <a:srgbClr val="1B1F3B"/>
                </a:solidFill>
                <a:latin typeface="Georgia" pitchFamily="34" charset="0"/>
                <a:ea typeface="Georgia" pitchFamily="34" charset="-122"/>
                <a:cs typeface="Georgia" pitchFamily="34" charset="-120"/>
              </a:rPr>
              <a:t>Inscription (Signup)</a:t>
            </a:r>
            <a:endParaRPr lang="en-US" sz="1500" dirty="0"/>
          </a:p>
        </p:txBody>
      </p:sp>
      <p:sp>
        <p:nvSpPr>
          <p:cNvPr id="13" name="Text 11"/>
          <p:cNvSpPr/>
          <p:nvPr/>
        </p:nvSpPr>
        <p:spPr>
          <a:xfrm>
            <a:off x="914400" y="4343400"/>
            <a:ext cx="10332720" cy="1051560"/>
          </a:xfrm>
          <a:prstGeom prst="rect">
            <a:avLst/>
          </a:prstGeom>
          <a:noFill/>
          <a:ln/>
        </p:spPr>
        <p:txBody>
          <a:bodyPr wrap="square" rtlCol="0" anchor="ctr"/>
          <a:lstStyle/>
          <a:p>
            <a:pPr indent="0" marL="0">
              <a:lnSpc>
                <a:spcPts val="1600"/>
              </a:lnSpc>
              <a:buNone/>
            </a:pPr>
            <a:r>
              <a:rPr lang="en-US" sz="1150" dirty="0">
                <a:solidFill>
                  <a:srgbClr val="1B1F3B"/>
                </a:solidFill>
                <a:latin typeface="Segoe UI" pitchFamily="34" charset="0"/>
                <a:ea typeface="Segoe UI" pitchFamily="34" charset="-122"/>
                <a:cs typeface="Segoe UI" pitchFamily="34" charset="-120"/>
              </a:rPr>
              <a:t>Formulaire en 2 étapes (email, puis nom/mot de passe avec indicateur de robustesse), avec choix Entreprise/Particulier, puis écran "vérifiez votre email".</a:t>
            </a:r>
            <a:endParaRPr lang="en-US" sz="1150" dirty="0"/>
          </a:p>
        </p:txBody>
      </p:sp>
      <p:sp>
        <p:nvSpPr>
          <p:cNvPr id="14" name="Text 12"/>
          <p:cNvSpPr/>
          <p:nvPr/>
        </p:nvSpPr>
        <p:spPr>
          <a:xfrm>
            <a:off x="914400" y="5550408"/>
            <a:ext cx="10332720" cy="228600"/>
          </a:xfrm>
          <a:prstGeom prst="rect">
            <a:avLst/>
          </a:prstGeom>
          <a:noFill/>
          <a:ln/>
        </p:spPr>
        <p:txBody>
          <a:bodyPr wrap="square" rtlCol="0" anchor="ctr"/>
          <a:lstStyle/>
          <a:p>
            <a:pPr indent="0" marL="0">
              <a:buNone/>
            </a:pPr>
            <a:r>
              <a:rPr lang="en-US" sz="800" b="1" spc="100" kern="0" dirty="0">
                <a:solidFill>
                  <a:srgbClr val="9A7C5C"/>
                </a:solidFill>
                <a:latin typeface="Segoe UI" pitchFamily="34" charset="0"/>
                <a:ea typeface="Segoe UI" pitchFamily="34" charset="-122"/>
                <a:cs typeface="Segoe UI" pitchFamily="34" charset="-120"/>
              </a:rPr>
              <a:t>RÉALISATION TECHNIQUE</a:t>
            </a:r>
            <a:endParaRPr lang="en-US" sz="800" dirty="0"/>
          </a:p>
        </p:txBody>
      </p:sp>
      <p:sp>
        <p:nvSpPr>
          <p:cNvPr id="15" name="Text 13"/>
          <p:cNvSpPr/>
          <p:nvPr/>
        </p:nvSpPr>
        <p:spPr>
          <a:xfrm>
            <a:off x="914400" y="5797296"/>
            <a:ext cx="10332720" cy="548640"/>
          </a:xfrm>
          <a:prstGeom prst="rect">
            <a:avLst/>
          </a:prstGeom>
          <a:noFill/>
          <a:ln/>
        </p:spPr>
        <p:txBody>
          <a:bodyPr wrap="square" rtlCol="0" anchor="ctr"/>
          <a:lstStyle/>
          <a:p>
            <a:pPr indent="0" marL="0">
              <a:lnSpc>
                <a:spcPts val="1400"/>
              </a:lnSpc>
              <a:buNone/>
            </a:pPr>
            <a:r>
              <a:rPr lang="en-US" sz="1000" i="1" dirty="0">
                <a:solidFill>
                  <a:srgbClr val="8A7C68"/>
                </a:solidFill>
                <a:latin typeface="Segoe UI" pitchFamily="34" charset="0"/>
                <a:ea typeface="Segoe UI" pitchFamily="34" charset="-122"/>
                <a:cs typeface="Segoe UI" pitchFamily="34" charset="-120"/>
              </a:rPr>
              <a:t>Page /signup, API /api/auth/signup ; création du compte dans Supabase Auth + envoi d'un email d'activation.</a:t>
            </a:r>
            <a:endParaRPr lang="en-US" sz="1000" dirty="0"/>
          </a:p>
        </p:txBody>
      </p:sp>
      <p:sp>
        <p:nvSpPr>
          <p:cNvPr id="16" name="Text 14"/>
          <p:cNvSpPr/>
          <p:nvPr/>
        </p:nvSpPr>
        <p:spPr>
          <a:xfrm>
            <a:off x="365760" y="6510528"/>
            <a:ext cx="5486400" cy="274320"/>
          </a:xfrm>
          <a:prstGeom prst="rect">
            <a:avLst/>
          </a:prstGeom>
          <a:noFill/>
          <a:ln/>
        </p:spPr>
        <p:txBody>
          <a:bodyPr wrap="square" rtlCol="0" anchor="ctr"/>
          <a:lstStyle/>
          <a:p>
            <a:pPr indent="0" marL="0">
              <a:buNone/>
            </a:pPr>
            <a:r>
              <a:rPr lang="en-US" sz="850" dirty="0">
                <a:solidFill>
                  <a:srgbClr val="8A7C68"/>
                </a:solidFill>
                <a:latin typeface="Segoe UI" pitchFamily="34" charset="0"/>
                <a:ea typeface="Segoe UI" pitchFamily="34" charset="-122"/>
                <a:cs typeface="Segoe UI" pitchFamily="34" charset="-120"/>
              </a:rPr>
              <a:t>Kôji Web — Cahier des charges</a:t>
            </a:r>
            <a:endParaRPr lang="en-US" sz="850" dirty="0"/>
          </a:p>
        </p:txBody>
      </p:sp>
      <p:sp>
        <p:nvSpPr>
          <p:cNvPr id="17" name="Text 15"/>
          <p:cNvSpPr/>
          <p:nvPr/>
        </p:nvSpPr>
        <p:spPr>
          <a:xfrm>
            <a:off x="9601200" y="6510528"/>
            <a:ext cx="2194560" cy="274320"/>
          </a:xfrm>
          <a:prstGeom prst="rect">
            <a:avLst/>
          </a:prstGeom>
          <a:noFill/>
          <a:ln/>
        </p:spPr>
        <p:txBody>
          <a:bodyPr wrap="square" rtlCol="0" anchor="ctr"/>
          <a:lstStyle/>
          <a:p>
            <a:pPr algn="r" indent="0" marL="0">
              <a:buNone/>
            </a:pPr>
            <a:r>
              <a:rPr lang="en-US" sz="850" dirty="0">
                <a:solidFill>
                  <a:srgbClr val="8A7C68"/>
                </a:solidFill>
                <a:latin typeface="Segoe UI" pitchFamily="34" charset="0"/>
                <a:ea typeface="Segoe UI" pitchFamily="34" charset="-122"/>
                <a:cs typeface="Segoe UI" pitchFamily="34" charset="-120"/>
              </a:rPr>
              <a:t>9</a:t>
            </a:r>
            <a:endParaRPr lang="en-US" sz="8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3108960" cy="365760"/>
          </a:xfrm>
          <a:prstGeom prst="roundRect">
            <a:avLst>
              <a:gd name="adj" fmla="val 50000"/>
            </a:avLst>
          </a:prstGeom>
          <a:solidFill>
            <a:srgbClr val="F7EADF"/>
          </a:solidFill>
          <a:ln/>
        </p:spPr>
      </p:sp>
      <p:sp>
        <p:nvSpPr>
          <p:cNvPr id="3" name="Text 1"/>
          <p:cNvSpPr/>
          <p:nvPr/>
        </p:nvSpPr>
        <p:spPr>
          <a:xfrm>
            <a:off x="640080" y="411480"/>
            <a:ext cx="3108960" cy="365760"/>
          </a:xfrm>
          <a:prstGeom prst="rect">
            <a:avLst/>
          </a:prstGeom>
          <a:noFill/>
          <a:ln/>
        </p:spPr>
        <p:txBody>
          <a:bodyPr wrap="square" rtlCol="0" anchor="ctr"/>
          <a:lstStyle/>
          <a:p>
            <a:pPr algn="ctr" indent="0" marL="0">
              <a:buNone/>
            </a:pPr>
            <a:r>
              <a:rPr lang="en-US" sz="950" b="1" spc="100" kern="0" dirty="0">
                <a:solidFill>
                  <a:srgbClr val="9A7C5C"/>
                </a:solidFill>
                <a:latin typeface="Segoe UI" pitchFamily="34" charset="0"/>
                <a:ea typeface="Segoe UI" pitchFamily="34" charset="-122"/>
                <a:cs typeface="Segoe UI" pitchFamily="34" charset="-120"/>
              </a:rPr>
              <a:t>AUTHENTIFICATION ET GESTION DES COMPTES</a:t>
            </a:r>
            <a:endParaRPr lang="en-US" sz="950" dirty="0"/>
          </a:p>
        </p:txBody>
      </p:sp>
      <p:sp>
        <p:nvSpPr>
          <p:cNvPr id="4" name="Shape 2"/>
          <p:cNvSpPr/>
          <p:nvPr/>
        </p:nvSpPr>
        <p:spPr>
          <a:xfrm>
            <a:off x="640080" y="1005840"/>
            <a:ext cx="10881360" cy="2606040"/>
          </a:xfrm>
          <a:prstGeom prst="roundRect">
            <a:avLst>
              <a:gd name="adj" fmla="val 2105"/>
            </a:avLst>
          </a:prstGeom>
          <a:solidFill>
            <a:srgbClr val="FFFFFF"/>
          </a:solidFill>
          <a:ln w="12700">
            <a:solidFill>
              <a:srgbClr val="E4DCCB"/>
            </a:solidFill>
            <a:prstDash val="solid"/>
          </a:ln>
        </p:spPr>
      </p:sp>
      <p:sp>
        <p:nvSpPr>
          <p:cNvPr id="5" name="Shape 3"/>
          <p:cNvSpPr/>
          <p:nvPr/>
        </p:nvSpPr>
        <p:spPr>
          <a:xfrm>
            <a:off x="640080" y="1005840"/>
            <a:ext cx="54864" cy="2606040"/>
          </a:xfrm>
          <a:prstGeom prst="rect">
            <a:avLst/>
          </a:prstGeom>
          <a:solidFill>
            <a:srgbClr val="1D6FE0"/>
          </a:solidFill>
          <a:ln/>
        </p:spPr>
      </p:sp>
      <p:sp>
        <p:nvSpPr>
          <p:cNvPr id="6" name="Text 4"/>
          <p:cNvSpPr/>
          <p:nvPr/>
        </p:nvSpPr>
        <p:spPr>
          <a:xfrm>
            <a:off x="914400" y="1133856"/>
            <a:ext cx="10332720" cy="365760"/>
          </a:xfrm>
          <a:prstGeom prst="rect">
            <a:avLst/>
          </a:prstGeom>
          <a:noFill/>
          <a:ln/>
        </p:spPr>
        <p:txBody>
          <a:bodyPr wrap="square" rtlCol="0" anchor="ctr"/>
          <a:lstStyle/>
          <a:p>
            <a:pPr indent="0" marL="0">
              <a:buNone/>
            </a:pPr>
            <a:r>
              <a:rPr lang="en-US" sz="1500" b="1" dirty="0">
                <a:solidFill>
                  <a:srgbClr val="1B1F3B"/>
                </a:solidFill>
                <a:latin typeface="Georgia" pitchFamily="34" charset="0"/>
                <a:ea typeface="Georgia" pitchFamily="34" charset="-122"/>
                <a:cs typeface="Georgia" pitchFamily="34" charset="-120"/>
              </a:rPr>
              <a:t>Activation du compte</a:t>
            </a:r>
            <a:endParaRPr lang="en-US" sz="1500" dirty="0"/>
          </a:p>
        </p:txBody>
      </p:sp>
      <p:sp>
        <p:nvSpPr>
          <p:cNvPr id="7" name="Text 5"/>
          <p:cNvSpPr/>
          <p:nvPr/>
        </p:nvSpPr>
        <p:spPr>
          <a:xfrm>
            <a:off x="914400" y="1536192"/>
            <a:ext cx="10332720" cy="1051560"/>
          </a:xfrm>
          <a:prstGeom prst="rect">
            <a:avLst/>
          </a:prstGeom>
          <a:noFill/>
          <a:ln/>
        </p:spPr>
        <p:txBody>
          <a:bodyPr wrap="square" rtlCol="0" anchor="ctr"/>
          <a:lstStyle/>
          <a:p>
            <a:pPr indent="0" marL="0">
              <a:lnSpc>
                <a:spcPts val="1600"/>
              </a:lnSpc>
              <a:buNone/>
            </a:pPr>
            <a:r>
              <a:rPr lang="en-US" sz="1150" dirty="0">
                <a:solidFill>
                  <a:srgbClr val="1B1F3B"/>
                </a:solidFill>
                <a:latin typeface="Segoe UI" pitchFamily="34" charset="0"/>
                <a:ea typeface="Segoe UI" pitchFamily="34" charset="-122"/>
                <a:cs typeface="Segoe UI" pitchFamily="34" charset="-120"/>
              </a:rPr>
              <a:t>Lien reçu par email qui active le compte à partir d'un jeton unique, avec états de chargement/succès/erreur.</a:t>
            </a:r>
            <a:endParaRPr lang="en-US" sz="1150" dirty="0"/>
          </a:p>
        </p:txBody>
      </p:sp>
      <p:sp>
        <p:nvSpPr>
          <p:cNvPr id="8" name="Text 6"/>
          <p:cNvSpPr/>
          <p:nvPr/>
        </p:nvSpPr>
        <p:spPr>
          <a:xfrm>
            <a:off x="914400" y="2743200"/>
            <a:ext cx="10332720" cy="228600"/>
          </a:xfrm>
          <a:prstGeom prst="rect">
            <a:avLst/>
          </a:prstGeom>
          <a:noFill/>
          <a:ln/>
        </p:spPr>
        <p:txBody>
          <a:bodyPr wrap="square" rtlCol="0" anchor="ctr"/>
          <a:lstStyle/>
          <a:p>
            <a:pPr indent="0" marL="0">
              <a:buNone/>
            </a:pPr>
            <a:r>
              <a:rPr lang="en-US" sz="800" b="1" spc="100" kern="0" dirty="0">
                <a:solidFill>
                  <a:srgbClr val="9A7C5C"/>
                </a:solidFill>
                <a:latin typeface="Segoe UI" pitchFamily="34" charset="0"/>
                <a:ea typeface="Segoe UI" pitchFamily="34" charset="-122"/>
                <a:cs typeface="Segoe UI" pitchFamily="34" charset="-120"/>
              </a:rPr>
              <a:t>RÉALISATION TECHNIQUE</a:t>
            </a:r>
            <a:endParaRPr lang="en-US" sz="800" dirty="0"/>
          </a:p>
        </p:txBody>
      </p:sp>
      <p:sp>
        <p:nvSpPr>
          <p:cNvPr id="9" name="Text 7"/>
          <p:cNvSpPr/>
          <p:nvPr/>
        </p:nvSpPr>
        <p:spPr>
          <a:xfrm>
            <a:off x="914400" y="2990088"/>
            <a:ext cx="10332720" cy="548640"/>
          </a:xfrm>
          <a:prstGeom prst="rect">
            <a:avLst/>
          </a:prstGeom>
          <a:noFill/>
          <a:ln/>
        </p:spPr>
        <p:txBody>
          <a:bodyPr wrap="square" rtlCol="0" anchor="ctr"/>
          <a:lstStyle/>
          <a:p>
            <a:pPr indent="0" marL="0">
              <a:lnSpc>
                <a:spcPts val="1400"/>
              </a:lnSpc>
              <a:buNone/>
            </a:pPr>
            <a:r>
              <a:rPr lang="en-US" sz="1000" i="1" dirty="0">
                <a:solidFill>
                  <a:srgbClr val="8A7C68"/>
                </a:solidFill>
                <a:latin typeface="Segoe UI" pitchFamily="34" charset="0"/>
                <a:ea typeface="Segoe UI" pitchFamily="34" charset="-122"/>
                <a:cs typeface="Segoe UI" pitchFamily="34" charset="-120"/>
              </a:rPr>
              <a:t>Page /activate, API /api/auth/activate (vérifie et consomme le jeton d'activation).</a:t>
            </a:r>
            <a:endParaRPr lang="en-US" sz="1000" dirty="0"/>
          </a:p>
        </p:txBody>
      </p:sp>
      <p:sp>
        <p:nvSpPr>
          <p:cNvPr id="10" name="Shape 8"/>
          <p:cNvSpPr/>
          <p:nvPr/>
        </p:nvSpPr>
        <p:spPr>
          <a:xfrm>
            <a:off x="640080" y="3813048"/>
            <a:ext cx="10881360" cy="2606040"/>
          </a:xfrm>
          <a:prstGeom prst="roundRect">
            <a:avLst>
              <a:gd name="adj" fmla="val 2105"/>
            </a:avLst>
          </a:prstGeom>
          <a:solidFill>
            <a:srgbClr val="FFFFFF"/>
          </a:solidFill>
          <a:ln w="12700">
            <a:solidFill>
              <a:srgbClr val="E4DCCB"/>
            </a:solidFill>
            <a:prstDash val="solid"/>
          </a:ln>
        </p:spPr>
      </p:sp>
      <p:sp>
        <p:nvSpPr>
          <p:cNvPr id="11" name="Shape 9"/>
          <p:cNvSpPr/>
          <p:nvPr/>
        </p:nvSpPr>
        <p:spPr>
          <a:xfrm>
            <a:off x="640080" y="3813048"/>
            <a:ext cx="54864" cy="2606040"/>
          </a:xfrm>
          <a:prstGeom prst="rect">
            <a:avLst/>
          </a:prstGeom>
          <a:solidFill>
            <a:srgbClr val="1D6FE0"/>
          </a:solidFill>
          <a:ln/>
        </p:spPr>
      </p:sp>
      <p:sp>
        <p:nvSpPr>
          <p:cNvPr id="12" name="Text 10"/>
          <p:cNvSpPr/>
          <p:nvPr/>
        </p:nvSpPr>
        <p:spPr>
          <a:xfrm>
            <a:off x="914400" y="3941064"/>
            <a:ext cx="10332720" cy="365760"/>
          </a:xfrm>
          <a:prstGeom prst="rect">
            <a:avLst/>
          </a:prstGeom>
          <a:noFill/>
          <a:ln/>
        </p:spPr>
        <p:txBody>
          <a:bodyPr wrap="square" rtlCol="0" anchor="ctr"/>
          <a:lstStyle/>
          <a:p>
            <a:pPr indent="0" marL="0">
              <a:buNone/>
            </a:pPr>
            <a:r>
              <a:rPr lang="en-US" sz="1500" b="1" dirty="0">
                <a:solidFill>
                  <a:srgbClr val="1B1F3B"/>
                </a:solidFill>
                <a:latin typeface="Georgia" pitchFamily="34" charset="0"/>
                <a:ea typeface="Georgia" pitchFamily="34" charset="-122"/>
                <a:cs typeface="Georgia" pitchFamily="34" charset="-120"/>
              </a:rPr>
              <a:t>Mot de passe oublié</a:t>
            </a:r>
            <a:endParaRPr lang="en-US" sz="1500" dirty="0"/>
          </a:p>
        </p:txBody>
      </p:sp>
      <p:sp>
        <p:nvSpPr>
          <p:cNvPr id="13" name="Text 11"/>
          <p:cNvSpPr/>
          <p:nvPr/>
        </p:nvSpPr>
        <p:spPr>
          <a:xfrm>
            <a:off x="914400" y="4343400"/>
            <a:ext cx="10332720" cy="1051560"/>
          </a:xfrm>
          <a:prstGeom prst="rect">
            <a:avLst/>
          </a:prstGeom>
          <a:noFill/>
          <a:ln/>
        </p:spPr>
        <p:txBody>
          <a:bodyPr wrap="square" rtlCol="0" anchor="ctr"/>
          <a:lstStyle/>
          <a:p>
            <a:pPr indent="0" marL="0">
              <a:lnSpc>
                <a:spcPts val="1600"/>
              </a:lnSpc>
              <a:buNone/>
            </a:pPr>
            <a:r>
              <a:rPr lang="en-US" sz="1150" dirty="0">
                <a:solidFill>
                  <a:srgbClr val="1B1F3B"/>
                </a:solidFill>
                <a:latin typeface="Segoe UI" pitchFamily="34" charset="0"/>
                <a:ea typeface="Segoe UI" pitchFamily="34" charset="-122"/>
                <a:cs typeface="Segoe UI" pitchFamily="34" charset="-120"/>
              </a:rPr>
              <a:t>Formulaire d'envoi d'un lien de réinitialisation par email, séparé Entreprise/Particulier.</a:t>
            </a:r>
            <a:endParaRPr lang="en-US" sz="1150" dirty="0"/>
          </a:p>
        </p:txBody>
      </p:sp>
      <p:sp>
        <p:nvSpPr>
          <p:cNvPr id="14" name="Text 12"/>
          <p:cNvSpPr/>
          <p:nvPr/>
        </p:nvSpPr>
        <p:spPr>
          <a:xfrm>
            <a:off x="914400" y="5550408"/>
            <a:ext cx="10332720" cy="228600"/>
          </a:xfrm>
          <a:prstGeom prst="rect">
            <a:avLst/>
          </a:prstGeom>
          <a:noFill/>
          <a:ln/>
        </p:spPr>
        <p:txBody>
          <a:bodyPr wrap="square" rtlCol="0" anchor="ctr"/>
          <a:lstStyle/>
          <a:p>
            <a:pPr indent="0" marL="0">
              <a:buNone/>
            </a:pPr>
            <a:r>
              <a:rPr lang="en-US" sz="800" b="1" spc="100" kern="0" dirty="0">
                <a:solidFill>
                  <a:srgbClr val="9A7C5C"/>
                </a:solidFill>
                <a:latin typeface="Segoe UI" pitchFamily="34" charset="0"/>
                <a:ea typeface="Segoe UI" pitchFamily="34" charset="-122"/>
                <a:cs typeface="Segoe UI" pitchFamily="34" charset="-120"/>
              </a:rPr>
              <a:t>RÉALISATION TECHNIQUE</a:t>
            </a:r>
            <a:endParaRPr lang="en-US" sz="800" dirty="0"/>
          </a:p>
        </p:txBody>
      </p:sp>
      <p:sp>
        <p:nvSpPr>
          <p:cNvPr id="15" name="Text 13"/>
          <p:cNvSpPr/>
          <p:nvPr/>
        </p:nvSpPr>
        <p:spPr>
          <a:xfrm>
            <a:off x="914400" y="5797296"/>
            <a:ext cx="10332720" cy="548640"/>
          </a:xfrm>
          <a:prstGeom prst="rect">
            <a:avLst/>
          </a:prstGeom>
          <a:noFill/>
          <a:ln/>
        </p:spPr>
        <p:txBody>
          <a:bodyPr wrap="square" rtlCol="0" anchor="ctr"/>
          <a:lstStyle/>
          <a:p>
            <a:pPr indent="0" marL="0">
              <a:lnSpc>
                <a:spcPts val="1400"/>
              </a:lnSpc>
              <a:buNone/>
            </a:pPr>
            <a:r>
              <a:rPr lang="en-US" sz="1000" i="1" dirty="0">
                <a:solidFill>
                  <a:srgbClr val="8A7C68"/>
                </a:solidFill>
                <a:latin typeface="Segoe UI" pitchFamily="34" charset="0"/>
                <a:ea typeface="Segoe UI" pitchFamily="34" charset="-122"/>
                <a:cs typeface="Segoe UI" pitchFamily="34" charset="-120"/>
              </a:rPr>
              <a:t>Page /forgot-password, API /api/auth/forgot-password (génère un lien de récupération Supabase).</a:t>
            </a:r>
            <a:endParaRPr lang="en-US" sz="1000" dirty="0"/>
          </a:p>
        </p:txBody>
      </p:sp>
      <p:sp>
        <p:nvSpPr>
          <p:cNvPr id="16" name="Text 14"/>
          <p:cNvSpPr/>
          <p:nvPr/>
        </p:nvSpPr>
        <p:spPr>
          <a:xfrm>
            <a:off x="365760" y="6510528"/>
            <a:ext cx="5486400" cy="274320"/>
          </a:xfrm>
          <a:prstGeom prst="rect">
            <a:avLst/>
          </a:prstGeom>
          <a:noFill/>
          <a:ln/>
        </p:spPr>
        <p:txBody>
          <a:bodyPr wrap="square" rtlCol="0" anchor="ctr"/>
          <a:lstStyle/>
          <a:p>
            <a:pPr indent="0" marL="0">
              <a:buNone/>
            </a:pPr>
            <a:r>
              <a:rPr lang="en-US" sz="850" dirty="0">
                <a:solidFill>
                  <a:srgbClr val="8A7C68"/>
                </a:solidFill>
                <a:latin typeface="Segoe UI" pitchFamily="34" charset="0"/>
                <a:ea typeface="Segoe UI" pitchFamily="34" charset="-122"/>
                <a:cs typeface="Segoe UI" pitchFamily="34" charset="-120"/>
              </a:rPr>
              <a:t>Kôji Web — Cahier des charges</a:t>
            </a:r>
            <a:endParaRPr lang="en-US" sz="850" dirty="0"/>
          </a:p>
        </p:txBody>
      </p:sp>
      <p:sp>
        <p:nvSpPr>
          <p:cNvPr id="17" name="Text 15"/>
          <p:cNvSpPr/>
          <p:nvPr/>
        </p:nvSpPr>
        <p:spPr>
          <a:xfrm>
            <a:off x="9601200" y="6510528"/>
            <a:ext cx="2194560" cy="274320"/>
          </a:xfrm>
          <a:prstGeom prst="rect">
            <a:avLst/>
          </a:prstGeom>
          <a:noFill/>
          <a:ln/>
        </p:spPr>
        <p:txBody>
          <a:bodyPr wrap="square" rtlCol="0" anchor="ctr"/>
          <a:lstStyle/>
          <a:p>
            <a:pPr algn="r" indent="0" marL="0">
              <a:buNone/>
            </a:pPr>
            <a:r>
              <a:rPr lang="en-US" sz="850" dirty="0">
                <a:solidFill>
                  <a:srgbClr val="8A7C68"/>
                </a:solidFill>
                <a:latin typeface="Segoe UI" pitchFamily="34" charset="0"/>
                <a:ea typeface="Segoe UI" pitchFamily="34" charset="-122"/>
                <a:cs typeface="Segoe UI" pitchFamily="34" charset="-120"/>
              </a:rPr>
              <a:t>10</a:t>
            </a:r>
            <a:endParaRPr lang="en-US" sz="8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3108960" cy="365760"/>
          </a:xfrm>
          <a:prstGeom prst="roundRect">
            <a:avLst>
              <a:gd name="adj" fmla="val 50000"/>
            </a:avLst>
          </a:prstGeom>
          <a:solidFill>
            <a:srgbClr val="F7EADF"/>
          </a:solidFill>
          <a:ln/>
        </p:spPr>
      </p:sp>
      <p:sp>
        <p:nvSpPr>
          <p:cNvPr id="3" name="Text 1"/>
          <p:cNvSpPr/>
          <p:nvPr/>
        </p:nvSpPr>
        <p:spPr>
          <a:xfrm>
            <a:off x="640080" y="411480"/>
            <a:ext cx="3108960" cy="365760"/>
          </a:xfrm>
          <a:prstGeom prst="rect">
            <a:avLst/>
          </a:prstGeom>
          <a:noFill/>
          <a:ln/>
        </p:spPr>
        <p:txBody>
          <a:bodyPr wrap="square" rtlCol="0" anchor="ctr"/>
          <a:lstStyle/>
          <a:p>
            <a:pPr algn="ctr" indent="0" marL="0">
              <a:buNone/>
            </a:pPr>
            <a:r>
              <a:rPr lang="en-US" sz="950" b="1" spc="100" kern="0" dirty="0">
                <a:solidFill>
                  <a:srgbClr val="9A7C5C"/>
                </a:solidFill>
                <a:latin typeface="Segoe UI" pitchFamily="34" charset="0"/>
                <a:ea typeface="Segoe UI" pitchFamily="34" charset="-122"/>
                <a:cs typeface="Segoe UI" pitchFamily="34" charset="-120"/>
              </a:rPr>
              <a:t>AUTHENTIFICATION ET GESTION DES COMPTES</a:t>
            </a:r>
            <a:endParaRPr lang="en-US" sz="950" dirty="0"/>
          </a:p>
        </p:txBody>
      </p:sp>
      <p:sp>
        <p:nvSpPr>
          <p:cNvPr id="4" name="Shape 2"/>
          <p:cNvSpPr/>
          <p:nvPr/>
        </p:nvSpPr>
        <p:spPr>
          <a:xfrm>
            <a:off x="640080" y="1005840"/>
            <a:ext cx="10881360" cy="2606040"/>
          </a:xfrm>
          <a:prstGeom prst="roundRect">
            <a:avLst>
              <a:gd name="adj" fmla="val 2105"/>
            </a:avLst>
          </a:prstGeom>
          <a:solidFill>
            <a:srgbClr val="FFFFFF"/>
          </a:solidFill>
          <a:ln w="12700">
            <a:solidFill>
              <a:srgbClr val="E4DCCB"/>
            </a:solidFill>
            <a:prstDash val="solid"/>
          </a:ln>
        </p:spPr>
      </p:sp>
      <p:sp>
        <p:nvSpPr>
          <p:cNvPr id="5" name="Shape 3"/>
          <p:cNvSpPr/>
          <p:nvPr/>
        </p:nvSpPr>
        <p:spPr>
          <a:xfrm>
            <a:off x="640080" y="1005840"/>
            <a:ext cx="54864" cy="2606040"/>
          </a:xfrm>
          <a:prstGeom prst="rect">
            <a:avLst/>
          </a:prstGeom>
          <a:solidFill>
            <a:srgbClr val="1D6FE0"/>
          </a:solidFill>
          <a:ln/>
        </p:spPr>
      </p:sp>
      <p:sp>
        <p:nvSpPr>
          <p:cNvPr id="6" name="Text 4"/>
          <p:cNvSpPr/>
          <p:nvPr/>
        </p:nvSpPr>
        <p:spPr>
          <a:xfrm>
            <a:off x="914400" y="1133856"/>
            <a:ext cx="10332720" cy="365760"/>
          </a:xfrm>
          <a:prstGeom prst="rect">
            <a:avLst/>
          </a:prstGeom>
          <a:noFill/>
          <a:ln/>
        </p:spPr>
        <p:txBody>
          <a:bodyPr wrap="square" rtlCol="0" anchor="ctr"/>
          <a:lstStyle/>
          <a:p>
            <a:pPr indent="0" marL="0">
              <a:buNone/>
            </a:pPr>
            <a:r>
              <a:rPr lang="en-US" sz="1500" b="1" dirty="0">
                <a:solidFill>
                  <a:srgbClr val="1B1F3B"/>
                </a:solidFill>
                <a:latin typeface="Georgia" pitchFamily="34" charset="0"/>
                <a:ea typeface="Georgia" pitchFamily="34" charset="-122"/>
                <a:cs typeface="Georgia" pitchFamily="34" charset="-120"/>
              </a:rPr>
              <a:t>Réinitialisation du mot de passe</a:t>
            </a:r>
            <a:endParaRPr lang="en-US" sz="1500" dirty="0"/>
          </a:p>
        </p:txBody>
      </p:sp>
      <p:sp>
        <p:nvSpPr>
          <p:cNvPr id="7" name="Text 5"/>
          <p:cNvSpPr/>
          <p:nvPr/>
        </p:nvSpPr>
        <p:spPr>
          <a:xfrm>
            <a:off x="914400" y="1536192"/>
            <a:ext cx="10332720" cy="1051560"/>
          </a:xfrm>
          <a:prstGeom prst="rect">
            <a:avLst/>
          </a:prstGeom>
          <a:noFill/>
          <a:ln/>
        </p:spPr>
        <p:txBody>
          <a:bodyPr wrap="square" rtlCol="0" anchor="ctr"/>
          <a:lstStyle/>
          <a:p>
            <a:pPr indent="0" marL="0">
              <a:lnSpc>
                <a:spcPts val="1600"/>
              </a:lnSpc>
              <a:buNone/>
            </a:pPr>
            <a:r>
              <a:rPr lang="en-US" sz="1150" dirty="0">
                <a:solidFill>
                  <a:srgbClr val="1B1F3B"/>
                </a:solidFill>
                <a:latin typeface="Segoe UI" pitchFamily="34" charset="0"/>
                <a:ea typeface="Segoe UI" pitchFamily="34" charset="-122"/>
                <a:cs typeface="Segoe UI" pitchFamily="34" charset="-120"/>
              </a:rPr>
              <a:t>Écran de saisie d'un nouveau mot de passe, utilisé aussi bien pour l'activation initiale que pour une réinitialisation.</a:t>
            </a:r>
            <a:endParaRPr lang="en-US" sz="1150" dirty="0"/>
          </a:p>
        </p:txBody>
      </p:sp>
      <p:sp>
        <p:nvSpPr>
          <p:cNvPr id="8" name="Text 6"/>
          <p:cNvSpPr/>
          <p:nvPr/>
        </p:nvSpPr>
        <p:spPr>
          <a:xfrm>
            <a:off x="914400" y="2743200"/>
            <a:ext cx="10332720" cy="228600"/>
          </a:xfrm>
          <a:prstGeom prst="rect">
            <a:avLst/>
          </a:prstGeom>
          <a:noFill/>
          <a:ln/>
        </p:spPr>
        <p:txBody>
          <a:bodyPr wrap="square" rtlCol="0" anchor="ctr"/>
          <a:lstStyle/>
          <a:p>
            <a:pPr indent="0" marL="0">
              <a:buNone/>
            </a:pPr>
            <a:r>
              <a:rPr lang="en-US" sz="800" b="1" spc="100" kern="0" dirty="0">
                <a:solidFill>
                  <a:srgbClr val="9A7C5C"/>
                </a:solidFill>
                <a:latin typeface="Segoe UI" pitchFamily="34" charset="0"/>
                <a:ea typeface="Segoe UI" pitchFamily="34" charset="-122"/>
                <a:cs typeface="Segoe UI" pitchFamily="34" charset="-120"/>
              </a:rPr>
              <a:t>RÉALISATION TECHNIQUE</a:t>
            </a:r>
            <a:endParaRPr lang="en-US" sz="800" dirty="0"/>
          </a:p>
        </p:txBody>
      </p:sp>
      <p:sp>
        <p:nvSpPr>
          <p:cNvPr id="9" name="Text 7"/>
          <p:cNvSpPr/>
          <p:nvPr/>
        </p:nvSpPr>
        <p:spPr>
          <a:xfrm>
            <a:off x="914400" y="2990088"/>
            <a:ext cx="10332720" cy="548640"/>
          </a:xfrm>
          <a:prstGeom prst="rect">
            <a:avLst/>
          </a:prstGeom>
          <a:noFill/>
          <a:ln/>
        </p:spPr>
        <p:txBody>
          <a:bodyPr wrap="square" rtlCol="0" anchor="ctr"/>
          <a:lstStyle/>
          <a:p>
            <a:pPr indent="0" marL="0">
              <a:lnSpc>
                <a:spcPts val="1400"/>
              </a:lnSpc>
              <a:buNone/>
            </a:pPr>
            <a:r>
              <a:rPr lang="en-US" sz="1000" i="1" dirty="0">
                <a:solidFill>
                  <a:srgbClr val="8A7C68"/>
                </a:solidFill>
                <a:latin typeface="Segoe UI" pitchFamily="34" charset="0"/>
                <a:ea typeface="Segoe UI" pitchFamily="34" charset="-122"/>
                <a:cs typeface="Segoe UI" pitchFamily="34" charset="-120"/>
              </a:rPr>
              <a:t>Page /set-password, API /api/auth/set-password ; lit le jeton dans l'URL (lien classique ou lien de récupération Supabase).</a:t>
            </a:r>
            <a:endParaRPr lang="en-US" sz="1000" dirty="0"/>
          </a:p>
        </p:txBody>
      </p:sp>
      <p:sp>
        <p:nvSpPr>
          <p:cNvPr id="10" name="Shape 8"/>
          <p:cNvSpPr/>
          <p:nvPr/>
        </p:nvSpPr>
        <p:spPr>
          <a:xfrm>
            <a:off x="640080" y="3813048"/>
            <a:ext cx="10881360" cy="2606040"/>
          </a:xfrm>
          <a:prstGeom prst="roundRect">
            <a:avLst>
              <a:gd name="adj" fmla="val 2105"/>
            </a:avLst>
          </a:prstGeom>
          <a:solidFill>
            <a:srgbClr val="FFFFFF"/>
          </a:solidFill>
          <a:ln w="12700">
            <a:solidFill>
              <a:srgbClr val="E4DCCB"/>
            </a:solidFill>
            <a:prstDash val="solid"/>
          </a:ln>
        </p:spPr>
      </p:sp>
      <p:sp>
        <p:nvSpPr>
          <p:cNvPr id="11" name="Shape 9"/>
          <p:cNvSpPr/>
          <p:nvPr/>
        </p:nvSpPr>
        <p:spPr>
          <a:xfrm>
            <a:off x="640080" y="3813048"/>
            <a:ext cx="54864" cy="2606040"/>
          </a:xfrm>
          <a:prstGeom prst="rect">
            <a:avLst/>
          </a:prstGeom>
          <a:solidFill>
            <a:srgbClr val="1D6FE0"/>
          </a:solidFill>
          <a:ln/>
        </p:spPr>
      </p:sp>
      <p:sp>
        <p:nvSpPr>
          <p:cNvPr id="12" name="Text 10"/>
          <p:cNvSpPr/>
          <p:nvPr/>
        </p:nvSpPr>
        <p:spPr>
          <a:xfrm>
            <a:off x="914400" y="3941064"/>
            <a:ext cx="10332720" cy="365760"/>
          </a:xfrm>
          <a:prstGeom prst="rect">
            <a:avLst/>
          </a:prstGeom>
          <a:noFill/>
          <a:ln/>
        </p:spPr>
        <p:txBody>
          <a:bodyPr wrap="square" rtlCol="0" anchor="ctr"/>
          <a:lstStyle/>
          <a:p>
            <a:pPr indent="0" marL="0">
              <a:buNone/>
            </a:pPr>
            <a:r>
              <a:rPr lang="en-US" sz="1500" b="1" dirty="0">
                <a:solidFill>
                  <a:srgbClr val="1B1F3B"/>
                </a:solidFill>
                <a:latin typeface="Georgia" pitchFamily="34" charset="0"/>
                <a:ea typeface="Georgia" pitchFamily="34" charset="-122"/>
                <a:cs typeface="Georgia" pitchFamily="34" charset="-120"/>
              </a:rPr>
              <a:t>Session persistante et reconnexion automatique</a:t>
            </a:r>
            <a:endParaRPr lang="en-US" sz="1500" dirty="0"/>
          </a:p>
        </p:txBody>
      </p:sp>
      <p:sp>
        <p:nvSpPr>
          <p:cNvPr id="13" name="Text 11"/>
          <p:cNvSpPr/>
          <p:nvPr/>
        </p:nvSpPr>
        <p:spPr>
          <a:xfrm>
            <a:off x="914400" y="4343400"/>
            <a:ext cx="10332720" cy="1051560"/>
          </a:xfrm>
          <a:prstGeom prst="rect">
            <a:avLst/>
          </a:prstGeom>
          <a:noFill/>
          <a:ln/>
        </p:spPr>
        <p:txBody>
          <a:bodyPr wrap="square" rtlCol="0" anchor="ctr"/>
          <a:lstStyle/>
          <a:p>
            <a:pPr indent="0" marL="0">
              <a:lnSpc>
                <a:spcPts val="1600"/>
              </a:lnSpc>
              <a:buNone/>
            </a:pPr>
            <a:r>
              <a:rPr lang="en-US" sz="1150" dirty="0">
                <a:solidFill>
                  <a:srgbClr val="1B1F3B"/>
                </a:solidFill>
                <a:latin typeface="Segoe UI" pitchFamily="34" charset="0"/>
                <a:ea typeface="Segoe UI" pitchFamily="34" charset="-122"/>
                <a:cs typeface="Segoe UI" pitchFamily="34" charset="-120"/>
              </a:rPr>
              <a:t>Une fois connecté, l'utilisateur reste connecté ; si sa session expire (environ 1h), elle est renouvelée automatiquement en arrière-plan sans le déconnecter, y compris si l'erreur d'expiration est renvoyée sous une forme inhabituelle.</a:t>
            </a:r>
            <a:endParaRPr lang="en-US" sz="1150" dirty="0"/>
          </a:p>
        </p:txBody>
      </p:sp>
      <p:sp>
        <p:nvSpPr>
          <p:cNvPr id="14" name="Text 12"/>
          <p:cNvSpPr/>
          <p:nvPr/>
        </p:nvSpPr>
        <p:spPr>
          <a:xfrm>
            <a:off x="914400" y="5550408"/>
            <a:ext cx="10332720" cy="228600"/>
          </a:xfrm>
          <a:prstGeom prst="rect">
            <a:avLst/>
          </a:prstGeom>
          <a:noFill/>
          <a:ln/>
        </p:spPr>
        <p:txBody>
          <a:bodyPr wrap="square" rtlCol="0" anchor="ctr"/>
          <a:lstStyle/>
          <a:p>
            <a:pPr indent="0" marL="0">
              <a:buNone/>
            </a:pPr>
            <a:r>
              <a:rPr lang="en-US" sz="800" b="1" spc="100" kern="0" dirty="0">
                <a:solidFill>
                  <a:srgbClr val="9A7C5C"/>
                </a:solidFill>
                <a:latin typeface="Segoe UI" pitchFamily="34" charset="0"/>
                <a:ea typeface="Segoe UI" pitchFamily="34" charset="-122"/>
                <a:cs typeface="Segoe UI" pitchFamily="34" charset="-120"/>
              </a:rPr>
              <a:t>RÉALISATION TECHNIQUE</a:t>
            </a:r>
            <a:endParaRPr lang="en-US" sz="800" dirty="0"/>
          </a:p>
        </p:txBody>
      </p:sp>
      <p:sp>
        <p:nvSpPr>
          <p:cNvPr id="15" name="Text 13"/>
          <p:cNvSpPr/>
          <p:nvPr/>
        </p:nvSpPr>
        <p:spPr>
          <a:xfrm>
            <a:off x="914400" y="5797296"/>
            <a:ext cx="10332720" cy="548640"/>
          </a:xfrm>
          <a:prstGeom prst="rect">
            <a:avLst/>
          </a:prstGeom>
          <a:noFill/>
          <a:ln/>
        </p:spPr>
        <p:txBody>
          <a:bodyPr wrap="square" rtlCol="0" anchor="ctr"/>
          <a:lstStyle/>
          <a:p>
            <a:pPr indent="0" marL="0">
              <a:lnSpc>
                <a:spcPts val="1400"/>
              </a:lnSpc>
              <a:buNone/>
            </a:pPr>
            <a:r>
              <a:rPr lang="en-US" sz="1000" i="1" dirty="0">
                <a:solidFill>
                  <a:srgbClr val="8A7C68"/>
                </a:solidFill>
                <a:latin typeface="Segoe UI" pitchFamily="34" charset="0"/>
                <a:ea typeface="Segoe UI" pitchFamily="34" charset="-122"/>
                <a:cs typeface="Segoe UI" pitchFamily="34" charset="-120"/>
              </a:rPr>
              <a:t>lib/client-api.js : jeton stocké dans le navigateur (localStorage), en-tête d'autorisation ajouté à chaque appel, détection d'expiration puis appel à /api/auth/refresh et nouvelle tentative automatique.</a:t>
            </a:r>
            <a:endParaRPr lang="en-US" sz="1000" dirty="0"/>
          </a:p>
        </p:txBody>
      </p:sp>
      <p:sp>
        <p:nvSpPr>
          <p:cNvPr id="16" name="Text 14"/>
          <p:cNvSpPr/>
          <p:nvPr/>
        </p:nvSpPr>
        <p:spPr>
          <a:xfrm>
            <a:off x="365760" y="6510528"/>
            <a:ext cx="5486400" cy="274320"/>
          </a:xfrm>
          <a:prstGeom prst="rect">
            <a:avLst/>
          </a:prstGeom>
          <a:noFill/>
          <a:ln/>
        </p:spPr>
        <p:txBody>
          <a:bodyPr wrap="square" rtlCol="0" anchor="ctr"/>
          <a:lstStyle/>
          <a:p>
            <a:pPr indent="0" marL="0">
              <a:buNone/>
            </a:pPr>
            <a:r>
              <a:rPr lang="en-US" sz="850" dirty="0">
                <a:solidFill>
                  <a:srgbClr val="8A7C68"/>
                </a:solidFill>
                <a:latin typeface="Segoe UI" pitchFamily="34" charset="0"/>
                <a:ea typeface="Segoe UI" pitchFamily="34" charset="-122"/>
                <a:cs typeface="Segoe UI" pitchFamily="34" charset="-120"/>
              </a:rPr>
              <a:t>Kôji Web — Cahier des charges</a:t>
            </a:r>
            <a:endParaRPr lang="en-US" sz="850" dirty="0"/>
          </a:p>
        </p:txBody>
      </p:sp>
      <p:sp>
        <p:nvSpPr>
          <p:cNvPr id="17" name="Text 15"/>
          <p:cNvSpPr/>
          <p:nvPr/>
        </p:nvSpPr>
        <p:spPr>
          <a:xfrm>
            <a:off x="9601200" y="6510528"/>
            <a:ext cx="2194560" cy="274320"/>
          </a:xfrm>
          <a:prstGeom prst="rect">
            <a:avLst/>
          </a:prstGeom>
          <a:noFill/>
          <a:ln/>
        </p:spPr>
        <p:txBody>
          <a:bodyPr wrap="square" rtlCol="0" anchor="ctr"/>
          <a:lstStyle/>
          <a:p>
            <a:pPr algn="r" indent="0" marL="0">
              <a:buNone/>
            </a:pPr>
            <a:r>
              <a:rPr lang="en-US" sz="850" dirty="0">
                <a:solidFill>
                  <a:srgbClr val="8A7C68"/>
                </a:solidFill>
                <a:latin typeface="Segoe UI" pitchFamily="34" charset="0"/>
                <a:ea typeface="Segoe UI" pitchFamily="34" charset="-122"/>
                <a:cs typeface="Segoe UI" pitchFamily="34" charset="-120"/>
              </a:rPr>
              <a:t>11</a:t>
            </a:r>
            <a:endParaRPr lang="en-US" sz="8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3108960" cy="365760"/>
          </a:xfrm>
          <a:prstGeom prst="roundRect">
            <a:avLst>
              <a:gd name="adj" fmla="val 50000"/>
            </a:avLst>
          </a:prstGeom>
          <a:solidFill>
            <a:srgbClr val="F7EADF"/>
          </a:solidFill>
          <a:ln/>
        </p:spPr>
      </p:sp>
      <p:sp>
        <p:nvSpPr>
          <p:cNvPr id="3" name="Text 1"/>
          <p:cNvSpPr/>
          <p:nvPr/>
        </p:nvSpPr>
        <p:spPr>
          <a:xfrm>
            <a:off x="640080" y="411480"/>
            <a:ext cx="3108960" cy="365760"/>
          </a:xfrm>
          <a:prstGeom prst="rect">
            <a:avLst/>
          </a:prstGeom>
          <a:noFill/>
          <a:ln/>
        </p:spPr>
        <p:txBody>
          <a:bodyPr wrap="square" rtlCol="0" anchor="ctr"/>
          <a:lstStyle/>
          <a:p>
            <a:pPr algn="ctr" indent="0" marL="0">
              <a:buNone/>
            </a:pPr>
            <a:r>
              <a:rPr lang="en-US" sz="950" b="1" spc="100" kern="0" dirty="0">
                <a:solidFill>
                  <a:srgbClr val="9A7C5C"/>
                </a:solidFill>
                <a:latin typeface="Segoe UI" pitchFamily="34" charset="0"/>
                <a:ea typeface="Segoe UI" pitchFamily="34" charset="-122"/>
                <a:cs typeface="Segoe UI" pitchFamily="34" charset="-120"/>
              </a:rPr>
              <a:t>AUTHENTIFICATION ET GESTION DES COMPTES</a:t>
            </a:r>
            <a:endParaRPr lang="en-US" sz="950" dirty="0"/>
          </a:p>
        </p:txBody>
      </p:sp>
      <p:sp>
        <p:nvSpPr>
          <p:cNvPr id="4" name="Shape 2"/>
          <p:cNvSpPr/>
          <p:nvPr/>
        </p:nvSpPr>
        <p:spPr>
          <a:xfrm>
            <a:off x="640080" y="1005840"/>
            <a:ext cx="10881360" cy="2606040"/>
          </a:xfrm>
          <a:prstGeom prst="roundRect">
            <a:avLst>
              <a:gd name="adj" fmla="val 2105"/>
            </a:avLst>
          </a:prstGeom>
          <a:solidFill>
            <a:srgbClr val="FFFFFF"/>
          </a:solidFill>
          <a:ln w="12700">
            <a:solidFill>
              <a:srgbClr val="E4DCCB"/>
            </a:solidFill>
            <a:prstDash val="solid"/>
          </a:ln>
        </p:spPr>
      </p:sp>
      <p:sp>
        <p:nvSpPr>
          <p:cNvPr id="5" name="Shape 3"/>
          <p:cNvSpPr/>
          <p:nvPr/>
        </p:nvSpPr>
        <p:spPr>
          <a:xfrm>
            <a:off x="640080" y="1005840"/>
            <a:ext cx="54864" cy="2606040"/>
          </a:xfrm>
          <a:prstGeom prst="rect">
            <a:avLst/>
          </a:prstGeom>
          <a:solidFill>
            <a:srgbClr val="1D6FE0"/>
          </a:solidFill>
          <a:ln/>
        </p:spPr>
      </p:sp>
      <p:sp>
        <p:nvSpPr>
          <p:cNvPr id="6" name="Text 4"/>
          <p:cNvSpPr/>
          <p:nvPr/>
        </p:nvSpPr>
        <p:spPr>
          <a:xfrm>
            <a:off x="914400" y="1133856"/>
            <a:ext cx="10332720" cy="365760"/>
          </a:xfrm>
          <a:prstGeom prst="rect">
            <a:avLst/>
          </a:prstGeom>
          <a:noFill/>
          <a:ln/>
        </p:spPr>
        <p:txBody>
          <a:bodyPr wrap="square" rtlCol="0" anchor="ctr"/>
          <a:lstStyle/>
          <a:p>
            <a:pPr indent="0" marL="0">
              <a:buNone/>
            </a:pPr>
            <a:r>
              <a:rPr lang="en-US" sz="1500" b="1" dirty="0">
                <a:solidFill>
                  <a:srgbClr val="1B1F3B"/>
                </a:solidFill>
                <a:latin typeface="Georgia" pitchFamily="34" charset="0"/>
                <a:ea typeface="Georgia" pitchFamily="34" charset="-122"/>
                <a:cs typeface="Georgia" pitchFamily="34" charset="-120"/>
              </a:rPr>
              <a:t>Protection des pages</a:t>
            </a:r>
            <a:endParaRPr lang="en-US" sz="1500" dirty="0"/>
          </a:p>
        </p:txBody>
      </p:sp>
      <p:sp>
        <p:nvSpPr>
          <p:cNvPr id="7" name="Text 5"/>
          <p:cNvSpPr/>
          <p:nvPr/>
        </p:nvSpPr>
        <p:spPr>
          <a:xfrm>
            <a:off x="914400" y="1536192"/>
            <a:ext cx="10332720" cy="1051560"/>
          </a:xfrm>
          <a:prstGeom prst="rect">
            <a:avLst/>
          </a:prstGeom>
          <a:noFill/>
          <a:ln/>
        </p:spPr>
        <p:txBody>
          <a:bodyPr wrap="square" rtlCol="0" anchor="ctr"/>
          <a:lstStyle/>
          <a:p>
            <a:pPr indent="0" marL="0">
              <a:lnSpc>
                <a:spcPts val="1600"/>
              </a:lnSpc>
              <a:buNone/>
            </a:pPr>
            <a:r>
              <a:rPr lang="en-US" sz="1150" dirty="0">
                <a:solidFill>
                  <a:srgbClr val="1B1F3B"/>
                </a:solidFill>
                <a:latin typeface="Segoe UI" pitchFamily="34" charset="0"/>
                <a:ea typeface="Segoe UI" pitchFamily="34" charset="-122"/>
                <a:cs typeface="Segoe UI" pitchFamily="34" charset="-120"/>
              </a:rPr>
              <a:t>Toute page de l'application (hors connexion/inscription) vérifie qu'un utilisateur est bien connecté et le renvoie vers la page de connexion sinon.</a:t>
            </a:r>
            <a:endParaRPr lang="en-US" sz="1150" dirty="0"/>
          </a:p>
        </p:txBody>
      </p:sp>
      <p:sp>
        <p:nvSpPr>
          <p:cNvPr id="8" name="Text 6"/>
          <p:cNvSpPr/>
          <p:nvPr/>
        </p:nvSpPr>
        <p:spPr>
          <a:xfrm>
            <a:off x="914400" y="2743200"/>
            <a:ext cx="10332720" cy="228600"/>
          </a:xfrm>
          <a:prstGeom prst="rect">
            <a:avLst/>
          </a:prstGeom>
          <a:noFill/>
          <a:ln/>
        </p:spPr>
        <p:txBody>
          <a:bodyPr wrap="square" rtlCol="0" anchor="ctr"/>
          <a:lstStyle/>
          <a:p>
            <a:pPr indent="0" marL="0">
              <a:buNone/>
            </a:pPr>
            <a:r>
              <a:rPr lang="en-US" sz="800" b="1" spc="100" kern="0" dirty="0">
                <a:solidFill>
                  <a:srgbClr val="9A7C5C"/>
                </a:solidFill>
                <a:latin typeface="Segoe UI" pitchFamily="34" charset="0"/>
                <a:ea typeface="Segoe UI" pitchFamily="34" charset="-122"/>
                <a:cs typeface="Segoe UI" pitchFamily="34" charset="-120"/>
              </a:rPr>
              <a:t>RÉALISATION TECHNIQUE</a:t>
            </a:r>
            <a:endParaRPr lang="en-US" sz="800" dirty="0"/>
          </a:p>
        </p:txBody>
      </p:sp>
      <p:sp>
        <p:nvSpPr>
          <p:cNvPr id="9" name="Text 7"/>
          <p:cNvSpPr/>
          <p:nvPr/>
        </p:nvSpPr>
        <p:spPr>
          <a:xfrm>
            <a:off x="914400" y="2990088"/>
            <a:ext cx="10332720" cy="548640"/>
          </a:xfrm>
          <a:prstGeom prst="rect">
            <a:avLst/>
          </a:prstGeom>
          <a:noFill/>
          <a:ln/>
        </p:spPr>
        <p:txBody>
          <a:bodyPr wrap="square" rtlCol="0" anchor="ctr"/>
          <a:lstStyle/>
          <a:p>
            <a:pPr indent="0" marL="0">
              <a:lnSpc>
                <a:spcPts val="1400"/>
              </a:lnSpc>
              <a:buNone/>
            </a:pPr>
            <a:r>
              <a:rPr lang="en-US" sz="1000" i="1" dirty="0">
                <a:solidFill>
                  <a:srgbClr val="8A7C68"/>
                </a:solidFill>
                <a:latin typeface="Segoe UI" pitchFamily="34" charset="0"/>
                <a:ea typeface="Segoe UI" pitchFamily="34" charset="-122"/>
                <a:cs typeface="Segoe UI" pitchFamily="34" charset="-120"/>
              </a:rPr>
              <a:t>Vérification côté navigateur dans components/Shell.jsx (composant présent sur toutes les pages protégées), et vérification côté serveur sur chaque API sensible.</a:t>
            </a:r>
            <a:endParaRPr lang="en-US" sz="1000" dirty="0"/>
          </a:p>
        </p:txBody>
      </p:sp>
      <p:sp>
        <p:nvSpPr>
          <p:cNvPr id="10" name="Shape 8"/>
          <p:cNvSpPr/>
          <p:nvPr/>
        </p:nvSpPr>
        <p:spPr>
          <a:xfrm>
            <a:off x="640080" y="3813048"/>
            <a:ext cx="10881360" cy="2606040"/>
          </a:xfrm>
          <a:prstGeom prst="roundRect">
            <a:avLst>
              <a:gd name="adj" fmla="val 2105"/>
            </a:avLst>
          </a:prstGeom>
          <a:solidFill>
            <a:srgbClr val="FFFFFF"/>
          </a:solidFill>
          <a:ln w="12700">
            <a:solidFill>
              <a:srgbClr val="E4DCCB"/>
            </a:solidFill>
            <a:prstDash val="solid"/>
          </a:ln>
        </p:spPr>
      </p:sp>
      <p:sp>
        <p:nvSpPr>
          <p:cNvPr id="11" name="Shape 9"/>
          <p:cNvSpPr/>
          <p:nvPr/>
        </p:nvSpPr>
        <p:spPr>
          <a:xfrm>
            <a:off x="640080" y="3813048"/>
            <a:ext cx="54864" cy="2606040"/>
          </a:xfrm>
          <a:prstGeom prst="rect">
            <a:avLst/>
          </a:prstGeom>
          <a:solidFill>
            <a:srgbClr val="1D6FE0"/>
          </a:solidFill>
          <a:ln/>
        </p:spPr>
      </p:sp>
      <p:sp>
        <p:nvSpPr>
          <p:cNvPr id="12" name="Text 10"/>
          <p:cNvSpPr/>
          <p:nvPr/>
        </p:nvSpPr>
        <p:spPr>
          <a:xfrm>
            <a:off x="914400" y="3941064"/>
            <a:ext cx="10332720" cy="365760"/>
          </a:xfrm>
          <a:prstGeom prst="rect">
            <a:avLst/>
          </a:prstGeom>
          <a:noFill/>
          <a:ln/>
        </p:spPr>
        <p:txBody>
          <a:bodyPr wrap="square" rtlCol="0" anchor="ctr"/>
          <a:lstStyle/>
          <a:p>
            <a:pPr indent="0" marL="0">
              <a:buNone/>
            </a:pPr>
            <a:r>
              <a:rPr lang="en-US" sz="1500" b="1" dirty="0">
                <a:solidFill>
                  <a:srgbClr val="1B1F3B"/>
                </a:solidFill>
                <a:latin typeface="Georgia" pitchFamily="34" charset="0"/>
                <a:ea typeface="Georgia" pitchFamily="34" charset="-122"/>
                <a:cs typeface="Georgia" pitchFamily="34" charset="-120"/>
              </a:rPr>
              <a:t>Déconnexion</a:t>
            </a:r>
            <a:endParaRPr lang="en-US" sz="1500" dirty="0"/>
          </a:p>
        </p:txBody>
      </p:sp>
      <p:sp>
        <p:nvSpPr>
          <p:cNvPr id="13" name="Text 11"/>
          <p:cNvSpPr/>
          <p:nvPr/>
        </p:nvSpPr>
        <p:spPr>
          <a:xfrm>
            <a:off x="914400" y="4343400"/>
            <a:ext cx="10332720" cy="1051560"/>
          </a:xfrm>
          <a:prstGeom prst="rect">
            <a:avLst/>
          </a:prstGeom>
          <a:noFill/>
          <a:ln/>
        </p:spPr>
        <p:txBody>
          <a:bodyPr wrap="square" rtlCol="0" anchor="ctr"/>
          <a:lstStyle/>
          <a:p>
            <a:pPr indent="0" marL="0">
              <a:lnSpc>
                <a:spcPts val="1600"/>
              </a:lnSpc>
              <a:buNone/>
            </a:pPr>
            <a:r>
              <a:rPr lang="en-US" sz="1150" dirty="0">
                <a:solidFill>
                  <a:srgbClr val="1B1F3B"/>
                </a:solidFill>
                <a:latin typeface="Segoe UI" pitchFamily="34" charset="0"/>
                <a:ea typeface="Segoe UI" pitchFamily="34" charset="-122"/>
                <a:cs typeface="Segoe UI" pitchFamily="34" charset="-120"/>
              </a:rPr>
              <a:t>Bouton "Déconnexion" présent dans le menu latéral (tiroir de navigation), accessible depuis n'importe quelle page.</a:t>
            </a:r>
            <a:endParaRPr lang="en-US" sz="1150" dirty="0"/>
          </a:p>
        </p:txBody>
      </p:sp>
      <p:sp>
        <p:nvSpPr>
          <p:cNvPr id="14" name="Text 12"/>
          <p:cNvSpPr/>
          <p:nvPr/>
        </p:nvSpPr>
        <p:spPr>
          <a:xfrm>
            <a:off x="914400" y="5550408"/>
            <a:ext cx="10332720" cy="228600"/>
          </a:xfrm>
          <a:prstGeom prst="rect">
            <a:avLst/>
          </a:prstGeom>
          <a:noFill/>
          <a:ln/>
        </p:spPr>
        <p:txBody>
          <a:bodyPr wrap="square" rtlCol="0" anchor="ctr"/>
          <a:lstStyle/>
          <a:p>
            <a:pPr indent="0" marL="0">
              <a:buNone/>
            </a:pPr>
            <a:r>
              <a:rPr lang="en-US" sz="800" b="1" spc="100" kern="0" dirty="0">
                <a:solidFill>
                  <a:srgbClr val="9A7C5C"/>
                </a:solidFill>
                <a:latin typeface="Segoe UI" pitchFamily="34" charset="0"/>
                <a:ea typeface="Segoe UI" pitchFamily="34" charset="-122"/>
                <a:cs typeface="Segoe UI" pitchFamily="34" charset="-120"/>
              </a:rPr>
              <a:t>RÉALISATION TECHNIQUE</a:t>
            </a:r>
            <a:endParaRPr lang="en-US" sz="800" dirty="0"/>
          </a:p>
        </p:txBody>
      </p:sp>
      <p:sp>
        <p:nvSpPr>
          <p:cNvPr id="15" name="Text 13"/>
          <p:cNvSpPr/>
          <p:nvPr/>
        </p:nvSpPr>
        <p:spPr>
          <a:xfrm>
            <a:off x="914400" y="5797296"/>
            <a:ext cx="10332720" cy="548640"/>
          </a:xfrm>
          <a:prstGeom prst="rect">
            <a:avLst/>
          </a:prstGeom>
          <a:noFill/>
          <a:ln/>
        </p:spPr>
        <p:txBody>
          <a:bodyPr wrap="square" rtlCol="0" anchor="ctr"/>
          <a:lstStyle/>
          <a:p>
            <a:pPr indent="0" marL="0">
              <a:lnSpc>
                <a:spcPts val="1400"/>
              </a:lnSpc>
              <a:buNone/>
            </a:pPr>
            <a:r>
              <a:rPr lang="en-US" sz="1000" i="1" dirty="0">
                <a:solidFill>
                  <a:srgbClr val="8A7C68"/>
                </a:solidFill>
                <a:latin typeface="Segoe UI" pitchFamily="34" charset="0"/>
                <a:ea typeface="Segoe UI" pitchFamily="34" charset="-122"/>
                <a:cs typeface="Segoe UI" pitchFamily="34" charset="-120"/>
              </a:rPr>
              <a:t>Fonction logout() dans components/Shell.jsx : suppression de la session locale puis retour à l'écran de connexion.</a:t>
            </a:r>
            <a:endParaRPr lang="en-US" sz="1000" dirty="0"/>
          </a:p>
        </p:txBody>
      </p:sp>
      <p:sp>
        <p:nvSpPr>
          <p:cNvPr id="16" name="Text 14"/>
          <p:cNvSpPr/>
          <p:nvPr/>
        </p:nvSpPr>
        <p:spPr>
          <a:xfrm>
            <a:off x="365760" y="6510528"/>
            <a:ext cx="5486400" cy="274320"/>
          </a:xfrm>
          <a:prstGeom prst="rect">
            <a:avLst/>
          </a:prstGeom>
          <a:noFill/>
          <a:ln/>
        </p:spPr>
        <p:txBody>
          <a:bodyPr wrap="square" rtlCol="0" anchor="ctr"/>
          <a:lstStyle/>
          <a:p>
            <a:pPr indent="0" marL="0">
              <a:buNone/>
            </a:pPr>
            <a:r>
              <a:rPr lang="en-US" sz="850" dirty="0">
                <a:solidFill>
                  <a:srgbClr val="8A7C68"/>
                </a:solidFill>
                <a:latin typeface="Segoe UI" pitchFamily="34" charset="0"/>
                <a:ea typeface="Segoe UI" pitchFamily="34" charset="-122"/>
                <a:cs typeface="Segoe UI" pitchFamily="34" charset="-120"/>
              </a:rPr>
              <a:t>Kôji Web — Cahier des charges</a:t>
            </a:r>
            <a:endParaRPr lang="en-US" sz="850" dirty="0"/>
          </a:p>
        </p:txBody>
      </p:sp>
      <p:sp>
        <p:nvSpPr>
          <p:cNvPr id="17" name="Text 15"/>
          <p:cNvSpPr/>
          <p:nvPr/>
        </p:nvSpPr>
        <p:spPr>
          <a:xfrm>
            <a:off x="9601200" y="6510528"/>
            <a:ext cx="2194560" cy="274320"/>
          </a:xfrm>
          <a:prstGeom prst="rect">
            <a:avLst/>
          </a:prstGeom>
          <a:noFill/>
          <a:ln/>
        </p:spPr>
        <p:txBody>
          <a:bodyPr wrap="square" rtlCol="0" anchor="ctr"/>
          <a:lstStyle/>
          <a:p>
            <a:pPr algn="r" indent="0" marL="0">
              <a:buNone/>
            </a:pPr>
            <a:r>
              <a:rPr lang="en-US" sz="850" dirty="0">
                <a:solidFill>
                  <a:srgbClr val="8A7C68"/>
                </a:solidFill>
                <a:latin typeface="Segoe UI" pitchFamily="34" charset="0"/>
                <a:ea typeface="Segoe UI" pitchFamily="34" charset="-122"/>
                <a:cs typeface="Segoe UI" pitchFamily="34" charset="-120"/>
              </a:rPr>
              <a:t>12</a:t>
            </a:r>
            <a:endParaRPr lang="en-US" sz="8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3108960" cy="365760"/>
          </a:xfrm>
          <a:prstGeom prst="roundRect">
            <a:avLst>
              <a:gd name="adj" fmla="val 50000"/>
            </a:avLst>
          </a:prstGeom>
          <a:solidFill>
            <a:srgbClr val="F7EADF"/>
          </a:solidFill>
          <a:ln/>
        </p:spPr>
      </p:sp>
      <p:sp>
        <p:nvSpPr>
          <p:cNvPr id="3" name="Text 1"/>
          <p:cNvSpPr/>
          <p:nvPr/>
        </p:nvSpPr>
        <p:spPr>
          <a:xfrm>
            <a:off x="640080" y="411480"/>
            <a:ext cx="3108960" cy="365760"/>
          </a:xfrm>
          <a:prstGeom prst="rect">
            <a:avLst/>
          </a:prstGeom>
          <a:noFill/>
          <a:ln/>
        </p:spPr>
        <p:txBody>
          <a:bodyPr wrap="square" rtlCol="0" anchor="ctr"/>
          <a:lstStyle/>
          <a:p>
            <a:pPr algn="ctr" indent="0" marL="0">
              <a:buNone/>
            </a:pPr>
            <a:r>
              <a:rPr lang="en-US" sz="950" b="1" spc="100" kern="0" dirty="0">
                <a:solidFill>
                  <a:srgbClr val="9A7C5C"/>
                </a:solidFill>
                <a:latin typeface="Segoe UI" pitchFamily="34" charset="0"/>
                <a:ea typeface="Segoe UI" pitchFamily="34" charset="-122"/>
                <a:cs typeface="Segoe UI" pitchFamily="34" charset="-120"/>
              </a:rPr>
              <a:t>AUTHENTIFICATION ET GESTION DES COMPTES</a:t>
            </a:r>
            <a:endParaRPr lang="en-US" sz="950" dirty="0"/>
          </a:p>
        </p:txBody>
      </p:sp>
      <p:sp>
        <p:nvSpPr>
          <p:cNvPr id="4" name="Shape 2"/>
          <p:cNvSpPr/>
          <p:nvPr/>
        </p:nvSpPr>
        <p:spPr>
          <a:xfrm>
            <a:off x="640080" y="1005840"/>
            <a:ext cx="10881360" cy="2606040"/>
          </a:xfrm>
          <a:prstGeom prst="roundRect">
            <a:avLst>
              <a:gd name="adj" fmla="val 2105"/>
            </a:avLst>
          </a:prstGeom>
          <a:solidFill>
            <a:srgbClr val="FFFFFF"/>
          </a:solidFill>
          <a:ln w="12700">
            <a:solidFill>
              <a:srgbClr val="E4DCCB"/>
            </a:solidFill>
            <a:prstDash val="solid"/>
          </a:ln>
        </p:spPr>
      </p:sp>
      <p:sp>
        <p:nvSpPr>
          <p:cNvPr id="5" name="Shape 3"/>
          <p:cNvSpPr/>
          <p:nvPr/>
        </p:nvSpPr>
        <p:spPr>
          <a:xfrm>
            <a:off x="640080" y="1005840"/>
            <a:ext cx="54864" cy="2606040"/>
          </a:xfrm>
          <a:prstGeom prst="rect">
            <a:avLst/>
          </a:prstGeom>
          <a:solidFill>
            <a:srgbClr val="1D6FE0"/>
          </a:solidFill>
          <a:ln/>
        </p:spPr>
      </p:sp>
      <p:sp>
        <p:nvSpPr>
          <p:cNvPr id="6" name="Text 4"/>
          <p:cNvSpPr/>
          <p:nvPr/>
        </p:nvSpPr>
        <p:spPr>
          <a:xfrm>
            <a:off x="914400" y="1133856"/>
            <a:ext cx="10332720" cy="365760"/>
          </a:xfrm>
          <a:prstGeom prst="rect">
            <a:avLst/>
          </a:prstGeom>
          <a:noFill/>
          <a:ln/>
        </p:spPr>
        <p:txBody>
          <a:bodyPr wrap="square" rtlCol="0" anchor="ctr"/>
          <a:lstStyle/>
          <a:p>
            <a:pPr indent="0" marL="0">
              <a:buNone/>
            </a:pPr>
            <a:r>
              <a:rPr lang="en-US" sz="1500" b="1" dirty="0">
                <a:solidFill>
                  <a:srgbClr val="1B1F3B"/>
                </a:solidFill>
                <a:latin typeface="Georgia" pitchFamily="34" charset="0"/>
                <a:ea typeface="Georgia" pitchFamily="34" charset="-122"/>
                <a:cs typeface="Georgia" pitchFamily="34" charset="-120"/>
              </a:rPr>
              <a:t>Abonnement / période d'essai</a:t>
            </a:r>
            <a:endParaRPr lang="en-US" sz="1500" dirty="0"/>
          </a:p>
        </p:txBody>
      </p:sp>
      <p:sp>
        <p:nvSpPr>
          <p:cNvPr id="7" name="Text 5"/>
          <p:cNvSpPr/>
          <p:nvPr/>
        </p:nvSpPr>
        <p:spPr>
          <a:xfrm>
            <a:off x="914400" y="1536192"/>
            <a:ext cx="10332720" cy="1051560"/>
          </a:xfrm>
          <a:prstGeom prst="rect">
            <a:avLst/>
          </a:prstGeom>
          <a:noFill/>
          <a:ln/>
        </p:spPr>
        <p:txBody>
          <a:bodyPr wrap="square" rtlCol="0" anchor="ctr"/>
          <a:lstStyle/>
          <a:p>
            <a:pPr indent="0" marL="0">
              <a:lnSpc>
                <a:spcPts val="1600"/>
              </a:lnSpc>
              <a:buNone/>
            </a:pPr>
            <a:r>
              <a:rPr lang="en-US" sz="1150" dirty="0">
                <a:solidFill>
                  <a:srgbClr val="1B1F3B"/>
                </a:solidFill>
                <a:latin typeface="Segoe UI" pitchFamily="34" charset="0"/>
                <a:ea typeface="Segoe UI" pitchFamily="34" charset="-122"/>
                <a:cs typeface="Segoe UI" pitchFamily="34" charset="-120"/>
              </a:rPr>
              <a:t>Période d'essai de 14 jours ; à l'expiration, l'entreprise est redirigée vers une page présentant 3 formules (Kôji GO / Premium / Business).</a:t>
            </a:r>
            <a:endParaRPr lang="en-US" sz="1150" dirty="0"/>
          </a:p>
        </p:txBody>
      </p:sp>
      <p:sp>
        <p:nvSpPr>
          <p:cNvPr id="8" name="Text 6"/>
          <p:cNvSpPr/>
          <p:nvPr/>
        </p:nvSpPr>
        <p:spPr>
          <a:xfrm>
            <a:off x="914400" y="2743200"/>
            <a:ext cx="10332720" cy="228600"/>
          </a:xfrm>
          <a:prstGeom prst="rect">
            <a:avLst/>
          </a:prstGeom>
          <a:noFill/>
          <a:ln/>
        </p:spPr>
        <p:txBody>
          <a:bodyPr wrap="square" rtlCol="0" anchor="ctr"/>
          <a:lstStyle/>
          <a:p>
            <a:pPr indent="0" marL="0">
              <a:buNone/>
            </a:pPr>
            <a:r>
              <a:rPr lang="en-US" sz="800" b="1" spc="100" kern="0" dirty="0">
                <a:solidFill>
                  <a:srgbClr val="9A7C5C"/>
                </a:solidFill>
                <a:latin typeface="Segoe UI" pitchFamily="34" charset="0"/>
                <a:ea typeface="Segoe UI" pitchFamily="34" charset="-122"/>
                <a:cs typeface="Segoe UI" pitchFamily="34" charset="-120"/>
              </a:rPr>
              <a:t>RÉALISATION TECHNIQUE</a:t>
            </a:r>
            <a:endParaRPr lang="en-US" sz="800" dirty="0"/>
          </a:p>
        </p:txBody>
      </p:sp>
      <p:sp>
        <p:nvSpPr>
          <p:cNvPr id="9" name="Text 7"/>
          <p:cNvSpPr/>
          <p:nvPr/>
        </p:nvSpPr>
        <p:spPr>
          <a:xfrm>
            <a:off x="914400" y="2990088"/>
            <a:ext cx="10332720" cy="548640"/>
          </a:xfrm>
          <a:prstGeom prst="rect">
            <a:avLst/>
          </a:prstGeom>
          <a:noFill/>
          <a:ln/>
        </p:spPr>
        <p:txBody>
          <a:bodyPr wrap="square" rtlCol="0" anchor="ctr"/>
          <a:lstStyle/>
          <a:p>
            <a:pPr indent="0" marL="0">
              <a:lnSpc>
                <a:spcPts val="1400"/>
              </a:lnSpc>
              <a:buNone/>
            </a:pPr>
            <a:r>
              <a:rPr lang="en-US" sz="1000" i="1" dirty="0">
                <a:solidFill>
                  <a:srgbClr val="8A7C68"/>
                </a:solidFill>
                <a:latin typeface="Segoe UI" pitchFamily="34" charset="0"/>
                <a:ea typeface="Segoe UI" pitchFamily="34" charset="-122"/>
                <a:cs typeface="Segoe UI" pitchFamily="34" charset="-120"/>
              </a:rPr>
              <a:t>Page /abonnement ; calcul de la date de fin d'essai dans components/Shell.jsx ; la mise en paiement réelle n'est pas encore branchée (à connecter à un prestataire de paiement).</a:t>
            </a:r>
            <a:endParaRPr lang="en-US" sz="1000" dirty="0"/>
          </a:p>
        </p:txBody>
      </p:sp>
      <p:sp>
        <p:nvSpPr>
          <p:cNvPr id="10" name="Text 8"/>
          <p:cNvSpPr/>
          <p:nvPr/>
        </p:nvSpPr>
        <p:spPr>
          <a:xfrm>
            <a:off x="365760" y="6510528"/>
            <a:ext cx="5486400" cy="274320"/>
          </a:xfrm>
          <a:prstGeom prst="rect">
            <a:avLst/>
          </a:prstGeom>
          <a:noFill/>
          <a:ln/>
        </p:spPr>
        <p:txBody>
          <a:bodyPr wrap="square" rtlCol="0" anchor="ctr"/>
          <a:lstStyle/>
          <a:p>
            <a:pPr indent="0" marL="0">
              <a:buNone/>
            </a:pPr>
            <a:r>
              <a:rPr lang="en-US" sz="850" dirty="0">
                <a:solidFill>
                  <a:srgbClr val="8A7C68"/>
                </a:solidFill>
                <a:latin typeface="Segoe UI" pitchFamily="34" charset="0"/>
                <a:ea typeface="Segoe UI" pitchFamily="34" charset="-122"/>
                <a:cs typeface="Segoe UI" pitchFamily="34" charset="-120"/>
              </a:rPr>
              <a:t>Kôji Web — Cahier des charges</a:t>
            </a:r>
            <a:endParaRPr lang="en-US" sz="850" dirty="0"/>
          </a:p>
        </p:txBody>
      </p:sp>
      <p:sp>
        <p:nvSpPr>
          <p:cNvPr id="11" name="Text 9"/>
          <p:cNvSpPr/>
          <p:nvPr/>
        </p:nvSpPr>
        <p:spPr>
          <a:xfrm>
            <a:off x="9601200" y="6510528"/>
            <a:ext cx="2194560" cy="274320"/>
          </a:xfrm>
          <a:prstGeom prst="rect">
            <a:avLst/>
          </a:prstGeom>
          <a:noFill/>
          <a:ln/>
        </p:spPr>
        <p:txBody>
          <a:bodyPr wrap="square" rtlCol="0" anchor="ctr"/>
          <a:lstStyle/>
          <a:p>
            <a:pPr algn="r" indent="0" marL="0">
              <a:buNone/>
            </a:pPr>
            <a:r>
              <a:rPr lang="en-US" sz="850" dirty="0">
                <a:solidFill>
                  <a:srgbClr val="8A7C68"/>
                </a:solidFill>
                <a:latin typeface="Segoe UI" pitchFamily="34" charset="0"/>
                <a:ea typeface="Segoe UI" pitchFamily="34" charset="-122"/>
                <a:cs typeface="Segoe UI" pitchFamily="34" charset="-120"/>
              </a:rPr>
              <a:t>13</a:t>
            </a:r>
            <a:endParaRPr lang="en-US" sz="8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0B1030"/>
        </a:solidFill>
      </p:bgPr>
    </p:bg>
    <p:spTree>
      <p:nvGrpSpPr>
        <p:cNvPr id="1" name=""/>
        <p:cNvGrpSpPr/>
        <p:nvPr/>
      </p:nvGrpSpPr>
      <p:grpSpPr>
        <a:xfrm>
          <a:off x="0" y="0"/>
          <a:ext cx="0" cy="0"/>
          <a:chOff x="0" y="0"/>
          <a:chExt cx="0" cy="0"/>
        </a:xfrm>
      </p:grpSpPr>
      <p:sp>
        <p:nvSpPr>
          <p:cNvPr id="2" name="Shape 0"/>
          <p:cNvSpPr/>
          <p:nvPr/>
        </p:nvSpPr>
        <p:spPr>
          <a:xfrm>
            <a:off x="0" y="3246120"/>
            <a:ext cx="12191695" cy="54864"/>
          </a:xfrm>
          <a:prstGeom prst="rect">
            <a:avLst/>
          </a:prstGeom>
          <a:solidFill>
            <a:srgbClr val="C9A96A"/>
          </a:solidFill>
          <a:ln/>
        </p:spPr>
      </p:sp>
      <p:sp>
        <p:nvSpPr>
          <p:cNvPr id="3" name="Text 1"/>
          <p:cNvSpPr/>
          <p:nvPr/>
        </p:nvSpPr>
        <p:spPr>
          <a:xfrm>
            <a:off x="640080" y="1920240"/>
            <a:ext cx="2743200" cy="548640"/>
          </a:xfrm>
          <a:prstGeom prst="rect">
            <a:avLst/>
          </a:prstGeom>
          <a:noFill/>
          <a:ln/>
        </p:spPr>
        <p:txBody>
          <a:bodyPr wrap="square" rtlCol="0" anchor="ctr"/>
          <a:lstStyle/>
          <a:p>
            <a:pPr indent="0" marL="0">
              <a:buNone/>
            </a:pPr>
            <a:r>
              <a:rPr lang="en-US" sz="1500" b="1" dirty="0">
                <a:solidFill>
                  <a:srgbClr val="C9A96A"/>
                </a:solidFill>
                <a:latin typeface="Segoe UI" pitchFamily="34" charset="0"/>
                <a:ea typeface="Segoe UI" pitchFamily="34" charset="-122"/>
                <a:cs typeface="Segoe UI" pitchFamily="34" charset="-120"/>
              </a:rPr>
              <a:t>03</a:t>
            </a:r>
            <a:endParaRPr lang="en-US" sz="1500" dirty="0"/>
          </a:p>
        </p:txBody>
      </p:sp>
      <p:sp>
        <p:nvSpPr>
          <p:cNvPr id="4" name="Text 2"/>
          <p:cNvSpPr/>
          <p:nvPr/>
        </p:nvSpPr>
        <p:spPr>
          <a:xfrm>
            <a:off x="640080" y="2377440"/>
            <a:ext cx="10515600" cy="914400"/>
          </a:xfrm>
          <a:prstGeom prst="rect">
            <a:avLst/>
          </a:prstGeom>
          <a:noFill/>
          <a:ln/>
        </p:spPr>
        <p:txBody>
          <a:bodyPr wrap="square" rtlCol="0" anchor="ctr"/>
          <a:lstStyle/>
          <a:p>
            <a:pPr indent="0" marL="0">
              <a:buNone/>
            </a:pPr>
            <a:r>
              <a:rPr lang="en-US" sz="3400" b="1" dirty="0">
                <a:solidFill>
                  <a:srgbClr val="FFFFFF"/>
                </a:solidFill>
                <a:latin typeface="Georgia" pitchFamily="34" charset="0"/>
                <a:ea typeface="Georgia" pitchFamily="34" charset="-122"/>
                <a:cs typeface="Georgia" pitchFamily="34" charset="-120"/>
              </a:rPr>
              <a:t>Accueil (tableau de bord)</a:t>
            </a:r>
            <a:endParaRPr lang="en-US" sz="3400" dirty="0"/>
          </a:p>
        </p:txBody>
      </p:sp>
      <p:sp>
        <p:nvSpPr>
          <p:cNvPr id="5" name="Text 3"/>
          <p:cNvSpPr/>
          <p:nvPr/>
        </p:nvSpPr>
        <p:spPr>
          <a:xfrm>
            <a:off x="640080" y="3429000"/>
            <a:ext cx="10058400" cy="1188720"/>
          </a:xfrm>
          <a:prstGeom prst="rect">
            <a:avLst/>
          </a:prstGeom>
          <a:noFill/>
          <a:ln/>
        </p:spPr>
        <p:txBody>
          <a:bodyPr wrap="square" rtlCol="0" anchor="ctr"/>
          <a:lstStyle/>
          <a:p>
            <a:pPr indent="0" marL="0">
              <a:lnSpc>
                <a:spcPts val="1800"/>
              </a:lnSpc>
              <a:buNone/>
            </a:pPr>
            <a:r>
              <a:rPr lang="en-US" sz="1300" dirty="0">
                <a:solidFill>
                  <a:srgbClr val="C7C9E0"/>
                </a:solidFill>
                <a:latin typeface="Segoe UI" pitchFamily="34" charset="0"/>
                <a:ea typeface="Segoe UI" pitchFamily="34" charset="-122"/>
                <a:cs typeface="Segoe UI" pitchFamily="34" charset="-120"/>
              </a:rPr>
              <a:t>Page d'atterrissage après connexion : vue d'ensemble de l'activité du jour et accès rapide aux principales actions.</a:t>
            </a:r>
            <a:endParaRPr lang="en-US" sz="1300" dirty="0"/>
          </a:p>
        </p:txBody>
      </p:sp>
      <p:sp>
        <p:nvSpPr>
          <p:cNvPr id="6" name="Text 4"/>
          <p:cNvSpPr/>
          <p:nvPr/>
        </p:nvSpPr>
        <p:spPr>
          <a:xfrm>
            <a:off x="365760" y="6510528"/>
            <a:ext cx="5486400" cy="274320"/>
          </a:xfrm>
          <a:prstGeom prst="rect">
            <a:avLst/>
          </a:prstGeom>
          <a:noFill/>
          <a:ln/>
        </p:spPr>
        <p:txBody>
          <a:bodyPr wrap="square" rtlCol="0" anchor="ctr"/>
          <a:lstStyle/>
          <a:p>
            <a:pPr indent="0" marL="0">
              <a:buNone/>
            </a:pPr>
            <a:r>
              <a:rPr lang="en-US" sz="850" dirty="0">
                <a:solidFill>
                  <a:srgbClr val="8A7C68"/>
                </a:solidFill>
                <a:latin typeface="Segoe UI" pitchFamily="34" charset="0"/>
                <a:ea typeface="Segoe UI" pitchFamily="34" charset="-122"/>
                <a:cs typeface="Segoe UI" pitchFamily="34" charset="-120"/>
              </a:rPr>
              <a:t>Kôji Web — Cahier des charges</a:t>
            </a:r>
            <a:endParaRPr lang="en-US" sz="850" dirty="0"/>
          </a:p>
        </p:txBody>
      </p:sp>
      <p:sp>
        <p:nvSpPr>
          <p:cNvPr id="7" name="Text 5"/>
          <p:cNvSpPr/>
          <p:nvPr/>
        </p:nvSpPr>
        <p:spPr>
          <a:xfrm>
            <a:off x="9601200" y="6510528"/>
            <a:ext cx="2194560" cy="274320"/>
          </a:xfrm>
          <a:prstGeom prst="rect">
            <a:avLst/>
          </a:prstGeom>
          <a:noFill/>
          <a:ln/>
        </p:spPr>
        <p:txBody>
          <a:bodyPr wrap="square" rtlCol="0" anchor="ctr"/>
          <a:lstStyle/>
          <a:p>
            <a:pPr algn="r" indent="0" marL="0">
              <a:buNone/>
            </a:pPr>
            <a:r>
              <a:rPr lang="en-US" sz="850" dirty="0">
                <a:solidFill>
                  <a:srgbClr val="8A7C68"/>
                </a:solidFill>
                <a:latin typeface="Segoe UI" pitchFamily="34" charset="0"/>
                <a:ea typeface="Segoe UI" pitchFamily="34" charset="-122"/>
                <a:cs typeface="Segoe UI" pitchFamily="34" charset="-120"/>
              </a:rPr>
              <a:t>14</a:t>
            </a:r>
            <a:endParaRPr lang="en-US" sz="8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3108960" cy="365760"/>
          </a:xfrm>
          <a:prstGeom prst="roundRect">
            <a:avLst>
              <a:gd name="adj" fmla="val 50000"/>
            </a:avLst>
          </a:prstGeom>
          <a:solidFill>
            <a:srgbClr val="F7EADF"/>
          </a:solidFill>
          <a:ln/>
        </p:spPr>
      </p:sp>
      <p:sp>
        <p:nvSpPr>
          <p:cNvPr id="3" name="Text 1"/>
          <p:cNvSpPr/>
          <p:nvPr/>
        </p:nvSpPr>
        <p:spPr>
          <a:xfrm>
            <a:off x="640080" y="411480"/>
            <a:ext cx="3108960" cy="365760"/>
          </a:xfrm>
          <a:prstGeom prst="rect">
            <a:avLst/>
          </a:prstGeom>
          <a:noFill/>
          <a:ln/>
        </p:spPr>
        <p:txBody>
          <a:bodyPr wrap="square" rtlCol="0" anchor="ctr"/>
          <a:lstStyle/>
          <a:p>
            <a:pPr algn="ctr" indent="0" marL="0">
              <a:buNone/>
            </a:pPr>
            <a:r>
              <a:rPr lang="en-US" sz="950" b="1" spc="100" kern="0" dirty="0">
                <a:solidFill>
                  <a:srgbClr val="9A7C5C"/>
                </a:solidFill>
                <a:latin typeface="Segoe UI" pitchFamily="34" charset="0"/>
                <a:ea typeface="Segoe UI" pitchFamily="34" charset="-122"/>
                <a:cs typeface="Segoe UI" pitchFamily="34" charset="-120"/>
              </a:rPr>
              <a:t>ACCUEIL (TABLEAU DE BORD)</a:t>
            </a:r>
            <a:endParaRPr lang="en-US" sz="950" dirty="0"/>
          </a:p>
        </p:txBody>
      </p:sp>
      <p:sp>
        <p:nvSpPr>
          <p:cNvPr id="4" name="Shape 2"/>
          <p:cNvSpPr/>
          <p:nvPr/>
        </p:nvSpPr>
        <p:spPr>
          <a:xfrm>
            <a:off x="640080" y="1005840"/>
            <a:ext cx="10881360" cy="2606040"/>
          </a:xfrm>
          <a:prstGeom prst="roundRect">
            <a:avLst>
              <a:gd name="adj" fmla="val 2105"/>
            </a:avLst>
          </a:prstGeom>
          <a:solidFill>
            <a:srgbClr val="FFFFFF"/>
          </a:solidFill>
          <a:ln w="12700">
            <a:solidFill>
              <a:srgbClr val="E4DCCB"/>
            </a:solidFill>
            <a:prstDash val="solid"/>
          </a:ln>
        </p:spPr>
      </p:sp>
      <p:sp>
        <p:nvSpPr>
          <p:cNvPr id="5" name="Shape 3"/>
          <p:cNvSpPr/>
          <p:nvPr/>
        </p:nvSpPr>
        <p:spPr>
          <a:xfrm>
            <a:off x="640080" y="1005840"/>
            <a:ext cx="54864" cy="2606040"/>
          </a:xfrm>
          <a:prstGeom prst="rect">
            <a:avLst/>
          </a:prstGeom>
          <a:solidFill>
            <a:srgbClr val="1D6FE0"/>
          </a:solidFill>
          <a:ln/>
        </p:spPr>
      </p:sp>
      <p:sp>
        <p:nvSpPr>
          <p:cNvPr id="6" name="Text 4"/>
          <p:cNvSpPr/>
          <p:nvPr/>
        </p:nvSpPr>
        <p:spPr>
          <a:xfrm>
            <a:off x="914400" y="1133856"/>
            <a:ext cx="10332720" cy="365760"/>
          </a:xfrm>
          <a:prstGeom prst="rect">
            <a:avLst/>
          </a:prstGeom>
          <a:noFill/>
          <a:ln/>
        </p:spPr>
        <p:txBody>
          <a:bodyPr wrap="square" rtlCol="0" anchor="ctr"/>
          <a:lstStyle/>
          <a:p>
            <a:pPr indent="0" marL="0">
              <a:buNone/>
            </a:pPr>
            <a:r>
              <a:rPr lang="en-US" sz="1500" b="1" dirty="0">
                <a:solidFill>
                  <a:srgbClr val="1B1F3B"/>
                </a:solidFill>
                <a:latin typeface="Georgia" pitchFamily="34" charset="0"/>
                <a:ea typeface="Georgia" pitchFamily="34" charset="-122"/>
                <a:cs typeface="Georgia" pitchFamily="34" charset="-120"/>
              </a:rPr>
              <a:t>Message de bienvenue personnalisé</a:t>
            </a:r>
            <a:endParaRPr lang="en-US" sz="1500" dirty="0"/>
          </a:p>
        </p:txBody>
      </p:sp>
      <p:sp>
        <p:nvSpPr>
          <p:cNvPr id="7" name="Text 5"/>
          <p:cNvSpPr/>
          <p:nvPr/>
        </p:nvSpPr>
        <p:spPr>
          <a:xfrm>
            <a:off x="914400" y="1536192"/>
            <a:ext cx="10332720" cy="1051560"/>
          </a:xfrm>
          <a:prstGeom prst="rect">
            <a:avLst/>
          </a:prstGeom>
          <a:noFill/>
          <a:ln/>
        </p:spPr>
        <p:txBody>
          <a:bodyPr wrap="square" rtlCol="0" anchor="ctr"/>
          <a:lstStyle/>
          <a:p>
            <a:pPr indent="0" marL="0">
              <a:lnSpc>
                <a:spcPts val="1600"/>
              </a:lnSpc>
              <a:buNone/>
            </a:pPr>
            <a:r>
              <a:rPr lang="en-US" sz="1150" dirty="0">
                <a:solidFill>
                  <a:srgbClr val="1B1F3B"/>
                </a:solidFill>
                <a:latin typeface="Segoe UI" pitchFamily="34" charset="0"/>
                <a:ea typeface="Segoe UI" pitchFamily="34" charset="-122"/>
                <a:cs typeface="Segoe UI" pitchFamily="34" charset="-120"/>
              </a:rPr>
              <a:t>Affiche "Bonjour [Prénom]" en haut de page, basé sur le nom du compte connecté.</a:t>
            </a:r>
            <a:endParaRPr lang="en-US" sz="1150" dirty="0"/>
          </a:p>
        </p:txBody>
      </p:sp>
      <p:sp>
        <p:nvSpPr>
          <p:cNvPr id="8" name="Text 6"/>
          <p:cNvSpPr/>
          <p:nvPr/>
        </p:nvSpPr>
        <p:spPr>
          <a:xfrm>
            <a:off x="914400" y="2743200"/>
            <a:ext cx="10332720" cy="228600"/>
          </a:xfrm>
          <a:prstGeom prst="rect">
            <a:avLst/>
          </a:prstGeom>
          <a:noFill/>
          <a:ln/>
        </p:spPr>
        <p:txBody>
          <a:bodyPr wrap="square" rtlCol="0" anchor="ctr"/>
          <a:lstStyle/>
          <a:p>
            <a:pPr indent="0" marL="0">
              <a:buNone/>
            </a:pPr>
            <a:r>
              <a:rPr lang="en-US" sz="800" b="1" spc="100" kern="0" dirty="0">
                <a:solidFill>
                  <a:srgbClr val="9A7C5C"/>
                </a:solidFill>
                <a:latin typeface="Segoe UI" pitchFamily="34" charset="0"/>
                <a:ea typeface="Segoe UI" pitchFamily="34" charset="-122"/>
                <a:cs typeface="Segoe UI" pitchFamily="34" charset="-120"/>
              </a:rPr>
              <a:t>RÉALISATION TECHNIQUE</a:t>
            </a:r>
            <a:endParaRPr lang="en-US" sz="800" dirty="0"/>
          </a:p>
        </p:txBody>
      </p:sp>
      <p:sp>
        <p:nvSpPr>
          <p:cNvPr id="9" name="Text 7"/>
          <p:cNvSpPr/>
          <p:nvPr/>
        </p:nvSpPr>
        <p:spPr>
          <a:xfrm>
            <a:off x="914400" y="2990088"/>
            <a:ext cx="10332720" cy="548640"/>
          </a:xfrm>
          <a:prstGeom prst="rect">
            <a:avLst/>
          </a:prstGeom>
          <a:noFill/>
          <a:ln/>
        </p:spPr>
        <p:txBody>
          <a:bodyPr wrap="square" rtlCol="0" anchor="ctr"/>
          <a:lstStyle/>
          <a:p>
            <a:pPr indent="0" marL="0">
              <a:lnSpc>
                <a:spcPts val="1400"/>
              </a:lnSpc>
              <a:buNone/>
            </a:pPr>
            <a:r>
              <a:rPr lang="en-US" sz="1000" i="1" dirty="0">
                <a:solidFill>
                  <a:srgbClr val="8A7C68"/>
                </a:solidFill>
                <a:latin typeface="Segoe UI" pitchFamily="34" charset="0"/>
                <a:ea typeface="Segoe UI" pitchFamily="34" charset="-122"/>
                <a:cs typeface="Segoe UI" pitchFamily="34" charset="-120"/>
              </a:rPr>
              <a:t>Lecture du profil utilisateur stocké localement à la connexion.</a:t>
            </a:r>
            <a:endParaRPr lang="en-US" sz="1000" dirty="0"/>
          </a:p>
        </p:txBody>
      </p:sp>
      <p:sp>
        <p:nvSpPr>
          <p:cNvPr id="10" name="Shape 8"/>
          <p:cNvSpPr/>
          <p:nvPr/>
        </p:nvSpPr>
        <p:spPr>
          <a:xfrm>
            <a:off x="640080" y="3813048"/>
            <a:ext cx="10881360" cy="2606040"/>
          </a:xfrm>
          <a:prstGeom prst="roundRect">
            <a:avLst>
              <a:gd name="adj" fmla="val 2105"/>
            </a:avLst>
          </a:prstGeom>
          <a:solidFill>
            <a:srgbClr val="FFFFFF"/>
          </a:solidFill>
          <a:ln w="12700">
            <a:solidFill>
              <a:srgbClr val="E4DCCB"/>
            </a:solidFill>
            <a:prstDash val="solid"/>
          </a:ln>
        </p:spPr>
      </p:sp>
      <p:sp>
        <p:nvSpPr>
          <p:cNvPr id="11" name="Shape 9"/>
          <p:cNvSpPr/>
          <p:nvPr/>
        </p:nvSpPr>
        <p:spPr>
          <a:xfrm>
            <a:off x="640080" y="3813048"/>
            <a:ext cx="54864" cy="2606040"/>
          </a:xfrm>
          <a:prstGeom prst="rect">
            <a:avLst/>
          </a:prstGeom>
          <a:solidFill>
            <a:srgbClr val="1D6FE0"/>
          </a:solidFill>
          <a:ln/>
        </p:spPr>
      </p:sp>
      <p:sp>
        <p:nvSpPr>
          <p:cNvPr id="12" name="Text 10"/>
          <p:cNvSpPr/>
          <p:nvPr/>
        </p:nvSpPr>
        <p:spPr>
          <a:xfrm>
            <a:off x="914400" y="3941064"/>
            <a:ext cx="10332720" cy="365760"/>
          </a:xfrm>
          <a:prstGeom prst="rect">
            <a:avLst/>
          </a:prstGeom>
          <a:noFill/>
          <a:ln/>
        </p:spPr>
        <p:txBody>
          <a:bodyPr wrap="square" rtlCol="0" anchor="ctr"/>
          <a:lstStyle/>
          <a:p>
            <a:pPr indent="0" marL="0">
              <a:buNone/>
            </a:pPr>
            <a:r>
              <a:rPr lang="en-US" sz="1500" b="1" dirty="0">
                <a:solidFill>
                  <a:srgbClr val="1B1F3B"/>
                </a:solidFill>
                <a:latin typeface="Georgia" pitchFamily="34" charset="0"/>
                <a:ea typeface="Georgia" pitchFamily="34" charset="-122"/>
                <a:cs typeface="Georgia" pitchFamily="34" charset="-120"/>
              </a:rPr>
              <a:t>"À faire maintenant"</a:t>
            </a:r>
            <a:endParaRPr lang="en-US" sz="1500" dirty="0"/>
          </a:p>
        </p:txBody>
      </p:sp>
      <p:sp>
        <p:nvSpPr>
          <p:cNvPr id="13" name="Text 11"/>
          <p:cNvSpPr/>
          <p:nvPr/>
        </p:nvSpPr>
        <p:spPr>
          <a:xfrm>
            <a:off x="914400" y="4343400"/>
            <a:ext cx="10332720" cy="1051560"/>
          </a:xfrm>
          <a:prstGeom prst="rect">
            <a:avLst/>
          </a:prstGeom>
          <a:noFill/>
          <a:ln/>
        </p:spPr>
        <p:txBody>
          <a:bodyPr wrap="square" rtlCol="0" anchor="ctr"/>
          <a:lstStyle/>
          <a:p>
            <a:pPr indent="0" marL="0">
              <a:lnSpc>
                <a:spcPts val="1600"/>
              </a:lnSpc>
              <a:buNone/>
            </a:pPr>
            <a:r>
              <a:rPr lang="en-US" sz="1150" dirty="0">
                <a:solidFill>
                  <a:srgbClr val="1B1F3B"/>
                </a:solidFill>
                <a:latin typeface="Segoe UI" pitchFamily="34" charset="0"/>
                <a:ea typeface="Segoe UI" pitchFamily="34" charset="-122"/>
                <a:cs typeface="Segoe UI" pitchFamily="34" charset="-120"/>
              </a:rPr>
              <a:t>Liste des tâches et rendez-vous du jour (et à venir), avec possibilité de les marquer comme terminés directement depuis l'accueil.</a:t>
            </a:r>
            <a:endParaRPr lang="en-US" sz="1150" dirty="0"/>
          </a:p>
        </p:txBody>
      </p:sp>
      <p:sp>
        <p:nvSpPr>
          <p:cNvPr id="14" name="Text 12"/>
          <p:cNvSpPr/>
          <p:nvPr/>
        </p:nvSpPr>
        <p:spPr>
          <a:xfrm>
            <a:off x="914400" y="5550408"/>
            <a:ext cx="10332720" cy="228600"/>
          </a:xfrm>
          <a:prstGeom prst="rect">
            <a:avLst/>
          </a:prstGeom>
          <a:noFill/>
          <a:ln/>
        </p:spPr>
        <p:txBody>
          <a:bodyPr wrap="square" rtlCol="0" anchor="ctr"/>
          <a:lstStyle/>
          <a:p>
            <a:pPr indent="0" marL="0">
              <a:buNone/>
            </a:pPr>
            <a:r>
              <a:rPr lang="en-US" sz="800" b="1" spc="100" kern="0" dirty="0">
                <a:solidFill>
                  <a:srgbClr val="9A7C5C"/>
                </a:solidFill>
                <a:latin typeface="Segoe UI" pitchFamily="34" charset="0"/>
                <a:ea typeface="Segoe UI" pitchFamily="34" charset="-122"/>
                <a:cs typeface="Segoe UI" pitchFamily="34" charset="-120"/>
              </a:rPr>
              <a:t>RÉALISATION TECHNIQUE</a:t>
            </a:r>
            <a:endParaRPr lang="en-US" sz="800" dirty="0"/>
          </a:p>
        </p:txBody>
      </p:sp>
      <p:sp>
        <p:nvSpPr>
          <p:cNvPr id="15" name="Text 13"/>
          <p:cNvSpPr/>
          <p:nvPr/>
        </p:nvSpPr>
        <p:spPr>
          <a:xfrm>
            <a:off x="914400" y="5797296"/>
            <a:ext cx="10332720" cy="548640"/>
          </a:xfrm>
          <a:prstGeom prst="rect">
            <a:avLst/>
          </a:prstGeom>
          <a:noFill/>
          <a:ln/>
        </p:spPr>
        <p:txBody>
          <a:bodyPr wrap="square" rtlCol="0" anchor="ctr"/>
          <a:lstStyle/>
          <a:p>
            <a:pPr indent="0" marL="0">
              <a:lnSpc>
                <a:spcPts val="1400"/>
              </a:lnSpc>
              <a:buNone/>
            </a:pPr>
            <a:r>
              <a:rPr lang="en-US" sz="1000" i="1" dirty="0">
                <a:solidFill>
                  <a:srgbClr val="8A7C68"/>
                </a:solidFill>
                <a:latin typeface="Segoe UI" pitchFamily="34" charset="0"/>
                <a:ea typeface="Segoe UI" pitchFamily="34" charset="-122"/>
                <a:cs typeface="Segoe UI" pitchFamily="34" charset="-120"/>
              </a:rPr>
              <a:t>Fusion des rendez-vous (API /api/calendar-events) et des tâches (API /api/tasks) filtrés par date, triés chronologiquement.</a:t>
            </a:r>
            <a:endParaRPr lang="en-US" sz="1000" dirty="0"/>
          </a:p>
        </p:txBody>
      </p:sp>
      <p:sp>
        <p:nvSpPr>
          <p:cNvPr id="16" name="Text 14"/>
          <p:cNvSpPr/>
          <p:nvPr/>
        </p:nvSpPr>
        <p:spPr>
          <a:xfrm>
            <a:off x="365760" y="6510528"/>
            <a:ext cx="5486400" cy="274320"/>
          </a:xfrm>
          <a:prstGeom prst="rect">
            <a:avLst/>
          </a:prstGeom>
          <a:noFill/>
          <a:ln/>
        </p:spPr>
        <p:txBody>
          <a:bodyPr wrap="square" rtlCol="0" anchor="ctr"/>
          <a:lstStyle/>
          <a:p>
            <a:pPr indent="0" marL="0">
              <a:buNone/>
            </a:pPr>
            <a:r>
              <a:rPr lang="en-US" sz="850" dirty="0">
                <a:solidFill>
                  <a:srgbClr val="8A7C68"/>
                </a:solidFill>
                <a:latin typeface="Segoe UI" pitchFamily="34" charset="0"/>
                <a:ea typeface="Segoe UI" pitchFamily="34" charset="-122"/>
                <a:cs typeface="Segoe UI" pitchFamily="34" charset="-120"/>
              </a:rPr>
              <a:t>Kôji Web — Cahier des charges</a:t>
            </a:r>
            <a:endParaRPr lang="en-US" sz="850" dirty="0"/>
          </a:p>
        </p:txBody>
      </p:sp>
      <p:sp>
        <p:nvSpPr>
          <p:cNvPr id="17" name="Text 15"/>
          <p:cNvSpPr/>
          <p:nvPr/>
        </p:nvSpPr>
        <p:spPr>
          <a:xfrm>
            <a:off x="9601200" y="6510528"/>
            <a:ext cx="2194560" cy="274320"/>
          </a:xfrm>
          <a:prstGeom prst="rect">
            <a:avLst/>
          </a:prstGeom>
          <a:noFill/>
          <a:ln/>
        </p:spPr>
        <p:txBody>
          <a:bodyPr wrap="square" rtlCol="0" anchor="ctr"/>
          <a:lstStyle/>
          <a:p>
            <a:pPr algn="r" indent="0" marL="0">
              <a:buNone/>
            </a:pPr>
            <a:r>
              <a:rPr lang="en-US" sz="850" dirty="0">
                <a:solidFill>
                  <a:srgbClr val="8A7C68"/>
                </a:solidFill>
                <a:latin typeface="Segoe UI" pitchFamily="34" charset="0"/>
                <a:ea typeface="Segoe UI" pitchFamily="34" charset="-122"/>
                <a:cs typeface="Segoe UI" pitchFamily="34" charset="-120"/>
              </a:rPr>
              <a:t>15</a:t>
            </a:r>
            <a:endParaRPr lang="en-US" sz="8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3108960" cy="365760"/>
          </a:xfrm>
          <a:prstGeom prst="roundRect">
            <a:avLst>
              <a:gd name="adj" fmla="val 50000"/>
            </a:avLst>
          </a:prstGeom>
          <a:solidFill>
            <a:srgbClr val="F7EADF"/>
          </a:solidFill>
          <a:ln/>
        </p:spPr>
      </p:sp>
      <p:sp>
        <p:nvSpPr>
          <p:cNvPr id="3" name="Text 1"/>
          <p:cNvSpPr/>
          <p:nvPr/>
        </p:nvSpPr>
        <p:spPr>
          <a:xfrm>
            <a:off x="640080" y="411480"/>
            <a:ext cx="3108960" cy="365760"/>
          </a:xfrm>
          <a:prstGeom prst="rect">
            <a:avLst/>
          </a:prstGeom>
          <a:noFill/>
          <a:ln/>
        </p:spPr>
        <p:txBody>
          <a:bodyPr wrap="square" rtlCol="0" anchor="ctr"/>
          <a:lstStyle/>
          <a:p>
            <a:pPr algn="ctr" indent="0" marL="0">
              <a:buNone/>
            </a:pPr>
            <a:r>
              <a:rPr lang="en-US" sz="950" b="1" spc="100" kern="0" dirty="0">
                <a:solidFill>
                  <a:srgbClr val="9A7C5C"/>
                </a:solidFill>
                <a:latin typeface="Segoe UI" pitchFamily="34" charset="0"/>
                <a:ea typeface="Segoe UI" pitchFamily="34" charset="-122"/>
                <a:cs typeface="Segoe UI" pitchFamily="34" charset="-120"/>
              </a:rPr>
              <a:t>ACCUEIL (TABLEAU DE BORD)</a:t>
            </a:r>
            <a:endParaRPr lang="en-US" sz="950" dirty="0"/>
          </a:p>
        </p:txBody>
      </p:sp>
      <p:sp>
        <p:nvSpPr>
          <p:cNvPr id="4" name="Shape 2"/>
          <p:cNvSpPr/>
          <p:nvPr/>
        </p:nvSpPr>
        <p:spPr>
          <a:xfrm>
            <a:off x="640080" y="1005840"/>
            <a:ext cx="10881360" cy="2606040"/>
          </a:xfrm>
          <a:prstGeom prst="roundRect">
            <a:avLst>
              <a:gd name="adj" fmla="val 2105"/>
            </a:avLst>
          </a:prstGeom>
          <a:solidFill>
            <a:srgbClr val="FFFFFF"/>
          </a:solidFill>
          <a:ln w="12700">
            <a:solidFill>
              <a:srgbClr val="E4DCCB"/>
            </a:solidFill>
            <a:prstDash val="solid"/>
          </a:ln>
        </p:spPr>
      </p:sp>
      <p:sp>
        <p:nvSpPr>
          <p:cNvPr id="5" name="Shape 3"/>
          <p:cNvSpPr/>
          <p:nvPr/>
        </p:nvSpPr>
        <p:spPr>
          <a:xfrm>
            <a:off x="640080" y="1005840"/>
            <a:ext cx="54864" cy="2606040"/>
          </a:xfrm>
          <a:prstGeom prst="rect">
            <a:avLst/>
          </a:prstGeom>
          <a:solidFill>
            <a:srgbClr val="1D6FE0"/>
          </a:solidFill>
          <a:ln/>
        </p:spPr>
      </p:sp>
      <p:sp>
        <p:nvSpPr>
          <p:cNvPr id="6" name="Text 4"/>
          <p:cNvSpPr/>
          <p:nvPr/>
        </p:nvSpPr>
        <p:spPr>
          <a:xfrm>
            <a:off x="914400" y="1133856"/>
            <a:ext cx="10332720" cy="365760"/>
          </a:xfrm>
          <a:prstGeom prst="rect">
            <a:avLst/>
          </a:prstGeom>
          <a:noFill/>
          <a:ln/>
        </p:spPr>
        <p:txBody>
          <a:bodyPr wrap="square" rtlCol="0" anchor="ctr"/>
          <a:lstStyle/>
          <a:p>
            <a:pPr indent="0" marL="0">
              <a:buNone/>
            </a:pPr>
            <a:r>
              <a:rPr lang="en-US" sz="1500" b="1" dirty="0">
                <a:solidFill>
                  <a:srgbClr val="1B1F3B"/>
                </a:solidFill>
                <a:latin typeface="Georgia" pitchFamily="34" charset="0"/>
                <a:ea typeface="Georgia" pitchFamily="34" charset="-122"/>
                <a:cs typeface="Georgia" pitchFamily="34" charset="-120"/>
              </a:rPr>
              <a:t>Ajout rapide</a:t>
            </a:r>
            <a:endParaRPr lang="en-US" sz="1500" dirty="0"/>
          </a:p>
        </p:txBody>
      </p:sp>
      <p:sp>
        <p:nvSpPr>
          <p:cNvPr id="7" name="Text 5"/>
          <p:cNvSpPr/>
          <p:nvPr/>
        </p:nvSpPr>
        <p:spPr>
          <a:xfrm>
            <a:off x="914400" y="1536192"/>
            <a:ext cx="10332720" cy="1051560"/>
          </a:xfrm>
          <a:prstGeom prst="rect">
            <a:avLst/>
          </a:prstGeom>
          <a:noFill/>
          <a:ln/>
        </p:spPr>
        <p:txBody>
          <a:bodyPr wrap="square" rtlCol="0" anchor="ctr"/>
          <a:lstStyle/>
          <a:p>
            <a:pPr indent="0" marL="0">
              <a:lnSpc>
                <a:spcPts val="1600"/>
              </a:lnSpc>
              <a:buNone/>
            </a:pPr>
            <a:r>
              <a:rPr lang="en-US" sz="1150" dirty="0">
                <a:solidFill>
                  <a:srgbClr val="1B1F3B"/>
                </a:solidFill>
                <a:latin typeface="Segoe UI" pitchFamily="34" charset="0"/>
                <a:ea typeface="Segoe UI" pitchFamily="34" charset="-122"/>
                <a:cs typeface="Segoe UI" pitchFamily="34" charset="-120"/>
              </a:rPr>
              <a:t>Bouton "+Ajouter" ouvrant une fenêtre à 5 choix : Tâche, RDV, Dépense, Note, Intervention. Les 4 premiers se créent directement dans la fenêtre ; "Intervention" ouvre le formulaire dédié en plein écran.</a:t>
            </a:r>
            <a:endParaRPr lang="en-US" sz="1150" dirty="0"/>
          </a:p>
        </p:txBody>
      </p:sp>
      <p:sp>
        <p:nvSpPr>
          <p:cNvPr id="8" name="Text 6"/>
          <p:cNvSpPr/>
          <p:nvPr/>
        </p:nvSpPr>
        <p:spPr>
          <a:xfrm>
            <a:off x="914400" y="2743200"/>
            <a:ext cx="10332720" cy="228600"/>
          </a:xfrm>
          <a:prstGeom prst="rect">
            <a:avLst/>
          </a:prstGeom>
          <a:noFill/>
          <a:ln/>
        </p:spPr>
        <p:txBody>
          <a:bodyPr wrap="square" rtlCol="0" anchor="ctr"/>
          <a:lstStyle/>
          <a:p>
            <a:pPr indent="0" marL="0">
              <a:buNone/>
            </a:pPr>
            <a:r>
              <a:rPr lang="en-US" sz="800" b="1" spc="100" kern="0" dirty="0">
                <a:solidFill>
                  <a:srgbClr val="9A7C5C"/>
                </a:solidFill>
                <a:latin typeface="Segoe UI" pitchFamily="34" charset="0"/>
                <a:ea typeface="Segoe UI" pitchFamily="34" charset="-122"/>
                <a:cs typeface="Segoe UI" pitchFamily="34" charset="-120"/>
              </a:rPr>
              <a:t>RÉALISATION TECHNIQUE</a:t>
            </a:r>
            <a:endParaRPr lang="en-US" sz="800" dirty="0"/>
          </a:p>
        </p:txBody>
      </p:sp>
      <p:sp>
        <p:nvSpPr>
          <p:cNvPr id="9" name="Text 7"/>
          <p:cNvSpPr/>
          <p:nvPr/>
        </p:nvSpPr>
        <p:spPr>
          <a:xfrm>
            <a:off x="914400" y="2990088"/>
            <a:ext cx="10332720" cy="548640"/>
          </a:xfrm>
          <a:prstGeom prst="rect">
            <a:avLst/>
          </a:prstGeom>
          <a:noFill/>
          <a:ln/>
        </p:spPr>
        <p:txBody>
          <a:bodyPr wrap="square" rtlCol="0" anchor="ctr"/>
          <a:lstStyle/>
          <a:p>
            <a:pPr indent="0" marL="0">
              <a:lnSpc>
                <a:spcPts val="1400"/>
              </a:lnSpc>
              <a:buNone/>
            </a:pPr>
            <a:r>
              <a:rPr lang="en-US" sz="1000" i="1" dirty="0">
                <a:solidFill>
                  <a:srgbClr val="8A7C68"/>
                </a:solidFill>
                <a:latin typeface="Segoe UI" pitchFamily="34" charset="0"/>
                <a:ea typeface="Segoe UI" pitchFamily="34" charset="-122"/>
                <a:cs typeface="Segoe UI" pitchFamily="34" charset="-120"/>
              </a:rPr>
              <a:t>Composant QuickAddModal dans app/page.jsx ; création via /api/tasks, /api/calendar-events, /api/expenses ; redirection vers /interventions?new=1 pour le type Intervention.</a:t>
            </a:r>
            <a:endParaRPr lang="en-US" sz="1000" dirty="0"/>
          </a:p>
        </p:txBody>
      </p:sp>
      <p:sp>
        <p:nvSpPr>
          <p:cNvPr id="10" name="Shape 8"/>
          <p:cNvSpPr/>
          <p:nvPr/>
        </p:nvSpPr>
        <p:spPr>
          <a:xfrm>
            <a:off x="640080" y="3813048"/>
            <a:ext cx="10881360" cy="2606040"/>
          </a:xfrm>
          <a:prstGeom prst="roundRect">
            <a:avLst>
              <a:gd name="adj" fmla="val 2105"/>
            </a:avLst>
          </a:prstGeom>
          <a:solidFill>
            <a:srgbClr val="FFFFFF"/>
          </a:solidFill>
          <a:ln w="12700">
            <a:solidFill>
              <a:srgbClr val="E4DCCB"/>
            </a:solidFill>
            <a:prstDash val="solid"/>
          </a:ln>
        </p:spPr>
      </p:sp>
      <p:sp>
        <p:nvSpPr>
          <p:cNvPr id="11" name="Shape 9"/>
          <p:cNvSpPr/>
          <p:nvPr/>
        </p:nvSpPr>
        <p:spPr>
          <a:xfrm>
            <a:off x="640080" y="3813048"/>
            <a:ext cx="54864" cy="2606040"/>
          </a:xfrm>
          <a:prstGeom prst="rect">
            <a:avLst/>
          </a:prstGeom>
          <a:solidFill>
            <a:srgbClr val="1D6FE0"/>
          </a:solidFill>
          <a:ln/>
        </p:spPr>
      </p:sp>
      <p:sp>
        <p:nvSpPr>
          <p:cNvPr id="12" name="Text 10"/>
          <p:cNvSpPr/>
          <p:nvPr/>
        </p:nvSpPr>
        <p:spPr>
          <a:xfrm>
            <a:off x="914400" y="3941064"/>
            <a:ext cx="10332720" cy="365760"/>
          </a:xfrm>
          <a:prstGeom prst="rect">
            <a:avLst/>
          </a:prstGeom>
          <a:noFill/>
          <a:ln/>
        </p:spPr>
        <p:txBody>
          <a:bodyPr wrap="square" rtlCol="0" anchor="ctr"/>
          <a:lstStyle/>
          <a:p>
            <a:pPr indent="0" marL="0">
              <a:buNone/>
            </a:pPr>
            <a:r>
              <a:rPr lang="en-US" sz="1500" b="1" dirty="0">
                <a:solidFill>
                  <a:srgbClr val="1B1F3B"/>
                </a:solidFill>
                <a:latin typeface="Georgia" pitchFamily="34" charset="0"/>
                <a:ea typeface="Georgia" pitchFamily="34" charset="-122"/>
                <a:cs typeface="Georgia" pitchFamily="34" charset="-120"/>
              </a:rPr>
              <a:t>Chantiers (aperçu)</a:t>
            </a:r>
            <a:endParaRPr lang="en-US" sz="1500" dirty="0"/>
          </a:p>
        </p:txBody>
      </p:sp>
      <p:sp>
        <p:nvSpPr>
          <p:cNvPr id="13" name="Text 11"/>
          <p:cNvSpPr/>
          <p:nvPr/>
        </p:nvSpPr>
        <p:spPr>
          <a:xfrm>
            <a:off x="914400" y="4343400"/>
            <a:ext cx="10332720" cy="1051560"/>
          </a:xfrm>
          <a:prstGeom prst="rect">
            <a:avLst/>
          </a:prstGeom>
          <a:noFill/>
          <a:ln/>
        </p:spPr>
        <p:txBody>
          <a:bodyPr wrap="square" rtlCol="0" anchor="ctr"/>
          <a:lstStyle/>
          <a:p>
            <a:pPr indent="0" marL="0">
              <a:lnSpc>
                <a:spcPts val="1600"/>
              </a:lnSpc>
              <a:buNone/>
            </a:pPr>
            <a:r>
              <a:rPr lang="en-US" sz="1150" dirty="0">
                <a:solidFill>
                  <a:srgbClr val="1B1F3B"/>
                </a:solidFill>
                <a:latin typeface="Segoe UI" pitchFamily="34" charset="0"/>
                <a:ea typeface="Segoe UI" pitchFamily="34" charset="-122"/>
                <a:cs typeface="Segoe UI" pitchFamily="34" charset="-120"/>
              </a:rPr>
              <a:t>Les chantiers actifs les plus récents, avec leur statut, et un lien vers la liste complète.</a:t>
            </a:r>
            <a:endParaRPr lang="en-US" sz="1150" dirty="0"/>
          </a:p>
        </p:txBody>
      </p:sp>
      <p:sp>
        <p:nvSpPr>
          <p:cNvPr id="14" name="Text 12"/>
          <p:cNvSpPr/>
          <p:nvPr/>
        </p:nvSpPr>
        <p:spPr>
          <a:xfrm>
            <a:off x="914400" y="5550408"/>
            <a:ext cx="10332720" cy="228600"/>
          </a:xfrm>
          <a:prstGeom prst="rect">
            <a:avLst/>
          </a:prstGeom>
          <a:noFill/>
          <a:ln/>
        </p:spPr>
        <p:txBody>
          <a:bodyPr wrap="square" rtlCol="0" anchor="ctr"/>
          <a:lstStyle/>
          <a:p>
            <a:pPr indent="0" marL="0">
              <a:buNone/>
            </a:pPr>
            <a:r>
              <a:rPr lang="en-US" sz="800" b="1" spc="100" kern="0" dirty="0">
                <a:solidFill>
                  <a:srgbClr val="9A7C5C"/>
                </a:solidFill>
                <a:latin typeface="Segoe UI" pitchFamily="34" charset="0"/>
                <a:ea typeface="Segoe UI" pitchFamily="34" charset="-122"/>
                <a:cs typeface="Segoe UI" pitchFamily="34" charset="-120"/>
              </a:rPr>
              <a:t>RÉALISATION TECHNIQUE</a:t>
            </a:r>
            <a:endParaRPr lang="en-US" sz="800" dirty="0"/>
          </a:p>
        </p:txBody>
      </p:sp>
      <p:sp>
        <p:nvSpPr>
          <p:cNvPr id="15" name="Text 13"/>
          <p:cNvSpPr/>
          <p:nvPr/>
        </p:nvSpPr>
        <p:spPr>
          <a:xfrm>
            <a:off x="914400" y="5797296"/>
            <a:ext cx="10332720" cy="548640"/>
          </a:xfrm>
          <a:prstGeom prst="rect">
            <a:avLst/>
          </a:prstGeom>
          <a:noFill/>
          <a:ln/>
        </p:spPr>
        <p:txBody>
          <a:bodyPr wrap="square" rtlCol="0" anchor="ctr"/>
          <a:lstStyle/>
          <a:p>
            <a:pPr indent="0" marL="0">
              <a:lnSpc>
                <a:spcPts val="1400"/>
              </a:lnSpc>
              <a:buNone/>
            </a:pPr>
            <a:r>
              <a:rPr lang="en-US" sz="1000" i="1" dirty="0">
                <a:solidFill>
                  <a:srgbClr val="8A7C68"/>
                </a:solidFill>
                <a:latin typeface="Segoe UI" pitchFamily="34" charset="0"/>
                <a:ea typeface="Segoe UI" pitchFamily="34" charset="-122"/>
                <a:cs typeface="Segoe UI" pitchFamily="34" charset="-120"/>
              </a:rPr>
              <a:t>API /api/projects, filtrage sur le statut non archivé.</a:t>
            </a:r>
            <a:endParaRPr lang="en-US" sz="1000" dirty="0"/>
          </a:p>
        </p:txBody>
      </p:sp>
      <p:sp>
        <p:nvSpPr>
          <p:cNvPr id="16" name="Text 14"/>
          <p:cNvSpPr/>
          <p:nvPr/>
        </p:nvSpPr>
        <p:spPr>
          <a:xfrm>
            <a:off x="365760" y="6510528"/>
            <a:ext cx="5486400" cy="274320"/>
          </a:xfrm>
          <a:prstGeom prst="rect">
            <a:avLst/>
          </a:prstGeom>
          <a:noFill/>
          <a:ln/>
        </p:spPr>
        <p:txBody>
          <a:bodyPr wrap="square" rtlCol="0" anchor="ctr"/>
          <a:lstStyle/>
          <a:p>
            <a:pPr indent="0" marL="0">
              <a:buNone/>
            </a:pPr>
            <a:r>
              <a:rPr lang="en-US" sz="850" dirty="0">
                <a:solidFill>
                  <a:srgbClr val="8A7C68"/>
                </a:solidFill>
                <a:latin typeface="Segoe UI" pitchFamily="34" charset="0"/>
                <a:ea typeface="Segoe UI" pitchFamily="34" charset="-122"/>
                <a:cs typeface="Segoe UI" pitchFamily="34" charset="-120"/>
              </a:rPr>
              <a:t>Kôji Web — Cahier des charges</a:t>
            </a:r>
            <a:endParaRPr lang="en-US" sz="850" dirty="0"/>
          </a:p>
        </p:txBody>
      </p:sp>
      <p:sp>
        <p:nvSpPr>
          <p:cNvPr id="17" name="Text 15"/>
          <p:cNvSpPr/>
          <p:nvPr/>
        </p:nvSpPr>
        <p:spPr>
          <a:xfrm>
            <a:off x="9601200" y="6510528"/>
            <a:ext cx="2194560" cy="274320"/>
          </a:xfrm>
          <a:prstGeom prst="rect">
            <a:avLst/>
          </a:prstGeom>
          <a:noFill/>
          <a:ln/>
        </p:spPr>
        <p:txBody>
          <a:bodyPr wrap="square" rtlCol="0" anchor="ctr"/>
          <a:lstStyle/>
          <a:p>
            <a:pPr algn="r" indent="0" marL="0">
              <a:buNone/>
            </a:pPr>
            <a:r>
              <a:rPr lang="en-US" sz="850" dirty="0">
                <a:solidFill>
                  <a:srgbClr val="8A7C68"/>
                </a:solidFill>
                <a:latin typeface="Segoe UI" pitchFamily="34" charset="0"/>
                <a:ea typeface="Segoe UI" pitchFamily="34" charset="-122"/>
                <a:cs typeface="Segoe UI" pitchFamily="34" charset="-120"/>
              </a:rPr>
              <a:t>16</a:t>
            </a:r>
            <a:endParaRPr lang="en-US" sz="8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3108960" cy="365760"/>
          </a:xfrm>
          <a:prstGeom prst="roundRect">
            <a:avLst>
              <a:gd name="adj" fmla="val 50000"/>
            </a:avLst>
          </a:prstGeom>
          <a:solidFill>
            <a:srgbClr val="F7EADF"/>
          </a:solidFill>
          <a:ln/>
        </p:spPr>
      </p:sp>
      <p:sp>
        <p:nvSpPr>
          <p:cNvPr id="3" name="Text 1"/>
          <p:cNvSpPr/>
          <p:nvPr/>
        </p:nvSpPr>
        <p:spPr>
          <a:xfrm>
            <a:off x="640080" y="411480"/>
            <a:ext cx="3108960" cy="365760"/>
          </a:xfrm>
          <a:prstGeom prst="rect">
            <a:avLst/>
          </a:prstGeom>
          <a:noFill/>
          <a:ln/>
        </p:spPr>
        <p:txBody>
          <a:bodyPr wrap="square" rtlCol="0" anchor="ctr"/>
          <a:lstStyle/>
          <a:p>
            <a:pPr algn="ctr" indent="0" marL="0">
              <a:buNone/>
            </a:pPr>
            <a:r>
              <a:rPr lang="en-US" sz="950" b="1" spc="100" kern="0" dirty="0">
                <a:solidFill>
                  <a:srgbClr val="9A7C5C"/>
                </a:solidFill>
                <a:latin typeface="Segoe UI" pitchFamily="34" charset="0"/>
                <a:ea typeface="Segoe UI" pitchFamily="34" charset="-122"/>
                <a:cs typeface="Segoe UI" pitchFamily="34" charset="-120"/>
              </a:rPr>
              <a:t>ACCUEIL (TABLEAU DE BORD)</a:t>
            </a:r>
            <a:endParaRPr lang="en-US" sz="950" dirty="0"/>
          </a:p>
        </p:txBody>
      </p:sp>
      <p:sp>
        <p:nvSpPr>
          <p:cNvPr id="4" name="Shape 2"/>
          <p:cNvSpPr/>
          <p:nvPr/>
        </p:nvSpPr>
        <p:spPr>
          <a:xfrm>
            <a:off x="640080" y="1005840"/>
            <a:ext cx="10881360" cy="2606040"/>
          </a:xfrm>
          <a:prstGeom prst="roundRect">
            <a:avLst>
              <a:gd name="adj" fmla="val 2105"/>
            </a:avLst>
          </a:prstGeom>
          <a:solidFill>
            <a:srgbClr val="FFFFFF"/>
          </a:solidFill>
          <a:ln w="12700">
            <a:solidFill>
              <a:srgbClr val="E4DCCB"/>
            </a:solidFill>
            <a:prstDash val="solid"/>
          </a:ln>
        </p:spPr>
      </p:sp>
      <p:sp>
        <p:nvSpPr>
          <p:cNvPr id="5" name="Shape 3"/>
          <p:cNvSpPr/>
          <p:nvPr/>
        </p:nvSpPr>
        <p:spPr>
          <a:xfrm>
            <a:off x="640080" y="1005840"/>
            <a:ext cx="54864" cy="2606040"/>
          </a:xfrm>
          <a:prstGeom prst="rect">
            <a:avLst/>
          </a:prstGeom>
          <a:solidFill>
            <a:srgbClr val="1D6FE0"/>
          </a:solidFill>
          <a:ln/>
        </p:spPr>
      </p:sp>
      <p:sp>
        <p:nvSpPr>
          <p:cNvPr id="6" name="Text 4"/>
          <p:cNvSpPr/>
          <p:nvPr/>
        </p:nvSpPr>
        <p:spPr>
          <a:xfrm>
            <a:off x="914400" y="1133856"/>
            <a:ext cx="10332720" cy="365760"/>
          </a:xfrm>
          <a:prstGeom prst="rect">
            <a:avLst/>
          </a:prstGeom>
          <a:noFill/>
          <a:ln/>
        </p:spPr>
        <p:txBody>
          <a:bodyPr wrap="square" rtlCol="0" anchor="ctr"/>
          <a:lstStyle/>
          <a:p>
            <a:pPr indent="0" marL="0">
              <a:buNone/>
            </a:pPr>
            <a:r>
              <a:rPr lang="en-US" sz="1500" b="1" dirty="0">
                <a:solidFill>
                  <a:srgbClr val="1B1F3B"/>
                </a:solidFill>
                <a:latin typeface="Georgia" pitchFamily="34" charset="0"/>
                <a:ea typeface="Georgia" pitchFamily="34" charset="-122"/>
                <a:cs typeface="Georgia" pitchFamily="34" charset="-120"/>
              </a:rPr>
              <a:t>Devis en cours (aperçu)</a:t>
            </a:r>
            <a:endParaRPr lang="en-US" sz="1500" dirty="0"/>
          </a:p>
        </p:txBody>
      </p:sp>
      <p:sp>
        <p:nvSpPr>
          <p:cNvPr id="7" name="Text 5"/>
          <p:cNvSpPr/>
          <p:nvPr/>
        </p:nvSpPr>
        <p:spPr>
          <a:xfrm>
            <a:off x="914400" y="1536192"/>
            <a:ext cx="10332720" cy="1051560"/>
          </a:xfrm>
          <a:prstGeom prst="rect">
            <a:avLst/>
          </a:prstGeom>
          <a:noFill/>
          <a:ln/>
        </p:spPr>
        <p:txBody>
          <a:bodyPr wrap="square" rtlCol="0" anchor="ctr"/>
          <a:lstStyle/>
          <a:p>
            <a:pPr indent="0" marL="0">
              <a:lnSpc>
                <a:spcPts val="1600"/>
              </a:lnSpc>
              <a:buNone/>
            </a:pPr>
            <a:r>
              <a:rPr lang="en-US" sz="1150" dirty="0">
                <a:solidFill>
                  <a:srgbClr val="1B1F3B"/>
                </a:solidFill>
                <a:latin typeface="Segoe UI" pitchFamily="34" charset="0"/>
                <a:ea typeface="Segoe UI" pitchFamily="34" charset="-122"/>
                <a:cs typeface="Segoe UI" pitchFamily="34" charset="-120"/>
              </a:rPr>
              <a:t>Les devis non encore signés (brouillon, prêt à envoyer, envoyé), avec montant et statut.</a:t>
            </a:r>
            <a:endParaRPr lang="en-US" sz="1150" dirty="0"/>
          </a:p>
        </p:txBody>
      </p:sp>
      <p:sp>
        <p:nvSpPr>
          <p:cNvPr id="8" name="Text 6"/>
          <p:cNvSpPr/>
          <p:nvPr/>
        </p:nvSpPr>
        <p:spPr>
          <a:xfrm>
            <a:off x="914400" y="2743200"/>
            <a:ext cx="10332720" cy="228600"/>
          </a:xfrm>
          <a:prstGeom prst="rect">
            <a:avLst/>
          </a:prstGeom>
          <a:noFill/>
          <a:ln/>
        </p:spPr>
        <p:txBody>
          <a:bodyPr wrap="square" rtlCol="0" anchor="ctr"/>
          <a:lstStyle/>
          <a:p>
            <a:pPr indent="0" marL="0">
              <a:buNone/>
            </a:pPr>
            <a:r>
              <a:rPr lang="en-US" sz="800" b="1" spc="100" kern="0" dirty="0">
                <a:solidFill>
                  <a:srgbClr val="9A7C5C"/>
                </a:solidFill>
                <a:latin typeface="Segoe UI" pitchFamily="34" charset="0"/>
                <a:ea typeface="Segoe UI" pitchFamily="34" charset="-122"/>
                <a:cs typeface="Segoe UI" pitchFamily="34" charset="-120"/>
              </a:rPr>
              <a:t>RÉALISATION TECHNIQUE</a:t>
            </a:r>
            <a:endParaRPr lang="en-US" sz="800" dirty="0"/>
          </a:p>
        </p:txBody>
      </p:sp>
      <p:sp>
        <p:nvSpPr>
          <p:cNvPr id="9" name="Text 7"/>
          <p:cNvSpPr/>
          <p:nvPr/>
        </p:nvSpPr>
        <p:spPr>
          <a:xfrm>
            <a:off x="914400" y="2990088"/>
            <a:ext cx="10332720" cy="548640"/>
          </a:xfrm>
          <a:prstGeom prst="rect">
            <a:avLst/>
          </a:prstGeom>
          <a:noFill/>
          <a:ln/>
        </p:spPr>
        <p:txBody>
          <a:bodyPr wrap="square" rtlCol="0" anchor="ctr"/>
          <a:lstStyle/>
          <a:p>
            <a:pPr indent="0" marL="0">
              <a:lnSpc>
                <a:spcPts val="1400"/>
              </a:lnSpc>
              <a:buNone/>
            </a:pPr>
            <a:r>
              <a:rPr lang="en-US" sz="1000" i="1" dirty="0">
                <a:solidFill>
                  <a:srgbClr val="8A7C68"/>
                </a:solidFill>
                <a:latin typeface="Segoe UI" pitchFamily="34" charset="0"/>
                <a:ea typeface="Segoe UI" pitchFamily="34" charset="-122"/>
                <a:cs typeface="Segoe UI" pitchFamily="34" charset="-120"/>
              </a:rPr>
              <a:t>API /api/quotes, filtrage sur le statut.</a:t>
            </a:r>
            <a:endParaRPr lang="en-US" sz="1000" dirty="0"/>
          </a:p>
        </p:txBody>
      </p:sp>
      <p:sp>
        <p:nvSpPr>
          <p:cNvPr id="10" name="Shape 8"/>
          <p:cNvSpPr/>
          <p:nvPr/>
        </p:nvSpPr>
        <p:spPr>
          <a:xfrm>
            <a:off x="640080" y="3813048"/>
            <a:ext cx="10881360" cy="2606040"/>
          </a:xfrm>
          <a:prstGeom prst="roundRect">
            <a:avLst>
              <a:gd name="adj" fmla="val 2105"/>
            </a:avLst>
          </a:prstGeom>
          <a:solidFill>
            <a:srgbClr val="FFFFFF"/>
          </a:solidFill>
          <a:ln w="12700">
            <a:solidFill>
              <a:srgbClr val="E4DCCB"/>
            </a:solidFill>
            <a:prstDash val="solid"/>
          </a:ln>
        </p:spPr>
      </p:sp>
      <p:sp>
        <p:nvSpPr>
          <p:cNvPr id="11" name="Shape 9"/>
          <p:cNvSpPr/>
          <p:nvPr/>
        </p:nvSpPr>
        <p:spPr>
          <a:xfrm>
            <a:off x="640080" y="3813048"/>
            <a:ext cx="54864" cy="2606040"/>
          </a:xfrm>
          <a:prstGeom prst="rect">
            <a:avLst/>
          </a:prstGeom>
          <a:solidFill>
            <a:srgbClr val="1D6FE0"/>
          </a:solidFill>
          <a:ln/>
        </p:spPr>
      </p:sp>
      <p:sp>
        <p:nvSpPr>
          <p:cNvPr id="12" name="Text 10"/>
          <p:cNvSpPr/>
          <p:nvPr/>
        </p:nvSpPr>
        <p:spPr>
          <a:xfrm>
            <a:off x="914400" y="3941064"/>
            <a:ext cx="10332720" cy="365760"/>
          </a:xfrm>
          <a:prstGeom prst="rect">
            <a:avLst/>
          </a:prstGeom>
          <a:noFill/>
          <a:ln/>
        </p:spPr>
        <p:txBody>
          <a:bodyPr wrap="square" rtlCol="0" anchor="ctr"/>
          <a:lstStyle/>
          <a:p>
            <a:pPr indent="0" marL="0">
              <a:buNone/>
            </a:pPr>
            <a:r>
              <a:rPr lang="en-US" sz="1500" b="1" dirty="0">
                <a:solidFill>
                  <a:srgbClr val="1B1F3B"/>
                </a:solidFill>
                <a:latin typeface="Georgia" pitchFamily="34" charset="0"/>
                <a:ea typeface="Georgia" pitchFamily="34" charset="-122"/>
                <a:cs typeface="Georgia" pitchFamily="34" charset="-120"/>
              </a:rPr>
              <a:t>Interventions (aperçu)</a:t>
            </a:r>
            <a:endParaRPr lang="en-US" sz="1500" dirty="0"/>
          </a:p>
        </p:txBody>
      </p:sp>
      <p:sp>
        <p:nvSpPr>
          <p:cNvPr id="13" name="Text 11"/>
          <p:cNvSpPr/>
          <p:nvPr/>
        </p:nvSpPr>
        <p:spPr>
          <a:xfrm>
            <a:off x="914400" y="4343400"/>
            <a:ext cx="10332720" cy="1051560"/>
          </a:xfrm>
          <a:prstGeom prst="rect">
            <a:avLst/>
          </a:prstGeom>
          <a:noFill/>
          <a:ln/>
        </p:spPr>
        <p:txBody>
          <a:bodyPr wrap="square" rtlCol="0" anchor="ctr"/>
          <a:lstStyle/>
          <a:p>
            <a:pPr indent="0" marL="0">
              <a:lnSpc>
                <a:spcPts val="1600"/>
              </a:lnSpc>
              <a:buNone/>
            </a:pPr>
            <a:r>
              <a:rPr lang="en-US" sz="1150" dirty="0">
                <a:solidFill>
                  <a:srgbClr val="1B1F3B"/>
                </a:solidFill>
                <a:latin typeface="Segoe UI" pitchFamily="34" charset="0"/>
                <a:ea typeface="Segoe UI" pitchFamily="34" charset="-122"/>
                <a:cs typeface="Segoe UI" pitchFamily="34" charset="-120"/>
              </a:rPr>
              <a:t>Les derniers rapports d'intervention, avec leur statut (À faire / En cours / Terminée), et actions rapides archiver/supprimer directement depuis l'accueil.</a:t>
            </a:r>
            <a:endParaRPr lang="en-US" sz="1150" dirty="0"/>
          </a:p>
        </p:txBody>
      </p:sp>
      <p:sp>
        <p:nvSpPr>
          <p:cNvPr id="14" name="Text 12"/>
          <p:cNvSpPr/>
          <p:nvPr/>
        </p:nvSpPr>
        <p:spPr>
          <a:xfrm>
            <a:off x="914400" y="5550408"/>
            <a:ext cx="10332720" cy="228600"/>
          </a:xfrm>
          <a:prstGeom prst="rect">
            <a:avLst/>
          </a:prstGeom>
          <a:noFill/>
          <a:ln/>
        </p:spPr>
        <p:txBody>
          <a:bodyPr wrap="square" rtlCol="0" anchor="ctr"/>
          <a:lstStyle/>
          <a:p>
            <a:pPr indent="0" marL="0">
              <a:buNone/>
            </a:pPr>
            <a:r>
              <a:rPr lang="en-US" sz="800" b="1" spc="100" kern="0" dirty="0">
                <a:solidFill>
                  <a:srgbClr val="9A7C5C"/>
                </a:solidFill>
                <a:latin typeface="Segoe UI" pitchFamily="34" charset="0"/>
                <a:ea typeface="Segoe UI" pitchFamily="34" charset="-122"/>
                <a:cs typeface="Segoe UI" pitchFamily="34" charset="-120"/>
              </a:rPr>
              <a:t>RÉALISATION TECHNIQUE</a:t>
            </a:r>
            <a:endParaRPr lang="en-US" sz="800" dirty="0"/>
          </a:p>
        </p:txBody>
      </p:sp>
      <p:sp>
        <p:nvSpPr>
          <p:cNvPr id="15" name="Text 13"/>
          <p:cNvSpPr/>
          <p:nvPr/>
        </p:nvSpPr>
        <p:spPr>
          <a:xfrm>
            <a:off x="914400" y="5797296"/>
            <a:ext cx="10332720" cy="548640"/>
          </a:xfrm>
          <a:prstGeom prst="rect">
            <a:avLst/>
          </a:prstGeom>
          <a:noFill/>
          <a:ln/>
        </p:spPr>
        <p:txBody>
          <a:bodyPr wrap="square" rtlCol="0" anchor="ctr"/>
          <a:lstStyle/>
          <a:p>
            <a:pPr indent="0" marL="0">
              <a:lnSpc>
                <a:spcPts val="1400"/>
              </a:lnSpc>
              <a:buNone/>
            </a:pPr>
            <a:r>
              <a:rPr lang="en-US" sz="1000" i="1" dirty="0">
                <a:solidFill>
                  <a:srgbClr val="8A7C68"/>
                </a:solidFill>
                <a:latin typeface="Segoe UI" pitchFamily="34" charset="0"/>
                <a:ea typeface="Segoe UI" pitchFamily="34" charset="-122"/>
                <a:cs typeface="Segoe UI" pitchFamily="34" charset="-120"/>
              </a:rPr>
              <a:t>API /api/interventions ; statut calculé automatiquement à partir de la date d'intervention.</a:t>
            </a:r>
            <a:endParaRPr lang="en-US" sz="1000" dirty="0"/>
          </a:p>
        </p:txBody>
      </p:sp>
      <p:sp>
        <p:nvSpPr>
          <p:cNvPr id="16" name="Text 14"/>
          <p:cNvSpPr/>
          <p:nvPr/>
        </p:nvSpPr>
        <p:spPr>
          <a:xfrm>
            <a:off x="365760" y="6510528"/>
            <a:ext cx="5486400" cy="274320"/>
          </a:xfrm>
          <a:prstGeom prst="rect">
            <a:avLst/>
          </a:prstGeom>
          <a:noFill/>
          <a:ln/>
        </p:spPr>
        <p:txBody>
          <a:bodyPr wrap="square" rtlCol="0" anchor="ctr"/>
          <a:lstStyle/>
          <a:p>
            <a:pPr indent="0" marL="0">
              <a:buNone/>
            </a:pPr>
            <a:r>
              <a:rPr lang="en-US" sz="850" dirty="0">
                <a:solidFill>
                  <a:srgbClr val="8A7C68"/>
                </a:solidFill>
                <a:latin typeface="Segoe UI" pitchFamily="34" charset="0"/>
                <a:ea typeface="Segoe UI" pitchFamily="34" charset="-122"/>
                <a:cs typeface="Segoe UI" pitchFamily="34" charset="-120"/>
              </a:rPr>
              <a:t>Kôji Web — Cahier des charges</a:t>
            </a:r>
            <a:endParaRPr lang="en-US" sz="850" dirty="0"/>
          </a:p>
        </p:txBody>
      </p:sp>
      <p:sp>
        <p:nvSpPr>
          <p:cNvPr id="17" name="Text 15"/>
          <p:cNvSpPr/>
          <p:nvPr/>
        </p:nvSpPr>
        <p:spPr>
          <a:xfrm>
            <a:off x="9601200" y="6510528"/>
            <a:ext cx="2194560" cy="274320"/>
          </a:xfrm>
          <a:prstGeom prst="rect">
            <a:avLst/>
          </a:prstGeom>
          <a:noFill/>
          <a:ln/>
        </p:spPr>
        <p:txBody>
          <a:bodyPr wrap="square" rtlCol="0" anchor="ctr"/>
          <a:lstStyle/>
          <a:p>
            <a:pPr algn="r" indent="0" marL="0">
              <a:buNone/>
            </a:pPr>
            <a:r>
              <a:rPr lang="en-US" sz="850" dirty="0">
                <a:solidFill>
                  <a:srgbClr val="8A7C68"/>
                </a:solidFill>
                <a:latin typeface="Segoe UI" pitchFamily="34" charset="0"/>
                <a:ea typeface="Segoe UI" pitchFamily="34" charset="-122"/>
                <a:cs typeface="Segoe UI" pitchFamily="34" charset="-120"/>
              </a:rPr>
              <a:t>17</a:t>
            </a:r>
            <a:endParaRPr lang="en-US" sz="8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3108960" cy="365760"/>
          </a:xfrm>
          <a:prstGeom prst="roundRect">
            <a:avLst>
              <a:gd name="adj" fmla="val 50000"/>
            </a:avLst>
          </a:prstGeom>
          <a:solidFill>
            <a:srgbClr val="F7EADF"/>
          </a:solidFill>
          <a:ln/>
        </p:spPr>
      </p:sp>
      <p:sp>
        <p:nvSpPr>
          <p:cNvPr id="3" name="Text 1"/>
          <p:cNvSpPr/>
          <p:nvPr/>
        </p:nvSpPr>
        <p:spPr>
          <a:xfrm>
            <a:off x="640080" y="411480"/>
            <a:ext cx="3108960" cy="365760"/>
          </a:xfrm>
          <a:prstGeom prst="rect">
            <a:avLst/>
          </a:prstGeom>
          <a:noFill/>
          <a:ln/>
        </p:spPr>
        <p:txBody>
          <a:bodyPr wrap="square" rtlCol="0" anchor="ctr"/>
          <a:lstStyle/>
          <a:p>
            <a:pPr algn="ctr" indent="0" marL="0">
              <a:buNone/>
            </a:pPr>
            <a:r>
              <a:rPr lang="en-US" sz="950" b="1" spc="100" kern="0" dirty="0">
                <a:solidFill>
                  <a:srgbClr val="9A7C5C"/>
                </a:solidFill>
                <a:latin typeface="Segoe UI" pitchFamily="34" charset="0"/>
                <a:ea typeface="Segoe UI" pitchFamily="34" charset="-122"/>
                <a:cs typeface="Segoe UI" pitchFamily="34" charset="-120"/>
              </a:rPr>
              <a:t>ACCUEIL (TABLEAU DE BORD)</a:t>
            </a:r>
            <a:endParaRPr lang="en-US" sz="950" dirty="0"/>
          </a:p>
        </p:txBody>
      </p:sp>
      <p:sp>
        <p:nvSpPr>
          <p:cNvPr id="4" name="Shape 2"/>
          <p:cNvSpPr/>
          <p:nvPr/>
        </p:nvSpPr>
        <p:spPr>
          <a:xfrm>
            <a:off x="640080" y="1005840"/>
            <a:ext cx="10881360" cy="2606040"/>
          </a:xfrm>
          <a:prstGeom prst="roundRect">
            <a:avLst>
              <a:gd name="adj" fmla="val 2105"/>
            </a:avLst>
          </a:prstGeom>
          <a:solidFill>
            <a:srgbClr val="FFFFFF"/>
          </a:solidFill>
          <a:ln w="12700">
            <a:solidFill>
              <a:srgbClr val="E4DCCB"/>
            </a:solidFill>
            <a:prstDash val="solid"/>
          </a:ln>
        </p:spPr>
      </p:sp>
      <p:sp>
        <p:nvSpPr>
          <p:cNvPr id="5" name="Shape 3"/>
          <p:cNvSpPr/>
          <p:nvPr/>
        </p:nvSpPr>
        <p:spPr>
          <a:xfrm>
            <a:off x="640080" y="1005840"/>
            <a:ext cx="54864" cy="2606040"/>
          </a:xfrm>
          <a:prstGeom prst="rect">
            <a:avLst/>
          </a:prstGeom>
          <a:solidFill>
            <a:srgbClr val="1D6FE0"/>
          </a:solidFill>
          <a:ln/>
        </p:spPr>
      </p:sp>
      <p:sp>
        <p:nvSpPr>
          <p:cNvPr id="6" name="Text 4"/>
          <p:cNvSpPr/>
          <p:nvPr/>
        </p:nvSpPr>
        <p:spPr>
          <a:xfrm>
            <a:off x="914400" y="1133856"/>
            <a:ext cx="10332720" cy="365760"/>
          </a:xfrm>
          <a:prstGeom prst="rect">
            <a:avLst/>
          </a:prstGeom>
          <a:noFill/>
          <a:ln/>
        </p:spPr>
        <p:txBody>
          <a:bodyPr wrap="square" rtlCol="0" anchor="ctr"/>
          <a:lstStyle/>
          <a:p>
            <a:pPr indent="0" marL="0">
              <a:buNone/>
            </a:pPr>
            <a:r>
              <a:rPr lang="en-US" sz="1500" b="1" dirty="0">
                <a:solidFill>
                  <a:srgbClr val="1B1F3B"/>
                </a:solidFill>
                <a:latin typeface="Georgia" pitchFamily="34" charset="0"/>
                <a:ea typeface="Georgia" pitchFamily="34" charset="-122"/>
                <a:cs typeface="Georgia" pitchFamily="34" charset="-120"/>
              </a:rPr>
              <a:t>Chiffre d'affaires</a:t>
            </a:r>
            <a:endParaRPr lang="en-US" sz="1500" dirty="0"/>
          </a:p>
        </p:txBody>
      </p:sp>
      <p:sp>
        <p:nvSpPr>
          <p:cNvPr id="7" name="Text 5"/>
          <p:cNvSpPr/>
          <p:nvPr/>
        </p:nvSpPr>
        <p:spPr>
          <a:xfrm>
            <a:off x="914400" y="1536192"/>
            <a:ext cx="10332720" cy="1051560"/>
          </a:xfrm>
          <a:prstGeom prst="rect">
            <a:avLst/>
          </a:prstGeom>
          <a:noFill/>
          <a:ln/>
        </p:spPr>
        <p:txBody>
          <a:bodyPr wrap="square" rtlCol="0" anchor="ctr"/>
          <a:lstStyle/>
          <a:p>
            <a:pPr indent="0" marL="0">
              <a:lnSpc>
                <a:spcPts val="1600"/>
              </a:lnSpc>
              <a:buNone/>
            </a:pPr>
            <a:r>
              <a:rPr lang="en-US" sz="1150" dirty="0">
                <a:solidFill>
                  <a:srgbClr val="1B1F3B"/>
                </a:solidFill>
                <a:latin typeface="Segoe UI" pitchFamily="34" charset="0"/>
                <a:ea typeface="Segoe UI" pitchFamily="34" charset="-122"/>
                <a:cs typeface="Segoe UI" pitchFamily="34" charset="-120"/>
              </a:rPr>
              <a:t>Montant signé, montant facturé et montant restant à facturer, calculés automatiquement.</a:t>
            </a:r>
            <a:endParaRPr lang="en-US" sz="1150" dirty="0"/>
          </a:p>
        </p:txBody>
      </p:sp>
      <p:sp>
        <p:nvSpPr>
          <p:cNvPr id="8" name="Text 6"/>
          <p:cNvSpPr/>
          <p:nvPr/>
        </p:nvSpPr>
        <p:spPr>
          <a:xfrm>
            <a:off x="914400" y="2743200"/>
            <a:ext cx="10332720" cy="228600"/>
          </a:xfrm>
          <a:prstGeom prst="rect">
            <a:avLst/>
          </a:prstGeom>
          <a:noFill/>
          <a:ln/>
        </p:spPr>
        <p:txBody>
          <a:bodyPr wrap="square" rtlCol="0" anchor="ctr"/>
          <a:lstStyle/>
          <a:p>
            <a:pPr indent="0" marL="0">
              <a:buNone/>
            </a:pPr>
            <a:r>
              <a:rPr lang="en-US" sz="800" b="1" spc="100" kern="0" dirty="0">
                <a:solidFill>
                  <a:srgbClr val="9A7C5C"/>
                </a:solidFill>
                <a:latin typeface="Segoe UI" pitchFamily="34" charset="0"/>
                <a:ea typeface="Segoe UI" pitchFamily="34" charset="-122"/>
                <a:cs typeface="Segoe UI" pitchFamily="34" charset="-120"/>
              </a:rPr>
              <a:t>RÉALISATION TECHNIQUE</a:t>
            </a:r>
            <a:endParaRPr lang="en-US" sz="800" dirty="0"/>
          </a:p>
        </p:txBody>
      </p:sp>
      <p:sp>
        <p:nvSpPr>
          <p:cNvPr id="9" name="Text 7"/>
          <p:cNvSpPr/>
          <p:nvPr/>
        </p:nvSpPr>
        <p:spPr>
          <a:xfrm>
            <a:off x="914400" y="2990088"/>
            <a:ext cx="10332720" cy="548640"/>
          </a:xfrm>
          <a:prstGeom prst="rect">
            <a:avLst/>
          </a:prstGeom>
          <a:noFill/>
          <a:ln/>
        </p:spPr>
        <p:txBody>
          <a:bodyPr wrap="square" rtlCol="0" anchor="ctr"/>
          <a:lstStyle/>
          <a:p>
            <a:pPr indent="0" marL="0">
              <a:lnSpc>
                <a:spcPts val="1400"/>
              </a:lnSpc>
              <a:buNone/>
            </a:pPr>
            <a:r>
              <a:rPr lang="en-US" sz="1000" i="1" dirty="0">
                <a:solidFill>
                  <a:srgbClr val="8A7C68"/>
                </a:solidFill>
                <a:latin typeface="Segoe UI" pitchFamily="34" charset="0"/>
                <a:ea typeface="Segoe UI" pitchFamily="34" charset="-122"/>
                <a:cs typeface="Segoe UI" pitchFamily="34" charset="-120"/>
              </a:rPr>
              <a:t>Calcul à partir des devis signés (/api/quotes) et des factures émises (/api/invoices).</a:t>
            </a:r>
            <a:endParaRPr lang="en-US" sz="1000" dirty="0"/>
          </a:p>
        </p:txBody>
      </p:sp>
      <p:sp>
        <p:nvSpPr>
          <p:cNvPr id="10" name="Shape 8"/>
          <p:cNvSpPr/>
          <p:nvPr/>
        </p:nvSpPr>
        <p:spPr>
          <a:xfrm>
            <a:off x="640080" y="3813048"/>
            <a:ext cx="10881360" cy="2606040"/>
          </a:xfrm>
          <a:prstGeom prst="roundRect">
            <a:avLst>
              <a:gd name="adj" fmla="val 2105"/>
            </a:avLst>
          </a:prstGeom>
          <a:solidFill>
            <a:srgbClr val="FFFFFF"/>
          </a:solidFill>
          <a:ln w="12700">
            <a:solidFill>
              <a:srgbClr val="E4DCCB"/>
            </a:solidFill>
            <a:prstDash val="solid"/>
          </a:ln>
        </p:spPr>
      </p:sp>
      <p:sp>
        <p:nvSpPr>
          <p:cNvPr id="11" name="Shape 9"/>
          <p:cNvSpPr/>
          <p:nvPr/>
        </p:nvSpPr>
        <p:spPr>
          <a:xfrm>
            <a:off x="640080" y="3813048"/>
            <a:ext cx="54864" cy="2606040"/>
          </a:xfrm>
          <a:prstGeom prst="rect">
            <a:avLst/>
          </a:prstGeom>
          <a:solidFill>
            <a:srgbClr val="1D6FE0"/>
          </a:solidFill>
          <a:ln/>
        </p:spPr>
      </p:sp>
      <p:sp>
        <p:nvSpPr>
          <p:cNvPr id="12" name="Text 10"/>
          <p:cNvSpPr/>
          <p:nvPr/>
        </p:nvSpPr>
        <p:spPr>
          <a:xfrm>
            <a:off x="914400" y="3941064"/>
            <a:ext cx="10332720" cy="365760"/>
          </a:xfrm>
          <a:prstGeom prst="rect">
            <a:avLst/>
          </a:prstGeom>
          <a:noFill/>
          <a:ln/>
        </p:spPr>
        <p:txBody>
          <a:bodyPr wrap="square" rtlCol="0" anchor="ctr"/>
          <a:lstStyle/>
          <a:p>
            <a:pPr indent="0" marL="0">
              <a:buNone/>
            </a:pPr>
            <a:r>
              <a:rPr lang="en-US" sz="1500" b="1" dirty="0">
                <a:solidFill>
                  <a:srgbClr val="1B1F3B"/>
                </a:solidFill>
                <a:latin typeface="Georgia" pitchFamily="34" charset="0"/>
                <a:ea typeface="Georgia" pitchFamily="34" charset="-122"/>
                <a:cs typeface="Georgia" pitchFamily="34" charset="-120"/>
              </a:rPr>
              <a:t>Alertes urgentes</a:t>
            </a:r>
            <a:endParaRPr lang="en-US" sz="1500" dirty="0"/>
          </a:p>
        </p:txBody>
      </p:sp>
      <p:sp>
        <p:nvSpPr>
          <p:cNvPr id="13" name="Text 11"/>
          <p:cNvSpPr/>
          <p:nvPr/>
        </p:nvSpPr>
        <p:spPr>
          <a:xfrm>
            <a:off x="914400" y="4343400"/>
            <a:ext cx="10332720" cy="1051560"/>
          </a:xfrm>
          <a:prstGeom prst="rect">
            <a:avLst/>
          </a:prstGeom>
          <a:noFill/>
          <a:ln/>
        </p:spPr>
        <p:txBody>
          <a:bodyPr wrap="square" rtlCol="0" anchor="ctr"/>
          <a:lstStyle/>
          <a:p>
            <a:pPr indent="0" marL="0">
              <a:lnSpc>
                <a:spcPts val="1600"/>
              </a:lnSpc>
              <a:buNone/>
            </a:pPr>
            <a:r>
              <a:rPr lang="en-US" sz="1150" dirty="0">
                <a:solidFill>
                  <a:srgbClr val="1B1F3B"/>
                </a:solidFill>
                <a:latin typeface="Segoe UI" pitchFamily="34" charset="0"/>
                <a:ea typeface="Segoe UI" pitchFamily="34" charset="-122"/>
                <a:cs typeface="Segoe UI" pitchFamily="34" charset="-120"/>
              </a:rPr>
              <a:t>Remontée des signalements urgents envoyés par les ouvriers ou les clients (fuite, incendie, dégât...), directement visibles sur l'accueil.</a:t>
            </a:r>
            <a:endParaRPr lang="en-US" sz="1150" dirty="0"/>
          </a:p>
        </p:txBody>
      </p:sp>
      <p:sp>
        <p:nvSpPr>
          <p:cNvPr id="14" name="Text 12"/>
          <p:cNvSpPr/>
          <p:nvPr/>
        </p:nvSpPr>
        <p:spPr>
          <a:xfrm>
            <a:off x="914400" y="5550408"/>
            <a:ext cx="10332720" cy="228600"/>
          </a:xfrm>
          <a:prstGeom prst="rect">
            <a:avLst/>
          </a:prstGeom>
          <a:noFill/>
          <a:ln/>
        </p:spPr>
        <p:txBody>
          <a:bodyPr wrap="square" rtlCol="0" anchor="ctr"/>
          <a:lstStyle/>
          <a:p>
            <a:pPr indent="0" marL="0">
              <a:buNone/>
            </a:pPr>
            <a:r>
              <a:rPr lang="en-US" sz="800" b="1" spc="100" kern="0" dirty="0">
                <a:solidFill>
                  <a:srgbClr val="9A7C5C"/>
                </a:solidFill>
                <a:latin typeface="Segoe UI" pitchFamily="34" charset="0"/>
                <a:ea typeface="Segoe UI" pitchFamily="34" charset="-122"/>
                <a:cs typeface="Segoe UI" pitchFamily="34" charset="-120"/>
              </a:rPr>
              <a:t>RÉALISATION TECHNIQUE</a:t>
            </a:r>
            <a:endParaRPr lang="en-US" sz="800" dirty="0"/>
          </a:p>
        </p:txBody>
      </p:sp>
      <p:sp>
        <p:nvSpPr>
          <p:cNvPr id="15" name="Text 13"/>
          <p:cNvSpPr/>
          <p:nvPr/>
        </p:nvSpPr>
        <p:spPr>
          <a:xfrm>
            <a:off x="914400" y="5797296"/>
            <a:ext cx="10332720" cy="548640"/>
          </a:xfrm>
          <a:prstGeom prst="rect">
            <a:avLst/>
          </a:prstGeom>
          <a:noFill/>
          <a:ln/>
        </p:spPr>
        <p:txBody>
          <a:bodyPr wrap="square" rtlCol="0" anchor="ctr"/>
          <a:lstStyle/>
          <a:p>
            <a:pPr indent="0" marL="0">
              <a:lnSpc>
                <a:spcPts val="1400"/>
              </a:lnSpc>
              <a:buNone/>
            </a:pPr>
            <a:r>
              <a:rPr lang="en-US" sz="1000" i="1" dirty="0">
                <a:solidFill>
                  <a:srgbClr val="8A7C68"/>
                </a:solidFill>
                <a:latin typeface="Segoe UI" pitchFamily="34" charset="0"/>
                <a:ea typeface="Segoe UI" pitchFamily="34" charset="-122"/>
                <a:cs typeface="Segoe UI" pitchFamily="34" charset="-120"/>
              </a:rPr>
              <a:t>API /api/urgent-alerts.</a:t>
            </a:r>
            <a:endParaRPr lang="en-US" sz="1000" dirty="0"/>
          </a:p>
        </p:txBody>
      </p:sp>
      <p:sp>
        <p:nvSpPr>
          <p:cNvPr id="16" name="Text 14"/>
          <p:cNvSpPr/>
          <p:nvPr/>
        </p:nvSpPr>
        <p:spPr>
          <a:xfrm>
            <a:off x="365760" y="6510528"/>
            <a:ext cx="5486400" cy="274320"/>
          </a:xfrm>
          <a:prstGeom prst="rect">
            <a:avLst/>
          </a:prstGeom>
          <a:noFill/>
          <a:ln/>
        </p:spPr>
        <p:txBody>
          <a:bodyPr wrap="square" rtlCol="0" anchor="ctr"/>
          <a:lstStyle/>
          <a:p>
            <a:pPr indent="0" marL="0">
              <a:buNone/>
            </a:pPr>
            <a:r>
              <a:rPr lang="en-US" sz="850" dirty="0">
                <a:solidFill>
                  <a:srgbClr val="8A7C68"/>
                </a:solidFill>
                <a:latin typeface="Segoe UI" pitchFamily="34" charset="0"/>
                <a:ea typeface="Segoe UI" pitchFamily="34" charset="-122"/>
                <a:cs typeface="Segoe UI" pitchFamily="34" charset="-120"/>
              </a:rPr>
              <a:t>Kôji Web — Cahier des charges</a:t>
            </a:r>
            <a:endParaRPr lang="en-US" sz="850" dirty="0"/>
          </a:p>
        </p:txBody>
      </p:sp>
      <p:sp>
        <p:nvSpPr>
          <p:cNvPr id="17" name="Text 15"/>
          <p:cNvSpPr/>
          <p:nvPr/>
        </p:nvSpPr>
        <p:spPr>
          <a:xfrm>
            <a:off x="9601200" y="6510528"/>
            <a:ext cx="2194560" cy="274320"/>
          </a:xfrm>
          <a:prstGeom prst="rect">
            <a:avLst/>
          </a:prstGeom>
          <a:noFill/>
          <a:ln/>
        </p:spPr>
        <p:txBody>
          <a:bodyPr wrap="square" rtlCol="0" anchor="ctr"/>
          <a:lstStyle/>
          <a:p>
            <a:pPr algn="r" indent="0" marL="0">
              <a:buNone/>
            </a:pPr>
            <a:r>
              <a:rPr lang="en-US" sz="850" dirty="0">
                <a:solidFill>
                  <a:srgbClr val="8A7C68"/>
                </a:solidFill>
                <a:latin typeface="Segoe UI" pitchFamily="34" charset="0"/>
                <a:ea typeface="Segoe UI" pitchFamily="34" charset="-122"/>
                <a:cs typeface="Segoe UI" pitchFamily="34" charset="-120"/>
              </a:rPr>
              <a:t>18</a:t>
            </a:r>
            <a:endParaRPr lang="en-US" sz="8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0B1030"/>
        </a:solidFill>
      </p:bgPr>
    </p:bg>
    <p:spTree>
      <p:nvGrpSpPr>
        <p:cNvPr id="1" name=""/>
        <p:cNvGrpSpPr/>
        <p:nvPr/>
      </p:nvGrpSpPr>
      <p:grpSpPr>
        <a:xfrm>
          <a:off x="0" y="0"/>
          <a:ext cx="0" cy="0"/>
          <a:chOff x="0" y="0"/>
          <a:chExt cx="0" cy="0"/>
        </a:xfrm>
      </p:grpSpPr>
      <p:sp>
        <p:nvSpPr>
          <p:cNvPr id="2" name="Shape 0"/>
          <p:cNvSpPr/>
          <p:nvPr/>
        </p:nvSpPr>
        <p:spPr>
          <a:xfrm>
            <a:off x="0" y="3246120"/>
            <a:ext cx="12191695" cy="54864"/>
          </a:xfrm>
          <a:prstGeom prst="rect">
            <a:avLst/>
          </a:prstGeom>
          <a:solidFill>
            <a:srgbClr val="C9A96A"/>
          </a:solidFill>
          <a:ln/>
        </p:spPr>
      </p:sp>
      <p:sp>
        <p:nvSpPr>
          <p:cNvPr id="3" name="Text 1"/>
          <p:cNvSpPr/>
          <p:nvPr/>
        </p:nvSpPr>
        <p:spPr>
          <a:xfrm>
            <a:off x="640080" y="1920240"/>
            <a:ext cx="2743200" cy="548640"/>
          </a:xfrm>
          <a:prstGeom prst="rect">
            <a:avLst/>
          </a:prstGeom>
          <a:noFill/>
          <a:ln/>
        </p:spPr>
        <p:txBody>
          <a:bodyPr wrap="square" rtlCol="0" anchor="ctr"/>
          <a:lstStyle/>
          <a:p>
            <a:pPr indent="0" marL="0">
              <a:buNone/>
            </a:pPr>
            <a:r>
              <a:rPr lang="en-US" sz="1500" b="1" dirty="0">
                <a:solidFill>
                  <a:srgbClr val="C9A96A"/>
                </a:solidFill>
                <a:latin typeface="Segoe UI" pitchFamily="34" charset="0"/>
                <a:ea typeface="Segoe UI" pitchFamily="34" charset="-122"/>
                <a:cs typeface="Segoe UI" pitchFamily="34" charset="-120"/>
              </a:rPr>
              <a:t>04</a:t>
            </a:r>
            <a:endParaRPr lang="en-US" sz="1500" dirty="0"/>
          </a:p>
        </p:txBody>
      </p:sp>
      <p:sp>
        <p:nvSpPr>
          <p:cNvPr id="4" name="Text 2"/>
          <p:cNvSpPr/>
          <p:nvPr/>
        </p:nvSpPr>
        <p:spPr>
          <a:xfrm>
            <a:off x="640080" y="2377440"/>
            <a:ext cx="10515600" cy="914400"/>
          </a:xfrm>
          <a:prstGeom prst="rect">
            <a:avLst/>
          </a:prstGeom>
          <a:noFill/>
          <a:ln/>
        </p:spPr>
        <p:txBody>
          <a:bodyPr wrap="square" rtlCol="0" anchor="ctr"/>
          <a:lstStyle/>
          <a:p>
            <a:pPr indent="0" marL="0">
              <a:buNone/>
            </a:pPr>
            <a:r>
              <a:rPr lang="en-US" sz="3400" b="1" dirty="0">
                <a:solidFill>
                  <a:srgbClr val="FFFFFF"/>
                </a:solidFill>
                <a:latin typeface="Georgia" pitchFamily="34" charset="0"/>
                <a:ea typeface="Georgia" pitchFamily="34" charset="-122"/>
                <a:cs typeface="Georgia" pitchFamily="34" charset="-120"/>
              </a:rPr>
              <a:t>Bibliothèque d'ouvrages</a:t>
            </a:r>
            <a:endParaRPr lang="en-US" sz="3400" dirty="0"/>
          </a:p>
        </p:txBody>
      </p:sp>
      <p:sp>
        <p:nvSpPr>
          <p:cNvPr id="5" name="Text 3"/>
          <p:cNvSpPr/>
          <p:nvPr/>
        </p:nvSpPr>
        <p:spPr>
          <a:xfrm>
            <a:off x="640080" y="3429000"/>
            <a:ext cx="10058400" cy="1188720"/>
          </a:xfrm>
          <a:prstGeom prst="rect">
            <a:avLst/>
          </a:prstGeom>
          <a:noFill/>
          <a:ln/>
        </p:spPr>
        <p:txBody>
          <a:bodyPr wrap="square" rtlCol="0" anchor="ctr"/>
          <a:lstStyle/>
          <a:p>
            <a:pPr indent="0" marL="0">
              <a:lnSpc>
                <a:spcPts val="1800"/>
              </a:lnSpc>
              <a:buNone/>
            </a:pPr>
            <a:r>
              <a:rPr lang="en-US" sz="1300" dirty="0">
                <a:solidFill>
                  <a:srgbClr val="C7C9E0"/>
                </a:solidFill>
                <a:latin typeface="Segoe UI" pitchFamily="34" charset="0"/>
                <a:ea typeface="Segoe UI" pitchFamily="34" charset="-122"/>
                <a:cs typeface="Segoe UI" pitchFamily="34" charset="-120"/>
              </a:rPr>
              <a:t>Catalogue des ouvrages (prestations types) que l'entreprise propose, utilisé pour construire les devis rapidement plutôt que de tout ressaisir à chaque fois.</a:t>
            </a:r>
            <a:endParaRPr lang="en-US" sz="1300" dirty="0"/>
          </a:p>
        </p:txBody>
      </p:sp>
      <p:sp>
        <p:nvSpPr>
          <p:cNvPr id="6" name="Text 4"/>
          <p:cNvSpPr/>
          <p:nvPr/>
        </p:nvSpPr>
        <p:spPr>
          <a:xfrm>
            <a:off x="365760" y="6510528"/>
            <a:ext cx="5486400" cy="274320"/>
          </a:xfrm>
          <a:prstGeom prst="rect">
            <a:avLst/>
          </a:prstGeom>
          <a:noFill/>
          <a:ln/>
        </p:spPr>
        <p:txBody>
          <a:bodyPr wrap="square" rtlCol="0" anchor="ctr"/>
          <a:lstStyle/>
          <a:p>
            <a:pPr indent="0" marL="0">
              <a:buNone/>
            </a:pPr>
            <a:r>
              <a:rPr lang="en-US" sz="850" dirty="0">
                <a:solidFill>
                  <a:srgbClr val="8A7C68"/>
                </a:solidFill>
                <a:latin typeface="Segoe UI" pitchFamily="34" charset="0"/>
                <a:ea typeface="Segoe UI" pitchFamily="34" charset="-122"/>
                <a:cs typeface="Segoe UI" pitchFamily="34" charset="-120"/>
              </a:rPr>
              <a:t>Kôji Web — Cahier des charges</a:t>
            </a:r>
            <a:endParaRPr lang="en-US" sz="850" dirty="0"/>
          </a:p>
        </p:txBody>
      </p:sp>
      <p:sp>
        <p:nvSpPr>
          <p:cNvPr id="7" name="Text 5"/>
          <p:cNvSpPr/>
          <p:nvPr/>
        </p:nvSpPr>
        <p:spPr>
          <a:xfrm>
            <a:off x="9601200" y="6510528"/>
            <a:ext cx="2194560" cy="274320"/>
          </a:xfrm>
          <a:prstGeom prst="rect">
            <a:avLst/>
          </a:prstGeom>
          <a:noFill/>
          <a:ln/>
        </p:spPr>
        <p:txBody>
          <a:bodyPr wrap="square" rtlCol="0" anchor="ctr"/>
          <a:lstStyle/>
          <a:p>
            <a:pPr algn="r" indent="0" marL="0">
              <a:buNone/>
            </a:pPr>
            <a:r>
              <a:rPr lang="en-US" sz="850" dirty="0">
                <a:solidFill>
                  <a:srgbClr val="8A7C68"/>
                </a:solidFill>
                <a:latin typeface="Segoe UI" pitchFamily="34" charset="0"/>
                <a:ea typeface="Segoe UI" pitchFamily="34" charset="-122"/>
                <a:cs typeface="Segoe UI" pitchFamily="34" charset="-120"/>
              </a:rPr>
              <a:t>19</a:t>
            </a:r>
            <a:endParaRPr lang="en-US" sz="8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3108960" cy="365760"/>
          </a:xfrm>
          <a:prstGeom prst="roundRect">
            <a:avLst>
              <a:gd name="adj" fmla="val 50000"/>
            </a:avLst>
          </a:prstGeom>
          <a:solidFill>
            <a:srgbClr val="F7EADF"/>
          </a:solidFill>
          <a:ln/>
        </p:spPr>
      </p:sp>
      <p:sp>
        <p:nvSpPr>
          <p:cNvPr id="3" name="Text 1"/>
          <p:cNvSpPr/>
          <p:nvPr/>
        </p:nvSpPr>
        <p:spPr>
          <a:xfrm>
            <a:off x="640080" y="411480"/>
            <a:ext cx="3108960" cy="365760"/>
          </a:xfrm>
          <a:prstGeom prst="rect">
            <a:avLst/>
          </a:prstGeom>
          <a:noFill/>
          <a:ln/>
        </p:spPr>
        <p:txBody>
          <a:bodyPr wrap="square" rtlCol="0" anchor="ctr"/>
          <a:lstStyle/>
          <a:p>
            <a:pPr algn="ctr" indent="0" marL="0">
              <a:buNone/>
            </a:pPr>
            <a:r>
              <a:rPr lang="en-US" sz="950" b="1" spc="100" kern="0" dirty="0">
                <a:solidFill>
                  <a:srgbClr val="9A7C5C"/>
                </a:solidFill>
                <a:latin typeface="Segoe UI" pitchFamily="34" charset="0"/>
                <a:ea typeface="Segoe UI" pitchFamily="34" charset="-122"/>
                <a:cs typeface="Segoe UI" pitchFamily="34" charset="-120"/>
              </a:rPr>
              <a:t>BIBLIOTHÈQUE D'OUVRAGES</a:t>
            </a:r>
            <a:endParaRPr lang="en-US" sz="950" dirty="0"/>
          </a:p>
        </p:txBody>
      </p:sp>
      <p:sp>
        <p:nvSpPr>
          <p:cNvPr id="4" name="Shape 2"/>
          <p:cNvSpPr/>
          <p:nvPr/>
        </p:nvSpPr>
        <p:spPr>
          <a:xfrm>
            <a:off x="640080" y="1005840"/>
            <a:ext cx="10881360" cy="2606040"/>
          </a:xfrm>
          <a:prstGeom prst="roundRect">
            <a:avLst>
              <a:gd name="adj" fmla="val 2105"/>
            </a:avLst>
          </a:prstGeom>
          <a:solidFill>
            <a:srgbClr val="FFFFFF"/>
          </a:solidFill>
          <a:ln w="12700">
            <a:solidFill>
              <a:srgbClr val="E4DCCB"/>
            </a:solidFill>
            <a:prstDash val="solid"/>
          </a:ln>
        </p:spPr>
      </p:sp>
      <p:sp>
        <p:nvSpPr>
          <p:cNvPr id="5" name="Shape 3"/>
          <p:cNvSpPr/>
          <p:nvPr/>
        </p:nvSpPr>
        <p:spPr>
          <a:xfrm>
            <a:off x="640080" y="1005840"/>
            <a:ext cx="54864" cy="2606040"/>
          </a:xfrm>
          <a:prstGeom prst="rect">
            <a:avLst/>
          </a:prstGeom>
          <a:solidFill>
            <a:srgbClr val="1D6FE0"/>
          </a:solidFill>
          <a:ln/>
        </p:spPr>
      </p:sp>
      <p:sp>
        <p:nvSpPr>
          <p:cNvPr id="6" name="Text 4"/>
          <p:cNvSpPr/>
          <p:nvPr/>
        </p:nvSpPr>
        <p:spPr>
          <a:xfrm>
            <a:off x="914400" y="1133856"/>
            <a:ext cx="10332720" cy="365760"/>
          </a:xfrm>
          <a:prstGeom prst="rect">
            <a:avLst/>
          </a:prstGeom>
          <a:noFill/>
          <a:ln/>
        </p:spPr>
        <p:txBody>
          <a:bodyPr wrap="square" rtlCol="0" anchor="ctr"/>
          <a:lstStyle/>
          <a:p>
            <a:pPr indent="0" marL="0">
              <a:buNone/>
            </a:pPr>
            <a:r>
              <a:rPr lang="en-US" sz="1500" b="1" dirty="0">
                <a:solidFill>
                  <a:srgbClr val="1B1F3B"/>
                </a:solidFill>
                <a:latin typeface="Georgia" pitchFamily="34" charset="0"/>
                <a:ea typeface="Georgia" pitchFamily="34" charset="-122"/>
                <a:cs typeface="Georgia" pitchFamily="34" charset="-120"/>
              </a:rPr>
              <a:t>Catalogue d'ouvrages</a:t>
            </a:r>
            <a:endParaRPr lang="en-US" sz="1500" dirty="0"/>
          </a:p>
        </p:txBody>
      </p:sp>
      <p:sp>
        <p:nvSpPr>
          <p:cNvPr id="7" name="Text 5"/>
          <p:cNvSpPr/>
          <p:nvPr/>
        </p:nvSpPr>
        <p:spPr>
          <a:xfrm>
            <a:off x="914400" y="1536192"/>
            <a:ext cx="10332720" cy="1051560"/>
          </a:xfrm>
          <a:prstGeom prst="rect">
            <a:avLst/>
          </a:prstGeom>
          <a:noFill/>
          <a:ln/>
        </p:spPr>
        <p:txBody>
          <a:bodyPr wrap="square" rtlCol="0" anchor="ctr"/>
          <a:lstStyle/>
          <a:p>
            <a:pPr indent="0" marL="0">
              <a:lnSpc>
                <a:spcPts val="1600"/>
              </a:lnSpc>
              <a:buNone/>
            </a:pPr>
            <a:r>
              <a:rPr lang="en-US" sz="1150" dirty="0">
                <a:solidFill>
                  <a:srgbClr val="1B1F3B"/>
                </a:solidFill>
                <a:latin typeface="Segoe UI" pitchFamily="34" charset="0"/>
                <a:ea typeface="Segoe UI" pitchFamily="34" charset="-122"/>
                <a:cs typeface="Segoe UI" pitchFamily="34" charset="-120"/>
              </a:rPr>
              <a:t>Liste des ouvrages disponibles (peinture, carrelage, plomberie...), avec leur famille, temps normatif, unité, et coût de main d'œuvre calculé.</a:t>
            </a:r>
            <a:endParaRPr lang="en-US" sz="1150" dirty="0"/>
          </a:p>
        </p:txBody>
      </p:sp>
      <p:sp>
        <p:nvSpPr>
          <p:cNvPr id="8" name="Text 6"/>
          <p:cNvSpPr/>
          <p:nvPr/>
        </p:nvSpPr>
        <p:spPr>
          <a:xfrm>
            <a:off x="914400" y="2743200"/>
            <a:ext cx="10332720" cy="228600"/>
          </a:xfrm>
          <a:prstGeom prst="rect">
            <a:avLst/>
          </a:prstGeom>
          <a:noFill/>
          <a:ln/>
        </p:spPr>
        <p:txBody>
          <a:bodyPr wrap="square" rtlCol="0" anchor="ctr"/>
          <a:lstStyle/>
          <a:p>
            <a:pPr indent="0" marL="0">
              <a:buNone/>
            </a:pPr>
            <a:r>
              <a:rPr lang="en-US" sz="800" b="1" spc="100" kern="0" dirty="0">
                <a:solidFill>
                  <a:srgbClr val="9A7C5C"/>
                </a:solidFill>
                <a:latin typeface="Segoe UI" pitchFamily="34" charset="0"/>
                <a:ea typeface="Segoe UI" pitchFamily="34" charset="-122"/>
                <a:cs typeface="Segoe UI" pitchFamily="34" charset="-120"/>
              </a:rPr>
              <a:t>RÉALISATION TECHNIQUE</a:t>
            </a:r>
            <a:endParaRPr lang="en-US" sz="800" dirty="0"/>
          </a:p>
        </p:txBody>
      </p:sp>
      <p:sp>
        <p:nvSpPr>
          <p:cNvPr id="9" name="Text 7"/>
          <p:cNvSpPr/>
          <p:nvPr/>
        </p:nvSpPr>
        <p:spPr>
          <a:xfrm>
            <a:off x="914400" y="2990088"/>
            <a:ext cx="10332720" cy="548640"/>
          </a:xfrm>
          <a:prstGeom prst="rect">
            <a:avLst/>
          </a:prstGeom>
          <a:noFill/>
          <a:ln/>
        </p:spPr>
        <p:txBody>
          <a:bodyPr wrap="square" rtlCol="0" anchor="ctr"/>
          <a:lstStyle/>
          <a:p>
            <a:pPr indent="0" marL="0">
              <a:lnSpc>
                <a:spcPts val="1400"/>
              </a:lnSpc>
              <a:buNone/>
            </a:pPr>
            <a:r>
              <a:rPr lang="en-US" sz="1000" i="1" dirty="0">
                <a:solidFill>
                  <a:srgbClr val="8A7C68"/>
                </a:solidFill>
                <a:latin typeface="Segoe UI" pitchFamily="34" charset="0"/>
                <a:ea typeface="Segoe UI" pitchFamily="34" charset="-122"/>
                <a:cs typeface="Segoe UI" pitchFamily="34" charset="-120"/>
              </a:rPr>
              <a:t>Page /bibliotheque-ouvrages ; catalogue initial fourni par data/catalog-ouvrages.json, complété par les ouvrages créés par l'entreprise (API /api/ouvrages).</a:t>
            </a:r>
            <a:endParaRPr lang="en-US" sz="1000" dirty="0"/>
          </a:p>
        </p:txBody>
      </p:sp>
      <p:sp>
        <p:nvSpPr>
          <p:cNvPr id="10" name="Shape 8"/>
          <p:cNvSpPr/>
          <p:nvPr/>
        </p:nvSpPr>
        <p:spPr>
          <a:xfrm>
            <a:off x="640080" y="3813048"/>
            <a:ext cx="10881360" cy="2606040"/>
          </a:xfrm>
          <a:prstGeom prst="roundRect">
            <a:avLst>
              <a:gd name="adj" fmla="val 2105"/>
            </a:avLst>
          </a:prstGeom>
          <a:solidFill>
            <a:srgbClr val="FFFFFF"/>
          </a:solidFill>
          <a:ln w="12700">
            <a:solidFill>
              <a:srgbClr val="E4DCCB"/>
            </a:solidFill>
            <a:prstDash val="solid"/>
          </a:ln>
        </p:spPr>
      </p:sp>
      <p:sp>
        <p:nvSpPr>
          <p:cNvPr id="11" name="Shape 9"/>
          <p:cNvSpPr/>
          <p:nvPr/>
        </p:nvSpPr>
        <p:spPr>
          <a:xfrm>
            <a:off x="640080" y="3813048"/>
            <a:ext cx="54864" cy="2606040"/>
          </a:xfrm>
          <a:prstGeom prst="rect">
            <a:avLst/>
          </a:prstGeom>
          <a:solidFill>
            <a:srgbClr val="1D6FE0"/>
          </a:solidFill>
          <a:ln/>
        </p:spPr>
      </p:sp>
      <p:sp>
        <p:nvSpPr>
          <p:cNvPr id="12" name="Text 10"/>
          <p:cNvSpPr/>
          <p:nvPr/>
        </p:nvSpPr>
        <p:spPr>
          <a:xfrm>
            <a:off x="914400" y="3941064"/>
            <a:ext cx="10332720" cy="365760"/>
          </a:xfrm>
          <a:prstGeom prst="rect">
            <a:avLst/>
          </a:prstGeom>
          <a:noFill/>
          <a:ln/>
        </p:spPr>
        <p:txBody>
          <a:bodyPr wrap="square" rtlCol="0" anchor="ctr"/>
          <a:lstStyle/>
          <a:p>
            <a:pPr indent="0" marL="0">
              <a:buNone/>
            </a:pPr>
            <a:r>
              <a:rPr lang="en-US" sz="1500" b="1" dirty="0">
                <a:solidFill>
                  <a:srgbClr val="1B1F3B"/>
                </a:solidFill>
                <a:latin typeface="Georgia" pitchFamily="34" charset="0"/>
                <a:ea typeface="Georgia" pitchFamily="34" charset="-122"/>
                <a:cs typeface="Georgia" pitchFamily="34" charset="-120"/>
              </a:rPr>
              <a:t>Création / édition d'un ouvrage</a:t>
            </a:r>
            <a:endParaRPr lang="en-US" sz="1500" dirty="0"/>
          </a:p>
        </p:txBody>
      </p:sp>
      <p:sp>
        <p:nvSpPr>
          <p:cNvPr id="13" name="Text 11"/>
          <p:cNvSpPr/>
          <p:nvPr/>
        </p:nvSpPr>
        <p:spPr>
          <a:xfrm>
            <a:off x="914400" y="4343400"/>
            <a:ext cx="10332720" cy="1051560"/>
          </a:xfrm>
          <a:prstGeom prst="rect">
            <a:avLst/>
          </a:prstGeom>
          <a:noFill/>
          <a:ln/>
        </p:spPr>
        <p:txBody>
          <a:bodyPr wrap="square" rtlCol="0" anchor="ctr"/>
          <a:lstStyle/>
          <a:p>
            <a:pPr indent="0" marL="0">
              <a:lnSpc>
                <a:spcPts val="1600"/>
              </a:lnSpc>
              <a:buNone/>
            </a:pPr>
            <a:r>
              <a:rPr lang="en-US" sz="1150" dirty="0">
                <a:solidFill>
                  <a:srgbClr val="1B1F3B"/>
                </a:solidFill>
                <a:latin typeface="Segoe UI" pitchFamily="34" charset="0"/>
                <a:ea typeface="Segoe UI" pitchFamily="34" charset="-122"/>
                <a:cs typeface="Segoe UI" pitchFamily="34" charset="-120"/>
              </a:rPr>
              <a:t>Formulaire de création avec famille (au choix libre ou dans la liste existante), temps normatif, unité, taux horaire.</a:t>
            </a:r>
            <a:endParaRPr lang="en-US" sz="1150" dirty="0"/>
          </a:p>
        </p:txBody>
      </p:sp>
      <p:sp>
        <p:nvSpPr>
          <p:cNvPr id="14" name="Text 12"/>
          <p:cNvSpPr/>
          <p:nvPr/>
        </p:nvSpPr>
        <p:spPr>
          <a:xfrm>
            <a:off x="914400" y="5550408"/>
            <a:ext cx="10332720" cy="228600"/>
          </a:xfrm>
          <a:prstGeom prst="rect">
            <a:avLst/>
          </a:prstGeom>
          <a:noFill/>
          <a:ln/>
        </p:spPr>
        <p:txBody>
          <a:bodyPr wrap="square" rtlCol="0" anchor="ctr"/>
          <a:lstStyle/>
          <a:p>
            <a:pPr indent="0" marL="0">
              <a:buNone/>
            </a:pPr>
            <a:r>
              <a:rPr lang="en-US" sz="800" b="1" spc="100" kern="0" dirty="0">
                <a:solidFill>
                  <a:srgbClr val="9A7C5C"/>
                </a:solidFill>
                <a:latin typeface="Segoe UI" pitchFamily="34" charset="0"/>
                <a:ea typeface="Segoe UI" pitchFamily="34" charset="-122"/>
                <a:cs typeface="Segoe UI" pitchFamily="34" charset="-120"/>
              </a:rPr>
              <a:t>RÉALISATION TECHNIQUE</a:t>
            </a:r>
            <a:endParaRPr lang="en-US" sz="800" dirty="0"/>
          </a:p>
        </p:txBody>
      </p:sp>
      <p:sp>
        <p:nvSpPr>
          <p:cNvPr id="15" name="Text 13"/>
          <p:cNvSpPr/>
          <p:nvPr/>
        </p:nvSpPr>
        <p:spPr>
          <a:xfrm>
            <a:off x="914400" y="5797296"/>
            <a:ext cx="10332720" cy="548640"/>
          </a:xfrm>
          <a:prstGeom prst="rect">
            <a:avLst/>
          </a:prstGeom>
          <a:noFill/>
          <a:ln/>
        </p:spPr>
        <p:txBody>
          <a:bodyPr wrap="square" rtlCol="0" anchor="ctr"/>
          <a:lstStyle/>
          <a:p>
            <a:pPr indent="0" marL="0">
              <a:lnSpc>
                <a:spcPts val="1400"/>
              </a:lnSpc>
              <a:buNone/>
            </a:pPr>
            <a:r>
              <a:rPr lang="en-US" sz="1000" i="1" dirty="0">
                <a:solidFill>
                  <a:srgbClr val="8A7C68"/>
                </a:solidFill>
                <a:latin typeface="Segoe UI" pitchFamily="34" charset="0"/>
                <a:ea typeface="Segoe UI" pitchFamily="34" charset="-122"/>
                <a:cs typeface="Segoe UI" pitchFamily="34" charset="-120"/>
              </a:rPr>
              <a:t>Le taux horaire du profil entreprise est utilisé par défaut si aucun n'est saisi pour l'ouvrage.</a:t>
            </a:r>
            <a:endParaRPr lang="en-US" sz="1000" dirty="0"/>
          </a:p>
        </p:txBody>
      </p:sp>
      <p:sp>
        <p:nvSpPr>
          <p:cNvPr id="16" name="Text 14"/>
          <p:cNvSpPr/>
          <p:nvPr/>
        </p:nvSpPr>
        <p:spPr>
          <a:xfrm>
            <a:off x="365760" y="6510528"/>
            <a:ext cx="5486400" cy="274320"/>
          </a:xfrm>
          <a:prstGeom prst="rect">
            <a:avLst/>
          </a:prstGeom>
          <a:noFill/>
          <a:ln/>
        </p:spPr>
        <p:txBody>
          <a:bodyPr wrap="square" rtlCol="0" anchor="ctr"/>
          <a:lstStyle/>
          <a:p>
            <a:pPr indent="0" marL="0">
              <a:buNone/>
            </a:pPr>
            <a:r>
              <a:rPr lang="en-US" sz="850" dirty="0">
                <a:solidFill>
                  <a:srgbClr val="8A7C68"/>
                </a:solidFill>
                <a:latin typeface="Segoe UI" pitchFamily="34" charset="0"/>
                <a:ea typeface="Segoe UI" pitchFamily="34" charset="-122"/>
                <a:cs typeface="Segoe UI" pitchFamily="34" charset="-120"/>
              </a:rPr>
              <a:t>Kôji Web — Cahier des charges</a:t>
            </a:r>
            <a:endParaRPr lang="en-US" sz="850" dirty="0"/>
          </a:p>
        </p:txBody>
      </p:sp>
      <p:sp>
        <p:nvSpPr>
          <p:cNvPr id="17" name="Text 15"/>
          <p:cNvSpPr/>
          <p:nvPr/>
        </p:nvSpPr>
        <p:spPr>
          <a:xfrm>
            <a:off x="9601200" y="6510528"/>
            <a:ext cx="2194560" cy="274320"/>
          </a:xfrm>
          <a:prstGeom prst="rect">
            <a:avLst/>
          </a:prstGeom>
          <a:noFill/>
          <a:ln/>
        </p:spPr>
        <p:txBody>
          <a:bodyPr wrap="square" rtlCol="0" anchor="ctr"/>
          <a:lstStyle/>
          <a:p>
            <a:pPr algn="r" indent="0" marL="0">
              <a:buNone/>
            </a:pPr>
            <a:r>
              <a:rPr lang="en-US" sz="850" dirty="0">
                <a:solidFill>
                  <a:srgbClr val="8A7C68"/>
                </a:solidFill>
                <a:latin typeface="Segoe UI" pitchFamily="34" charset="0"/>
                <a:ea typeface="Segoe UI" pitchFamily="34" charset="-122"/>
                <a:cs typeface="Segoe UI" pitchFamily="34" charset="-120"/>
              </a:rPr>
              <a:t>20</a:t>
            </a:r>
            <a:endParaRPr lang="en-US" sz="8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3108960" cy="365760"/>
          </a:xfrm>
          <a:prstGeom prst="roundRect">
            <a:avLst>
              <a:gd name="adj" fmla="val 50000"/>
            </a:avLst>
          </a:prstGeom>
          <a:solidFill>
            <a:srgbClr val="F7EADF"/>
          </a:solidFill>
          <a:ln/>
        </p:spPr>
      </p:sp>
      <p:sp>
        <p:nvSpPr>
          <p:cNvPr id="3" name="Text 1"/>
          <p:cNvSpPr/>
          <p:nvPr/>
        </p:nvSpPr>
        <p:spPr>
          <a:xfrm>
            <a:off x="640080" y="411480"/>
            <a:ext cx="3108960" cy="365760"/>
          </a:xfrm>
          <a:prstGeom prst="rect">
            <a:avLst/>
          </a:prstGeom>
          <a:noFill/>
          <a:ln/>
        </p:spPr>
        <p:txBody>
          <a:bodyPr wrap="square" rtlCol="0" anchor="ctr"/>
          <a:lstStyle/>
          <a:p>
            <a:pPr algn="ctr" indent="0" marL="0">
              <a:buNone/>
            </a:pPr>
            <a:r>
              <a:rPr lang="en-US" sz="950" b="1" spc="100" kern="0" dirty="0">
                <a:solidFill>
                  <a:srgbClr val="9A7C5C"/>
                </a:solidFill>
                <a:latin typeface="Segoe UI" pitchFamily="34" charset="0"/>
                <a:ea typeface="Segoe UI" pitchFamily="34" charset="-122"/>
                <a:cs typeface="Segoe UI" pitchFamily="34" charset="-120"/>
              </a:rPr>
              <a:t>BIBLIOTHÈQUE D'OUVRAGES</a:t>
            </a:r>
            <a:endParaRPr lang="en-US" sz="950" dirty="0"/>
          </a:p>
        </p:txBody>
      </p:sp>
      <p:sp>
        <p:nvSpPr>
          <p:cNvPr id="4" name="Shape 2"/>
          <p:cNvSpPr/>
          <p:nvPr/>
        </p:nvSpPr>
        <p:spPr>
          <a:xfrm>
            <a:off x="640080" y="1005840"/>
            <a:ext cx="10881360" cy="2606040"/>
          </a:xfrm>
          <a:prstGeom prst="roundRect">
            <a:avLst>
              <a:gd name="adj" fmla="val 2105"/>
            </a:avLst>
          </a:prstGeom>
          <a:solidFill>
            <a:srgbClr val="FFFFFF"/>
          </a:solidFill>
          <a:ln w="12700">
            <a:solidFill>
              <a:srgbClr val="E4DCCB"/>
            </a:solidFill>
            <a:prstDash val="solid"/>
          </a:ln>
        </p:spPr>
      </p:sp>
      <p:sp>
        <p:nvSpPr>
          <p:cNvPr id="5" name="Shape 3"/>
          <p:cNvSpPr/>
          <p:nvPr/>
        </p:nvSpPr>
        <p:spPr>
          <a:xfrm>
            <a:off x="640080" y="1005840"/>
            <a:ext cx="54864" cy="2606040"/>
          </a:xfrm>
          <a:prstGeom prst="rect">
            <a:avLst/>
          </a:prstGeom>
          <a:solidFill>
            <a:srgbClr val="1D6FE0"/>
          </a:solidFill>
          <a:ln/>
        </p:spPr>
      </p:sp>
      <p:sp>
        <p:nvSpPr>
          <p:cNvPr id="6" name="Text 4"/>
          <p:cNvSpPr/>
          <p:nvPr/>
        </p:nvSpPr>
        <p:spPr>
          <a:xfrm>
            <a:off x="914400" y="1133856"/>
            <a:ext cx="10332720" cy="365760"/>
          </a:xfrm>
          <a:prstGeom prst="rect">
            <a:avLst/>
          </a:prstGeom>
          <a:noFill/>
          <a:ln/>
        </p:spPr>
        <p:txBody>
          <a:bodyPr wrap="square" rtlCol="0" anchor="ctr"/>
          <a:lstStyle/>
          <a:p>
            <a:pPr indent="0" marL="0">
              <a:buNone/>
            </a:pPr>
            <a:r>
              <a:rPr lang="en-US" sz="1500" b="1" dirty="0">
                <a:solidFill>
                  <a:srgbClr val="1B1F3B"/>
                </a:solidFill>
                <a:latin typeface="Georgia" pitchFamily="34" charset="0"/>
                <a:ea typeface="Georgia" pitchFamily="34" charset="-122"/>
                <a:cs typeface="Georgia" pitchFamily="34" charset="-120"/>
              </a:rPr>
              <a:t>Suppression et corbeille</a:t>
            </a:r>
            <a:endParaRPr lang="en-US" sz="1500" dirty="0"/>
          </a:p>
        </p:txBody>
      </p:sp>
      <p:sp>
        <p:nvSpPr>
          <p:cNvPr id="7" name="Text 5"/>
          <p:cNvSpPr/>
          <p:nvPr/>
        </p:nvSpPr>
        <p:spPr>
          <a:xfrm>
            <a:off x="914400" y="1536192"/>
            <a:ext cx="10332720" cy="1051560"/>
          </a:xfrm>
          <a:prstGeom prst="rect">
            <a:avLst/>
          </a:prstGeom>
          <a:noFill/>
          <a:ln/>
        </p:spPr>
        <p:txBody>
          <a:bodyPr wrap="square" rtlCol="0" anchor="ctr"/>
          <a:lstStyle/>
          <a:p>
            <a:pPr indent="0" marL="0">
              <a:lnSpc>
                <a:spcPts val="1600"/>
              </a:lnSpc>
              <a:buNone/>
            </a:pPr>
            <a:r>
              <a:rPr lang="en-US" sz="1150" dirty="0">
                <a:solidFill>
                  <a:srgbClr val="1B1F3B"/>
                </a:solidFill>
                <a:latin typeface="Segoe UI" pitchFamily="34" charset="0"/>
                <a:ea typeface="Segoe UI" pitchFamily="34" charset="-122"/>
                <a:cs typeface="Segoe UI" pitchFamily="34" charset="-120"/>
              </a:rPr>
              <a:t>Un ouvrage supprimé est conservé (non définitivement effacé) pour pouvoir être restauré.</a:t>
            </a:r>
            <a:endParaRPr lang="en-US" sz="1150" dirty="0"/>
          </a:p>
        </p:txBody>
      </p:sp>
      <p:sp>
        <p:nvSpPr>
          <p:cNvPr id="8" name="Text 6"/>
          <p:cNvSpPr/>
          <p:nvPr/>
        </p:nvSpPr>
        <p:spPr>
          <a:xfrm>
            <a:off x="914400" y="2743200"/>
            <a:ext cx="10332720" cy="228600"/>
          </a:xfrm>
          <a:prstGeom prst="rect">
            <a:avLst/>
          </a:prstGeom>
          <a:noFill/>
          <a:ln/>
        </p:spPr>
        <p:txBody>
          <a:bodyPr wrap="square" rtlCol="0" anchor="ctr"/>
          <a:lstStyle/>
          <a:p>
            <a:pPr indent="0" marL="0">
              <a:buNone/>
            </a:pPr>
            <a:r>
              <a:rPr lang="en-US" sz="800" b="1" spc="100" kern="0" dirty="0">
                <a:solidFill>
                  <a:srgbClr val="9A7C5C"/>
                </a:solidFill>
                <a:latin typeface="Segoe UI" pitchFamily="34" charset="0"/>
                <a:ea typeface="Segoe UI" pitchFamily="34" charset="-122"/>
                <a:cs typeface="Segoe UI" pitchFamily="34" charset="-120"/>
              </a:rPr>
              <a:t>RÉALISATION TECHNIQUE</a:t>
            </a:r>
            <a:endParaRPr lang="en-US" sz="800" dirty="0"/>
          </a:p>
        </p:txBody>
      </p:sp>
      <p:sp>
        <p:nvSpPr>
          <p:cNvPr id="9" name="Text 7"/>
          <p:cNvSpPr/>
          <p:nvPr/>
        </p:nvSpPr>
        <p:spPr>
          <a:xfrm>
            <a:off x="914400" y="2990088"/>
            <a:ext cx="10332720" cy="548640"/>
          </a:xfrm>
          <a:prstGeom prst="rect">
            <a:avLst/>
          </a:prstGeom>
          <a:noFill/>
          <a:ln/>
        </p:spPr>
        <p:txBody>
          <a:bodyPr wrap="square" rtlCol="0" anchor="ctr"/>
          <a:lstStyle/>
          <a:p>
            <a:pPr indent="0" marL="0">
              <a:lnSpc>
                <a:spcPts val="1400"/>
              </a:lnSpc>
              <a:buNone/>
            </a:pPr>
            <a:r>
              <a:rPr lang="en-US" sz="1000" i="1" dirty="0">
                <a:solidFill>
                  <a:srgbClr val="8A7C68"/>
                </a:solidFill>
                <a:latin typeface="Segoe UI" pitchFamily="34" charset="0"/>
                <a:ea typeface="Segoe UI" pitchFamily="34" charset="-122"/>
                <a:cs typeface="Segoe UI" pitchFamily="34" charset="-120"/>
              </a:rPr>
              <a:t>Table deletedOuvrages distincte, gardant une trace des ouvrages supprimés.</a:t>
            </a:r>
            <a:endParaRPr lang="en-US" sz="1000" dirty="0"/>
          </a:p>
        </p:txBody>
      </p:sp>
      <p:sp>
        <p:nvSpPr>
          <p:cNvPr id="10" name="Shape 8"/>
          <p:cNvSpPr/>
          <p:nvPr/>
        </p:nvSpPr>
        <p:spPr>
          <a:xfrm>
            <a:off x="640080" y="3813048"/>
            <a:ext cx="10881360" cy="2606040"/>
          </a:xfrm>
          <a:prstGeom prst="roundRect">
            <a:avLst>
              <a:gd name="adj" fmla="val 2105"/>
            </a:avLst>
          </a:prstGeom>
          <a:solidFill>
            <a:srgbClr val="FFFFFF"/>
          </a:solidFill>
          <a:ln w="12700">
            <a:solidFill>
              <a:srgbClr val="E4DCCB"/>
            </a:solidFill>
            <a:prstDash val="solid"/>
          </a:ln>
        </p:spPr>
      </p:sp>
      <p:sp>
        <p:nvSpPr>
          <p:cNvPr id="11" name="Shape 9"/>
          <p:cNvSpPr/>
          <p:nvPr/>
        </p:nvSpPr>
        <p:spPr>
          <a:xfrm>
            <a:off x="640080" y="3813048"/>
            <a:ext cx="54864" cy="2606040"/>
          </a:xfrm>
          <a:prstGeom prst="rect">
            <a:avLst/>
          </a:prstGeom>
          <a:solidFill>
            <a:srgbClr val="1D6FE0"/>
          </a:solidFill>
          <a:ln/>
        </p:spPr>
      </p:sp>
      <p:sp>
        <p:nvSpPr>
          <p:cNvPr id="12" name="Text 10"/>
          <p:cNvSpPr/>
          <p:nvPr/>
        </p:nvSpPr>
        <p:spPr>
          <a:xfrm>
            <a:off x="914400" y="3941064"/>
            <a:ext cx="10332720" cy="365760"/>
          </a:xfrm>
          <a:prstGeom prst="rect">
            <a:avLst/>
          </a:prstGeom>
          <a:noFill/>
          <a:ln/>
        </p:spPr>
        <p:txBody>
          <a:bodyPr wrap="square" rtlCol="0" anchor="ctr"/>
          <a:lstStyle/>
          <a:p>
            <a:pPr indent="0" marL="0">
              <a:buNone/>
            </a:pPr>
            <a:r>
              <a:rPr lang="en-US" sz="1500" b="1" dirty="0">
                <a:solidFill>
                  <a:srgbClr val="1B1F3B"/>
                </a:solidFill>
                <a:latin typeface="Georgia" pitchFamily="34" charset="0"/>
                <a:ea typeface="Georgia" pitchFamily="34" charset="-122"/>
                <a:cs typeface="Georgia" pitchFamily="34" charset="-120"/>
              </a:rPr>
              <a:t>Import de fournitures</a:t>
            </a:r>
            <a:endParaRPr lang="en-US" sz="1500" dirty="0"/>
          </a:p>
        </p:txBody>
      </p:sp>
      <p:sp>
        <p:nvSpPr>
          <p:cNvPr id="13" name="Text 11"/>
          <p:cNvSpPr/>
          <p:nvPr/>
        </p:nvSpPr>
        <p:spPr>
          <a:xfrm>
            <a:off x="914400" y="4343400"/>
            <a:ext cx="10332720" cy="1051560"/>
          </a:xfrm>
          <a:prstGeom prst="rect">
            <a:avLst/>
          </a:prstGeom>
          <a:noFill/>
          <a:ln/>
        </p:spPr>
        <p:txBody>
          <a:bodyPr wrap="square" rtlCol="0" anchor="ctr"/>
          <a:lstStyle/>
          <a:p>
            <a:pPr indent="0" marL="0">
              <a:lnSpc>
                <a:spcPts val="1600"/>
              </a:lnSpc>
              <a:buNone/>
            </a:pPr>
            <a:r>
              <a:rPr lang="en-US" sz="1150" dirty="0">
                <a:solidFill>
                  <a:srgbClr val="1B1F3B"/>
                </a:solidFill>
                <a:latin typeface="Segoe UI" pitchFamily="34" charset="0"/>
                <a:ea typeface="Segoe UI" pitchFamily="34" charset="-122"/>
                <a:cs typeface="Segoe UI" pitchFamily="34" charset="-120"/>
              </a:rPr>
              <a:t>Import de fournitures depuis un fichier ou une URL de fiche produit fournisseur.</a:t>
            </a:r>
            <a:endParaRPr lang="en-US" sz="1150" dirty="0"/>
          </a:p>
        </p:txBody>
      </p:sp>
      <p:sp>
        <p:nvSpPr>
          <p:cNvPr id="14" name="Text 12"/>
          <p:cNvSpPr/>
          <p:nvPr/>
        </p:nvSpPr>
        <p:spPr>
          <a:xfrm>
            <a:off x="914400" y="5550408"/>
            <a:ext cx="10332720" cy="228600"/>
          </a:xfrm>
          <a:prstGeom prst="rect">
            <a:avLst/>
          </a:prstGeom>
          <a:noFill/>
          <a:ln/>
        </p:spPr>
        <p:txBody>
          <a:bodyPr wrap="square" rtlCol="0" anchor="ctr"/>
          <a:lstStyle/>
          <a:p>
            <a:pPr indent="0" marL="0">
              <a:buNone/>
            </a:pPr>
            <a:r>
              <a:rPr lang="en-US" sz="800" b="1" spc="100" kern="0" dirty="0">
                <a:solidFill>
                  <a:srgbClr val="9A7C5C"/>
                </a:solidFill>
                <a:latin typeface="Segoe UI" pitchFamily="34" charset="0"/>
                <a:ea typeface="Segoe UI" pitchFamily="34" charset="-122"/>
                <a:cs typeface="Segoe UI" pitchFamily="34" charset="-120"/>
              </a:rPr>
              <a:t>RÉALISATION TECHNIQUE</a:t>
            </a:r>
            <a:endParaRPr lang="en-US" sz="800" dirty="0"/>
          </a:p>
        </p:txBody>
      </p:sp>
      <p:sp>
        <p:nvSpPr>
          <p:cNvPr id="15" name="Text 13"/>
          <p:cNvSpPr/>
          <p:nvPr/>
        </p:nvSpPr>
        <p:spPr>
          <a:xfrm>
            <a:off x="914400" y="5797296"/>
            <a:ext cx="10332720" cy="548640"/>
          </a:xfrm>
          <a:prstGeom prst="rect">
            <a:avLst/>
          </a:prstGeom>
          <a:noFill/>
          <a:ln/>
        </p:spPr>
        <p:txBody>
          <a:bodyPr wrap="square" rtlCol="0" anchor="ctr"/>
          <a:lstStyle/>
          <a:p>
            <a:pPr indent="0" marL="0">
              <a:lnSpc>
                <a:spcPts val="1400"/>
              </a:lnSpc>
              <a:buNone/>
            </a:pPr>
            <a:r>
              <a:rPr lang="en-US" sz="1000" i="1" dirty="0">
                <a:solidFill>
                  <a:srgbClr val="8A7C68"/>
                </a:solidFill>
                <a:latin typeface="Segoe UI" pitchFamily="34" charset="0"/>
                <a:ea typeface="Segoe UI" pitchFamily="34" charset="-122"/>
                <a:cs typeface="Segoe UI" pitchFamily="34" charset="-120"/>
              </a:rPr>
              <a:t>API /api/supplies/import.</a:t>
            </a:r>
            <a:endParaRPr lang="en-US" sz="1000" dirty="0"/>
          </a:p>
        </p:txBody>
      </p:sp>
      <p:sp>
        <p:nvSpPr>
          <p:cNvPr id="16" name="Text 14"/>
          <p:cNvSpPr/>
          <p:nvPr/>
        </p:nvSpPr>
        <p:spPr>
          <a:xfrm>
            <a:off x="365760" y="6510528"/>
            <a:ext cx="5486400" cy="274320"/>
          </a:xfrm>
          <a:prstGeom prst="rect">
            <a:avLst/>
          </a:prstGeom>
          <a:noFill/>
          <a:ln/>
        </p:spPr>
        <p:txBody>
          <a:bodyPr wrap="square" rtlCol="0" anchor="ctr"/>
          <a:lstStyle/>
          <a:p>
            <a:pPr indent="0" marL="0">
              <a:buNone/>
            </a:pPr>
            <a:r>
              <a:rPr lang="en-US" sz="850" dirty="0">
                <a:solidFill>
                  <a:srgbClr val="8A7C68"/>
                </a:solidFill>
                <a:latin typeface="Segoe UI" pitchFamily="34" charset="0"/>
                <a:ea typeface="Segoe UI" pitchFamily="34" charset="-122"/>
                <a:cs typeface="Segoe UI" pitchFamily="34" charset="-120"/>
              </a:rPr>
              <a:t>Kôji Web — Cahier des charges</a:t>
            </a:r>
            <a:endParaRPr lang="en-US" sz="850" dirty="0"/>
          </a:p>
        </p:txBody>
      </p:sp>
      <p:sp>
        <p:nvSpPr>
          <p:cNvPr id="17" name="Text 15"/>
          <p:cNvSpPr/>
          <p:nvPr/>
        </p:nvSpPr>
        <p:spPr>
          <a:xfrm>
            <a:off x="9601200" y="6510528"/>
            <a:ext cx="2194560" cy="274320"/>
          </a:xfrm>
          <a:prstGeom prst="rect">
            <a:avLst/>
          </a:prstGeom>
          <a:noFill/>
          <a:ln/>
        </p:spPr>
        <p:txBody>
          <a:bodyPr wrap="square" rtlCol="0" anchor="ctr"/>
          <a:lstStyle/>
          <a:p>
            <a:pPr algn="r" indent="0" marL="0">
              <a:buNone/>
            </a:pPr>
            <a:r>
              <a:rPr lang="en-US" sz="850" dirty="0">
                <a:solidFill>
                  <a:srgbClr val="8A7C68"/>
                </a:solidFill>
                <a:latin typeface="Segoe UI" pitchFamily="34" charset="0"/>
                <a:ea typeface="Segoe UI" pitchFamily="34" charset="-122"/>
                <a:cs typeface="Segoe UI" pitchFamily="34" charset="-120"/>
              </a:rPr>
              <a:t>21</a:t>
            </a:r>
            <a:endParaRPr lang="en-US" sz="85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0B1030"/>
        </a:solidFill>
      </p:bgPr>
    </p:bg>
    <p:spTree>
      <p:nvGrpSpPr>
        <p:cNvPr id="1" name=""/>
        <p:cNvGrpSpPr/>
        <p:nvPr/>
      </p:nvGrpSpPr>
      <p:grpSpPr>
        <a:xfrm>
          <a:off x="0" y="0"/>
          <a:ext cx="0" cy="0"/>
          <a:chOff x="0" y="0"/>
          <a:chExt cx="0" cy="0"/>
        </a:xfrm>
      </p:grpSpPr>
      <p:sp>
        <p:nvSpPr>
          <p:cNvPr id="2" name="Shape 0"/>
          <p:cNvSpPr/>
          <p:nvPr/>
        </p:nvSpPr>
        <p:spPr>
          <a:xfrm>
            <a:off x="0" y="3246120"/>
            <a:ext cx="12191695" cy="54864"/>
          </a:xfrm>
          <a:prstGeom prst="rect">
            <a:avLst/>
          </a:prstGeom>
          <a:solidFill>
            <a:srgbClr val="C9A96A"/>
          </a:solidFill>
          <a:ln/>
        </p:spPr>
      </p:sp>
      <p:sp>
        <p:nvSpPr>
          <p:cNvPr id="3" name="Text 1"/>
          <p:cNvSpPr/>
          <p:nvPr/>
        </p:nvSpPr>
        <p:spPr>
          <a:xfrm>
            <a:off x="640080" y="1920240"/>
            <a:ext cx="2743200" cy="548640"/>
          </a:xfrm>
          <a:prstGeom prst="rect">
            <a:avLst/>
          </a:prstGeom>
          <a:noFill/>
          <a:ln/>
        </p:spPr>
        <p:txBody>
          <a:bodyPr wrap="square" rtlCol="0" anchor="ctr"/>
          <a:lstStyle/>
          <a:p>
            <a:pPr indent="0" marL="0">
              <a:buNone/>
            </a:pPr>
            <a:r>
              <a:rPr lang="en-US" sz="1500" b="1" dirty="0">
                <a:solidFill>
                  <a:srgbClr val="C9A96A"/>
                </a:solidFill>
                <a:latin typeface="Segoe UI" pitchFamily="34" charset="0"/>
                <a:ea typeface="Segoe UI" pitchFamily="34" charset="-122"/>
                <a:cs typeface="Segoe UI" pitchFamily="34" charset="-120"/>
              </a:rPr>
              <a:t>05</a:t>
            </a:r>
            <a:endParaRPr lang="en-US" sz="1500" dirty="0"/>
          </a:p>
        </p:txBody>
      </p:sp>
      <p:sp>
        <p:nvSpPr>
          <p:cNvPr id="4" name="Text 2"/>
          <p:cNvSpPr/>
          <p:nvPr/>
        </p:nvSpPr>
        <p:spPr>
          <a:xfrm>
            <a:off x="640080" y="2377440"/>
            <a:ext cx="10515600" cy="914400"/>
          </a:xfrm>
          <a:prstGeom prst="rect">
            <a:avLst/>
          </a:prstGeom>
          <a:noFill/>
          <a:ln/>
        </p:spPr>
        <p:txBody>
          <a:bodyPr wrap="square" rtlCol="0" anchor="ctr"/>
          <a:lstStyle/>
          <a:p>
            <a:pPr indent="0" marL="0">
              <a:buNone/>
            </a:pPr>
            <a:r>
              <a:rPr lang="en-US" sz="3400" b="1" dirty="0">
                <a:solidFill>
                  <a:srgbClr val="FFFFFF"/>
                </a:solidFill>
                <a:latin typeface="Georgia" pitchFamily="34" charset="0"/>
                <a:ea typeface="Georgia" pitchFamily="34" charset="-122"/>
                <a:cs typeface="Georgia" pitchFamily="34" charset="-120"/>
              </a:rPr>
              <a:t>Devis</a:t>
            </a:r>
            <a:endParaRPr lang="en-US" sz="3400" dirty="0"/>
          </a:p>
        </p:txBody>
      </p:sp>
      <p:sp>
        <p:nvSpPr>
          <p:cNvPr id="5" name="Text 3"/>
          <p:cNvSpPr/>
          <p:nvPr/>
        </p:nvSpPr>
        <p:spPr>
          <a:xfrm>
            <a:off x="640080" y="3429000"/>
            <a:ext cx="10058400" cy="1188720"/>
          </a:xfrm>
          <a:prstGeom prst="rect">
            <a:avLst/>
          </a:prstGeom>
          <a:noFill/>
          <a:ln/>
        </p:spPr>
        <p:txBody>
          <a:bodyPr wrap="square" rtlCol="0" anchor="ctr"/>
          <a:lstStyle/>
          <a:p>
            <a:pPr indent="0" marL="0">
              <a:lnSpc>
                <a:spcPts val="1800"/>
              </a:lnSpc>
              <a:buNone/>
            </a:pPr>
            <a:r>
              <a:rPr lang="en-US" sz="1300" dirty="0">
                <a:solidFill>
                  <a:srgbClr val="C7C9E0"/>
                </a:solidFill>
                <a:latin typeface="Segoe UI" pitchFamily="34" charset="0"/>
                <a:ea typeface="Segoe UI" pitchFamily="34" charset="-122"/>
                <a:cs typeface="Segoe UI" pitchFamily="34" charset="-120"/>
              </a:rPr>
              <a:t>Cœur de l'application : composer un devis détaillé (lots, ouvrages, fournitures), l'envoyer au client, le faire signer, puis le transformer automatiquement en chantier suivi.</a:t>
            </a:r>
            <a:endParaRPr lang="en-US" sz="1300" dirty="0"/>
          </a:p>
        </p:txBody>
      </p:sp>
      <p:sp>
        <p:nvSpPr>
          <p:cNvPr id="6" name="Text 4"/>
          <p:cNvSpPr/>
          <p:nvPr/>
        </p:nvSpPr>
        <p:spPr>
          <a:xfrm>
            <a:off x="365760" y="6510528"/>
            <a:ext cx="5486400" cy="274320"/>
          </a:xfrm>
          <a:prstGeom prst="rect">
            <a:avLst/>
          </a:prstGeom>
          <a:noFill/>
          <a:ln/>
        </p:spPr>
        <p:txBody>
          <a:bodyPr wrap="square" rtlCol="0" anchor="ctr"/>
          <a:lstStyle/>
          <a:p>
            <a:pPr indent="0" marL="0">
              <a:buNone/>
            </a:pPr>
            <a:r>
              <a:rPr lang="en-US" sz="850" dirty="0">
                <a:solidFill>
                  <a:srgbClr val="8A7C68"/>
                </a:solidFill>
                <a:latin typeface="Segoe UI" pitchFamily="34" charset="0"/>
                <a:ea typeface="Segoe UI" pitchFamily="34" charset="-122"/>
                <a:cs typeface="Segoe UI" pitchFamily="34" charset="-120"/>
              </a:rPr>
              <a:t>Kôji Web — Cahier des charges</a:t>
            </a:r>
            <a:endParaRPr lang="en-US" sz="850" dirty="0"/>
          </a:p>
        </p:txBody>
      </p:sp>
      <p:sp>
        <p:nvSpPr>
          <p:cNvPr id="7" name="Text 5"/>
          <p:cNvSpPr/>
          <p:nvPr/>
        </p:nvSpPr>
        <p:spPr>
          <a:xfrm>
            <a:off x="9601200" y="6510528"/>
            <a:ext cx="2194560" cy="274320"/>
          </a:xfrm>
          <a:prstGeom prst="rect">
            <a:avLst/>
          </a:prstGeom>
          <a:noFill/>
          <a:ln/>
        </p:spPr>
        <p:txBody>
          <a:bodyPr wrap="square" rtlCol="0" anchor="ctr"/>
          <a:lstStyle/>
          <a:p>
            <a:pPr algn="r" indent="0" marL="0">
              <a:buNone/>
            </a:pPr>
            <a:r>
              <a:rPr lang="en-US" sz="850" dirty="0">
                <a:solidFill>
                  <a:srgbClr val="8A7C68"/>
                </a:solidFill>
                <a:latin typeface="Segoe UI" pitchFamily="34" charset="0"/>
                <a:ea typeface="Segoe UI" pitchFamily="34" charset="-122"/>
                <a:cs typeface="Segoe UI" pitchFamily="34" charset="-120"/>
              </a:rPr>
              <a:t>22</a:t>
            </a:r>
            <a:endParaRPr lang="en-US" sz="85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3108960" cy="365760"/>
          </a:xfrm>
          <a:prstGeom prst="roundRect">
            <a:avLst>
              <a:gd name="adj" fmla="val 50000"/>
            </a:avLst>
          </a:prstGeom>
          <a:solidFill>
            <a:srgbClr val="F7EADF"/>
          </a:solidFill>
          <a:ln/>
        </p:spPr>
      </p:sp>
      <p:sp>
        <p:nvSpPr>
          <p:cNvPr id="3" name="Text 1"/>
          <p:cNvSpPr/>
          <p:nvPr/>
        </p:nvSpPr>
        <p:spPr>
          <a:xfrm>
            <a:off x="640080" y="411480"/>
            <a:ext cx="3108960" cy="365760"/>
          </a:xfrm>
          <a:prstGeom prst="rect">
            <a:avLst/>
          </a:prstGeom>
          <a:noFill/>
          <a:ln/>
        </p:spPr>
        <p:txBody>
          <a:bodyPr wrap="square" rtlCol="0" anchor="ctr"/>
          <a:lstStyle/>
          <a:p>
            <a:pPr algn="ctr" indent="0" marL="0">
              <a:buNone/>
            </a:pPr>
            <a:r>
              <a:rPr lang="en-US" sz="950" b="1" spc="100" kern="0" dirty="0">
                <a:solidFill>
                  <a:srgbClr val="9A7C5C"/>
                </a:solidFill>
                <a:latin typeface="Segoe UI" pitchFamily="34" charset="0"/>
                <a:ea typeface="Segoe UI" pitchFamily="34" charset="-122"/>
                <a:cs typeface="Segoe UI" pitchFamily="34" charset="-120"/>
              </a:rPr>
              <a:t>DEVIS</a:t>
            </a:r>
            <a:endParaRPr lang="en-US" sz="950" dirty="0"/>
          </a:p>
        </p:txBody>
      </p:sp>
      <p:sp>
        <p:nvSpPr>
          <p:cNvPr id="4" name="Shape 2"/>
          <p:cNvSpPr/>
          <p:nvPr/>
        </p:nvSpPr>
        <p:spPr>
          <a:xfrm>
            <a:off x="640080" y="1005840"/>
            <a:ext cx="10881360" cy="2606040"/>
          </a:xfrm>
          <a:prstGeom prst="roundRect">
            <a:avLst>
              <a:gd name="adj" fmla="val 2105"/>
            </a:avLst>
          </a:prstGeom>
          <a:solidFill>
            <a:srgbClr val="FFFFFF"/>
          </a:solidFill>
          <a:ln w="12700">
            <a:solidFill>
              <a:srgbClr val="E4DCCB"/>
            </a:solidFill>
            <a:prstDash val="solid"/>
          </a:ln>
        </p:spPr>
      </p:sp>
      <p:sp>
        <p:nvSpPr>
          <p:cNvPr id="5" name="Shape 3"/>
          <p:cNvSpPr/>
          <p:nvPr/>
        </p:nvSpPr>
        <p:spPr>
          <a:xfrm>
            <a:off x="640080" y="1005840"/>
            <a:ext cx="54864" cy="2606040"/>
          </a:xfrm>
          <a:prstGeom prst="rect">
            <a:avLst/>
          </a:prstGeom>
          <a:solidFill>
            <a:srgbClr val="1D6FE0"/>
          </a:solidFill>
          <a:ln/>
        </p:spPr>
      </p:sp>
      <p:sp>
        <p:nvSpPr>
          <p:cNvPr id="6" name="Text 4"/>
          <p:cNvSpPr/>
          <p:nvPr/>
        </p:nvSpPr>
        <p:spPr>
          <a:xfrm>
            <a:off x="914400" y="1133856"/>
            <a:ext cx="10332720" cy="365760"/>
          </a:xfrm>
          <a:prstGeom prst="rect">
            <a:avLst/>
          </a:prstGeom>
          <a:noFill/>
          <a:ln/>
        </p:spPr>
        <p:txBody>
          <a:bodyPr wrap="square" rtlCol="0" anchor="ctr"/>
          <a:lstStyle/>
          <a:p>
            <a:pPr indent="0" marL="0">
              <a:buNone/>
            </a:pPr>
            <a:r>
              <a:rPr lang="en-US" sz="1500" b="1" dirty="0">
                <a:solidFill>
                  <a:srgbClr val="1B1F3B"/>
                </a:solidFill>
                <a:latin typeface="Georgia" pitchFamily="34" charset="0"/>
                <a:ea typeface="Georgia" pitchFamily="34" charset="-122"/>
                <a:cs typeface="Georgia" pitchFamily="34" charset="-120"/>
              </a:rPr>
              <a:t>Historique des devis</a:t>
            </a:r>
            <a:endParaRPr lang="en-US" sz="1500" dirty="0"/>
          </a:p>
        </p:txBody>
      </p:sp>
      <p:sp>
        <p:nvSpPr>
          <p:cNvPr id="7" name="Text 5"/>
          <p:cNvSpPr/>
          <p:nvPr/>
        </p:nvSpPr>
        <p:spPr>
          <a:xfrm>
            <a:off x="914400" y="1536192"/>
            <a:ext cx="10332720" cy="1051560"/>
          </a:xfrm>
          <a:prstGeom prst="rect">
            <a:avLst/>
          </a:prstGeom>
          <a:noFill/>
          <a:ln/>
        </p:spPr>
        <p:txBody>
          <a:bodyPr wrap="square" rtlCol="0" anchor="ctr"/>
          <a:lstStyle/>
          <a:p>
            <a:pPr indent="0" marL="0">
              <a:lnSpc>
                <a:spcPts val="1600"/>
              </a:lnSpc>
              <a:buNone/>
            </a:pPr>
            <a:r>
              <a:rPr lang="en-US" sz="1150" dirty="0">
                <a:solidFill>
                  <a:srgbClr val="1B1F3B"/>
                </a:solidFill>
                <a:latin typeface="Segoe UI" pitchFamily="34" charset="0"/>
                <a:ea typeface="Segoe UI" pitchFamily="34" charset="-122"/>
                <a:cs typeface="Segoe UI" pitchFamily="34" charset="-120"/>
              </a:rPr>
              <a:t>Liste de tous les devis, avec statut (Brouillon, Prêt à envoyer, Envoyé, Signé), montant et client ; le menu "Devis" ramène toujours ici plutôt que vers un nouveau devis vierge.</a:t>
            </a:r>
            <a:endParaRPr lang="en-US" sz="1150" dirty="0"/>
          </a:p>
        </p:txBody>
      </p:sp>
      <p:sp>
        <p:nvSpPr>
          <p:cNvPr id="8" name="Text 6"/>
          <p:cNvSpPr/>
          <p:nvPr/>
        </p:nvSpPr>
        <p:spPr>
          <a:xfrm>
            <a:off x="914400" y="2743200"/>
            <a:ext cx="10332720" cy="228600"/>
          </a:xfrm>
          <a:prstGeom prst="rect">
            <a:avLst/>
          </a:prstGeom>
          <a:noFill/>
          <a:ln/>
        </p:spPr>
        <p:txBody>
          <a:bodyPr wrap="square" rtlCol="0" anchor="ctr"/>
          <a:lstStyle/>
          <a:p>
            <a:pPr indent="0" marL="0">
              <a:buNone/>
            </a:pPr>
            <a:r>
              <a:rPr lang="en-US" sz="800" b="1" spc="100" kern="0" dirty="0">
                <a:solidFill>
                  <a:srgbClr val="9A7C5C"/>
                </a:solidFill>
                <a:latin typeface="Segoe UI" pitchFamily="34" charset="0"/>
                <a:ea typeface="Segoe UI" pitchFamily="34" charset="-122"/>
                <a:cs typeface="Segoe UI" pitchFamily="34" charset="-120"/>
              </a:rPr>
              <a:t>RÉALISATION TECHNIQUE</a:t>
            </a:r>
            <a:endParaRPr lang="en-US" sz="800" dirty="0"/>
          </a:p>
        </p:txBody>
      </p:sp>
      <p:sp>
        <p:nvSpPr>
          <p:cNvPr id="9" name="Text 7"/>
          <p:cNvSpPr/>
          <p:nvPr/>
        </p:nvSpPr>
        <p:spPr>
          <a:xfrm>
            <a:off x="914400" y="2990088"/>
            <a:ext cx="10332720" cy="548640"/>
          </a:xfrm>
          <a:prstGeom prst="rect">
            <a:avLst/>
          </a:prstGeom>
          <a:noFill/>
          <a:ln/>
        </p:spPr>
        <p:txBody>
          <a:bodyPr wrap="square" rtlCol="0" anchor="ctr"/>
          <a:lstStyle/>
          <a:p>
            <a:pPr indent="0" marL="0">
              <a:lnSpc>
                <a:spcPts val="1400"/>
              </a:lnSpc>
              <a:buNone/>
            </a:pPr>
            <a:r>
              <a:rPr lang="en-US" sz="1000" i="1" dirty="0">
                <a:solidFill>
                  <a:srgbClr val="8A7C68"/>
                </a:solidFill>
                <a:latin typeface="Segoe UI" pitchFamily="34" charset="0"/>
                <a:ea typeface="Segoe UI" pitchFamily="34" charset="-122"/>
                <a:cs typeface="Segoe UI" pitchFamily="34" charset="-120"/>
              </a:rPr>
              <a:t>Composant DevisHistory.jsx, API /api/quotes.</a:t>
            </a:r>
            <a:endParaRPr lang="en-US" sz="1000" dirty="0"/>
          </a:p>
        </p:txBody>
      </p:sp>
      <p:sp>
        <p:nvSpPr>
          <p:cNvPr id="10" name="Shape 8"/>
          <p:cNvSpPr/>
          <p:nvPr/>
        </p:nvSpPr>
        <p:spPr>
          <a:xfrm>
            <a:off x="640080" y="3813048"/>
            <a:ext cx="10881360" cy="2606040"/>
          </a:xfrm>
          <a:prstGeom prst="roundRect">
            <a:avLst>
              <a:gd name="adj" fmla="val 2105"/>
            </a:avLst>
          </a:prstGeom>
          <a:solidFill>
            <a:srgbClr val="FFFFFF"/>
          </a:solidFill>
          <a:ln w="12700">
            <a:solidFill>
              <a:srgbClr val="E4DCCB"/>
            </a:solidFill>
            <a:prstDash val="solid"/>
          </a:ln>
        </p:spPr>
      </p:sp>
      <p:sp>
        <p:nvSpPr>
          <p:cNvPr id="11" name="Shape 9"/>
          <p:cNvSpPr/>
          <p:nvPr/>
        </p:nvSpPr>
        <p:spPr>
          <a:xfrm>
            <a:off x="640080" y="3813048"/>
            <a:ext cx="54864" cy="2606040"/>
          </a:xfrm>
          <a:prstGeom prst="rect">
            <a:avLst/>
          </a:prstGeom>
          <a:solidFill>
            <a:srgbClr val="1D6FE0"/>
          </a:solidFill>
          <a:ln/>
        </p:spPr>
      </p:sp>
      <p:sp>
        <p:nvSpPr>
          <p:cNvPr id="12" name="Text 10"/>
          <p:cNvSpPr/>
          <p:nvPr/>
        </p:nvSpPr>
        <p:spPr>
          <a:xfrm>
            <a:off x="914400" y="3941064"/>
            <a:ext cx="10332720" cy="365760"/>
          </a:xfrm>
          <a:prstGeom prst="rect">
            <a:avLst/>
          </a:prstGeom>
          <a:noFill/>
          <a:ln/>
        </p:spPr>
        <p:txBody>
          <a:bodyPr wrap="square" rtlCol="0" anchor="ctr"/>
          <a:lstStyle/>
          <a:p>
            <a:pPr indent="0" marL="0">
              <a:buNone/>
            </a:pPr>
            <a:r>
              <a:rPr lang="en-US" sz="1500" b="1" dirty="0">
                <a:solidFill>
                  <a:srgbClr val="1B1F3B"/>
                </a:solidFill>
                <a:latin typeface="Georgia" pitchFamily="34" charset="0"/>
                <a:ea typeface="Georgia" pitchFamily="34" charset="-122"/>
                <a:cs typeface="Georgia" pitchFamily="34" charset="-120"/>
              </a:rPr>
              <a:t>Éditeur de devis</a:t>
            </a:r>
            <a:endParaRPr lang="en-US" sz="1500" dirty="0"/>
          </a:p>
        </p:txBody>
      </p:sp>
      <p:sp>
        <p:nvSpPr>
          <p:cNvPr id="13" name="Text 11"/>
          <p:cNvSpPr/>
          <p:nvPr/>
        </p:nvSpPr>
        <p:spPr>
          <a:xfrm>
            <a:off x="914400" y="4343400"/>
            <a:ext cx="10332720" cy="1051560"/>
          </a:xfrm>
          <a:prstGeom prst="rect">
            <a:avLst/>
          </a:prstGeom>
          <a:noFill/>
          <a:ln/>
        </p:spPr>
        <p:txBody>
          <a:bodyPr wrap="square" rtlCol="0" anchor="ctr"/>
          <a:lstStyle/>
          <a:p>
            <a:pPr indent="0" marL="0">
              <a:lnSpc>
                <a:spcPts val="1600"/>
              </a:lnSpc>
              <a:buNone/>
            </a:pPr>
            <a:r>
              <a:rPr lang="en-US" sz="1150" dirty="0">
                <a:solidFill>
                  <a:srgbClr val="1B1F3B"/>
                </a:solidFill>
                <a:latin typeface="Segoe UI" pitchFamily="34" charset="0"/>
                <a:ea typeface="Segoe UI" pitchFamily="34" charset="-122"/>
                <a:cs typeface="Segoe UI" pitchFamily="34" charset="-120"/>
              </a:rPr>
              <a:t>Construction du devis par pièces/lots, chaque lot contenant des ouvrages (issus de la bibliothèque ou saisis à la main), et chaque ouvrage pouvant avoir des sous-ouvrages.</a:t>
            </a:r>
            <a:endParaRPr lang="en-US" sz="1150" dirty="0"/>
          </a:p>
        </p:txBody>
      </p:sp>
      <p:sp>
        <p:nvSpPr>
          <p:cNvPr id="14" name="Text 12"/>
          <p:cNvSpPr/>
          <p:nvPr/>
        </p:nvSpPr>
        <p:spPr>
          <a:xfrm>
            <a:off x="914400" y="5550408"/>
            <a:ext cx="10332720" cy="228600"/>
          </a:xfrm>
          <a:prstGeom prst="rect">
            <a:avLst/>
          </a:prstGeom>
          <a:noFill/>
          <a:ln/>
        </p:spPr>
        <p:txBody>
          <a:bodyPr wrap="square" rtlCol="0" anchor="ctr"/>
          <a:lstStyle/>
          <a:p>
            <a:pPr indent="0" marL="0">
              <a:buNone/>
            </a:pPr>
            <a:r>
              <a:rPr lang="en-US" sz="800" b="1" spc="100" kern="0" dirty="0">
                <a:solidFill>
                  <a:srgbClr val="9A7C5C"/>
                </a:solidFill>
                <a:latin typeface="Segoe UI" pitchFamily="34" charset="0"/>
                <a:ea typeface="Segoe UI" pitchFamily="34" charset="-122"/>
                <a:cs typeface="Segoe UI" pitchFamily="34" charset="-120"/>
              </a:rPr>
              <a:t>RÉALISATION TECHNIQUE</a:t>
            </a:r>
            <a:endParaRPr lang="en-US" sz="800" dirty="0"/>
          </a:p>
        </p:txBody>
      </p:sp>
      <p:sp>
        <p:nvSpPr>
          <p:cNvPr id="15" name="Text 13"/>
          <p:cNvSpPr/>
          <p:nvPr/>
        </p:nvSpPr>
        <p:spPr>
          <a:xfrm>
            <a:off x="914400" y="5797296"/>
            <a:ext cx="10332720" cy="548640"/>
          </a:xfrm>
          <a:prstGeom prst="rect">
            <a:avLst/>
          </a:prstGeom>
          <a:noFill/>
          <a:ln/>
        </p:spPr>
        <p:txBody>
          <a:bodyPr wrap="square" rtlCol="0" anchor="ctr"/>
          <a:lstStyle/>
          <a:p>
            <a:pPr indent="0" marL="0">
              <a:lnSpc>
                <a:spcPts val="1400"/>
              </a:lnSpc>
              <a:buNone/>
            </a:pPr>
            <a:r>
              <a:rPr lang="en-US" sz="1000" i="1" dirty="0">
                <a:solidFill>
                  <a:srgbClr val="8A7C68"/>
                </a:solidFill>
                <a:latin typeface="Segoe UI" pitchFamily="34" charset="0"/>
                <a:ea typeface="Segoe UI" pitchFamily="34" charset="-122"/>
                <a:cs typeface="Segoe UI" pitchFamily="34" charset="-120"/>
              </a:rPr>
              <a:t>Composant DevisEditor.jsx (plus de 2500 lignes) — le module le plus important de l'application.</a:t>
            </a:r>
            <a:endParaRPr lang="en-US" sz="1000" dirty="0"/>
          </a:p>
        </p:txBody>
      </p:sp>
      <p:sp>
        <p:nvSpPr>
          <p:cNvPr id="16" name="Text 14"/>
          <p:cNvSpPr/>
          <p:nvPr/>
        </p:nvSpPr>
        <p:spPr>
          <a:xfrm>
            <a:off x="365760" y="6510528"/>
            <a:ext cx="5486400" cy="274320"/>
          </a:xfrm>
          <a:prstGeom prst="rect">
            <a:avLst/>
          </a:prstGeom>
          <a:noFill/>
          <a:ln/>
        </p:spPr>
        <p:txBody>
          <a:bodyPr wrap="square" rtlCol="0" anchor="ctr"/>
          <a:lstStyle/>
          <a:p>
            <a:pPr indent="0" marL="0">
              <a:buNone/>
            </a:pPr>
            <a:r>
              <a:rPr lang="en-US" sz="850" dirty="0">
                <a:solidFill>
                  <a:srgbClr val="8A7C68"/>
                </a:solidFill>
                <a:latin typeface="Segoe UI" pitchFamily="34" charset="0"/>
                <a:ea typeface="Segoe UI" pitchFamily="34" charset="-122"/>
                <a:cs typeface="Segoe UI" pitchFamily="34" charset="-120"/>
              </a:rPr>
              <a:t>Kôji Web — Cahier des charges</a:t>
            </a:r>
            <a:endParaRPr lang="en-US" sz="850" dirty="0"/>
          </a:p>
        </p:txBody>
      </p:sp>
      <p:sp>
        <p:nvSpPr>
          <p:cNvPr id="17" name="Text 15"/>
          <p:cNvSpPr/>
          <p:nvPr/>
        </p:nvSpPr>
        <p:spPr>
          <a:xfrm>
            <a:off x="9601200" y="6510528"/>
            <a:ext cx="2194560" cy="274320"/>
          </a:xfrm>
          <a:prstGeom prst="rect">
            <a:avLst/>
          </a:prstGeom>
          <a:noFill/>
          <a:ln/>
        </p:spPr>
        <p:txBody>
          <a:bodyPr wrap="square" rtlCol="0" anchor="ctr"/>
          <a:lstStyle/>
          <a:p>
            <a:pPr algn="r" indent="0" marL="0">
              <a:buNone/>
            </a:pPr>
            <a:r>
              <a:rPr lang="en-US" sz="850" dirty="0">
                <a:solidFill>
                  <a:srgbClr val="8A7C68"/>
                </a:solidFill>
                <a:latin typeface="Segoe UI" pitchFamily="34" charset="0"/>
                <a:ea typeface="Segoe UI" pitchFamily="34" charset="-122"/>
                <a:cs typeface="Segoe UI" pitchFamily="34" charset="-120"/>
              </a:rPr>
              <a:t>23</a:t>
            </a:r>
            <a:endParaRPr lang="en-US" sz="85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3108960" cy="365760"/>
          </a:xfrm>
          <a:prstGeom prst="roundRect">
            <a:avLst>
              <a:gd name="adj" fmla="val 50000"/>
            </a:avLst>
          </a:prstGeom>
          <a:solidFill>
            <a:srgbClr val="F7EADF"/>
          </a:solidFill>
          <a:ln/>
        </p:spPr>
      </p:sp>
      <p:sp>
        <p:nvSpPr>
          <p:cNvPr id="3" name="Text 1"/>
          <p:cNvSpPr/>
          <p:nvPr/>
        </p:nvSpPr>
        <p:spPr>
          <a:xfrm>
            <a:off x="640080" y="411480"/>
            <a:ext cx="3108960" cy="365760"/>
          </a:xfrm>
          <a:prstGeom prst="rect">
            <a:avLst/>
          </a:prstGeom>
          <a:noFill/>
          <a:ln/>
        </p:spPr>
        <p:txBody>
          <a:bodyPr wrap="square" rtlCol="0" anchor="ctr"/>
          <a:lstStyle/>
          <a:p>
            <a:pPr algn="ctr" indent="0" marL="0">
              <a:buNone/>
            </a:pPr>
            <a:r>
              <a:rPr lang="en-US" sz="950" b="1" spc="100" kern="0" dirty="0">
                <a:solidFill>
                  <a:srgbClr val="9A7C5C"/>
                </a:solidFill>
                <a:latin typeface="Segoe UI" pitchFamily="34" charset="0"/>
                <a:ea typeface="Segoe UI" pitchFamily="34" charset="-122"/>
                <a:cs typeface="Segoe UI" pitchFamily="34" charset="-120"/>
              </a:rPr>
              <a:t>DEVIS</a:t>
            </a:r>
            <a:endParaRPr lang="en-US" sz="950" dirty="0"/>
          </a:p>
        </p:txBody>
      </p:sp>
      <p:sp>
        <p:nvSpPr>
          <p:cNvPr id="4" name="Shape 2"/>
          <p:cNvSpPr/>
          <p:nvPr/>
        </p:nvSpPr>
        <p:spPr>
          <a:xfrm>
            <a:off x="640080" y="1005840"/>
            <a:ext cx="10881360" cy="1737360"/>
          </a:xfrm>
          <a:prstGeom prst="roundRect">
            <a:avLst>
              <a:gd name="adj" fmla="val 3158"/>
            </a:avLst>
          </a:prstGeom>
          <a:solidFill>
            <a:srgbClr val="FFFFFF"/>
          </a:solidFill>
          <a:ln w="12700">
            <a:solidFill>
              <a:srgbClr val="E4DCCB"/>
            </a:solidFill>
            <a:prstDash val="solid"/>
          </a:ln>
        </p:spPr>
      </p:sp>
      <p:sp>
        <p:nvSpPr>
          <p:cNvPr id="5" name="Shape 3"/>
          <p:cNvSpPr/>
          <p:nvPr/>
        </p:nvSpPr>
        <p:spPr>
          <a:xfrm>
            <a:off x="640080" y="1005840"/>
            <a:ext cx="54864" cy="1737360"/>
          </a:xfrm>
          <a:prstGeom prst="rect">
            <a:avLst/>
          </a:prstGeom>
          <a:solidFill>
            <a:srgbClr val="1D6FE0"/>
          </a:solidFill>
          <a:ln/>
        </p:spPr>
      </p:sp>
      <p:sp>
        <p:nvSpPr>
          <p:cNvPr id="6" name="Text 4"/>
          <p:cNvSpPr/>
          <p:nvPr/>
        </p:nvSpPr>
        <p:spPr>
          <a:xfrm>
            <a:off x="914400" y="1133856"/>
            <a:ext cx="10332720" cy="365760"/>
          </a:xfrm>
          <a:prstGeom prst="rect">
            <a:avLst/>
          </a:prstGeom>
          <a:noFill/>
          <a:ln/>
        </p:spPr>
        <p:txBody>
          <a:bodyPr wrap="square" rtlCol="0" anchor="ctr"/>
          <a:lstStyle/>
          <a:p>
            <a:pPr indent="0" marL="0">
              <a:buNone/>
            </a:pPr>
            <a:r>
              <a:rPr lang="en-US" sz="1500" b="1" dirty="0">
                <a:solidFill>
                  <a:srgbClr val="1B1F3B"/>
                </a:solidFill>
                <a:latin typeface="Georgia" pitchFamily="34" charset="0"/>
                <a:ea typeface="Georgia" pitchFamily="34" charset="-122"/>
                <a:cs typeface="Georgia" pitchFamily="34" charset="-120"/>
              </a:rPr>
              <a:t>Réorganisation des lots et ouvrages</a:t>
            </a:r>
            <a:endParaRPr lang="en-US" sz="1500" dirty="0"/>
          </a:p>
        </p:txBody>
      </p:sp>
      <p:sp>
        <p:nvSpPr>
          <p:cNvPr id="7" name="Text 5"/>
          <p:cNvSpPr/>
          <p:nvPr/>
        </p:nvSpPr>
        <p:spPr>
          <a:xfrm>
            <a:off x="914400" y="1536192"/>
            <a:ext cx="10332720" cy="1005840"/>
          </a:xfrm>
          <a:prstGeom prst="rect">
            <a:avLst/>
          </a:prstGeom>
          <a:noFill/>
          <a:ln/>
        </p:spPr>
        <p:txBody>
          <a:bodyPr wrap="square" rtlCol="0" anchor="ctr"/>
          <a:lstStyle/>
          <a:p>
            <a:pPr indent="0" marL="0">
              <a:lnSpc>
                <a:spcPts val="1600"/>
              </a:lnSpc>
              <a:buNone/>
            </a:pPr>
            <a:r>
              <a:rPr lang="en-US" sz="1150" dirty="0">
                <a:solidFill>
                  <a:srgbClr val="1B1F3B"/>
                </a:solidFill>
                <a:latin typeface="Segoe UI" pitchFamily="34" charset="0"/>
                <a:ea typeface="Segoe UI" pitchFamily="34" charset="-122"/>
                <a:cs typeface="Segoe UI" pitchFamily="34" charset="-120"/>
              </a:rPr>
              <a:t>Flèches pour monter/descendre un ouvrage dans un lot, ou un lot entier dans le devis.</a:t>
            </a:r>
            <a:endParaRPr lang="en-US" sz="1150" dirty="0"/>
          </a:p>
        </p:txBody>
      </p:sp>
      <p:sp>
        <p:nvSpPr>
          <p:cNvPr id="8" name="Shape 6"/>
          <p:cNvSpPr/>
          <p:nvPr/>
        </p:nvSpPr>
        <p:spPr>
          <a:xfrm>
            <a:off x="640080" y="2944368"/>
            <a:ext cx="10881360" cy="1737360"/>
          </a:xfrm>
          <a:prstGeom prst="roundRect">
            <a:avLst>
              <a:gd name="adj" fmla="val 3158"/>
            </a:avLst>
          </a:prstGeom>
          <a:solidFill>
            <a:srgbClr val="FFFFFF"/>
          </a:solidFill>
          <a:ln w="12700">
            <a:solidFill>
              <a:srgbClr val="E4DCCB"/>
            </a:solidFill>
            <a:prstDash val="solid"/>
          </a:ln>
        </p:spPr>
      </p:sp>
      <p:sp>
        <p:nvSpPr>
          <p:cNvPr id="9" name="Shape 7"/>
          <p:cNvSpPr/>
          <p:nvPr/>
        </p:nvSpPr>
        <p:spPr>
          <a:xfrm>
            <a:off x="640080" y="2944368"/>
            <a:ext cx="54864" cy="1737360"/>
          </a:xfrm>
          <a:prstGeom prst="rect">
            <a:avLst/>
          </a:prstGeom>
          <a:solidFill>
            <a:srgbClr val="1D6FE0"/>
          </a:solidFill>
          <a:ln/>
        </p:spPr>
      </p:sp>
      <p:sp>
        <p:nvSpPr>
          <p:cNvPr id="10" name="Text 8"/>
          <p:cNvSpPr/>
          <p:nvPr/>
        </p:nvSpPr>
        <p:spPr>
          <a:xfrm>
            <a:off x="914400" y="3072384"/>
            <a:ext cx="10332720" cy="365760"/>
          </a:xfrm>
          <a:prstGeom prst="rect">
            <a:avLst/>
          </a:prstGeom>
          <a:noFill/>
          <a:ln/>
        </p:spPr>
        <p:txBody>
          <a:bodyPr wrap="square" rtlCol="0" anchor="ctr"/>
          <a:lstStyle/>
          <a:p>
            <a:pPr indent="0" marL="0">
              <a:buNone/>
            </a:pPr>
            <a:r>
              <a:rPr lang="en-US" sz="1500" b="1" dirty="0">
                <a:solidFill>
                  <a:srgbClr val="1B1F3B"/>
                </a:solidFill>
                <a:latin typeface="Georgia" pitchFamily="34" charset="0"/>
                <a:ea typeface="Georgia" pitchFamily="34" charset="-122"/>
                <a:cs typeface="Georgia" pitchFamily="34" charset="-120"/>
              </a:rPr>
              <a:t>Ouvrage au forfait</a:t>
            </a:r>
            <a:endParaRPr lang="en-US" sz="1500" dirty="0"/>
          </a:p>
        </p:txBody>
      </p:sp>
      <p:sp>
        <p:nvSpPr>
          <p:cNvPr id="11" name="Text 9"/>
          <p:cNvSpPr/>
          <p:nvPr/>
        </p:nvSpPr>
        <p:spPr>
          <a:xfrm>
            <a:off x="914400" y="3474720"/>
            <a:ext cx="10332720" cy="1005840"/>
          </a:xfrm>
          <a:prstGeom prst="rect">
            <a:avLst/>
          </a:prstGeom>
          <a:noFill/>
          <a:ln/>
        </p:spPr>
        <p:txBody>
          <a:bodyPr wrap="square" rtlCol="0" anchor="ctr"/>
          <a:lstStyle/>
          <a:p>
            <a:pPr indent="0" marL="0">
              <a:lnSpc>
                <a:spcPts val="1600"/>
              </a:lnSpc>
              <a:buNone/>
            </a:pPr>
            <a:r>
              <a:rPr lang="en-US" sz="1150" dirty="0">
                <a:solidFill>
                  <a:srgbClr val="1B1F3B"/>
                </a:solidFill>
                <a:latin typeface="Segoe UI" pitchFamily="34" charset="0"/>
                <a:ea typeface="Segoe UI" pitchFamily="34" charset="-122"/>
                <a:cs typeface="Segoe UI" pitchFamily="34" charset="-120"/>
              </a:rPr>
              <a:t>Un ouvrage peut être chiffré au forfait (montant fixe) plutôt qu'au temps normatif × taux horaire.</a:t>
            </a:r>
            <a:endParaRPr lang="en-US" sz="1150" dirty="0"/>
          </a:p>
        </p:txBody>
      </p:sp>
      <p:sp>
        <p:nvSpPr>
          <p:cNvPr id="12" name="Text 10"/>
          <p:cNvSpPr/>
          <p:nvPr/>
        </p:nvSpPr>
        <p:spPr>
          <a:xfrm>
            <a:off x="365760" y="6510528"/>
            <a:ext cx="5486400" cy="274320"/>
          </a:xfrm>
          <a:prstGeom prst="rect">
            <a:avLst/>
          </a:prstGeom>
          <a:noFill/>
          <a:ln/>
        </p:spPr>
        <p:txBody>
          <a:bodyPr wrap="square" rtlCol="0" anchor="ctr"/>
          <a:lstStyle/>
          <a:p>
            <a:pPr indent="0" marL="0">
              <a:buNone/>
            </a:pPr>
            <a:r>
              <a:rPr lang="en-US" sz="850" dirty="0">
                <a:solidFill>
                  <a:srgbClr val="8A7C68"/>
                </a:solidFill>
                <a:latin typeface="Segoe UI" pitchFamily="34" charset="0"/>
                <a:ea typeface="Segoe UI" pitchFamily="34" charset="-122"/>
                <a:cs typeface="Segoe UI" pitchFamily="34" charset="-120"/>
              </a:rPr>
              <a:t>Kôji Web — Cahier des charges</a:t>
            </a:r>
            <a:endParaRPr lang="en-US" sz="850" dirty="0"/>
          </a:p>
        </p:txBody>
      </p:sp>
      <p:sp>
        <p:nvSpPr>
          <p:cNvPr id="13" name="Text 11"/>
          <p:cNvSpPr/>
          <p:nvPr/>
        </p:nvSpPr>
        <p:spPr>
          <a:xfrm>
            <a:off x="9601200" y="6510528"/>
            <a:ext cx="2194560" cy="274320"/>
          </a:xfrm>
          <a:prstGeom prst="rect">
            <a:avLst/>
          </a:prstGeom>
          <a:noFill/>
          <a:ln/>
        </p:spPr>
        <p:txBody>
          <a:bodyPr wrap="square" rtlCol="0" anchor="ctr"/>
          <a:lstStyle/>
          <a:p>
            <a:pPr algn="r" indent="0" marL="0">
              <a:buNone/>
            </a:pPr>
            <a:r>
              <a:rPr lang="en-US" sz="850" dirty="0">
                <a:solidFill>
                  <a:srgbClr val="8A7C68"/>
                </a:solidFill>
                <a:latin typeface="Segoe UI" pitchFamily="34" charset="0"/>
                <a:ea typeface="Segoe UI" pitchFamily="34" charset="-122"/>
                <a:cs typeface="Segoe UI" pitchFamily="34" charset="-120"/>
              </a:rPr>
              <a:t>24</a:t>
            </a:r>
            <a:endParaRPr lang="en-US" sz="85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3108960" cy="365760"/>
          </a:xfrm>
          <a:prstGeom prst="roundRect">
            <a:avLst>
              <a:gd name="adj" fmla="val 50000"/>
            </a:avLst>
          </a:prstGeom>
          <a:solidFill>
            <a:srgbClr val="F7EADF"/>
          </a:solidFill>
          <a:ln/>
        </p:spPr>
      </p:sp>
      <p:sp>
        <p:nvSpPr>
          <p:cNvPr id="3" name="Text 1"/>
          <p:cNvSpPr/>
          <p:nvPr/>
        </p:nvSpPr>
        <p:spPr>
          <a:xfrm>
            <a:off x="640080" y="411480"/>
            <a:ext cx="3108960" cy="365760"/>
          </a:xfrm>
          <a:prstGeom prst="rect">
            <a:avLst/>
          </a:prstGeom>
          <a:noFill/>
          <a:ln/>
        </p:spPr>
        <p:txBody>
          <a:bodyPr wrap="square" rtlCol="0" anchor="ctr"/>
          <a:lstStyle/>
          <a:p>
            <a:pPr algn="ctr" indent="0" marL="0">
              <a:buNone/>
            </a:pPr>
            <a:r>
              <a:rPr lang="en-US" sz="950" b="1" spc="100" kern="0" dirty="0">
                <a:solidFill>
                  <a:srgbClr val="9A7C5C"/>
                </a:solidFill>
                <a:latin typeface="Segoe UI" pitchFamily="34" charset="0"/>
                <a:ea typeface="Segoe UI" pitchFamily="34" charset="-122"/>
                <a:cs typeface="Segoe UI" pitchFamily="34" charset="-120"/>
              </a:rPr>
              <a:t>DEVIS</a:t>
            </a:r>
            <a:endParaRPr lang="en-US" sz="950" dirty="0"/>
          </a:p>
        </p:txBody>
      </p:sp>
      <p:sp>
        <p:nvSpPr>
          <p:cNvPr id="4" name="Shape 2"/>
          <p:cNvSpPr/>
          <p:nvPr/>
        </p:nvSpPr>
        <p:spPr>
          <a:xfrm>
            <a:off x="640080" y="1005840"/>
            <a:ext cx="10881360" cy="1737360"/>
          </a:xfrm>
          <a:prstGeom prst="roundRect">
            <a:avLst>
              <a:gd name="adj" fmla="val 3158"/>
            </a:avLst>
          </a:prstGeom>
          <a:solidFill>
            <a:srgbClr val="FFFFFF"/>
          </a:solidFill>
          <a:ln w="12700">
            <a:solidFill>
              <a:srgbClr val="E4DCCB"/>
            </a:solidFill>
            <a:prstDash val="solid"/>
          </a:ln>
        </p:spPr>
      </p:sp>
      <p:sp>
        <p:nvSpPr>
          <p:cNvPr id="5" name="Shape 3"/>
          <p:cNvSpPr/>
          <p:nvPr/>
        </p:nvSpPr>
        <p:spPr>
          <a:xfrm>
            <a:off x="640080" y="1005840"/>
            <a:ext cx="54864" cy="1737360"/>
          </a:xfrm>
          <a:prstGeom prst="rect">
            <a:avLst/>
          </a:prstGeom>
          <a:solidFill>
            <a:srgbClr val="1D6FE0"/>
          </a:solidFill>
          <a:ln/>
        </p:spPr>
      </p:sp>
      <p:sp>
        <p:nvSpPr>
          <p:cNvPr id="6" name="Text 4"/>
          <p:cNvSpPr/>
          <p:nvPr/>
        </p:nvSpPr>
        <p:spPr>
          <a:xfrm>
            <a:off x="914400" y="1133856"/>
            <a:ext cx="10332720" cy="365760"/>
          </a:xfrm>
          <a:prstGeom prst="rect">
            <a:avLst/>
          </a:prstGeom>
          <a:noFill/>
          <a:ln/>
        </p:spPr>
        <p:txBody>
          <a:bodyPr wrap="square" rtlCol="0" anchor="ctr"/>
          <a:lstStyle/>
          <a:p>
            <a:pPr indent="0" marL="0">
              <a:buNone/>
            </a:pPr>
            <a:r>
              <a:rPr lang="en-US" sz="1500" b="1" dirty="0">
                <a:solidFill>
                  <a:srgbClr val="1B1F3B"/>
                </a:solidFill>
                <a:latin typeface="Georgia" pitchFamily="34" charset="0"/>
                <a:ea typeface="Georgia" pitchFamily="34" charset="-122"/>
                <a:cs typeface="Georgia" pitchFamily="34" charset="-120"/>
              </a:rPr>
              <a:t>Fournitures liées à un ouvrage</a:t>
            </a:r>
            <a:endParaRPr lang="en-US" sz="1500" dirty="0"/>
          </a:p>
        </p:txBody>
      </p:sp>
      <p:sp>
        <p:nvSpPr>
          <p:cNvPr id="7" name="Text 5"/>
          <p:cNvSpPr/>
          <p:nvPr/>
        </p:nvSpPr>
        <p:spPr>
          <a:xfrm>
            <a:off x="914400" y="1536192"/>
            <a:ext cx="10332720" cy="1005840"/>
          </a:xfrm>
          <a:prstGeom prst="rect">
            <a:avLst/>
          </a:prstGeom>
          <a:noFill/>
          <a:ln/>
        </p:spPr>
        <p:txBody>
          <a:bodyPr wrap="square" rtlCol="0" anchor="ctr"/>
          <a:lstStyle/>
          <a:p>
            <a:pPr indent="0" marL="0">
              <a:lnSpc>
                <a:spcPts val="1600"/>
              </a:lnSpc>
              <a:buNone/>
            </a:pPr>
            <a:r>
              <a:rPr lang="en-US" sz="1150" dirty="0">
                <a:solidFill>
                  <a:srgbClr val="1B1F3B"/>
                </a:solidFill>
                <a:latin typeface="Segoe UI" pitchFamily="34" charset="0"/>
                <a:ea typeface="Segoe UI" pitchFamily="34" charset="-122"/>
                <a:cs typeface="Segoe UI" pitchFamily="34" charset="-120"/>
              </a:rPr>
              <a:t>Ajout de fournitures à un ouvrage, avec auto-remplissage depuis la bibliothèque de fournitures et calcul du coût matière.</a:t>
            </a:r>
            <a:endParaRPr lang="en-US" sz="1150" dirty="0"/>
          </a:p>
        </p:txBody>
      </p:sp>
      <p:sp>
        <p:nvSpPr>
          <p:cNvPr id="8" name="Shape 6"/>
          <p:cNvSpPr/>
          <p:nvPr/>
        </p:nvSpPr>
        <p:spPr>
          <a:xfrm>
            <a:off x="640080" y="2944368"/>
            <a:ext cx="10881360" cy="1737360"/>
          </a:xfrm>
          <a:prstGeom prst="roundRect">
            <a:avLst>
              <a:gd name="adj" fmla="val 3158"/>
            </a:avLst>
          </a:prstGeom>
          <a:solidFill>
            <a:srgbClr val="FFFFFF"/>
          </a:solidFill>
          <a:ln w="12700">
            <a:solidFill>
              <a:srgbClr val="E4DCCB"/>
            </a:solidFill>
            <a:prstDash val="solid"/>
          </a:ln>
        </p:spPr>
      </p:sp>
      <p:sp>
        <p:nvSpPr>
          <p:cNvPr id="9" name="Shape 7"/>
          <p:cNvSpPr/>
          <p:nvPr/>
        </p:nvSpPr>
        <p:spPr>
          <a:xfrm>
            <a:off x="640080" y="2944368"/>
            <a:ext cx="54864" cy="1737360"/>
          </a:xfrm>
          <a:prstGeom prst="rect">
            <a:avLst/>
          </a:prstGeom>
          <a:solidFill>
            <a:srgbClr val="1D6FE0"/>
          </a:solidFill>
          <a:ln/>
        </p:spPr>
      </p:sp>
      <p:sp>
        <p:nvSpPr>
          <p:cNvPr id="10" name="Text 8"/>
          <p:cNvSpPr/>
          <p:nvPr/>
        </p:nvSpPr>
        <p:spPr>
          <a:xfrm>
            <a:off x="914400" y="3072384"/>
            <a:ext cx="10332720" cy="365760"/>
          </a:xfrm>
          <a:prstGeom prst="rect">
            <a:avLst/>
          </a:prstGeom>
          <a:noFill/>
          <a:ln/>
        </p:spPr>
        <p:txBody>
          <a:bodyPr wrap="square" rtlCol="0" anchor="ctr"/>
          <a:lstStyle/>
          <a:p>
            <a:pPr indent="0" marL="0">
              <a:buNone/>
            </a:pPr>
            <a:r>
              <a:rPr lang="en-US" sz="1500" b="1" dirty="0">
                <a:solidFill>
                  <a:srgbClr val="1B1F3B"/>
                </a:solidFill>
                <a:latin typeface="Georgia" pitchFamily="34" charset="0"/>
                <a:ea typeface="Georgia" pitchFamily="34" charset="-122"/>
                <a:cs typeface="Georgia" pitchFamily="34" charset="-120"/>
              </a:rPr>
              <a:t>Majorations, réductions et TVA</a:t>
            </a:r>
            <a:endParaRPr lang="en-US" sz="1500" dirty="0"/>
          </a:p>
        </p:txBody>
      </p:sp>
      <p:sp>
        <p:nvSpPr>
          <p:cNvPr id="11" name="Text 9"/>
          <p:cNvSpPr/>
          <p:nvPr/>
        </p:nvSpPr>
        <p:spPr>
          <a:xfrm>
            <a:off x="914400" y="3474720"/>
            <a:ext cx="10332720" cy="1005840"/>
          </a:xfrm>
          <a:prstGeom prst="rect">
            <a:avLst/>
          </a:prstGeom>
          <a:noFill/>
          <a:ln/>
        </p:spPr>
        <p:txBody>
          <a:bodyPr wrap="square" rtlCol="0" anchor="ctr"/>
          <a:lstStyle/>
          <a:p>
            <a:pPr indent="0" marL="0">
              <a:lnSpc>
                <a:spcPts val="1600"/>
              </a:lnSpc>
              <a:buNone/>
            </a:pPr>
            <a:r>
              <a:rPr lang="en-US" sz="1150" dirty="0">
                <a:solidFill>
                  <a:srgbClr val="1B1F3B"/>
                </a:solidFill>
                <a:latin typeface="Segoe UI" pitchFamily="34" charset="0"/>
                <a:ea typeface="Segoe UI" pitchFamily="34" charset="-122"/>
                <a:cs typeface="Segoe UI" pitchFamily="34" charset="-120"/>
              </a:rPr>
              <a:t>Application de majorations/minorations (avec motif) au niveau du devis ou d'un ouvrage, et choix du taux de TVA appliqué.</a:t>
            </a:r>
            <a:endParaRPr lang="en-US" sz="1150" dirty="0"/>
          </a:p>
        </p:txBody>
      </p:sp>
      <p:sp>
        <p:nvSpPr>
          <p:cNvPr id="12" name="Text 10"/>
          <p:cNvSpPr/>
          <p:nvPr/>
        </p:nvSpPr>
        <p:spPr>
          <a:xfrm>
            <a:off x="365760" y="6510528"/>
            <a:ext cx="5486400" cy="274320"/>
          </a:xfrm>
          <a:prstGeom prst="rect">
            <a:avLst/>
          </a:prstGeom>
          <a:noFill/>
          <a:ln/>
        </p:spPr>
        <p:txBody>
          <a:bodyPr wrap="square" rtlCol="0" anchor="ctr"/>
          <a:lstStyle/>
          <a:p>
            <a:pPr indent="0" marL="0">
              <a:buNone/>
            </a:pPr>
            <a:r>
              <a:rPr lang="en-US" sz="850" dirty="0">
                <a:solidFill>
                  <a:srgbClr val="8A7C68"/>
                </a:solidFill>
                <a:latin typeface="Segoe UI" pitchFamily="34" charset="0"/>
                <a:ea typeface="Segoe UI" pitchFamily="34" charset="-122"/>
                <a:cs typeface="Segoe UI" pitchFamily="34" charset="-120"/>
              </a:rPr>
              <a:t>Kôji Web — Cahier des charges</a:t>
            </a:r>
            <a:endParaRPr lang="en-US" sz="850" dirty="0"/>
          </a:p>
        </p:txBody>
      </p:sp>
      <p:sp>
        <p:nvSpPr>
          <p:cNvPr id="13" name="Text 11"/>
          <p:cNvSpPr/>
          <p:nvPr/>
        </p:nvSpPr>
        <p:spPr>
          <a:xfrm>
            <a:off x="9601200" y="6510528"/>
            <a:ext cx="2194560" cy="274320"/>
          </a:xfrm>
          <a:prstGeom prst="rect">
            <a:avLst/>
          </a:prstGeom>
          <a:noFill/>
          <a:ln/>
        </p:spPr>
        <p:txBody>
          <a:bodyPr wrap="square" rtlCol="0" anchor="ctr"/>
          <a:lstStyle/>
          <a:p>
            <a:pPr algn="r" indent="0" marL="0">
              <a:buNone/>
            </a:pPr>
            <a:r>
              <a:rPr lang="en-US" sz="850" dirty="0">
                <a:solidFill>
                  <a:srgbClr val="8A7C68"/>
                </a:solidFill>
                <a:latin typeface="Segoe UI" pitchFamily="34" charset="0"/>
                <a:ea typeface="Segoe UI" pitchFamily="34" charset="-122"/>
                <a:cs typeface="Segoe UI" pitchFamily="34" charset="-120"/>
              </a:rPr>
              <a:t>25</a:t>
            </a:r>
            <a:endParaRPr lang="en-US" sz="85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3108960" cy="365760"/>
          </a:xfrm>
          <a:prstGeom prst="roundRect">
            <a:avLst>
              <a:gd name="adj" fmla="val 50000"/>
            </a:avLst>
          </a:prstGeom>
          <a:solidFill>
            <a:srgbClr val="F7EADF"/>
          </a:solidFill>
          <a:ln/>
        </p:spPr>
      </p:sp>
      <p:sp>
        <p:nvSpPr>
          <p:cNvPr id="3" name="Text 1"/>
          <p:cNvSpPr/>
          <p:nvPr/>
        </p:nvSpPr>
        <p:spPr>
          <a:xfrm>
            <a:off x="640080" y="411480"/>
            <a:ext cx="3108960" cy="365760"/>
          </a:xfrm>
          <a:prstGeom prst="rect">
            <a:avLst/>
          </a:prstGeom>
          <a:noFill/>
          <a:ln/>
        </p:spPr>
        <p:txBody>
          <a:bodyPr wrap="square" rtlCol="0" anchor="ctr"/>
          <a:lstStyle/>
          <a:p>
            <a:pPr algn="ctr" indent="0" marL="0">
              <a:buNone/>
            </a:pPr>
            <a:r>
              <a:rPr lang="en-US" sz="950" b="1" spc="100" kern="0" dirty="0">
                <a:solidFill>
                  <a:srgbClr val="9A7C5C"/>
                </a:solidFill>
                <a:latin typeface="Segoe UI" pitchFamily="34" charset="0"/>
                <a:ea typeface="Segoe UI" pitchFamily="34" charset="-122"/>
                <a:cs typeface="Segoe UI" pitchFamily="34" charset="-120"/>
              </a:rPr>
              <a:t>DEVIS</a:t>
            </a:r>
            <a:endParaRPr lang="en-US" sz="950" dirty="0"/>
          </a:p>
        </p:txBody>
      </p:sp>
      <p:sp>
        <p:nvSpPr>
          <p:cNvPr id="4" name="Shape 2"/>
          <p:cNvSpPr/>
          <p:nvPr/>
        </p:nvSpPr>
        <p:spPr>
          <a:xfrm>
            <a:off x="640080" y="1005840"/>
            <a:ext cx="10881360" cy="1737360"/>
          </a:xfrm>
          <a:prstGeom prst="roundRect">
            <a:avLst>
              <a:gd name="adj" fmla="val 3158"/>
            </a:avLst>
          </a:prstGeom>
          <a:solidFill>
            <a:srgbClr val="FFFFFF"/>
          </a:solidFill>
          <a:ln w="12700">
            <a:solidFill>
              <a:srgbClr val="E4DCCB"/>
            </a:solidFill>
            <a:prstDash val="solid"/>
          </a:ln>
        </p:spPr>
      </p:sp>
      <p:sp>
        <p:nvSpPr>
          <p:cNvPr id="5" name="Shape 3"/>
          <p:cNvSpPr/>
          <p:nvPr/>
        </p:nvSpPr>
        <p:spPr>
          <a:xfrm>
            <a:off x="640080" y="1005840"/>
            <a:ext cx="54864" cy="1737360"/>
          </a:xfrm>
          <a:prstGeom prst="rect">
            <a:avLst/>
          </a:prstGeom>
          <a:solidFill>
            <a:srgbClr val="1D6FE0"/>
          </a:solidFill>
          <a:ln/>
        </p:spPr>
      </p:sp>
      <p:sp>
        <p:nvSpPr>
          <p:cNvPr id="6" name="Text 4"/>
          <p:cNvSpPr/>
          <p:nvPr/>
        </p:nvSpPr>
        <p:spPr>
          <a:xfrm>
            <a:off x="914400" y="1133856"/>
            <a:ext cx="10332720" cy="365760"/>
          </a:xfrm>
          <a:prstGeom prst="rect">
            <a:avLst/>
          </a:prstGeom>
          <a:noFill/>
          <a:ln/>
        </p:spPr>
        <p:txBody>
          <a:bodyPr wrap="square" rtlCol="0" anchor="ctr"/>
          <a:lstStyle/>
          <a:p>
            <a:pPr indent="0" marL="0">
              <a:buNone/>
            </a:pPr>
            <a:r>
              <a:rPr lang="en-US" sz="1500" b="1" dirty="0">
                <a:solidFill>
                  <a:srgbClr val="1B1F3B"/>
                </a:solidFill>
                <a:latin typeface="Georgia" pitchFamily="34" charset="0"/>
                <a:ea typeface="Georgia" pitchFamily="34" charset="-122"/>
                <a:cs typeface="Georgia" pitchFamily="34" charset="-120"/>
              </a:rPr>
              <a:t>Numérotation et versions</a:t>
            </a:r>
            <a:endParaRPr lang="en-US" sz="1500" dirty="0"/>
          </a:p>
        </p:txBody>
      </p:sp>
      <p:sp>
        <p:nvSpPr>
          <p:cNvPr id="7" name="Text 5"/>
          <p:cNvSpPr/>
          <p:nvPr/>
        </p:nvSpPr>
        <p:spPr>
          <a:xfrm>
            <a:off x="914400" y="1536192"/>
            <a:ext cx="10332720" cy="1005840"/>
          </a:xfrm>
          <a:prstGeom prst="rect">
            <a:avLst/>
          </a:prstGeom>
          <a:noFill/>
          <a:ln/>
        </p:spPr>
        <p:txBody>
          <a:bodyPr wrap="square" rtlCol="0" anchor="ctr"/>
          <a:lstStyle/>
          <a:p>
            <a:pPr indent="0" marL="0">
              <a:lnSpc>
                <a:spcPts val="1600"/>
              </a:lnSpc>
              <a:buNone/>
            </a:pPr>
            <a:r>
              <a:rPr lang="en-US" sz="1150" dirty="0">
                <a:solidFill>
                  <a:srgbClr val="1B1F3B"/>
                </a:solidFill>
                <a:latin typeface="Segoe UI" pitchFamily="34" charset="0"/>
                <a:ea typeface="Segoe UI" pitchFamily="34" charset="-122"/>
                <a:cs typeface="Segoe UI" pitchFamily="34" charset="-120"/>
              </a:rPr>
              <a:t>Chaque devis a un numéro et un numéro de version, incrémenté automatiquement à chaque enregistrement manuel d'un devis déjà créé.</a:t>
            </a:r>
            <a:endParaRPr lang="en-US" sz="1150" dirty="0"/>
          </a:p>
        </p:txBody>
      </p:sp>
      <p:sp>
        <p:nvSpPr>
          <p:cNvPr id="8" name="Shape 6"/>
          <p:cNvSpPr/>
          <p:nvPr/>
        </p:nvSpPr>
        <p:spPr>
          <a:xfrm>
            <a:off x="640080" y="2944368"/>
            <a:ext cx="10881360" cy="1737360"/>
          </a:xfrm>
          <a:prstGeom prst="roundRect">
            <a:avLst>
              <a:gd name="adj" fmla="val 3158"/>
            </a:avLst>
          </a:prstGeom>
          <a:solidFill>
            <a:srgbClr val="FFFFFF"/>
          </a:solidFill>
          <a:ln w="12700">
            <a:solidFill>
              <a:srgbClr val="E4DCCB"/>
            </a:solidFill>
            <a:prstDash val="solid"/>
          </a:ln>
        </p:spPr>
      </p:sp>
      <p:sp>
        <p:nvSpPr>
          <p:cNvPr id="9" name="Shape 7"/>
          <p:cNvSpPr/>
          <p:nvPr/>
        </p:nvSpPr>
        <p:spPr>
          <a:xfrm>
            <a:off x="640080" y="2944368"/>
            <a:ext cx="54864" cy="1737360"/>
          </a:xfrm>
          <a:prstGeom prst="rect">
            <a:avLst/>
          </a:prstGeom>
          <a:solidFill>
            <a:srgbClr val="1D6FE0"/>
          </a:solidFill>
          <a:ln/>
        </p:spPr>
      </p:sp>
      <p:sp>
        <p:nvSpPr>
          <p:cNvPr id="10" name="Text 8"/>
          <p:cNvSpPr/>
          <p:nvPr/>
        </p:nvSpPr>
        <p:spPr>
          <a:xfrm>
            <a:off x="914400" y="3072384"/>
            <a:ext cx="10332720" cy="365760"/>
          </a:xfrm>
          <a:prstGeom prst="rect">
            <a:avLst/>
          </a:prstGeom>
          <a:noFill/>
          <a:ln/>
        </p:spPr>
        <p:txBody>
          <a:bodyPr wrap="square" rtlCol="0" anchor="ctr"/>
          <a:lstStyle/>
          <a:p>
            <a:pPr indent="0" marL="0">
              <a:buNone/>
            </a:pPr>
            <a:r>
              <a:rPr lang="en-US" sz="1500" b="1" dirty="0">
                <a:solidFill>
                  <a:srgbClr val="1B1F3B"/>
                </a:solidFill>
                <a:latin typeface="Georgia" pitchFamily="34" charset="0"/>
                <a:ea typeface="Georgia" pitchFamily="34" charset="-122"/>
                <a:cs typeface="Georgia" pitchFamily="34" charset="-120"/>
              </a:rPr>
              <a:t>Génération PDF / aperçu</a:t>
            </a:r>
            <a:endParaRPr lang="en-US" sz="1500" dirty="0"/>
          </a:p>
        </p:txBody>
      </p:sp>
      <p:sp>
        <p:nvSpPr>
          <p:cNvPr id="11" name="Text 9"/>
          <p:cNvSpPr/>
          <p:nvPr/>
        </p:nvSpPr>
        <p:spPr>
          <a:xfrm>
            <a:off x="914400" y="3474720"/>
            <a:ext cx="10332720" cy="1005840"/>
          </a:xfrm>
          <a:prstGeom prst="rect">
            <a:avLst/>
          </a:prstGeom>
          <a:noFill/>
          <a:ln/>
        </p:spPr>
        <p:txBody>
          <a:bodyPr wrap="square" rtlCol="0" anchor="ctr"/>
          <a:lstStyle/>
          <a:p>
            <a:pPr indent="0" marL="0">
              <a:lnSpc>
                <a:spcPts val="1600"/>
              </a:lnSpc>
              <a:buNone/>
            </a:pPr>
            <a:r>
              <a:rPr lang="en-US" sz="1150" dirty="0">
                <a:solidFill>
                  <a:srgbClr val="1B1F3B"/>
                </a:solidFill>
                <a:latin typeface="Segoe UI" pitchFamily="34" charset="0"/>
                <a:ea typeface="Segoe UI" pitchFamily="34" charset="-122"/>
                <a:cs typeface="Segoe UI" pitchFamily="34" charset="-120"/>
              </a:rPr>
              <a:t>Génération du devis final en PDF, avec mentions légales du chantier et détail des désignations, téléchargeable ou prévisualisable.</a:t>
            </a:r>
            <a:endParaRPr lang="en-US" sz="1150" dirty="0"/>
          </a:p>
        </p:txBody>
      </p:sp>
      <p:sp>
        <p:nvSpPr>
          <p:cNvPr id="12" name="Text 10"/>
          <p:cNvSpPr/>
          <p:nvPr/>
        </p:nvSpPr>
        <p:spPr>
          <a:xfrm>
            <a:off x="365760" y="6510528"/>
            <a:ext cx="5486400" cy="274320"/>
          </a:xfrm>
          <a:prstGeom prst="rect">
            <a:avLst/>
          </a:prstGeom>
          <a:noFill/>
          <a:ln/>
        </p:spPr>
        <p:txBody>
          <a:bodyPr wrap="square" rtlCol="0" anchor="ctr"/>
          <a:lstStyle/>
          <a:p>
            <a:pPr indent="0" marL="0">
              <a:buNone/>
            </a:pPr>
            <a:r>
              <a:rPr lang="en-US" sz="850" dirty="0">
                <a:solidFill>
                  <a:srgbClr val="8A7C68"/>
                </a:solidFill>
                <a:latin typeface="Segoe UI" pitchFamily="34" charset="0"/>
                <a:ea typeface="Segoe UI" pitchFamily="34" charset="-122"/>
                <a:cs typeface="Segoe UI" pitchFamily="34" charset="-120"/>
              </a:rPr>
              <a:t>Kôji Web — Cahier des charges</a:t>
            </a:r>
            <a:endParaRPr lang="en-US" sz="850" dirty="0"/>
          </a:p>
        </p:txBody>
      </p:sp>
      <p:sp>
        <p:nvSpPr>
          <p:cNvPr id="13" name="Text 11"/>
          <p:cNvSpPr/>
          <p:nvPr/>
        </p:nvSpPr>
        <p:spPr>
          <a:xfrm>
            <a:off x="9601200" y="6510528"/>
            <a:ext cx="2194560" cy="274320"/>
          </a:xfrm>
          <a:prstGeom prst="rect">
            <a:avLst/>
          </a:prstGeom>
          <a:noFill/>
          <a:ln/>
        </p:spPr>
        <p:txBody>
          <a:bodyPr wrap="square" rtlCol="0" anchor="ctr"/>
          <a:lstStyle/>
          <a:p>
            <a:pPr algn="r" indent="0" marL="0">
              <a:buNone/>
            </a:pPr>
            <a:r>
              <a:rPr lang="en-US" sz="850" dirty="0">
                <a:solidFill>
                  <a:srgbClr val="8A7C68"/>
                </a:solidFill>
                <a:latin typeface="Segoe UI" pitchFamily="34" charset="0"/>
                <a:ea typeface="Segoe UI" pitchFamily="34" charset="-122"/>
                <a:cs typeface="Segoe UI" pitchFamily="34" charset="-120"/>
              </a:rPr>
              <a:t>26</a:t>
            </a:r>
            <a:endParaRPr lang="en-US" sz="85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3108960" cy="365760"/>
          </a:xfrm>
          <a:prstGeom prst="roundRect">
            <a:avLst>
              <a:gd name="adj" fmla="val 50000"/>
            </a:avLst>
          </a:prstGeom>
          <a:solidFill>
            <a:srgbClr val="F7EADF"/>
          </a:solidFill>
          <a:ln/>
        </p:spPr>
      </p:sp>
      <p:sp>
        <p:nvSpPr>
          <p:cNvPr id="3" name="Text 1"/>
          <p:cNvSpPr/>
          <p:nvPr/>
        </p:nvSpPr>
        <p:spPr>
          <a:xfrm>
            <a:off x="640080" y="411480"/>
            <a:ext cx="3108960" cy="365760"/>
          </a:xfrm>
          <a:prstGeom prst="rect">
            <a:avLst/>
          </a:prstGeom>
          <a:noFill/>
          <a:ln/>
        </p:spPr>
        <p:txBody>
          <a:bodyPr wrap="square" rtlCol="0" anchor="ctr"/>
          <a:lstStyle/>
          <a:p>
            <a:pPr algn="ctr" indent="0" marL="0">
              <a:buNone/>
            </a:pPr>
            <a:r>
              <a:rPr lang="en-US" sz="950" b="1" spc="100" kern="0" dirty="0">
                <a:solidFill>
                  <a:srgbClr val="9A7C5C"/>
                </a:solidFill>
                <a:latin typeface="Segoe UI" pitchFamily="34" charset="0"/>
                <a:ea typeface="Segoe UI" pitchFamily="34" charset="-122"/>
                <a:cs typeface="Segoe UI" pitchFamily="34" charset="-120"/>
              </a:rPr>
              <a:t>DEVIS</a:t>
            </a:r>
            <a:endParaRPr lang="en-US" sz="950" dirty="0"/>
          </a:p>
        </p:txBody>
      </p:sp>
      <p:sp>
        <p:nvSpPr>
          <p:cNvPr id="4" name="Shape 2"/>
          <p:cNvSpPr/>
          <p:nvPr/>
        </p:nvSpPr>
        <p:spPr>
          <a:xfrm>
            <a:off x="640080" y="1005840"/>
            <a:ext cx="10881360" cy="1737360"/>
          </a:xfrm>
          <a:prstGeom prst="roundRect">
            <a:avLst>
              <a:gd name="adj" fmla="val 3158"/>
            </a:avLst>
          </a:prstGeom>
          <a:solidFill>
            <a:srgbClr val="FFFFFF"/>
          </a:solidFill>
          <a:ln w="12700">
            <a:solidFill>
              <a:srgbClr val="E4DCCB"/>
            </a:solidFill>
            <a:prstDash val="solid"/>
          </a:ln>
        </p:spPr>
      </p:sp>
      <p:sp>
        <p:nvSpPr>
          <p:cNvPr id="5" name="Shape 3"/>
          <p:cNvSpPr/>
          <p:nvPr/>
        </p:nvSpPr>
        <p:spPr>
          <a:xfrm>
            <a:off x="640080" y="1005840"/>
            <a:ext cx="54864" cy="1737360"/>
          </a:xfrm>
          <a:prstGeom prst="rect">
            <a:avLst/>
          </a:prstGeom>
          <a:solidFill>
            <a:srgbClr val="1D6FE0"/>
          </a:solidFill>
          <a:ln/>
        </p:spPr>
      </p:sp>
      <p:sp>
        <p:nvSpPr>
          <p:cNvPr id="6" name="Text 4"/>
          <p:cNvSpPr/>
          <p:nvPr/>
        </p:nvSpPr>
        <p:spPr>
          <a:xfrm>
            <a:off x="914400" y="1133856"/>
            <a:ext cx="10332720" cy="365760"/>
          </a:xfrm>
          <a:prstGeom prst="rect">
            <a:avLst/>
          </a:prstGeom>
          <a:noFill/>
          <a:ln/>
        </p:spPr>
        <p:txBody>
          <a:bodyPr wrap="square" rtlCol="0" anchor="ctr"/>
          <a:lstStyle/>
          <a:p>
            <a:pPr indent="0" marL="0">
              <a:buNone/>
            </a:pPr>
            <a:r>
              <a:rPr lang="en-US" sz="1500" b="1" dirty="0">
                <a:solidFill>
                  <a:srgbClr val="1B1F3B"/>
                </a:solidFill>
                <a:latin typeface="Georgia" pitchFamily="34" charset="0"/>
                <a:ea typeface="Georgia" pitchFamily="34" charset="-122"/>
                <a:cs typeface="Georgia" pitchFamily="34" charset="-120"/>
              </a:rPr>
              <a:t>Envoi au client</a:t>
            </a:r>
            <a:endParaRPr lang="en-US" sz="1500" dirty="0"/>
          </a:p>
        </p:txBody>
      </p:sp>
      <p:sp>
        <p:nvSpPr>
          <p:cNvPr id="7" name="Text 5"/>
          <p:cNvSpPr/>
          <p:nvPr/>
        </p:nvSpPr>
        <p:spPr>
          <a:xfrm>
            <a:off x="914400" y="1536192"/>
            <a:ext cx="10332720" cy="1005840"/>
          </a:xfrm>
          <a:prstGeom prst="rect">
            <a:avLst/>
          </a:prstGeom>
          <a:noFill/>
          <a:ln/>
        </p:spPr>
        <p:txBody>
          <a:bodyPr wrap="square" rtlCol="0" anchor="ctr"/>
          <a:lstStyle/>
          <a:p>
            <a:pPr indent="0" marL="0">
              <a:lnSpc>
                <a:spcPts val="1600"/>
              </a:lnSpc>
              <a:buNone/>
            </a:pPr>
            <a:r>
              <a:rPr lang="en-US" sz="1150" dirty="0">
                <a:solidFill>
                  <a:srgbClr val="1B1F3B"/>
                </a:solidFill>
                <a:latin typeface="Segoe UI" pitchFamily="34" charset="0"/>
                <a:ea typeface="Segoe UI" pitchFamily="34" charset="-122"/>
                <a:cs typeface="Segoe UI" pitchFamily="34" charset="-120"/>
              </a:rPr>
              <a:t>Le devis peut être envoyé par email au client, avec génération d'un lien de signature.</a:t>
            </a:r>
            <a:endParaRPr lang="en-US" sz="1150" dirty="0"/>
          </a:p>
        </p:txBody>
      </p:sp>
      <p:sp>
        <p:nvSpPr>
          <p:cNvPr id="8" name="Shape 6"/>
          <p:cNvSpPr/>
          <p:nvPr/>
        </p:nvSpPr>
        <p:spPr>
          <a:xfrm>
            <a:off x="640080" y="2944368"/>
            <a:ext cx="10881360" cy="1737360"/>
          </a:xfrm>
          <a:prstGeom prst="roundRect">
            <a:avLst>
              <a:gd name="adj" fmla="val 3158"/>
            </a:avLst>
          </a:prstGeom>
          <a:solidFill>
            <a:srgbClr val="FFFFFF"/>
          </a:solidFill>
          <a:ln w="12700">
            <a:solidFill>
              <a:srgbClr val="E4DCCB"/>
            </a:solidFill>
            <a:prstDash val="solid"/>
          </a:ln>
        </p:spPr>
      </p:sp>
      <p:sp>
        <p:nvSpPr>
          <p:cNvPr id="9" name="Shape 7"/>
          <p:cNvSpPr/>
          <p:nvPr/>
        </p:nvSpPr>
        <p:spPr>
          <a:xfrm>
            <a:off x="640080" y="2944368"/>
            <a:ext cx="54864" cy="1737360"/>
          </a:xfrm>
          <a:prstGeom prst="rect">
            <a:avLst/>
          </a:prstGeom>
          <a:solidFill>
            <a:srgbClr val="1D6FE0"/>
          </a:solidFill>
          <a:ln/>
        </p:spPr>
      </p:sp>
      <p:sp>
        <p:nvSpPr>
          <p:cNvPr id="10" name="Text 8"/>
          <p:cNvSpPr/>
          <p:nvPr/>
        </p:nvSpPr>
        <p:spPr>
          <a:xfrm>
            <a:off x="914400" y="3072384"/>
            <a:ext cx="10332720" cy="365760"/>
          </a:xfrm>
          <a:prstGeom prst="rect">
            <a:avLst/>
          </a:prstGeom>
          <a:noFill/>
          <a:ln/>
        </p:spPr>
        <p:txBody>
          <a:bodyPr wrap="square" rtlCol="0" anchor="ctr"/>
          <a:lstStyle/>
          <a:p>
            <a:pPr indent="0" marL="0">
              <a:buNone/>
            </a:pPr>
            <a:r>
              <a:rPr lang="en-US" sz="1500" b="1" dirty="0">
                <a:solidFill>
                  <a:srgbClr val="1B1F3B"/>
                </a:solidFill>
                <a:latin typeface="Georgia" pitchFamily="34" charset="0"/>
                <a:ea typeface="Georgia" pitchFamily="34" charset="-122"/>
                <a:cs typeface="Georgia" pitchFamily="34" charset="-120"/>
              </a:rPr>
              <a:t>Transformation en chantier</a:t>
            </a:r>
            <a:endParaRPr lang="en-US" sz="1500" dirty="0"/>
          </a:p>
        </p:txBody>
      </p:sp>
      <p:sp>
        <p:nvSpPr>
          <p:cNvPr id="11" name="Text 9"/>
          <p:cNvSpPr/>
          <p:nvPr/>
        </p:nvSpPr>
        <p:spPr>
          <a:xfrm>
            <a:off x="914400" y="3474720"/>
            <a:ext cx="10332720" cy="1005840"/>
          </a:xfrm>
          <a:prstGeom prst="rect">
            <a:avLst/>
          </a:prstGeom>
          <a:noFill/>
          <a:ln/>
        </p:spPr>
        <p:txBody>
          <a:bodyPr wrap="square" rtlCol="0" anchor="ctr"/>
          <a:lstStyle/>
          <a:p>
            <a:pPr indent="0" marL="0">
              <a:lnSpc>
                <a:spcPts val="1600"/>
              </a:lnSpc>
              <a:buNone/>
            </a:pPr>
            <a:r>
              <a:rPr lang="en-US" sz="1150" dirty="0">
                <a:solidFill>
                  <a:srgbClr val="1B1F3B"/>
                </a:solidFill>
                <a:latin typeface="Segoe UI" pitchFamily="34" charset="0"/>
                <a:ea typeface="Segoe UI" pitchFamily="34" charset="-122"/>
                <a:cs typeface="Segoe UI" pitchFamily="34" charset="-120"/>
              </a:rPr>
              <a:t>Une fois signé par le client, le devis devient automatiquement un chantier suivi dans le module Chantiers, sans ressaisie.</a:t>
            </a:r>
            <a:endParaRPr lang="en-US" sz="1150" dirty="0"/>
          </a:p>
        </p:txBody>
      </p:sp>
      <p:sp>
        <p:nvSpPr>
          <p:cNvPr id="12" name="Text 10"/>
          <p:cNvSpPr/>
          <p:nvPr/>
        </p:nvSpPr>
        <p:spPr>
          <a:xfrm>
            <a:off x="365760" y="6510528"/>
            <a:ext cx="5486400" cy="274320"/>
          </a:xfrm>
          <a:prstGeom prst="rect">
            <a:avLst/>
          </a:prstGeom>
          <a:noFill/>
          <a:ln/>
        </p:spPr>
        <p:txBody>
          <a:bodyPr wrap="square" rtlCol="0" anchor="ctr"/>
          <a:lstStyle/>
          <a:p>
            <a:pPr indent="0" marL="0">
              <a:buNone/>
            </a:pPr>
            <a:r>
              <a:rPr lang="en-US" sz="850" dirty="0">
                <a:solidFill>
                  <a:srgbClr val="8A7C68"/>
                </a:solidFill>
                <a:latin typeface="Segoe UI" pitchFamily="34" charset="0"/>
                <a:ea typeface="Segoe UI" pitchFamily="34" charset="-122"/>
                <a:cs typeface="Segoe UI" pitchFamily="34" charset="-120"/>
              </a:rPr>
              <a:t>Kôji Web — Cahier des charges</a:t>
            </a:r>
            <a:endParaRPr lang="en-US" sz="850" dirty="0"/>
          </a:p>
        </p:txBody>
      </p:sp>
      <p:sp>
        <p:nvSpPr>
          <p:cNvPr id="13" name="Text 11"/>
          <p:cNvSpPr/>
          <p:nvPr/>
        </p:nvSpPr>
        <p:spPr>
          <a:xfrm>
            <a:off x="9601200" y="6510528"/>
            <a:ext cx="2194560" cy="274320"/>
          </a:xfrm>
          <a:prstGeom prst="rect">
            <a:avLst/>
          </a:prstGeom>
          <a:noFill/>
          <a:ln/>
        </p:spPr>
        <p:txBody>
          <a:bodyPr wrap="square" rtlCol="0" anchor="ctr"/>
          <a:lstStyle/>
          <a:p>
            <a:pPr algn="r" indent="0" marL="0">
              <a:buNone/>
            </a:pPr>
            <a:r>
              <a:rPr lang="en-US" sz="850" dirty="0">
                <a:solidFill>
                  <a:srgbClr val="8A7C68"/>
                </a:solidFill>
                <a:latin typeface="Segoe UI" pitchFamily="34" charset="0"/>
                <a:ea typeface="Segoe UI" pitchFamily="34" charset="-122"/>
                <a:cs typeface="Segoe UI" pitchFamily="34" charset="-120"/>
              </a:rPr>
              <a:t>27</a:t>
            </a:r>
            <a:endParaRPr lang="en-US" sz="85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3108960" cy="365760"/>
          </a:xfrm>
          <a:prstGeom prst="roundRect">
            <a:avLst>
              <a:gd name="adj" fmla="val 50000"/>
            </a:avLst>
          </a:prstGeom>
          <a:solidFill>
            <a:srgbClr val="F7EADF"/>
          </a:solidFill>
          <a:ln/>
        </p:spPr>
      </p:sp>
      <p:sp>
        <p:nvSpPr>
          <p:cNvPr id="3" name="Text 1"/>
          <p:cNvSpPr/>
          <p:nvPr/>
        </p:nvSpPr>
        <p:spPr>
          <a:xfrm>
            <a:off x="640080" y="411480"/>
            <a:ext cx="3108960" cy="365760"/>
          </a:xfrm>
          <a:prstGeom prst="rect">
            <a:avLst/>
          </a:prstGeom>
          <a:noFill/>
          <a:ln/>
        </p:spPr>
        <p:txBody>
          <a:bodyPr wrap="square" rtlCol="0" anchor="ctr"/>
          <a:lstStyle/>
          <a:p>
            <a:pPr algn="ctr" indent="0" marL="0">
              <a:buNone/>
            </a:pPr>
            <a:r>
              <a:rPr lang="en-US" sz="950" b="1" spc="100" kern="0" dirty="0">
                <a:solidFill>
                  <a:srgbClr val="9A7C5C"/>
                </a:solidFill>
                <a:latin typeface="Segoe UI" pitchFamily="34" charset="0"/>
                <a:ea typeface="Segoe UI" pitchFamily="34" charset="-122"/>
                <a:cs typeface="Segoe UI" pitchFamily="34" charset="-120"/>
              </a:rPr>
              <a:t>DEVIS</a:t>
            </a:r>
            <a:endParaRPr lang="en-US" sz="950" dirty="0"/>
          </a:p>
        </p:txBody>
      </p:sp>
      <p:sp>
        <p:nvSpPr>
          <p:cNvPr id="4" name="Shape 2"/>
          <p:cNvSpPr/>
          <p:nvPr/>
        </p:nvSpPr>
        <p:spPr>
          <a:xfrm>
            <a:off x="640080" y="1005840"/>
            <a:ext cx="10881360" cy="1737360"/>
          </a:xfrm>
          <a:prstGeom prst="roundRect">
            <a:avLst>
              <a:gd name="adj" fmla="val 3158"/>
            </a:avLst>
          </a:prstGeom>
          <a:solidFill>
            <a:srgbClr val="FFFFFF"/>
          </a:solidFill>
          <a:ln w="12700">
            <a:solidFill>
              <a:srgbClr val="E4DCCB"/>
            </a:solidFill>
            <a:prstDash val="solid"/>
          </a:ln>
        </p:spPr>
      </p:sp>
      <p:sp>
        <p:nvSpPr>
          <p:cNvPr id="5" name="Shape 3"/>
          <p:cNvSpPr/>
          <p:nvPr/>
        </p:nvSpPr>
        <p:spPr>
          <a:xfrm>
            <a:off x="640080" y="1005840"/>
            <a:ext cx="54864" cy="1737360"/>
          </a:xfrm>
          <a:prstGeom prst="rect">
            <a:avLst/>
          </a:prstGeom>
          <a:solidFill>
            <a:srgbClr val="1D6FE0"/>
          </a:solidFill>
          <a:ln/>
        </p:spPr>
      </p:sp>
      <p:sp>
        <p:nvSpPr>
          <p:cNvPr id="6" name="Text 4"/>
          <p:cNvSpPr/>
          <p:nvPr/>
        </p:nvSpPr>
        <p:spPr>
          <a:xfrm>
            <a:off x="914400" y="1133856"/>
            <a:ext cx="10332720" cy="365760"/>
          </a:xfrm>
          <a:prstGeom prst="rect">
            <a:avLst/>
          </a:prstGeom>
          <a:noFill/>
          <a:ln/>
        </p:spPr>
        <p:txBody>
          <a:bodyPr wrap="square" rtlCol="0" anchor="ctr"/>
          <a:lstStyle/>
          <a:p>
            <a:pPr indent="0" marL="0">
              <a:buNone/>
            </a:pPr>
            <a:r>
              <a:rPr lang="en-US" sz="1500" b="1" dirty="0">
                <a:solidFill>
                  <a:srgbClr val="1B1F3B"/>
                </a:solidFill>
                <a:latin typeface="Georgia" pitchFamily="34" charset="0"/>
                <a:ea typeface="Georgia" pitchFamily="34" charset="-122"/>
                <a:cs typeface="Georgia" pitchFamily="34" charset="-120"/>
              </a:rPr>
              <a:t>Brouillon et reprise</a:t>
            </a:r>
            <a:endParaRPr lang="en-US" sz="1500" dirty="0"/>
          </a:p>
        </p:txBody>
      </p:sp>
      <p:sp>
        <p:nvSpPr>
          <p:cNvPr id="7" name="Text 5"/>
          <p:cNvSpPr/>
          <p:nvPr/>
        </p:nvSpPr>
        <p:spPr>
          <a:xfrm>
            <a:off x="914400" y="1536192"/>
            <a:ext cx="10332720" cy="1005840"/>
          </a:xfrm>
          <a:prstGeom prst="rect">
            <a:avLst/>
          </a:prstGeom>
          <a:noFill/>
          <a:ln/>
        </p:spPr>
        <p:txBody>
          <a:bodyPr wrap="square" rtlCol="0" anchor="ctr"/>
          <a:lstStyle/>
          <a:p>
            <a:pPr indent="0" marL="0">
              <a:lnSpc>
                <a:spcPts val="1600"/>
              </a:lnSpc>
              <a:buNone/>
            </a:pPr>
            <a:r>
              <a:rPr lang="en-US" sz="1150" dirty="0">
                <a:solidFill>
                  <a:srgbClr val="1B1F3B"/>
                </a:solidFill>
                <a:latin typeface="Segoe UI" pitchFamily="34" charset="0"/>
                <a:ea typeface="Segoe UI" pitchFamily="34" charset="-122"/>
                <a:cs typeface="Segoe UI" pitchFamily="34" charset="-120"/>
              </a:rPr>
              <a:t>Un devis non terminé reste en brouillon et peut être repris plus tard depuis l'accueil ("Finir votre chantier") ou l'historique.</a:t>
            </a:r>
            <a:endParaRPr lang="en-US" sz="1150" dirty="0"/>
          </a:p>
        </p:txBody>
      </p:sp>
      <p:sp>
        <p:nvSpPr>
          <p:cNvPr id="8" name="Text 6"/>
          <p:cNvSpPr/>
          <p:nvPr/>
        </p:nvSpPr>
        <p:spPr>
          <a:xfrm>
            <a:off x="365760" y="6510528"/>
            <a:ext cx="5486400" cy="274320"/>
          </a:xfrm>
          <a:prstGeom prst="rect">
            <a:avLst/>
          </a:prstGeom>
          <a:noFill/>
          <a:ln/>
        </p:spPr>
        <p:txBody>
          <a:bodyPr wrap="square" rtlCol="0" anchor="ctr"/>
          <a:lstStyle/>
          <a:p>
            <a:pPr indent="0" marL="0">
              <a:buNone/>
            </a:pPr>
            <a:r>
              <a:rPr lang="en-US" sz="850" dirty="0">
                <a:solidFill>
                  <a:srgbClr val="8A7C68"/>
                </a:solidFill>
                <a:latin typeface="Segoe UI" pitchFamily="34" charset="0"/>
                <a:ea typeface="Segoe UI" pitchFamily="34" charset="-122"/>
                <a:cs typeface="Segoe UI" pitchFamily="34" charset="-120"/>
              </a:rPr>
              <a:t>Kôji Web — Cahier des charges</a:t>
            </a:r>
            <a:endParaRPr lang="en-US" sz="850" dirty="0"/>
          </a:p>
        </p:txBody>
      </p:sp>
      <p:sp>
        <p:nvSpPr>
          <p:cNvPr id="9" name="Text 7"/>
          <p:cNvSpPr/>
          <p:nvPr/>
        </p:nvSpPr>
        <p:spPr>
          <a:xfrm>
            <a:off x="9601200" y="6510528"/>
            <a:ext cx="2194560" cy="274320"/>
          </a:xfrm>
          <a:prstGeom prst="rect">
            <a:avLst/>
          </a:prstGeom>
          <a:noFill/>
          <a:ln/>
        </p:spPr>
        <p:txBody>
          <a:bodyPr wrap="square" rtlCol="0" anchor="ctr"/>
          <a:lstStyle/>
          <a:p>
            <a:pPr algn="r" indent="0" marL="0">
              <a:buNone/>
            </a:pPr>
            <a:r>
              <a:rPr lang="en-US" sz="850" dirty="0">
                <a:solidFill>
                  <a:srgbClr val="8A7C68"/>
                </a:solidFill>
                <a:latin typeface="Segoe UI" pitchFamily="34" charset="0"/>
                <a:ea typeface="Segoe UI" pitchFamily="34" charset="-122"/>
                <a:cs typeface="Segoe UI" pitchFamily="34" charset="-120"/>
              </a:rPr>
              <a:t>28</a:t>
            </a:r>
            <a:endParaRPr lang="en-US" sz="85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0B1030"/>
        </a:solidFill>
      </p:bgPr>
    </p:bg>
    <p:spTree>
      <p:nvGrpSpPr>
        <p:cNvPr id="1" name=""/>
        <p:cNvGrpSpPr/>
        <p:nvPr/>
      </p:nvGrpSpPr>
      <p:grpSpPr>
        <a:xfrm>
          <a:off x="0" y="0"/>
          <a:ext cx="0" cy="0"/>
          <a:chOff x="0" y="0"/>
          <a:chExt cx="0" cy="0"/>
        </a:xfrm>
      </p:grpSpPr>
      <p:sp>
        <p:nvSpPr>
          <p:cNvPr id="2" name="Shape 0"/>
          <p:cNvSpPr/>
          <p:nvPr/>
        </p:nvSpPr>
        <p:spPr>
          <a:xfrm>
            <a:off x="0" y="3246120"/>
            <a:ext cx="12191695" cy="54864"/>
          </a:xfrm>
          <a:prstGeom prst="rect">
            <a:avLst/>
          </a:prstGeom>
          <a:solidFill>
            <a:srgbClr val="C9A96A"/>
          </a:solidFill>
          <a:ln/>
        </p:spPr>
      </p:sp>
      <p:sp>
        <p:nvSpPr>
          <p:cNvPr id="3" name="Text 1"/>
          <p:cNvSpPr/>
          <p:nvPr/>
        </p:nvSpPr>
        <p:spPr>
          <a:xfrm>
            <a:off x="640080" y="1920240"/>
            <a:ext cx="2743200" cy="548640"/>
          </a:xfrm>
          <a:prstGeom prst="rect">
            <a:avLst/>
          </a:prstGeom>
          <a:noFill/>
          <a:ln/>
        </p:spPr>
        <p:txBody>
          <a:bodyPr wrap="square" rtlCol="0" anchor="ctr"/>
          <a:lstStyle/>
          <a:p>
            <a:pPr indent="0" marL="0">
              <a:buNone/>
            </a:pPr>
            <a:r>
              <a:rPr lang="en-US" sz="1500" b="1" dirty="0">
                <a:solidFill>
                  <a:srgbClr val="C9A96A"/>
                </a:solidFill>
                <a:latin typeface="Segoe UI" pitchFamily="34" charset="0"/>
                <a:ea typeface="Segoe UI" pitchFamily="34" charset="-122"/>
                <a:cs typeface="Segoe UI" pitchFamily="34" charset="-120"/>
              </a:rPr>
              <a:t>06</a:t>
            </a:r>
            <a:endParaRPr lang="en-US" sz="1500" dirty="0"/>
          </a:p>
        </p:txBody>
      </p:sp>
      <p:sp>
        <p:nvSpPr>
          <p:cNvPr id="4" name="Text 2"/>
          <p:cNvSpPr/>
          <p:nvPr/>
        </p:nvSpPr>
        <p:spPr>
          <a:xfrm>
            <a:off x="640080" y="2377440"/>
            <a:ext cx="10515600" cy="914400"/>
          </a:xfrm>
          <a:prstGeom prst="rect">
            <a:avLst/>
          </a:prstGeom>
          <a:noFill/>
          <a:ln/>
        </p:spPr>
        <p:txBody>
          <a:bodyPr wrap="square" rtlCol="0" anchor="ctr"/>
          <a:lstStyle/>
          <a:p>
            <a:pPr indent="0" marL="0">
              <a:buNone/>
            </a:pPr>
            <a:r>
              <a:rPr lang="en-US" sz="3400" b="1" dirty="0">
                <a:solidFill>
                  <a:srgbClr val="FFFFFF"/>
                </a:solidFill>
                <a:latin typeface="Georgia" pitchFamily="34" charset="0"/>
                <a:ea typeface="Georgia" pitchFamily="34" charset="-122"/>
                <a:cs typeface="Georgia" pitchFamily="34" charset="-120"/>
              </a:rPr>
              <a:t>Signature électronique</a:t>
            </a:r>
            <a:endParaRPr lang="en-US" sz="3400" dirty="0"/>
          </a:p>
        </p:txBody>
      </p:sp>
      <p:sp>
        <p:nvSpPr>
          <p:cNvPr id="5" name="Text 3"/>
          <p:cNvSpPr/>
          <p:nvPr/>
        </p:nvSpPr>
        <p:spPr>
          <a:xfrm>
            <a:off x="640080" y="3429000"/>
            <a:ext cx="10058400" cy="1188720"/>
          </a:xfrm>
          <a:prstGeom prst="rect">
            <a:avLst/>
          </a:prstGeom>
          <a:noFill/>
          <a:ln/>
        </p:spPr>
        <p:txBody>
          <a:bodyPr wrap="square" rtlCol="0" anchor="ctr"/>
          <a:lstStyle/>
          <a:p>
            <a:pPr indent="0" marL="0">
              <a:lnSpc>
                <a:spcPts val="1800"/>
              </a:lnSpc>
              <a:buNone/>
            </a:pPr>
            <a:r>
              <a:rPr lang="en-US" sz="1300" dirty="0">
                <a:solidFill>
                  <a:srgbClr val="C7C9E0"/>
                </a:solidFill>
                <a:latin typeface="Segoe UI" pitchFamily="34" charset="0"/>
                <a:ea typeface="Segoe UI" pitchFamily="34" charset="-122"/>
                <a:cs typeface="Segoe UI" pitchFamily="34" charset="-120"/>
              </a:rPr>
              <a:t>Permet à l'entreprise de disposer de sa propre signature réutilisable, et au client de signer un devis à distance, sans papier.</a:t>
            </a:r>
            <a:endParaRPr lang="en-US" sz="1300" dirty="0"/>
          </a:p>
        </p:txBody>
      </p:sp>
      <p:sp>
        <p:nvSpPr>
          <p:cNvPr id="6" name="Text 4"/>
          <p:cNvSpPr/>
          <p:nvPr/>
        </p:nvSpPr>
        <p:spPr>
          <a:xfrm>
            <a:off x="365760" y="6510528"/>
            <a:ext cx="5486400" cy="274320"/>
          </a:xfrm>
          <a:prstGeom prst="rect">
            <a:avLst/>
          </a:prstGeom>
          <a:noFill/>
          <a:ln/>
        </p:spPr>
        <p:txBody>
          <a:bodyPr wrap="square" rtlCol="0" anchor="ctr"/>
          <a:lstStyle/>
          <a:p>
            <a:pPr indent="0" marL="0">
              <a:buNone/>
            </a:pPr>
            <a:r>
              <a:rPr lang="en-US" sz="850" dirty="0">
                <a:solidFill>
                  <a:srgbClr val="8A7C68"/>
                </a:solidFill>
                <a:latin typeface="Segoe UI" pitchFamily="34" charset="0"/>
                <a:ea typeface="Segoe UI" pitchFamily="34" charset="-122"/>
                <a:cs typeface="Segoe UI" pitchFamily="34" charset="-120"/>
              </a:rPr>
              <a:t>Kôji Web — Cahier des charges</a:t>
            </a:r>
            <a:endParaRPr lang="en-US" sz="850" dirty="0"/>
          </a:p>
        </p:txBody>
      </p:sp>
      <p:sp>
        <p:nvSpPr>
          <p:cNvPr id="7" name="Text 5"/>
          <p:cNvSpPr/>
          <p:nvPr/>
        </p:nvSpPr>
        <p:spPr>
          <a:xfrm>
            <a:off x="9601200" y="6510528"/>
            <a:ext cx="2194560" cy="274320"/>
          </a:xfrm>
          <a:prstGeom prst="rect">
            <a:avLst/>
          </a:prstGeom>
          <a:noFill/>
          <a:ln/>
        </p:spPr>
        <p:txBody>
          <a:bodyPr wrap="square" rtlCol="0" anchor="ctr"/>
          <a:lstStyle/>
          <a:p>
            <a:pPr algn="r" indent="0" marL="0">
              <a:buNone/>
            </a:pPr>
            <a:r>
              <a:rPr lang="en-US" sz="850" dirty="0">
                <a:solidFill>
                  <a:srgbClr val="8A7C68"/>
                </a:solidFill>
                <a:latin typeface="Segoe UI" pitchFamily="34" charset="0"/>
                <a:ea typeface="Segoe UI" pitchFamily="34" charset="-122"/>
                <a:cs typeface="Segoe UI" pitchFamily="34" charset="-120"/>
              </a:rPr>
              <a:t>29</a:t>
            </a:r>
            <a:endParaRPr lang="en-US" sz="85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3108960" cy="365760"/>
          </a:xfrm>
          <a:prstGeom prst="roundRect">
            <a:avLst>
              <a:gd name="adj" fmla="val 50000"/>
            </a:avLst>
          </a:prstGeom>
          <a:solidFill>
            <a:srgbClr val="F7EADF"/>
          </a:solidFill>
          <a:ln/>
        </p:spPr>
      </p:sp>
      <p:sp>
        <p:nvSpPr>
          <p:cNvPr id="3" name="Text 1"/>
          <p:cNvSpPr/>
          <p:nvPr/>
        </p:nvSpPr>
        <p:spPr>
          <a:xfrm>
            <a:off x="640080" y="411480"/>
            <a:ext cx="3108960" cy="365760"/>
          </a:xfrm>
          <a:prstGeom prst="rect">
            <a:avLst/>
          </a:prstGeom>
          <a:noFill/>
          <a:ln/>
        </p:spPr>
        <p:txBody>
          <a:bodyPr wrap="square" rtlCol="0" anchor="ctr"/>
          <a:lstStyle/>
          <a:p>
            <a:pPr algn="ctr" indent="0" marL="0">
              <a:buNone/>
            </a:pPr>
            <a:r>
              <a:rPr lang="en-US" sz="950" b="1" spc="100" kern="0" dirty="0">
                <a:solidFill>
                  <a:srgbClr val="9A7C5C"/>
                </a:solidFill>
                <a:latin typeface="Segoe UI" pitchFamily="34" charset="0"/>
                <a:ea typeface="Segoe UI" pitchFamily="34" charset="-122"/>
                <a:cs typeface="Segoe UI" pitchFamily="34" charset="-120"/>
              </a:rPr>
              <a:t>SIGNATURE ÉLECTRONIQUE</a:t>
            </a:r>
            <a:endParaRPr lang="en-US" sz="950" dirty="0"/>
          </a:p>
        </p:txBody>
      </p:sp>
      <p:sp>
        <p:nvSpPr>
          <p:cNvPr id="4" name="Shape 2"/>
          <p:cNvSpPr/>
          <p:nvPr/>
        </p:nvSpPr>
        <p:spPr>
          <a:xfrm>
            <a:off x="640080" y="1005840"/>
            <a:ext cx="10881360" cy="2606040"/>
          </a:xfrm>
          <a:prstGeom prst="roundRect">
            <a:avLst>
              <a:gd name="adj" fmla="val 2105"/>
            </a:avLst>
          </a:prstGeom>
          <a:solidFill>
            <a:srgbClr val="FFFFFF"/>
          </a:solidFill>
          <a:ln w="12700">
            <a:solidFill>
              <a:srgbClr val="E4DCCB"/>
            </a:solidFill>
            <a:prstDash val="solid"/>
          </a:ln>
        </p:spPr>
      </p:sp>
      <p:sp>
        <p:nvSpPr>
          <p:cNvPr id="5" name="Shape 3"/>
          <p:cNvSpPr/>
          <p:nvPr/>
        </p:nvSpPr>
        <p:spPr>
          <a:xfrm>
            <a:off x="640080" y="1005840"/>
            <a:ext cx="54864" cy="2606040"/>
          </a:xfrm>
          <a:prstGeom prst="rect">
            <a:avLst/>
          </a:prstGeom>
          <a:solidFill>
            <a:srgbClr val="1D6FE0"/>
          </a:solidFill>
          <a:ln/>
        </p:spPr>
      </p:sp>
      <p:sp>
        <p:nvSpPr>
          <p:cNvPr id="6" name="Text 4"/>
          <p:cNvSpPr/>
          <p:nvPr/>
        </p:nvSpPr>
        <p:spPr>
          <a:xfrm>
            <a:off x="914400" y="1133856"/>
            <a:ext cx="10332720" cy="365760"/>
          </a:xfrm>
          <a:prstGeom prst="rect">
            <a:avLst/>
          </a:prstGeom>
          <a:noFill/>
          <a:ln/>
        </p:spPr>
        <p:txBody>
          <a:bodyPr wrap="square" rtlCol="0" anchor="ctr"/>
          <a:lstStyle/>
          <a:p>
            <a:pPr indent="0" marL="0">
              <a:buNone/>
            </a:pPr>
            <a:r>
              <a:rPr lang="en-US" sz="1500" b="1" dirty="0">
                <a:solidFill>
                  <a:srgbClr val="1B1F3B"/>
                </a:solidFill>
                <a:latin typeface="Georgia" pitchFamily="34" charset="0"/>
                <a:ea typeface="Georgia" pitchFamily="34" charset="-122"/>
                <a:cs typeface="Georgia" pitchFamily="34" charset="-120"/>
              </a:rPr>
              <a:t>"Ma Signature"</a:t>
            </a:r>
            <a:endParaRPr lang="en-US" sz="1500" dirty="0"/>
          </a:p>
        </p:txBody>
      </p:sp>
      <p:sp>
        <p:nvSpPr>
          <p:cNvPr id="7" name="Text 5"/>
          <p:cNvSpPr/>
          <p:nvPr/>
        </p:nvSpPr>
        <p:spPr>
          <a:xfrm>
            <a:off x="914400" y="1536192"/>
            <a:ext cx="10332720" cy="1051560"/>
          </a:xfrm>
          <a:prstGeom prst="rect">
            <a:avLst/>
          </a:prstGeom>
          <a:noFill/>
          <a:ln/>
        </p:spPr>
        <p:txBody>
          <a:bodyPr wrap="square" rtlCol="0" anchor="ctr"/>
          <a:lstStyle/>
          <a:p>
            <a:pPr indent="0" marL="0">
              <a:lnSpc>
                <a:spcPts val="1600"/>
              </a:lnSpc>
              <a:buNone/>
            </a:pPr>
            <a:r>
              <a:rPr lang="en-US" sz="1150" dirty="0">
                <a:solidFill>
                  <a:srgbClr val="1B1F3B"/>
                </a:solidFill>
                <a:latin typeface="Segoe UI" pitchFamily="34" charset="0"/>
                <a:ea typeface="Segoe UI" pitchFamily="34" charset="-122"/>
                <a:cs typeface="Segoe UI" pitchFamily="34" charset="-120"/>
              </a:rPr>
              <a:t>Page permettant à l'entreprise d'enregistrer sa signature : soit dessinée à la souris/au doigt, soit importée depuis une image.</a:t>
            </a:r>
            <a:endParaRPr lang="en-US" sz="1150" dirty="0"/>
          </a:p>
        </p:txBody>
      </p:sp>
      <p:sp>
        <p:nvSpPr>
          <p:cNvPr id="8" name="Text 6"/>
          <p:cNvSpPr/>
          <p:nvPr/>
        </p:nvSpPr>
        <p:spPr>
          <a:xfrm>
            <a:off x="914400" y="2743200"/>
            <a:ext cx="10332720" cy="228600"/>
          </a:xfrm>
          <a:prstGeom prst="rect">
            <a:avLst/>
          </a:prstGeom>
          <a:noFill/>
          <a:ln/>
        </p:spPr>
        <p:txBody>
          <a:bodyPr wrap="square" rtlCol="0" anchor="ctr"/>
          <a:lstStyle/>
          <a:p>
            <a:pPr indent="0" marL="0">
              <a:buNone/>
            </a:pPr>
            <a:r>
              <a:rPr lang="en-US" sz="800" b="1" spc="100" kern="0" dirty="0">
                <a:solidFill>
                  <a:srgbClr val="9A7C5C"/>
                </a:solidFill>
                <a:latin typeface="Segoe UI" pitchFamily="34" charset="0"/>
                <a:ea typeface="Segoe UI" pitchFamily="34" charset="-122"/>
                <a:cs typeface="Segoe UI" pitchFamily="34" charset="-120"/>
              </a:rPr>
              <a:t>RÉALISATION TECHNIQUE</a:t>
            </a:r>
            <a:endParaRPr lang="en-US" sz="800" dirty="0"/>
          </a:p>
        </p:txBody>
      </p:sp>
      <p:sp>
        <p:nvSpPr>
          <p:cNvPr id="9" name="Text 7"/>
          <p:cNvSpPr/>
          <p:nvPr/>
        </p:nvSpPr>
        <p:spPr>
          <a:xfrm>
            <a:off x="914400" y="2990088"/>
            <a:ext cx="10332720" cy="548640"/>
          </a:xfrm>
          <a:prstGeom prst="rect">
            <a:avLst/>
          </a:prstGeom>
          <a:noFill/>
          <a:ln/>
        </p:spPr>
        <p:txBody>
          <a:bodyPr wrap="square" rtlCol="0" anchor="ctr"/>
          <a:lstStyle/>
          <a:p>
            <a:pPr indent="0" marL="0">
              <a:lnSpc>
                <a:spcPts val="1400"/>
              </a:lnSpc>
              <a:buNone/>
            </a:pPr>
            <a:r>
              <a:rPr lang="en-US" sz="1000" i="1" dirty="0">
                <a:solidFill>
                  <a:srgbClr val="8A7C68"/>
                </a:solidFill>
                <a:latin typeface="Segoe UI" pitchFamily="34" charset="0"/>
                <a:ea typeface="Segoe UI" pitchFamily="34" charset="-122"/>
                <a:cs typeface="Segoe UI" pitchFamily="34" charset="-120"/>
              </a:rPr>
              <a:t>Page /signature ; dessin sur &amp;lt;canvas&amp;gt; exporté en image, ou import de fichier ; sauvegarde via API /api/signature-settings.</a:t>
            </a:r>
            <a:endParaRPr lang="en-US" sz="1000" dirty="0"/>
          </a:p>
        </p:txBody>
      </p:sp>
      <p:sp>
        <p:nvSpPr>
          <p:cNvPr id="10" name="Shape 8"/>
          <p:cNvSpPr/>
          <p:nvPr/>
        </p:nvSpPr>
        <p:spPr>
          <a:xfrm>
            <a:off x="640080" y="3813048"/>
            <a:ext cx="10881360" cy="1737360"/>
          </a:xfrm>
          <a:prstGeom prst="roundRect">
            <a:avLst>
              <a:gd name="adj" fmla="val 3158"/>
            </a:avLst>
          </a:prstGeom>
          <a:solidFill>
            <a:srgbClr val="FFFFFF"/>
          </a:solidFill>
          <a:ln w="12700">
            <a:solidFill>
              <a:srgbClr val="E4DCCB"/>
            </a:solidFill>
            <a:prstDash val="solid"/>
          </a:ln>
        </p:spPr>
      </p:sp>
      <p:sp>
        <p:nvSpPr>
          <p:cNvPr id="11" name="Shape 9"/>
          <p:cNvSpPr/>
          <p:nvPr/>
        </p:nvSpPr>
        <p:spPr>
          <a:xfrm>
            <a:off x="640080" y="3813048"/>
            <a:ext cx="54864" cy="1737360"/>
          </a:xfrm>
          <a:prstGeom prst="rect">
            <a:avLst/>
          </a:prstGeom>
          <a:solidFill>
            <a:srgbClr val="1D6FE0"/>
          </a:solidFill>
          <a:ln/>
        </p:spPr>
      </p:sp>
      <p:sp>
        <p:nvSpPr>
          <p:cNvPr id="12" name="Text 10"/>
          <p:cNvSpPr/>
          <p:nvPr/>
        </p:nvSpPr>
        <p:spPr>
          <a:xfrm>
            <a:off x="914400" y="3941064"/>
            <a:ext cx="10332720" cy="365760"/>
          </a:xfrm>
          <a:prstGeom prst="rect">
            <a:avLst/>
          </a:prstGeom>
          <a:noFill/>
          <a:ln/>
        </p:spPr>
        <p:txBody>
          <a:bodyPr wrap="square" rtlCol="0" anchor="ctr"/>
          <a:lstStyle/>
          <a:p>
            <a:pPr indent="0" marL="0">
              <a:buNone/>
            </a:pPr>
            <a:r>
              <a:rPr lang="en-US" sz="1500" b="1" dirty="0">
                <a:solidFill>
                  <a:srgbClr val="1B1F3B"/>
                </a:solidFill>
                <a:latin typeface="Georgia" pitchFamily="34" charset="0"/>
                <a:ea typeface="Georgia" pitchFamily="34" charset="-122"/>
                <a:cs typeface="Georgia" pitchFamily="34" charset="-120"/>
              </a:rPr>
              <a:t>Lien de signature client</a:t>
            </a:r>
            <a:endParaRPr lang="en-US" sz="1500" dirty="0"/>
          </a:p>
        </p:txBody>
      </p:sp>
      <p:sp>
        <p:nvSpPr>
          <p:cNvPr id="13" name="Text 11"/>
          <p:cNvSpPr/>
          <p:nvPr/>
        </p:nvSpPr>
        <p:spPr>
          <a:xfrm>
            <a:off x="914400" y="4343400"/>
            <a:ext cx="10332720" cy="1005840"/>
          </a:xfrm>
          <a:prstGeom prst="rect">
            <a:avLst/>
          </a:prstGeom>
          <a:noFill/>
          <a:ln/>
        </p:spPr>
        <p:txBody>
          <a:bodyPr wrap="square" rtlCol="0" anchor="ctr"/>
          <a:lstStyle/>
          <a:p>
            <a:pPr indent="0" marL="0">
              <a:lnSpc>
                <a:spcPts val="1600"/>
              </a:lnSpc>
              <a:buNone/>
            </a:pPr>
            <a:r>
              <a:rPr lang="en-US" sz="1150" dirty="0">
                <a:solidFill>
                  <a:srgbClr val="1B1F3B"/>
                </a:solidFill>
                <a:latin typeface="Segoe UI" pitchFamily="34" charset="0"/>
                <a:ea typeface="Segoe UI" pitchFamily="34" charset="-122"/>
                <a:cs typeface="Segoe UI" pitchFamily="34" charset="-120"/>
              </a:rPr>
              <a:t>Depuis "Ma Signature", génération et copie du lien de signature à envoyer au client pour un devis donné.</a:t>
            </a:r>
            <a:endParaRPr lang="en-US" sz="1150" dirty="0"/>
          </a:p>
        </p:txBody>
      </p:sp>
      <p:sp>
        <p:nvSpPr>
          <p:cNvPr id="14" name="Text 12"/>
          <p:cNvSpPr/>
          <p:nvPr/>
        </p:nvSpPr>
        <p:spPr>
          <a:xfrm>
            <a:off x="365760" y="6510528"/>
            <a:ext cx="5486400" cy="274320"/>
          </a:xfrm>
          <a:prstGeom prst="rect">
            <a:avLst/>
          </a:prstGeom>
          <a:noFill/>
          <a:ln/>
        </p:spPr>
        <p:txBody>
          <a:bodyPr wrap="square" rtlCol="0" anchor="ctr"/>
          <a:lstStyle/>
          <a:p>
            <a:pPr indent="0" marL="0">
              <a:buNone/>
            </a:pPr>
            <a:r>
              <a:rPr lang="en-US" sz="850" dirty="0">
                <a:solidFill>
                  <a:srgbClr val="8A7C68"/>
                </a:solidFill>
                <a:latin typeface="Segoe UI" pitchFamily="34" charset="0"/>
                <a:ea typeface="Segoe UI" pitchFamily="34" charset="-122"/>
                <a:cs typeface="Segoe UI" pitchFamily="34" charset="-120"/>
              </a:rPr>
              <a:t>Kôji Web — Cahier des charges</a:t>
            </a:r>
            <a:endParaRPr lang="en-US" sz="850" dirty="0"/>
          </a:p>
        </p:txBody>
      </p:sp>
      <p:sp>
        <p:nvSpPr>
          <p:cNvPr id="15" name="Text 13"/>
          <p:cNvSpPr/>
          <p:nvPr/>
        </p:nvSpPr>
        <p:spPr>
          <a:xfrm>
            <a:off x="9601200" y="6510528"/>
            <a:ext cx="2194560" cy="274320"/>
          </a:xfrm>
          <a:prstGeom prst="rect">
            <a:avLst/>
          </a:prstGeom>
          <a:noFill/>
          <a:ln/>
        </p:spPr>
        <p:txBody>
          <a:bodyPr wrap="square" rtlCol="0" anchor="ctr"/>
          <a:lstStyle/>
          <a:p>
            <a:pPr algn="r" indent="0" marL="0">
              <a:buNone/>
            </a:pPr>
            <a:r>
              <a:rPr lang="en-US" sz="850" dirty="0">
                <a:solidFill>
                  <a:srgbClr val="8A7C68"/>
                </a:solidFill>
                <a:latin typeface="Segoe UI" pitchFamily="34" charset="0"/>
                <a:ea typeface="Segoe UI" pitchFamily="34" charset="-122"/>
                <a:cs typeface="Segoe UI" pitchFamily="34" charset="-120"/>
              </a:rPr>
              <a:t>30</a:t>
            </a:r>
            <a:endParaRPr lang="en-US" sz="85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3108960" cy="365760"/>
          </a:xfrm>
          <a:prstGeom prst="roundRect">
            <a:avLst>
              <a:gd name="adj" fmla="val 50000"/>
            </a:avLst>
          </a:prstGeom>
          <a:solidFill>
            <a:srgbClr val="F7EADF"/>
          </a:solidFill>
          <a:ln/>
        </p:spPr>
      </p:sp>
      <p:sp>
        <p:nvSpPr>
          <p:cNvPr id="3" name="Text 1"/>
          <p:cNvSpPr/>
          <p:nvPr/>
        </p:nvSpPr>
        <p:spPr>
          <a:xfrm>
            <a:off x="640080" y="411480"/>
            <a:ext cx="3108960" cy="365760"/>
          </a:xfrm>
          <a:prstGeom prst="rect">
            <a:avLst/>
          </a:prstGeom>
          <a:noFill/>
          <a:ln/>
        </p:spPr>
        <p:txBody>
          <a:bodyPr wrap="square" rtlCol="0" anchor="ctr"/>
          <a:lstStyle/>
          <a:p>
            <a:pPr algn="ctr" indent="0" marL="0">
              <a:buNone/>
            </a:pPr>
            <a:r>
              <a:rPr lang="en-US" sz="950" b="1" spc="100" kern="0" dirty="0">
                <a:solidFill>
                  <a:srgbClr val="9A7C5C"/>
                </a:solidFill>
                <a:latin typeface="Segoe UI" pitchFamily="34" charset="0"/>
                <a:ea typeface="Segoe UI" pitchFamily="34" charset="-122"/>
                <a:cs typeface="Segoe UI" pitchFamily="34" charset="-120"/>
              </a:rPr>
              <a:t>SIGNATURE ÉLECTRONIQUE</a:t>
            </a:r>
            <a:endParaRPr lang="en-US" sz="950" dirty="0"/>
          </a:p>
        </p:txBody>
      </p:sp>
      <p:sp>
        <p:nvSpPr>
          <p:cNvPr id="4" name="Shape 2"/>
          <p:cNvSpPr/>
          <p:nvPr/>
        </p:nvSpPr>
        <p:spPr>
          <a:xfrm>
            <a:off x="640080" y="1005840"/>
            <a:ext cx="10881360" cy="2606040"/>
          </a:xfrm>
          <a:prstGeom prst="roundRect">
            <a:avLst>
              <a:gd name="adj" fmla="val 2105"/>
            </a:avLst>
          </a:prstGeom>
          <a:solidFill>
            <a:srgbClr val="FFFFFF"/>
          </a:solidFill>
          <a:ln w="12700">
            <a:solidFill>
              <a:srgbClr val="E4DCCB"/>
            </a:solidFill>
            <a:prstDash val="solid"/>
          </a:ln>
        </p:spPr>
      </p:sp>
      <p:sp>
        <p:nvSpPr>
          <p:cNvPr id="5" name="Shape 3"/>
          <p:cNvSpPr/>
          <p:nvPr/>
        </p:nvSpPr>
        <p:spPr>
          <a:xfrm>
            <a:off x="640080" y="1005840"/>
            <a:ext cx="54864" cy="2606040"/>
          </a:xfrm>
          <a:prstGeom prst="rect">
            <a:avLst/>
          </a:prstGeom>
          <a:solidFill>
            <a:srgbClr val="1D6FE0"/>
          </a:solidFill>
          <a:ln/>
        </p:spPr>
      </p:sp>
      <p:sp>
        <p:nvSpPr>
          <p:cNvPr id="6" name="Text 4"/>
          <p:cNvSpPr/>
          <p:nvPr/>
        </p:nvSpPr>
        <p:spPr>
          <a:xfrm>
            <a:off x="914400" y="1133856"/>
            <a:ext cx="10332720" cy="365760"/>
          </a:xfrm>
          <a:prstGeom prst="rect">
            <a:avLst/>
          </a:prstGeom>
          <a:noFill/>
          <a:ln/>
        </p:spPr>
        <p:txBody>
          <a:bodyPr wrap="square" rtlCol="0" anchor="ctr"/>
          <a:lstStyle/>
          <a:p>
            <a:pPr indent="0" marL="0">
              <a:buNone/>
            </a:pPr>
            <a:r>
              <a:rPr lang="en-US" sz="1500" b="1" dirty="0">
                <a:solidFill>
                  <a:srgbClr val="1B1F3B"/>
                </a:solidFill>
                <a:latin typeface="Georgia" pitchFamily="34" charset="0"/>
                <a:ea typeface="Georgia" pitchFamily="34" charset="-122"/>
                <a:cs typeface="Georgia" pitchFamily="34" charset="-120"/>
              </a:rPr>
              <a:t>Page de signature (client)</a:t>
            </a:r>
            <a:endParaRPr lang="en-US" sz="1500" dirty="0"/>
          </a:p>
        </p:txBody>
      </p:sp>
      <p:sp>
        <p:nvSpPr>
          <p:cNvPr id="7" name="Text 5"/>
          <p:cNvSpPr/>
          <p:nvPr/>
        </p:nvSpPr>
        <p:spPr>
          <a:xfrm>
            <a:off x="914400" y="1536192"/>
            <a:ext cx="10332720" cy="1051560"/>
          </a:xfrm>
          <a:prstGeom prst="rect">
            <a:avLst/>
          </a:prstGeom>
          <a:noFill/>
          <a:ln/>
        </p:spPr>
        <p:txBody>
          <a:bodyPr wrap="square" rtlCol="0" anchor="ctr"/>
          <a:lstStyle/>
          <a:p>
            <a:pPr indent="0" marL="0">
              <a:lnSpc>
                <a:spcPts val="1600"/>
              </a:lnSpc>
              <a:buNone/>
            </a:pPr>
            <a:r>
              <a:rPr lang="en-US" sz="1150" dirty="0">
                <a:solidFill>
                  <a:srgbClr val="1B1F3B"/>
                </a:solidFill>
                <a:latin typeface="Segoe UI" pitchFamily="34" charset="0"/>
                <a:ea typeface="Segoe UI" pitchFamily="34" charset="-122"/>
                <a:cs typeface="Segoe UI" pitchFamily="34" charset="-120"/>
              </a:rPr>
              <a:t>Page publique (sans compte requis) affichant le détail du devis et un formulaire de signature (nom, email, téléphone, lieu, message, case de consentement).</a:t>
            </a:r>
            <a:endParaRPr lang="en-US" sz="1150" dirty="0"/>
          </a:p>
        </p:txBody>
      </p:sp>
      <p:sp>
        <p:nvSpPr>
          <p:cNvPr id="8" name="Text 6"/>
          <p:cNvSpPr/>
          <p:nvPr/>
        </p:nvSpPr>
        <p:spPr>
          <a:xfrm>
            <a:off x="914400" y="2743200"/>
            <a:ext cx="10332720" cy="228600"/>
          </a:xfrm>
          <a:prstGeom prst="rect">
            <a:avLst/>
          </a:prstGeom>
          <a:noFill/>
          <a:ln/>
        </p:spPr>
        <p:txBody>
          <a:bodyPr wrap="square" rtlCol="0" anchor="ctr"/>
          <a:lstStyle/>
          <a:p>
            <a:pPr indent="0" marL="0">
              <a:buNone/>
            </a:pPr>
            <a:r>
              <a:rPr lang="en-US" sz="800" b="1" spc="100" kern="0" dirty="0">
                <a:solidFill>
                  <a:srgbClr val="9A7C5C"/>
                </a:solidFill>
                <a:latin typeface="Segoe UI" pitchFamily="34" charset="0"/>
                <a:ea typeface="Segoe UI" pitchFamily="34" charset="-122"/>
                <a:cs typeface="Segoe UI" pitchFamily="34" charset="-120"/>
              </a:rPr>
              <a:t>RÉALISATION TECHNIQUE</a:t>
            </a:r>
            <a:endParaRPr lang="en-US" sz="800" dirty="0"/>
          </a:p>
        </p:txBody>
      </p:sp>
      <p:sp>
        <p:nvSpPr>
          <p:cNvPr id="9" name="Text 7"/>
          <p:cNvSpPr/>
          <p:nvPr/>
        </p:nvSpPr>
        <p:spPr>
          <a:xfrm>
            <a:off x="914400" y="2990088"/>
            <a:ext cx="10332720" cy="548640"/>
          </a:xfrm>
          <a:prstGeom prst="rect">
            <a:avLst/>
          </a:prstGeom>
          <a:noFill/>
          <a:ln/>
        </p:spPr>
        <p:txBody>
          <a:bodyPr wrap="square" rtlCol="0" anchor="ctr"/>
          <a:lstStyle/>
          <a:p>
            <a:pPr indent="0" marL="0">
              <a:lnSpc>
                <a:spcPts val="1400"/>
              </a:lnSpc>
              <a:buNone/>
            </a:pPr>
            <a:r>
              <a:rPr lang="en-US" sz="1000" i="1" dirty="0">
                <a:solidFill>
                  <a:srgbClr val="8A7C68"/>
                </a:solidFill>
                <a:latin typeface="Segoe UI" pitchFamily="34" charset="0"/>
                <a:ea typeface="Segoe UI" pitchFamily="34" charset="-122"/>
                <a:cs typeface="Segoe UI" pitchFamily="34" charset="-120"/>
              </a:rPr>
              <a:t>Page publique /signature/[jeton] ; API /api/signatures/[jeton] ; accès via une clé technique dédiée (le client n'a pas de session Kôji).</a:t>
            </a:r>
            <a:endParaRPr lang="en-US" sz="1000" dirty="0"/>
          </a:p>
        </p:txBody>
      </p:sp>
      <p:sp>
        <p:nvSpPr>
          <p:cNvPr id="10" name="Shape 8"/>
          <p:cNvSpPr/>
          <p:nvPr/>
        </p:nvSpPr>
        <p:spPr>
          <a:xfrm>
            <a:off x="640080" y="3813048"/>
            <a:ext cx="10881360" cy="2606040"/>
          </a:xfrm>
          <a:prstGeom prst="roundRect">
            <a:avLst>
              <a:gd name="adj" fmla="val 2105"/>
            </a:avLst>
          </a:prstGeom>
          <a:solidFill>
            <a:srgbClr val="FFFFFF"/>
          </a:solidFill>
          <a:ln w="12700">
            <a:solidFill>
              <a:srgbClr val="E4DCCB"/>
            </a:solidFill>
            <a:prstDash val="solid"/>
          </a:ln>
        </p:spPr>
      </p:sp>
      <p:sp>
        <p:nvSpPr>
          <p:cNvPr id="11" name="Shape 9"/>
          <p:cNvSpPr/>
          <p:nvPr/>
        </p:nvSpPr>
        <p:spPr>
          <a:xfrm>
            <a:off x="640080" y="3813048"/>
            <a:ext cx="54864" cy="2606040"/>
          </a:xfrm>
          <a:prstGeom prst="rect">
            <a:avLst/>
          </a:prstGeom>
          <a:solidFill>
            <a:srgbClr val="1D6FE0"/>
          </a:solidFill>
          <a:ln/>
        </p:spPr>
      </p:sp>
      <p:sp>
        <p:nvSpPr>
          <p:cNvPr id="12" name="Text 10"/>
          <p:cNvSpPr/>
          <p:nvPr/>
        </p:nvSpPr>
        <p:spPr>
          <a:xfrm>
            <a:off x="914400" y="3941064"/>
            <a:ext cx="10332720" cy="365760"/>
          </a:xfrm>
          <a:prstGeom prst="rect">
            <a:avLst/>
          </a:prstGeom>
          <a:noFill/>
          <a:ln/>
        </p:spPr>
        <p:txBody>
          <a:bodyPr wrap="square" rtlCol="0" anchor="ctr"/>
          <a:lstStyle/>
          <a:p>
            <a:pPr indent="0" marL="0">
              <a:buNone/>
            </a:pPr>
            <a:r>
              <a:rPr lang="en-US" sz="1500" b="1" dirty="0">
                <a:solidFill>
                  <a:srgbClr val="1B1F3B"/>
                </a:solidFill>
                <a:latin typeface="Georgia" pitchFamily="34" charset="0"/>
                <a:ea typeface="Georgia" pitchFamily="34" charset="-122"/>
                <a:cs typeface="Georgia" pitchFamily="34" charset="-120"/>
              </a:rPr>
              <a:t>Connexion par identifiant à la signature</a:t>
            </a:r>
            <a:endParaRPr lang="en-US" sz="1500" dirty="0"/>
          </a:p>
        </p:txBody>
      </p:sp>
      <p:sp>
        <p:nvSpPr>
          <p:cNvPr id="13" name="Text 11"/>
          <p:cNvSpPr/>
          <p:nvPr/>
        </p:nvSpPr>
        <p:spPr>
          <a:xfrm>
            <a:off x="914400" y="4343400"/>
            <a:ext cx="10332720" cy="1051560"/>
          </a:xfrm>
          <a:prstGeom prst="rect">
            <a:avLst/>
          </a:prstGeom>
          <a:noFill/>
          <a:ln/>
        </p:spPr>
        <p:txBody>
          <a:bodyPr wrap="square" rtlCol="0" anchor="ctr"/>
          <a:lstStyle/>
          <a:p>
            <a:pPr indent="0" marL="0">
              <a:lnSpc>
                <a:spcPts val="1600"/>
              </a:lnSpc>
              <a:buNone/>
            </a:pPr>
            <a:r>
              <a:rPr lang="en-US" sz="1150" dirty="0">
                <a:solidFill>
                  <a:srgbClr val="1B1F3B"/>
                </a:solidFill>
                <a:latin typeface="Segoe UI" pitchFamily="34" charset="0"/>
                <a:ea typeface="Segoe UI" pitchFamily="34" charset="-122"/>
                <a:cs typeface="Segoe UI" pitchFamily="34" charset="-120"/>
              </a:rPr>
              <a:t>Alternative pour un client déjà connu : connexion par identifiant + mot de passe pour retrouver directement le devis à signer.</a:t>
            </a:r>
            <a:endParaRPr lang="en-US" sz="1150" dirty="0"/>
          </a:p>
        </p:txBody>
      </p:sp>
      <p:sp>
        <p:nvSpPr>
          <p:cNvPr id="14" name="Text 12"/>
          <p:cNvSpPr/>
          <p:nvPr/>
        </p:nvSpPr>
        <p:spPr>
          <a:xfrm>
            <a:off x="914400" y="5550408"/>
            <a:ext cx="10332720" cy="228600"/>
          </a:xfrm>
          <a:prstGeom prst="rect">
            <a:avLst/>
          </a:prstGeom>
          <a:noFill/>
          <a:ln/>
        </p:spPr>
        <p:txBody>
          <a:bodyPr wrap="square" rtlCol="0" anchor="ctr"/>
          <a:lstStyle/>
          <a:p>
            <a:pPr indent="0" marL="0">
              <a:buNone/>
            </a:pPr>
            <a:r>
              <a:rPr lang="en-US" sz="800" b="1" spc="100" kern="0" dirty="0">
                <a:solidFill>
                  <a:srgbClr val="9A7C5C"/>
                </a:solidFill>
                <a:latin typeface="Segoe UI" pitchFamily="34" charset="0"/>
                <a:ea typeface="Segoe UI" pitchFamily="34" charset="-122"/>
                <a:cs typeface="Segoe UI" pitchFamily="34" charset="-120"/>
              </a:rPr>
              <a:t>RÉALISATION TECHNIQUE</a:t>
            </a:r>
            <a:endParaRPr lang="en-US" sz="800" dirty="0"/>
          </a:p>
        </p:txBody>
      </p:sp>
      <p:sp>
        <p:nvSpPr>
          <p:cNvPr id="15" name="Text 13"/>
          <p:cNvSpPr/>
          <p:nvPr/>
        </p:nvSpPr>
        <p:spPr>
          <a:xfrm>
            <a:off x="914400" y="5797296"/>
            <a:ext cx="10332720" cy="548640"/>
          </a:xfrm>
          <a:prstGeom prst="rect">
            <a:avLst/>
          </a:prstGeom>
          <a:noFill/>
          <a:ln/>
        </p:spPr>
        <p:txBody>
          <a:bodyPr wrap="square" rtlCol="0" anchor="ctr"/>
          <a:lstStyle/>
          <a:p>
            <a:pPr indent="0" marL="0">
              <a:lnSpc>
                <a:spcPts val="1400"/>
              </a:lnSpc>
              <a:buNone/>
            </a:pPr>
            <a:r>
              <a:rPr lang="en-US" sz="1000" i="1" dirty="0">
                <a:solidFill>
                  <a:srgbClr val="8A7C68"/>
                </a:solidFill>
                <a:latin typeface="Segoe UI" pitchFamily="34" charset="0"/>
                <a:ea typeface="Segoe UI" pitchFamily="34" charset="-122"/>
                <a:cs typeface="Segoe UI" pitchFamily="34" charset="-120"/>
              </a:rPr>
              <a:t>Page /signature/login, API /api/auth/signature-login.</a:t>
            </a:r>
            <a:endParaRPr lang="en-US" sz="1000" dirty="0"/>
          </a:p>
        </p:txBody>
      </p:sp>
      <p:sp>
        <p:nvSpPr>
          <p:cNvPr id="16" name="Text 14"/>
          <p:cNvSpPr/>
          <p:nvPr/>
        </p:nvSpPr>
        <p:spPr>
          <a:xfrm>
            <a:off x="365760" y="6510528"/>
            <a:ext cx="5486400" cy="274320"/>
          </a:xfrm>
          <a:prstGeom prst="rect">
            <a:avLst/>
          </a:prstGeom>
          <a:noFill/>
          <a:ln/>
        </p:spPr>
        <p:txBody>
          <a:bodyPr wrap="square" rtlCol="0" anchor="ctr"/>
          <a:lstStyle/>
          <a:p>
            <a:pPr indent="0" marL="0">
              <a:buNone/>
            </a:pPr>
            <a:r>
              <a:rPr lang="en-US" sz="850" dirty="0">
                <a:solidFill>
                  <a:srgbClr val="8A7C68"/>
                </a:solidFill>
                <a:latin typeface="Segoe UI" pitchFamily="34" charset="0"/>
                <a:ea typeface="Segoe UI" pitchFamily="34" charset="-122"/>
                <a:cs typeface="Segoe UI" pitchFamily="34" charset="-120"/>
              </a:rPr>
              <a:t>Kôji Web — Cahier des charges</a:t>
            </a:r>
            <a:endParaRPr lang="en-US" sz="850" dirty="0"/>
          </a:p>
        </p:txBody>
      </p:sp>
      <p:sp>
        <p:nvSpPr>
          <p:cNvPr id="17" name="Text 15"/>
          <p:cNvSpPr/>
          <p:nvPr/>
        </p:nvSpPr>
        <p:spPr>
          <a:xfrm>
            <a:off x="9601200" y="6510528"/>
            <a:ext cx="2194560" cy="274320"/>
          </a:xfrm>
          <a:prstGeom prst="rect">
            <a:avLst/>
          </a:prstGeom>
          <a:noFill/>
          <a:ln/>
        </p:spPr>
        <p:txBody>
          <a:bodyPr wrap="square" rtlCol="0" anchor="ctr"/>
          <a:lstStyle/>
          <a:p>
            <a:pPr algn="r" indent="0" marL="0">
              <a:buNone/>
            </a:pPr>
            <a:r>
              <a:rPr lang="en-US" sz="850" dirty="0">
                <a:solidFill>
                  <a:srgbClr val="8A7C68"/>
                </a:solidFill>
                <a:latin typeface="Segoe UI" pitchFamily="34" charset="0"/>
                <a:ea typeface="Segoe UI" pitchFamily="34" charset="-122"/>
                <a:cs typeface="Segoe UI" pitchFamily="34" charset="-120"/>
              </a:rPr>
              <a:t>31</a:t>
            </a:r>
            <a:endParaRPr lang="en-US" sz="85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3108960" cy="365760"/>
          </a:xfrm>
          <a:prstGeom prst="roundRect">
            <a:avLst>
              <a:gd name="adj" fmla="val 50000"/>
            </a:avLst>
          </a:prstGeom>
          <a:solidFill>
            <a:srgbClr val="F7EADF"/>
          </a:solidFill>
          <a:ln/>
        </p:spPr>
      </p:sp>
      <p:sp>
        <p:nvSpPr>
          <p:cNvPr id="3" name="Text 1"/>
          <p:cNvSpPr/>
          <p:nvPr/>
        </p:nvSpPr>
        <p:spPr>
          <a:xfrm>
            <a:off x="640080" y="411480"/>
            <a:ext cx="3108960" cy="365760"/>
          </a:xfrm>
          <a:prstGeom prst="rect">
            <a:avLst/>
          </a:prstGeom>
          <a:noFill/>
          <a:ln/>
        </p:spPr>
        <p:txBody>
          <a:bodyPr wrap="square" rtlCol="0" anchor="ctr"/>
          <a:lstStyle/>
          <a:p>
            <a:pPr algn="ctr" indent="0" marL="0">
              <a:buNone/>
            </a:pPr>
            <a:r>
              <a:rPr lang="en-US" sz="950" b="1" spc="100" kern="0" dirty="0">
                <a:solidFill>
                  <a:srgbClr val="9A7C5C"/>
                </a:solidFill>
                <a:latin typeface="Segoe UI" pitchFamily="34" charset="0"/>
                <a:ea typeface="Segoe UI" pitchFamily="34" charset="-122"/>
                <a:cs typeface="Segoe UI" pitchFamily="34" charset="-120"/>
              </a:rPr>
              <a:t>SIGNATURE ÉLECTRONIQUE</a:t>
            </a:r>
            <a:endParaRPr lang="en-US" sz="950" dirty="0"/>
          </a:p>
        </p:txBody>
      </p:sp>
      <p:sp>
        <p:nvSpPr>
          <p:cNvPr id="4" name="Shape 2"/>
          <p:cNvSpPr/>
          <p:nvPr/>
        </p:nvSpPr>
        <p:spPr>
          <a:xfrm>
            <a:off x="640080" y="1005840"/>
            <a:ext cx="10881360" cy="1737360"/>
          </a:xfrm>
          <a:prstGeom prst="roundRect">
            <a:avLst>
              <a:gd name="adj" fmla="val 3158"/>
            </a:avLst>
          </a:prstGeom>
          <a:solidFill>
            <a:srgbClr val="FFFFFF"/>
          </a:solidFill>
          <a:ln w="12700">
            <a:solidFill>
              <a:srgbClr val="E4DCCB"/>
            </a:solidFill>
            <a:prstDash val="solid"/>
          </a:ln>
        </p:spPr>
      </p:sp>
      <p:sp>
        <p:nvSpPr>
          <p:cNvPr id="5" name="Shape 3"/>
          <p:cNvSpPr/>
          <p:nvPr/>
        </p:nvSpPr>
        <p:spPr>
          <a:xfrm>
            <a:off x="640080" y="1005840"/>
            <a:ext cx="54864" cy="1737360"/>
          </a:xfrm>
          <a:prstGeom prst="rect">
            <a:avLst/>
          </a:prstGeom>
          <a:solidFill>
            <a:srgbClr val="1D6FE0"/>
          </a:solidFill>
          <a:ln/>
        </p:spPr>
      </p:sp>
      <p:sp>
        <p:nvSpPr>
          <p:cNvPr id="6" name="Text 4"/>
          <p:cNvSpPr/>
          <p:nvPr/>
        </p:nvSpPr>
        <p:spPr>
          <a:xfrm>
            <a:off x="914400" y="1133856"/>
            <a:ext cx="10332720" cy="365760"/>
          </a:xfrm>
          <a:prstGeom prst="rect">
            <a:avLst/>
          </a:prstGeom>
          <a:noFill/>
          <a:ln/>
        </p:spPr>
        <p:txBody>
          <a:bodyPr wrap="square" rtlCol="0" anchor="ctr"/>
          <a:lstStyle/>
          <a:p>
            <a:pPr indent="0" marL="0">
              <a:buNone/>
            </a:pPr>
            <a:r>
              <a:rPr lang="en-US" sz="1500" b="1" dirty="0">
                <a:solidFill>
                  <a:srgbClr val="1B1F3B"/>
                </a:solidFill>
                <a:latin typeface="Georgia" pitchFamily="34" charset="0"/>
                <a:ea typeface="Georgia" pitchFamily="34" charset="-122"/>
                <a:cs typeface="Georgia" pitchFamily="34" charset="-120"/>
              </a:rPr>
              <a:t>Accès automatique au portail client</a:t>
            </a:r>
            <a:endParaRPr lang="en-US" sz="1500" dirty="0"/>
          </a:p>
        </p:txBody>
      </p:sp>
      <p:sp>
        <p:nvSpPr>
          <p:cNvPr id="7" name="Text 5"/>
          <p:cNvSpPr/>
          <p:nvPr/>
        </p:nvSpPr>
        <p:spPr>
          <a:xfrm>
            <a:off x="914400" y="1536192"/>
            <a:ext cx="10332720" cy="1005840"/>
          </a:xfrm>
          <a:prstGeom prst="rect">
            <a:avLst/>
          </a:prstGeom>
          <a:noFill/>
          <a:ln/>
        </p:spPr>
        <p:txBody>
          <a:bodyPr wrap="square" rtlCol="0" anchor="ctr"/>
          <a:lstStyle/>
          <a:p>
            <a:pPr indent="0" marL="0">
              <a:lnSpc>
                <a:spcPts val="1600"/>
              </a:lnSpc>
              <a:buNone/>
            </a:pPr>
            <a:r>
              <a:rPr lang="en-US" sz="1150" dirty="0">
                <a:solidFill>
                  <a:srgbClr val="1B1F3B"/>
                </a:solidFill>
                <a:latin typeface="Segoe UI" pitchFamily="34" charset="0"/>
                <a:ea typeface="Segoe UI" pitchFamily="34" charset="-122"/>
                <a:cs typeface="Segoe UI" pitchFamily="34" charset="-120"/>
              </a:rPr>
              <a:t>Une fois le devis signé, un identifiant et un mot de passe pour le portail client particulier sont générés et envoyés automatiquement par email.</a:t>
            </a:r>
            <a:endParaRPr lang="en-US" sz="1150" dirty="0"/>
          </a:p>
        </p:txBody>
      </p:sp>
      <p:sp>
        <p:nvSpPr>
          <p:cNvPr id="8" name="Text 6"/>
          <p:cNvSpPr/>
          <p:nvPr/>
        </p:nvSpPr>
        <p:spPr>
          <a:xfrm>
            <a:off x="365760" y="6510528"/>
            <a:ext cx="5486400" cy="274320"/>
          </a:xfrm>
          <a:prstGeom prst="rect">
            <a:avLst/>
          </a:prstGeom>
          <a:noFill/>
          <a:ln/>
        </p:spPr>
        <p:txBody>
          <a:bodyPr wrap="square" rtlCol="0" anchor="ctr"/>
          <a:lstStyle/>
          <a:p>
            <a:pPr indent="0" marL="0">
              <a:buNone/>
            </a:pPr>
            <a:r>
              <a:rPr lang="en-US" sz="850" dirty="0">
                <a:solidFill>
                  <a:srgbClr val="8A7C68"/>
                </a:solidFill>
                <a:latin typeface="Segoe UI" pitchFamily="34" charset="0"/>
                <a:ea typeface="Segoe UI" pitchFamily="34" charset="-122"/>
                <a:cs typeface="Segoe UI" pitchFamily="34" charset="-120"/>
              </a:rPr>
              <a:t>Kôji Web — Cahier des charges</a:t>
            </a:r>
            <a:endParaRPr lang="en-US" sz="850" dirty="0"/>
          </a:p>
        </p:txBody>
      </p:sp>
      <p:sp>
        <p:nvSpPr>
          <p:cNvPr id="9" name="Text 7"/>
          <p:cNvSpPr/>
          <p:nvPr/>
        </p:nvSpPr>
        <p:spPr>
          <a:xfrm>
            <a:off x="9601200" y="6510528"/>
            <a:ext cx="2194560" cy="274320"/>
          </a:xfrm>
          <a:prstGeom prst="rect">
            <a:avLst/>
          </a:prstGeom>
          <a:noFill/>
          <a:ln/>
        </p:spPr>
        <p:txBody>
          <a:bodyPr wrap="square" rtlCol="0" anchor="ctr"/>
          <a:lstStyle/>
          <a:p>
            <a:pPr algn="r" indent="0" marL="0">
              <a:buNone/>
            </a:pPr>
            <a:r>
              <a:rPr lang="en-US" sz="850" dirty="0">
                <a:solidFill>
                  <a:srgbClr val="8A7C68"/>
                </a:solidFill>
                <a:latin typeface="Segoe UI" pitchFamily="34" charset="0"/>
                <a:ea typeface="Segoe UI" pitchFamily="34" charset="-122"/>
                <a:cs typeface="Segoe UI" pitchFamily="34" charset="-120"/>
              </a:rPr>
              <a:t>32</a:t>
            </a:r>
            <a:endParaRPr lang="en-US" sz="85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0B1030"/>
        </a:solidFill>
      </p:bgPr>
    </p:bg>
    <p:spTree>
      <p:nvGrpSpPr>
        <p:cNvPr id="1" name=""/>
        <p:cNvGrpSpPr/>
        <p:nvPr/>
      </p:nvGrpSpPr>
      <p:grpSpPr>
        <a:xfrm>
          <a:off x="0" y="0"/>
          <a:ext cx="0" cy="0"/>
          <a:chOff x="0" y="0"/>
          <a:chExt cx="0" cy="0"/>
        </a:xfrm>
      </p:grpSpPr>
      <p:sp>
        <p:nvSpPr>
          <p:cNvPr id="2" name="Shape 0"/>
          <p:cNvSpPr/>
          <p:nvPr/>
        </p:nvSpPr>
        <p:spPr>
          <a:xfrm>
            <a:off x="0" y="3246120"/>
            <a:ext cx="12191695" cy="54864"/>
          </a:xfrm>
          <a:prstGeom prst="rect">
            <a:avLst/>
          </a:prstGeom>
          <a:solidFill>
            <a:srgbClr val="C9A96A"/>
          </a:solidFill>
          <a:ln/>
        </p:spPr>
      </p:sp>
      <p:sp>
        <p:nvSpPr>
          <p:cNvPr id="3" name="Text 1"/>
          <p:cNvSpPr/>
          <p:nvPr/>
        </p:nvSpPr>
        <p:spPr>
          <a:xfrm>
            <a:off x="640080" y="1920240"/>
            <a:ext cx="2743200" cy="548640"/>
          </a:xfrm>
          <a:prstGeom prst="rect">
            <a:avLst/>
          </a:prstGeom>
          <a:noFill/>
          <a:ln/>
        </p:spPr>
        <p:txBody>
          <a:bodyPr wrap="square" rtlCol="0" anchor="ctr"/>
          <a:lstStyle/>
          <a:p>
            <a:pPr indent="0" marL="0">
              <a:buNone/>
            </a:pPr>
            <a:r>
              <a:rPr lang="en-US" sz="1500" b="1" dirty="0">
                <a:solidFill>
                  <a:srgbClr val="C9A96A"/>
                </a:solidFill>
                <a:latin typeface="Segoe UI" pitchFamily="34" charset="0"/>
                <a:ea typeface="Segoe UI" pitchFamily="34" charset="-122"/>
                <a:cs typeface="Segoe UI" pitchFamily="34" charset="-120"/>
              </a:rPr>
              <a:t>07</a:t>
            </a:r>
            <a:endParaRPr lang="en-US" sz="1500" dirty="0"/>
          </a:p>
        </p:txBody>
      </p:sp>
      <p:sp>
        <p:nvSpPr>
          <p:cNvPr id="4" name="Text 2"/>
          <p:cNvSpPr/>
          <p:nvPr/>
        </p:nvSpPr>
        <p:spPr>
          <a:xfrm>
            <a:off x="640080" y="2377440"/>
            <a:ext cx="10515600" cy="914400"/>
          </a:xfrm>
          <a:prstGeom prst="rect">
            <a:avLst/>
          </a:prstGeom>
          <a:noFill/>
          <a:ln/>
        </p:spPr>
        <p:txBody>
          <a:bodyPr wrap="square" rtlCol="0" anchor="ctr"/>
          <a:lstStyle/>
          <a:p>
            <a:pPr indent="0" marL="0">
              <a:buNone/>
            </a:pPr>
            <a:r>
              <a:rPr lang="en-US" sz="3400" b="1" dirty="0">
                <a:solidFill>
                  <a:srgbClr val="FFFFFF"/>
                </a:solidFill>
                <a:latin typeface="Georgia" pitchFamily="34" charset="0"/>
                <a:ea typeface="Georgia" pitchFamily="34" charset="-122"/>
                <a:cs typeface="Georgia" pitchFamily="34" charset="-120"/>
              </a:rPr>
              <a:t>Chantiers</a:t>
            </a:r>
            <a:endParaRPr lang="en-US" sz="3400" dirty="0"/>
          </a:p>
        </p:txBody>
      </p:sp>
      <p:sp>
        <p:nvSpPr>
          <p:cNvPr id="5" name="Text 3"/>
          <p:cNvSpPr/>
          <p:nvPr/>
        </p:nvSpPr>
        <p:spPr>
          <a:xfrm>
            <a:off x="640080" y="3429000"/>
            <a:ext cx="10058400" cy="1188720"/>
          </a:xfrm>
          <a:prstGeom prst="rect">
            <a:avLst/>
          </a:prstGeom>
          <a:noFill/>
          <a:ln/>
        </p:spPr>
        <p:txBody>
          <a:bodyPr wrap="square" rtlCol="0" anchor="ctr"/>
          <a:lstStyle/>
          <a:p>
            <a:pPr indent="0" marL="0">
              <a:lnSpc>
                <a:spcPts val="1800"/>
              </a:lnSpc>
              <a:buNone/>
            </a:pPr>
            <a:r>
              <a:rPr lang="en-US" sz="1300" dirty="0">
                <a:solidFill>
                  <a:srgbClr val="C7C9E0"/>
                </a:solidFill>
                <a:latin typeface="Segoe UI" pitchFamily="34" charset="0"/>
                <a:ea typeface="Segoe UI" pitchFamily="34" charset="-122"/>
                <a:cs typeface="Segoe UI" pitchFamily="34" charset="-120"/>
              </a:rPr>
              <a:t>Suivi des chantiers en cours : chaque devis signé devient un chantier ; ce module permet de suivre l'avancement ouvrage par ouvrage, l'équipe, les dépenses et le budget.</a:t>
            </a:r>
            <a:endParaRPr lang="en-US" sz="1300" dirty="0"/>
          </a:p>
        </p:txBody>
      </p:sp>
      <p:sp>
        <p:nvSpPr>
          <p:cNvPr id="6" name="Text 4"/>
          <p:cNvSpPr/>
          <p:nvPr/>
        </p:nvSpPr>
        <p:spPr>
          <a:xfrm>
            <a:off x="365760" y="6510528"/>
            <a:ext cx="5486400" cy="274320"/>
          </a:xfrm>
          <a:prstGeom prst="rect">
            <a:avLst/>
          </a:prstGeom>
          <a:noFill/>
          <a:ln/>
        </p:spPr>
        <p:txBody>
          <a:bodyPr wrap="square" rtlCol="0" anchor="ctr"/>
          <a:lstStyle/>
          <a:p>
            <a:pPr indent="0" marL="0">
              <a:buNone/>
            </a:pPr>
            <a:r>
              <a:rPr lang="en-US" sz="850" dirty="0">
                <a:solidFill>
                  <a:srgbClr val="8A7C68"/>
                </a:solidFill>
                <a:latin typeface="Segoe UI" pitchFamily="34" charset="0"/>
                <a:ea typeface="Segoe UI" pitchFamily="34" charset="-122"/>
                <a:cs typeface="Segoe UI" pitchFamily="34" charset="-120"/>
              </a:rPr>
              <a:t>Kôji Web — Cahier des charges</a:t>
            </a:r>
            <a:endParaRPr lang="en-US" sz="850" dirty="0"/>
          </a:p>
        </p:txBody>
      </p:sp>
      <p:sp>
        <p:nvSpPr>
          <p:cNvPr id="7" name="Text 5"/>
          <p:cNvSpPr/>
          <p:nvPr/>
        </p:nvSpPr>
        <p:spPr>
          <a:xfrm>
            <a:off x="9601200" y="6510528"/>
            <a:ext cx="2194560" cy="274320"/>
          </a:xfrm>
          <a:prstGeom prst="rect">
            <a:avLst/>
          </a:prstGeom>
          <a:noFill/>
          <a:ln/>
        </p:spPr>
        <p:txBody>
          <a:bodyPr wrap="square" rtlCol="0" anchor="ctr"/>
          <a:lstStyle/>
          <a:p>
            <a:pPr algn="r" indent="0" marL="0">
              <a:buNone/>
            </a:pPr>
            <a:r>
              <a:rPr lang="en-US" sz="850" dirty="0">
                <a:solidFill>
                  <a:srgbClr val="8A7C68"/>
                </a:solidFill>
                <a:latin typeface="Segoe UI" pitchFamily="34" charset="0"/>
                <a:ea typeface="Segoe UI" pitchFamily="34" charset="-122"/>
                <a:cs typeface="Segoe UI" pitchFamily="34" charset="-120"/>
              </a:rPr>
              <a:t>33</a:t>
            </a:r>
            <a:endParaRPr lang="en-US" sz="85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3108960" cy="365760"/>
          </a:xfrm>
          <a:prstGeom prst="roundRect">
            <a:avLst>
              <a:gd name="adj" fmla="val 50000"/>
            </a:avLst>
          </a:prstGeom>
          <a:solidFill>
            <a:srgbClr val="F7EADF"/>
          </a:solidFill>
          <a:ln/>
        </p:spPr>
      </p:sp>
      <p:sp>
        <p:nvSpPr>
          <p:cNvPr id="3" name="Text 1"/>
          <p:cNvSpPr/>
          <p:nvPr/>
        </p:nvSpPr>
        <p:spPr>
          <a:xfrm>
            <a:off x="640080" y="411480"/>
            <a:ext cx="3108960" cy="365760"/>
          </a:xfrm>
          <a:prstGeom prst="rect">
            <a:avLst/>
          </a:prstGeom>
          <a:noFill/>
          <a:ln/>
        </p:spPr>
        <p:txBody>
          <a:bodyPr wrap="square" rtlCol="0" anchor="ctr"/>
          <a:lstStyle/>
          <a:p>
            <a:pPr algn="ctr" indent="0" marL="0">
              <a:buNone/>
            </a:pPr>
            <a:r>
              <a:rPr lang="en-US" sz="950" b="1" spc="100" kern="0" dirty="0">
                <a:solidFill>
                  <a:srgbClr val="9A7C5C"/>
                </a:solidFill>
                <a:latin typeface="Segoe UI" pitchFamily="34" charset="0"/>
                <a:ea typeface="Segoe UI" pitchFamily="34" charset="-122"/>
                <a:cs typeface="Segoe UI" pitchFamily="34" charset="-120"/>
              </a:rPr>
              <a:t>CHANTIERS</a:t>
            </a:r>
            <a:endParaRPr lang="en-US" sz="950" dirty="0"/>
          </a:p>
        </p:txBody>
      </p:sp>
      <p:sp>
        <p:nvSpPr>
          <p:cNvPr id="4" name="Shape 2"/>
          <p:cNvSpPr/>
          <p:nvPr/>
        </p:nvSpPr>
        <p:spPr>
          <a:xfrm>
            <a:off x="640080" y="1005840"/>
            <a:ext cx="10881360" cy="2606040"/>
          </a:xfrm>
          <a:prstGeom prst="roundRect">
            <a:avLst>
              <a:gd name="adj" fmla="val 2105"/>
            </a:avLst>
          </a:prstGeom>
          <a:solidFill>
            <a:srgbClr val="FFFFFF"/>
          </a:solidFill>
          <a:ln w="12700">
            <a:solidFill>
              <a:srgbClr val="E4DCCB"/>
            </a:solidFill>
            <a:prstDash val="solid"/>
          </a:ln>
        </p:spPr>
      </p:sp>
      <p:sp>
        <p:nvSpPr>
          <p:cNvPr id="5" name="Shape 3"/>
          <p:cNvSpPr/>
          <p:nvPr/>
        </p:nvSpPr>
        <p:spPr>
          <a:xfrm>
            <a:off x="640080" y="1005840"/>
            <a:ext cx="54864" cy="2606040"/>
          </a:xfrm>
          <a:prstGeom prst="rect">
            <a:avLst/>
          </a:prstGeom>
          <a:solidFill>
            <a:srgbClr val="1D6FE0"/>
          </a:solidFill>
          <a:ln/>
        </p:spPr>
      </p:sp>
      <p:sp>
        <p:nvSpPr>
          <p:cNvPr id="6" name="Text 4"/>
          <p:cNvSpPr/>
          <p:nvPr/>
        </p:nvSpPr>
        <p:spPr>
          <a:xfrm>
            <a:off x="914400" y="1133856"/>
            <a:ext cx="10332720" cy="365760"/>
          </a:xfrm>
          <a:prstGeom prst="rect">
            <a:avLst/>
          </a:prstGeom>
          <a:noFill/>
          <a:ln/>
        </p:spPr>
        <p:txBody>
          <a:bodyPr wrap="square" rtlCol="0" anchor="ctr"/>
          <a:lstStyle/>
          <a:p>
            <a:pPr indent="0" marL="0">
              <a:buNone/>
            </a:pPr>
            <a:r>
              <a:rPr lang="en-US" sz="1500" b="1" dirty="0">
                <a:solidFill>
                  <a:srgbClr val="1B1F3B"/>
                </a:solidFill>
                <a:latin typeface="Georgia" pitchFamily="34" charset="0"/>
                <a:ea typeface="Georgia" pitchFamily="34" charset="-122"/>
                <a:cs typeface="Georgia" pitchFamily="34" charset="-120"/>
              </a:rPr>
              <a:t>Liste des chantiers</a:t>
            </a:r>
            <a:endParaRPr lang="en-US" sz="1500" dirty="0"/>
          </a:p>
        </p:txBody>
      </p:sp>
      <p:sp>
        <p:nvSpPr>
          <p:cNvPr id="7" name="Text 5"/>
          <p:cNvSpPr/>
          <p:nvPr/>
        </p:nvSpPr>
        <p:spPr>
          <a:xfrm>
            <a:off x="914400" y="1536192"/>
            <a:ext cx="10332720" cy="1051560"/>
          </a:xfrm>
          <a:prstGeom prst="rect">
            <a:avLst/>
          </a:prstGeom>
          <a:noFill/>
          <a:ln/>
        </p:spPr>
        <p:txBody>
          <a:bodyPr wrap="square" rtlCol="0" anchor="ctr"/>
          <a:lstStyle/>
          <a:p>
            <a:pPr indent="0" marL="0">
              <a:lnSpc>
                <a:spcPts val="1600"/>
              </a:lnSpc>
              <a:buNone/>
            </a:pPr>
            <a:r>
              <a:rPr lang="en-US" sz="1150" dirty="0">
                <a:solidFill>
                  <a:srgbClr val="1B1F3B"/>
                </a:solidFill>
                <a:latin typeface="Segoe UI" pitchFamily="34" charset="0"/>
                <a:ea typeface="Segoe UI" pitchFamily="34" charset="-122"/>
                <a:cs typeface="Segoe UI" pitchFamily="34" charset="-120"/>
              </a:rPr>
              <a:t>Vue d'ensemble de tous les chantiers, avec statut et accès rapide à chacun.</a:t>
            </a:r>
            <a:endParaRPr lang="en-US" sz="1150" dirty="0"/>
          </a:p>
        </p:txBody>
      </p:sp>
      <p:sp>
        <p:nvSpPr>
          <p:cNvPr id="8" name="Text 6"/>
          <p:cNvSpPr/>
          <p:nvPr/>
        </p:nvSpPr>
        <p:spPr>
          <a:xfrm>
            <a:off x="914400" y="2743200"/>
            <a:ext cx="10332720" cy="228600"/>
          </a:xfrm>
          <a:prstGeom prst="rect">
            <a:avLst/>
          </a:prstGeom>
          <a:noFill/>
          <a:ln/>
        </p:spPr>
        <p:txBody>
          <a:bodyPr wrap="square" rtlCol="0" anchor="ctr"/>
          <a:lstStyle/>
          <a:p>
            <a:pPr indent="0" marL="0">
              <a:buNone/>
            </a:pPr>
            <a:r>
              <a:rPr lang="en-US" sz="800" b="1" spc="100" kern="0" dirty="0">
                <a:solidFill>
                  <a:srgbClr val="9A7C5C"/>
                </a:solidFill>
                <a:latin typeface="Segoe UI" pitchFamily="34" charset="0"/>
                <a:ea typeface="Segoe UI" pitchFamily="34" charset="-122"/>
                <a:cs typeface="Segoe UI" pitchFamily="34" charset="-120"/>
              </a:rPr>
              <a:t>RÉALISATION TECHNIQUE</a:t>
            </a:r>
            <a:endParaRPr lang="en-US" sz="800" dirty="0"/>
          </a:p>
        </p:txBody>
      </p:sp>
      <p:sp>
        <p:nvSpPr>
          <p:cNvPr id="9" name="Text 7"/>
          <p:cNvSpPr/>
          <p:nvPr/>
        </p:nvSpPr>
        <p:spPr>
          <a:xfrm>
            <a:off x="914400" y="2990088"/>
            <a:ext cx="10332720" cy="548640"/>
          </a:xfrm>
          <a:prstGeom prst="rect">
            <a:avLst/>
          </a:prstGeom>
          <a:noFill/>
          <a:ln/>
        </p:spPr>
        <p:txBody>
          <a:bodyPr wrap="square" rtlCol="0" anchor="ctr"/>
          <a:lstStyle/>
          <a:p>
            <a:pPr indent="0" marL="0">
              <a:lnSpc>
                <a:spcPts val="1400"/>
              </a:lnSpc>
              <a:buNone/>
            </a:pPr>
            <a:r>
              <a:rPr lang="en-US" sz="1000" i="1" dirty="0">
                <a:solidFill>
                  <a:srgbClr val="8A7C68"/>
                </a:solidFill>
                <a:latin typeface="Segoe UI" pitchFamily="34" charset="0"/>
                <a:ea typeface="Segoe UI" pitchFamily="34" charset="-122"/>
                <a:cs typeface="Segoe UI" pitchFamily="34" charset="-120"/>
              </a:rPr>
              <a:t>Page /chantiers, API /api/projects (table Supabase chantiers).</a:t>
            </a:r>
            <a:endParaRPr lang="en-US" sz="1000" dirty="0"/>
          </a:p>
        </p:txBody>
      </p:sp>
      <p:sp>
        <p:nvSpPr>
          <p:cNvPr id="10" name="Shape 8"/>
          <p:cNvSpPr/>
          <p:nvPr/>
        </p:nvSpPr>
        <p:spPr>
          <a:xfrm>
            <a:off x="640080" y="3813048"/>
            <a:ext cx="10881360" cy="1737360"/>
          </a:xfrm>
          <a:prstGeom prst="roundRect">
            <a:avLst>
              <a:gd name="adj" fmla="val 3158"/>
            </a:avLst>
          </a:prstGeom>
          <a:solidFill>
            <a:srgbClr val="FFFFFF"/>
          </a:solidFill>
          <a:ln w="12700">
            <a:solidFill>
              <a:srgbClr val="E4DCCB"/>
            </a:solidFill>
            <a:prstDash val="solid"/>
          </a:ln>
        </p:spPr>
      </p:sp>
      <p:sp>
        <p:nvSpPr>
          <p:cNvPr id="11" name="Shape 9"/>
          <p:cNvSpPr/>
          <p:nvPr/>
        </p:nvSpPr>
        <p:spPr>
          <a:xfrm>
            <a:off x="640080" y="3813048"/>
            <a:ext cx="54864" cy="1737360"/>
          </a:xfrm>
          <a:prstGeom prst="rect">
            <a:avLst/>
          </a:prstGeom>
          <a:solidFill>
            <a:srgbClr val="1D6FE0"/>
          </a:solidFill>
          <a:ln/>
        </p:spPr>
      </p:sp>
      <p:sp>
        <p:nvSpPr>
          <p:cNvPr id="12" name="Text 10"/>
          <p:cNvSpPr/>
          <p:nvPr/>
        </p:nvSpPr>
        <p:spPr>
          <a:xfrm>
            <a:off x="914400" y="3941064"/>
            <a:ext cx="10332720" cy="365760"/>
          </a:xfrm>
          <a:prstGeom prst="rect">
            <a:avLst/>
          </a:prstGeom>
          <a:noFill/>
          <a:ln/>
        </p:spPr>
        <p:txBody>
          <a:bodyPr wrap="square" rtlCol="0" anchor="ctr"/>
          <a:lstStyle/>
          <a:p>
            <a:pPr indent="0" marL="0">
              <a:buNone/>
            </a:pPr>
            <a:r>
              <a:rPr lang="en-US" sz="1500" b="1" dirty="0">
                <a:solidFill>
                  <a:srgbClr val="1B1F3B"/>
                </a:solidFill>
                <a:latin typeface="Georgia" pitchFamily="34" charset="0"/>
                <a:ea typeface="Georgia" pitchFamily="34" charset="-122"/>
                <a:cs typeface="Georgia" pitchFamily="34" charset="-120"/>
              </a:rPr>
              <a:t>Écran de choix avant signature</a:t>
            </a:r>
            <a:endParaRPr lang="en-US" sz="1500" dirty="0"/>
          </a:p>
        </p:txBody>
      </p:sp>
      <p:sp>
        <p:nvSpPr>
          <p:cNvPr id="13" name="Text 11"/>
          <p:cNvSpPr/>
          <p:nvPr/>
        </p:nvSpPr>
        <p:spPr>
          <a:xfrm>
            <a:off x="914400" y="4343400"/>
            <a:ext cx="10332720" cy="1005840"/>
          </a:xfrm>
          <a:prstGeom prst="rect">
            <a:avLst/>
          </a:prstGeom>
          <a:noFill/>
          <a:ln/>
        </p:spPr>
        <p:txBody>
          <a:bodyPr wrap="square" rtlCol="0" anchor="ctr"/>
          <a:lstStyle/>
          <a:p>
            <a:pPr indent="0" marL="0">
              <a:lnSpc>
                <a:spcPts val="1600"/>
              </a:lnSpc>
              <a:buNone/>
            </a:pPr>
            <a:r>
              <a:rPr lang="en-US" sz="1150" dirty="0">
                <a:solidFill>
                  <a:srgbClr val="1B1F3B"/>
                </a:solidFill>
                <a:latin typeface="Segoe UI" pitchFamily="34" charset="0"/>
                <a:ea typeface="Segoe UI" pitchFamily="34" charset="-122"/>
                <a:cs typeface="Segoe UI" pitchFamily="34" charset="-120"/>
              </a:rPr>
              <a:t>Pour un chantier dont le devis n'est pas encore signé, un écran propose "Modifier le devis" ou "Commencer le chantier", au lieu d'aller directement au suivi.</a:t>
            </a:r>
            <a:endParaRPr lang="en-US" sz="1150" dirty="0"/>
          </a:p>
        </p:txBody>
      </p:sp>
      <p:sp>
        <p:nvSpPr>
          <p:cNvPr id="14" name="Text 12"/>
          <p:cNvSpPr/>
          <p:nvPr/>
        </p:nvSpPr>
        <p:spPr>
          <a:xfrm>
            <a:off x="365760" y="6510528"/>
            <a:ext cx="5486400" cy="274320"/>
          </a:xfrm>
          <a:prstGeom prst="rect">
            <a:avLst/>
          </a:prstGeom>
          <a:noFill/>
          <a:ln/>
        </p:spPr>
        <p:txBody>
          <a:bodyPr wrap="square" rtlCol="0" anchor="ctr"/>
          <a:lstStyle/>
          <a:p>
            <a:pPr indent="0" marL="0">
              <a:buNone/>
            </a:pPr>
            <a:r>
              <a:rPr lang="en-US" sz="850" dirty="0">
                <a:solidFill>
                  <a:srgbClr val="8A7C68"/>
                </a:solidFill>
                <a:latin typeface="Segoe UI" pitchFamily="34" charset="0"/>
                <a:ea typeface="Segoe UI" pitchFamily="34" charset="-122"/>
                <a:cs typeface="Segoe UI" pitchFamily="34" charset="-120"/>
              </a:rPr>
              <a:t>Kôji Web — Cahier des charges</a:t>
            </a:r>
            <a:endParaRPr lang="en-US" sz="850" dirty="0"/>
          </a:p>
        </p:txBody>
      </p:sp>
      <p:sp>
        <p:nvSpPr>
          <p:cNvPr id="15" name="Text 13"/>
          <p:cNvSpPr/>
          <p:nvPr/>
        </p:nvSpPr>
        <p:spPr>
          <a:xfrm>
            <a:off x="9601200" y="6510528"/>
            <a:ext cx="2194560" cy="274320"/>
          </a:xfrm>
          <a:prstGeom prst="rect">
            <a:avLst/>
          </a:prstGeom>
          <a:noFill/>
          <a:ln/>
        </p:spPr>
        <p:txBody>
          <a:bodyPr wrap="square" rtlCol="0" anchor="ctr"/>
          <a:lstStyle/>
          <a:p>
            <a:pPr algn="r" indent="0" marL="0">
              <a:buNone/>
            </a:pPr>
            <a:r>
              <a:rPr lang="en-US" sz="850" dirty="0">
                <a:solidFill>
                  <a:srgbClr val="8A7C68"/>
                </a:solidFill>
                <a:latin typeface="Segoe UI" pitchFamily="34" charset="0"/>
                <a:ea typeface="Segoe UI" pitchFamily="34" charset="-122"/>
                <a:cs typeface="Segoe UI" pitchFamily="34" charset="-120"/>
              </a:rPr>
              <a:t>34</a:t>
            </a:r>
            <a:endParaRPr lang="en-US" sz="85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3108960" cy="365760"/>
          </a:xfrm>
          <a:prstGeom prst="roundRect">
            <a:avLst>
              <a:gd name="adj" fmla="val 50000"/>
            </a:avLst>
          </a:prstGeom>
          <a:solidFill>
            <a:srgbClr val="F7EADF"/>
          </a:solidFill>
          <a:ln/>
        </p:spPr>
      </p:sp>
      <p:sp>
        <p:nvSpPr>
          <p:cNvPr id="3" name="Text 1"/>
          <p:cNvSpPr/>
          <p:nvPr/>
        </p:nvSpPr>
        <p:spPr>
          <a:xfrm>
            <a:off x="640080" y="411480"/>
            <a:ext cx="3108960" cy="365760"/>
          </a:xfrm>
          <a:prstGeom prst="rect">
            <a:avLst/>
          </a:prstGeom>
          <a:noFill/>
          <a:ln/>
        </p:spPr>
        <p:txBody>
          <a:bodyPr wrap="square" rtlCol="0" anchor="ctr"/>
          <a:lstStyle/>
          <a:p>
            <a:pPr algn="ctr" indent="0" marL="0">
              <a:buNone/>
            </a:pPr>
            <a:r>
              <a:rPr lang="en-US" sz="950" b="1" spc="100" kern="0" dirty="0">
                <a:solidFill>
                  <a:srgbClr val="9A7C5C"/>
                </a:solidFill>
                <a:latin typeface="Segoe UI" pitchFamily="34" charset="0"/>
                <a:ea typeface="Segoe UI" pitchFamily="34" charset="-122"/>
                <a:cs typeface="Segoe UI" pitchFamily="34" charset="-120"/>
              </a:rPr>
              <a:t>CHANTIERS</a:t>
            </a:r>
            <a:endParaRPr lang="en-US" sz="950" dirty="0"/>
          </a:p>
        </p:txBody>
      </p:sp>
      <p:sp>
        <p:nvSpPr>
          <p:cNvPr id="4" name="Shape 2"/>
          <p:cNvSpPr/>
          <p:nvPr/>
        </p:nvSpPr>
        <p:spPr>
          <a:xfrm>
            <a:off x="640080" y="1005840"/>
            <a:ext cx="10881360" cy="1737360"/>
          </a:xfrm>
          <a:prstGeom prst="roundRect">
            <a:avLst>
              <a:gd name="adj" fmla="val 3158"/>
            </a:avLst>
          </a:prstGeom>
          <a:solidFill>
            <a:srgbClr val="FFFFFF"/>
          </a:solidFill>
          <a:ln w="12700">
            <a:solidFill>
              <a:srgbClr val="E4DCCB"/>
            </a:solidFill>
            <a:prstDash val="solid"/>
          </a:ln>
        </p:spPr>
      </p:sp>
      <p:sp>
        <p:nvSpPr>
          <p:cNvPr id="5" name="Shape 3"/>
          <p:cNvSpPr/>
          <p:nvPr/>
        </p:nvSpPr>
        <p:spPr>
          <a:xfrm>
            <a:off x="640080" y="1005840"/>
            <a:ext cx="54864" cy="1737360"/>
          </a:xfrm>
          <a:prstGeom prst="rect">
            <a:avLst/>
          </a:prstGeom>
          <a:solidFill>
            <a:srgbClr val="1D6FE0"/>
          </a:solidFill>
          <a:ln/>
        </p:spPr>
      </p:sp>
      <p:sp>
        <p:nvSpPr>
          <p:cNvPr id="6" name="Text 4"/>
          <p:cNvSpPr/>
          <p:nvPr/>
        </p:nvSpPr>
        <p:spPr>
          <a:xfrm>
            <a:off x="914400" y="1133856"/>
            <a:ext cx="10332720" cy="365760"/>
          </a:xfrm>
          <a:prstGeom prst="rect">
            <a:avLst/>
          </a:prstGeom>
          <a:noFill/>
          <a:ln/>
        </p:spPr>
        <p:txBody>
          <a:bodyPr wrap="square" rtlCol="0" anchor="ctr"/>
          <a:lstStyle/>
          <a:p>
            <a:pPr indent="0" marL="0">
              <a:buNone/>
            </a:pPr>
            <a:r>
              <a:rPr lang="en-US" sz="1500" b="1" dirty="0">
                <a:solidFill>
                  <a:srgbClr val="1B1F3B"/>
                </a:solidFill>
                <a:latin typeface="Georgia" pitchFamily="34" charset="0"/>
                <a:ea typeface="Georgia" pitchFamily="34" charset="-122"/>
                <a:cs typeface="Georgia" pitchFamily="34" charset="-120"/>
              </a:rPr>
              <a:t>Fiche chantier</a:t>
            </a:r>
            <a:endParaRPr lang="en-US" sz="1500" dirty="0"/>
          </a:p>
        </p:txBody>
      </p:sp>
      <p:sp>
        <p:nvSpPr>
          <p:cNvPr id="7" name="Text 5"/>
          <p:cNvSpPr/>
          <p:nvPr/>
        </p:nvSpPr>
        <p:spPr>
          <a:xfrm>
            <a:off x="914400" y="1536192"/>
            <a:ext cx="10332720" cy="1005840"/>
          </a:xfrm>
          <a:prstGeom prst="rect">
            <a:avLst/>
          </a:prstGeom>
          <a:noFill/>
          <a:ln/>
        </p:spPr>
        <p:txBody>
          <a:bodyPr wrap="square" rtlCol="0" anchor="ctr"/>
          <a:lstStyle/>
          <a:p>
            <a:pPr indent="0" marL="0">
              <a:lnSpc>
                <a:spcPts val="1600"/>
              </a:lnSpc>
              <a:buNone/>
            </a:pPr>
            <a:r>
              <a:rPr lang="en-US" sz="1150" dirty="0">
                <a:solidFill>
                  <a:srgbClr val="1B1F3B"/>
                </a:solidFill>
                <a:latin typeface="Segoe UI" pitchFamily="34" charset="0"/>
                <a:ea typeface="Segoe UI" pitchFamily="34" charset="-122"/>
                <a:cs typeface="Segoe UI" pitchFamily="34" charset="-120"/>
              </a:rPr>
              <a:t>Détail d'un chantier : liste des ouvrages du devis, équipe assignée, rendez-vous, budget, documents et messages, avec navigation restaurée automatiquement après un rafraîchissement de page.</a:t>
            </a:r>
            <a:endParaRPr lang="en-US" sz="1150" dirty="0"/>
          </a:p>
        </p:txBody>
      </p:sp>
      <p:sp>
        <p:nvSpPr>
          <p:cNvPr id="8" name="Shape 6"/>
          <p:cNvSpPr/>
          <p:nvPr/>
        </p:nvSpPr>
        <p:spPr>
          <a:xfrm>
            <a:off x="640080" y="2944368"/>
            <a:ext cx="10881360" cy="1737360"/>
          </a:xfrm>
          <a:prstGeom prst="roundRect">
            <a:avLst>
              <a:gd name="adj" fmla="val 3158"/>
            </a:avLst>
          </a:prstGeom>
          <a:solidFill>
            <a:srgbClr val="FFFFFF"/>
          </a:solidFill>
          <a:ln w="12700">
            <a:solidFill>
              <a:srgbClr val="E4DCCB"/>
            </a:solidFill>
            <a:prstDash val="solid"/>
          </a:ln>
        </p:spPr>
      </p:sp>
      <p:sp>
        <p:nvSpPr>
          <p:cNvPr id="9" name="Shape 7"/>
          <p:cNvSpPr/>
          <p:nvPr/>
        </p:nvSpPr>
        <p:spPr>
          <a:xfrm>
            <a:off x="640080" y="2944368"/>
            <a:ext cx="54864" cy="1737360"/>
          </a:xfrm>
          <a:prstGeom prst="rect">
            <a:avLst/>
          </a:prstGeom>
          <a:solidFill>
            <a:srgbClr val="1D6FE0"/>
          </a:solidFill>
          <a:ln/>
        </p:spPr>
      </p:sp>
      <p:sp>
        <p:nvSpPr>
          <p:cNvPr id="10" name="Text 8"/>
          <p:cNvSpPr/>
          <p:nvPr/>
        </p:nvSpPr>
        <p:spPr>
          <a:xfrm>
            <a:off x="914400" y="3072384"/>
            <a:ext cx="10332720" cy="365760"/>
          </a:xfrm>
          <a:prstGeom prst="rect">
            <a:avLst/>
          </a:prstGeom>
          <a:noFill/>
          <a:ln/>
        </p:spPr>
        <p:txBody>
          <a:bodyPr wrap="square" rtlCol="0" anchor="ctr"/>
          <a:lstStyle/>
          <a:p>
            <a:pPr indent="0" marL="0">
              <a:buNone/>
            </a:pPr>
            <a:r>
              <a:rPr lang="en-US" sz="1500" b="1" dirty="0">
                <a:solidFill>
                  <a:srgbClr val="1B1F3B"/>
                </a:solidFill>
                <a:latin typeface="Georgia" pitchFamily="34" charset="0"/>
                <a:ea typeface="Georgia" pitchFamily="34" charset="-122"/>
                <a:cs typeface="Georgia" pitchFamily="34" charset="-120"/>
              </a:rPr>
              <a:t>Fiche ouvrage</a:t>
            </a:r>
            <a:endParaRPr lang="en-US" sz="1500" dirty="0"/>
          </a:p>
        </p:txBody>
      </p:sp>
      <p:sp>
        <p:nvSpPr>
          <p:cNvPr id="11" name="Text 9"/>
          <p:cNvSpPr/>
          <p:nvPr/>
        </p:nvSpPr>
        <p:spPr>
          <a:xfrm>
            <a:off x="914400" y="3474720"/>
            <a:ext cx="10332720" cy="1005840"/>
          </a:xfrm>
          <a:prstGeom prst="rect">
            <a:avLst/>
          </a:prstGeom>
          <a:noFill/>
          <a:ln/>
        </p:spPr>
        <p:txBody>
          <a:bodyPr wrap="square" rtlCol="0" anchor="ctr"/>
          <a:lstStyle/>
          <a:p>
            <a:pPr indent="0" marL="0">
              <a:lnSpc>
                <a:spcPts val="1600"/>
              </a:lnSpc>
              <a:buNone/>
            </a:pPr>
            <a:r>
              <a:rPr lang="en-US" sz="1150" dirty="0">
                <a:solidFill>
                  <a:srgbClr val="1B1F3B"/>
                </a:solidFill>
                <a:latin typeface="Segoe UI" pitchFamily="34" charset="0"/>
                <a:ea typeface="Segoe UI" pitchFamily="34" charset="-122"/>
                <a:cs typeface="Segoe UI" pitchFamily="34" charset="-120"/>
              </a:rPr>
              <a:t>Détail d'un ouvrage du chantier : statut (à faire / en cours / terminé / validé), équipe assignée, dates, et prix validé par le client.</a:t>
            </a:r>
            <a:endParaRPr lang="en-US" sz="1150" dirty="0"/>
          </a:p>
        </p:txBody>
      </p:sp>
      <p:sp>
        <p:nvSpPr>
          <p:cNvPr id="12" name="Text 10"/>
          <p:cNvSpPr/>
          <p:nvPr/>
        </p:nvSpPr>
        <p:spPr>
          <a:xfrm>
            <a:off x="365760" y="6510528"/>
            <a:ext cx="5486400" cy="274320"/>
          </a:xfrm>
          <a:prstGeom prst="rect">
            <a:avLst/>
          </a:prstGeom>
          <a:noFill/>
          <a:ln/>
        </p:spPr>
        <p:txBody>
          <a:bodyPr wrap="square" rtlCol="0" anchor="ctr"/>
          <a:lstStyle/>
          <a:p>
            <a:pPr indent="0" marL="0">
              <a:buNone/>
            </a:pPr>
            <a:r>
              <a:rPr lang="en-US" sz="850" dirty="0">
                <a:solidFill>
                  <a:srgbClr val="8A7C68"/>
                </a:solidFill>
                <a:latin typeface="Segoe UI" pitchFamily="34" charset="0"/>
                <a:ea typeface="Segoe UI" pitchFamily="34" charset="-122"/>
                <a:cs typeface="Segoe UI" pitchFamily="34" charset="-120"/>
              </a:rPr>
              <a:t>Kôji Web — Cahier des charges</a:t>
            </a:r>
            <a:endParaRPr lang="en-US" sz="850" dirty="0"/>
          </a:p>
        </p:txBody>
      </p:sp>
      <p:sp>
        <p:nvSpPr>
          <p:cNvPr id="13" name="Text 11"/>
          <p:cNvSpPr/>
          <p:nvPr/>
        </p:nvSpPr>
        <p:spPr>
          <a:xfrm>
            <a:off x="9601200" y="6510528"/>
            <a:ext cx="2194560" cy="274320"/>
          </a:xfrm>
          <a:prstGeom prst="rect">
            <a:avLst/>
          </a:prstGeom>
          <a:noFill/>
          <a:ln/>
        </p:spPr>
        <p:txBody>
          <a:bodyPr wrap="square" rtlCol="0" anchor="ctr"/>
          <a:lstStyle/>
          <a:p>
            <a:pPr algn="r" indent="0" marL="0">
              <a:buNone/>
            </a:pPr>
            <a:r>
              <a:rPr lang="en-US" sz="850" dirty="0">
                <a:solidFill>
                  <a:srgbClr val="8A7C68"/>
                </a:solidFill>
                <a:latin typeface="Segoe UI" pitchFamily="34" charset="0"/>
                <a:ea typeface="Segoe UI" pitchFamily="34" charset="-122"/>
                <a:cs typeface="Segoe UI" pitchFamily="34" charset="-120"/>
              </a:rPr>
              <a:t>35</a:t>
            </a:r>
            <a:endParaRPr lang="en-US" sz="85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3108960" cy="365760"/>
          </a:xfrm>
          <a:prstGeom prst="roundRect">
            <a:avLst>
              <a:gd name="adj" fmla="val 50000"/>
            </a:avLst>
          </a:prstGeom>
          <a:solidFill>
            <a:srgbClr val="F7EADF"/>
          </a:solidFill>
          <a:ln/>
        </p:spPr>
      </p:sp>
      <p:sp>
        <p:nvSpPr>
          <p:cNvPr id="3" name="Text 1"/>
          <p:cNvSpPr/>
          <p:nvPr/>
        </p:nvSpPr>
        <p:spPr>
          <a:xfrm>
            <a:off x="640080" y="411480"/>
            <a:ext cx="3108960" cy="365760"/>
          </a:xfrm>
          <a:prstGeom prst="rect">
            <a:avLst/>
          </a:prstGeom>
          <a:noFill/>
          <a:ln/>
        </p:spPr>
        <p:txBody>
          <a:bodyPr wrap="square" rtlCol="0" anchor="ctr"/>
          <a:lstStyle/>
          <a:p>
            <a:pPr algn="ctr" indent="0" marL="0">
              <a:buNone/>
            </a:pPr>
            <a:r>
              <a:rPr lang="en-US" sz="950" b="1" spc="100" kern="0" dirty="0">
                <a:solidFill>
                  <a:srgbClr val="9A7C5C"/>
                </a:solidFill>
                <a:latin typeface="Segoe UI" pitchFamily="34" charset="0"/>
                <a:ea typeface="Segoe UI" pitchFamily="34" charset="-122"/>
                <a:cs typeface="Segoe UI" pitchFamily="34" charset="-120"/>
              </a:rPr>
              <a:t>CHANTIERS</a:t>
            </a:r>
            <a:endParaRPr lang="en-US" sz="950" dirty="0"/>
          </a:p>
        </p:txBody>
      </p:sp>
      <p:sp>
        <p:nvSpPr>
          <p:cNvPr id="4" name="Shape 2"/>
          <p:cNvSpPr/>
          <p:nvPr/>
        </p:nvSpPr>
        <p:spPr>
          <a:xfrm>
            <a:off x="640080" y="1005840"/>
            <a:ext cx="10881360" cy="1737360"/>
          </a:xfrm>
          <a:prstGeom prst="roundRect">
            <a:avLst>
              <a:gd name="adj" fmla="val 3158"/>
            </a:avLst>
          </a:prstGeom>
          <a:solidFill>
            <a:srgbClr val="FFFFFF"/>
          </a:solidFill>
          <a:ln w="12700">
            <a:solidFill>
              <a:srgbClr val="E4DCCB"/>
            </a:solidFill>
            <a:prstDash val="solid"/>
          </a:ln>
        </p:spPr>
      </p:sp>
      <p:sp>
        <p:nvSpPr>
          <p:cNvPr id="5" name="Shape 3"/>
          <p:cNvSpPr/>
          <p:nvPr/>
        </p:nvSpPr>
        <p:spPr>
          <a:xfrm>
            <a:off x="640080" y="1005840"/>
            <a:ext cx="54864" cy="1737360"/>
          </a:xfrm>
          <a:prstGeom prst="rect">
            <a:avLst/>
          </a:prstGeom>
          <a:solidFill>
            <a:srgbClr val="1D6FE0"/>
          </a:solidFill>
          <a:ln/>
        </p:spPr>
      </p:sp>
      <p:sp>
        <p:nvSpPr>
          <p:cNvPr id="6" name="Text 4"/>
          <p:cNvSpPr/>
          <p:nvPr/>
        </p:nvSpPr>
        <p:spPr>
          <a:xfrm>
            <a:off x="914400" y="1133856"/>
            <a:ext cx="10332720" cy="365760"/>
          </a:xfrm>
          <a:prstGeom prst="rect">
            <a:avLst/>
          </a:prstGeom>
          <a:noFill/>
          <a:ln/>
        </p:spPr>
        <p:txBody>
          <a:bodyPr wrap="square" rtlCol="0" anchor="ctr"/>
          <a:lstStyle/>
          <a:p>
            <a:pPr indent="0" marL="0">
              <a:buNone/>
            </a:pPr>
            <a:r>
              <a:rPr lang="en-US" sz="1500" b="1" dirty="0">
                <a:solidFill>
                  <a:srgbClr val="1B1F3B"/>
                </a:solidFill>
                <a:latin typeface="Georgia" pitchFamily="34" charset="0"/>
                <a:ea typeface="Georgia" pitchFamily="34" charset="-122"/>
                <a:cs typeface="Georgia" pitchFamily="34" charset="-120"/>
              </a:rPr>
              <a:t>Finances de l'ouvrage</a:t>
            </a:r>
            <a:endParaRPr lang="en-US" sz="1500" dirty="0"/>
          </a:p>
        </p:txBody>
      </p:sp>
      <p:sp>
        <p:nvSpPr>
          <p:cNvPr id="7" name="Text 5"/>
          <p:cNvSpPr/>
          <p:nvPr/>
        </p:nvSpPr>
        <p:spPr>
          <a:xfrm>
            <a:off x="914400" y="1536192"/>
            <a:ext cx="10332720" cy="1005840"/>
          </a:xfrm>
          <a:prstGeom prst="rect">
            <a:avLst/>
          </a:prstGeom>
          <a:noFill/>
          <a:ln/>
        </p:spPr>
        <p:txBody>
          <a:bodyPr wrap="square" rtlCol="0" anchor="ctr"/>
          <a:lstStyle/>
          <a:p>
            <a:pPr indent="0" marL="0">
              <a:lnSpc>
                <a:spcPts val="1600"/>
              </a:lnSpc>
              <a:buNone/>
            </a:pPr>
            <a:r>
              <a:rPr lang="en-US" sz="1150" dirty="0">
                <a:solidFill>
                  <a:srgbClr val="1B1F3B"/>
                </a:solidFill>
                <a:latin typeface="Segoe UI" pitchFamily="34" charset="0"/>
                <a:ea typeface="Segoe UI" pitchFamily="34" charset="-122"/>
                <a:cs typeface="Segoe UI" pitchFamily="34" charset="-120"/>
              </a:rPr>
              <a:t>Calcul automatique, pour chaque ouvrage, du prix validé, des dépenses associées (fournitures, factures, salaires) et de la marge (ce qui a été gagné).</a:t>
            </a:r>
            <a:endParaRPr lang="en-US" sz="1150" dirty="0"/>
          </a:p>
        </p:txBody>
      </p:sp>
      <p:sp>
        <p:nvSpPr>
          <p:cNvPr id="8" name="Shape 6"/>
          <p:cNvSpPr/>
          <p:nvPr/>
        </p:nvSpPr>
        <p:spPr>
          <a:xfrm>
            <a:off x="640080" y="2944368"/>
            <a:ext cx="10881360" cy="1737360"/>
          </a:xfrm>
          <a:prstGeom prst="roundRect">
            <a:avLst>
              <a:gd name="adj" fmla="val 3158"/>
            </a:avLst>
          </a:prstGeom>
          <a:solidFill>
            <a:srgbClr val="FFFFFF"/>
          </a:solidFill>
          <a:ln w="12700">
            <a:solidFill>
              <a:srgbClr val="E4DCCB"/>
            </a:solidFill>
            <a:prstDash val="solid"/>
          </a:ln>
        </p:spPr>
      </p:sp>
      <p:sp>
        <p:nvSpPr>
          <p:cNvPr id="9" name="Shape 7"/>
          <p:cNvSpPr/>
          <p:nvPr/>
        </p:nvSpPr>
        <p:spPr>
          <a:xfrm>
            <a:off x="640080" y="2944368"/>
            <a:ext cx="54864" cy="1737360"/>
          </a:xfrm>
          <a:prstGeom prst="rect">
            <a:avLst/>
          </a:prstGeom>
          <a:solidFill>
            <a:srgbClr val="1D6FE0"/>
          </a:solidFill>
          <a:ln/>
        </p:spPr>
      </p:sp>
      <p:sp>
        <p:nvSpPr>
          <p:cNvPr id="10" name="Text 8"/>
          <p:cNvSpPr/>
          <p:nvPr/>
        </p:nvSpPr>
        <p:spPr>
          <a:xfrm>
            <a:off x="914400" y="3072384"/>
            <a:ext cx="10332720" cy="365760"/>
          </a:xfrm>
          <a:prstGeom prst="rect">
            <a:avLst/>
          </a:prstGeom>
          <a:noFill/>
          <a:ln/>
        </p:spPr>
        <p:txBody>
          <a:bodyPr wrap="square" rtlCol="0" anchor="ctr"/>
          <a:lstStyle/>
          <a:p>
            <a:pPr indent="0" marL="0">
              <a:buNone/>
            </a:pPr>
            <a:r>
              <a:rPr lang="en-US" sz="1500" b="1" dirty="0">
                <a:solidFill>
                  <a:srgbClr val="1B1F3B"/>
                </a:solidFill>
                <a:latin typeface="Georgia" pitchFamily="34" charset="0"/>
                <a:ea typeface="Georgia" pitchFamily="34" charset="-122"/>
                <a:cs typeface="Georgia" pitchFamily="34" charset="-120"/>
              </a:rPr>
              <a:t>Ajout rapide sur un ouvrage</a:t>
            </a:r>
            <a:endParaRPr lang="en-US" sz="1500" dirty="0"/>
          </a:p>
        </p:txBody>
      </p:sp>
      <p:sp>
        <p:nvSpPr>
          <p:cNvPr id="11" name="Text 9"/>
          <p:cNvSpPr/>
          <p:nvPr/>
        </p:nvSpPr>
        <p:spPr>
          <a:xfrm>
            <a:off x="914400" y="3474720"/>
            <a:ext cx="10332720" cy="1005840"/>
          </a:xfrm>
          <a:prstGeom prst="rect">
            <a:avLst/>
          </a:prstGeom>
          <a:noFill/>
          <a:ln/>
        </p:spPr>
        <p:txBody>
          <a:bodyPr wrap="square" rtlCol="0" anchor="ctr"/>
          <a:lstStyle/>
          <a:p>
            <a:pPr indent="0" marL="0">
              <a:lnSpc>
                <a:spcPts val="1600"/>
              </a:lnSpc>
              <a:buNone/>
            </a:pPr>
            <a:r>
              <a:rPr lang="en-US" sz="1150" dirty="0">
                <a:solidFill>
                  <a:srgbClr val="1B1F3B"/>
                </a:solidFill>
                <a:latin typeface="Segoe UI" pitchFamily="34" charset="0"/>
                <a:ea typeface="Segoe UI" pitchFamily="34" charset="-122"/>
                <a:cs typeface="Segoe UI" pitchFamily="34" charset="-120"/>
              </a:rPr>
              <a:t>Bouton permettant d'ajouter directement, depuis la fiche ouvrage, un ouvrier/sous-traitant, une dépense, ou une note pour le client/les ouvriers.</a:t>
            </a:r>
            <a:endParaRPr lang="en-US" sz="1150" dirty="0"/>
          </a:p>
        </p:txBody>
      </p:sp>
      <p:sp>
        <p:nvSpPr>
          <p:cNvPr id="12" name="Text 10"/>
          <p:cNvSpPr/>
          <p:nvPr/>
        </p:nvSpPr>
        <p:spPr>
          <a:xfrm>
            <a:off x="365760" y="6510528"/>
            <a:ext cx="5486400" cy="274320"/>
          </a:xfrm>
          <a:prstGeom prst="rect">
            <a:avLst/>
          </a:prstGeom>
          <a:noFill/>
          <a:ln/>
        </p:spPr>
        <p:txBody>
          <a:bodyPr wrap="square" rtlCol="0" anchor="ctr"/>
          <a:lstStyle/>
          <a:p>
            <a:pPr indent="0" marL="0">
              <a:buNone/>
            </a:pPr>
            <a:r>
              <a:rPr lang="en-US" sz="850" dirty="0">
                <a:solidFill>
                  <a:srgbClr val="8A7C68"/>
                </a:solidFill>
                <a:latin typeface="Segoe UI" pitchFamily="34" charset="0"/>
                <a:ea typeface="Segoe UI" pitchFamily="34" charset="-122"/>
                <a:cs typeface="Segoe UI" pitchFamily="34" charset="-120"/>
              </a:rPr>
              <a:t>Kôji Web — Cahier des charges</a:t>
            </a:r>
            <a:endParaRPr lang="en-US" sz="850" dirty="0"/>
          </a:p>
        </p:txBody>
      </p:sp>
      <p:sp>
        <p:nvSpPr>
          <p:cNvPr id="13" name="Text 11"/>
          <p:cNvSpPr/>
          <p:nvPr/>
        </p:nvSpPr>
        <p:spPr>
          <a:xfrm>
            <a:off x="9601200" y="6510528"/>
            <a:ext cx="2194560" cy="274320"/>
          </a:xfrm>
          <a:prstGeom prst="rect">
            <a:avLst/>
          </a:prstGeom>
          <a:noFill/>
          <a:ln/>
        </p:spPr>
        <p:txBody>
          <a:bodyPr wrap="square" rtlCol="0" anchor="ctr"/>
          <a:lstStyle/>
          <a:p>
            <a:pPr algn="r" indent="0" marL="0">
              <a:buNone/>
            </a:pPr>
            <a:r>
              <a:rPr lang="en-US" sz="850" dirty="0">
                <a:solidFill>
                  <a:srgbClr val="8A7C68"/>
                </a:solidFill>
                <a:latin typeface="Segoe UI" pitchFamily="34" charset="0"/>
                <a:ea typeface="Segoe UI" pitchFamily="34" charset="-122"/>
                <a:cs typeface="Segoe UI" pitchFamily="34" charset="-120"/>
              </a:rPr>
              <a:t>36</a:t>
            </a:r>
            <a:endParaRPr lang="en-US" sz="850"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3108960" cy="365760"/>
          </a:xfrm>
          <a:prstGeom prst="roundRect">
            <a:avLst>
              <a:gd name="adj" fmla="val 50000"/>
            </a:avLst>
          </a:prstGeom>
          <a:solidFill>
            <a:srgbClr val="F7EADF"/>
          </a:solidFill>
          <a:ln/>
        </p:spPr>
      </p:sp>
      <p:sp>
        <p:nvSpPr>
          <p:cNvPr id="3" name="Text 1"/>
          <p:cNvSpPr/>
          <p:nvPr/>
        </p:nvSpPr>
        <p:spPr>
          <a:xfrm>
            <a:off x="640080" y="411480"/>
            <a:ext cx="3108960" cy="365760"/>
          </a:xfrm>
          <a:prstGeom prst="rect">
            <a:avLst/>
          </a:prstGeom>
          <a:noFill/>
          <a:ln/>
        </p:spPr>
        <p:txBody>
          <a:bodyPr wrap="square" rtlCol="0" anchor="ctr"/>
          <a:lstStyle/>
          <a:p>
            <a:pPr algn="ctr" indent="0" marL="0">
              <a:buNone/>
            </a:pPr>
            <a:r>
              <a:rPr lang="en-US" sz="950" b="1" spc="100" kern="0" dirty="0">
                <a:solidFill>
                  <a:srgbClr val="9A7C5C"/>
                </a:solidFill>
                <a:latin typeface="Segoe UI" pitchFamily="34" charset="0"/>
                <a:ea typeface="Segoe UI" pitchFamily="34" charset="-122"/>
                <a:cs typeface="Segoe UI" pitchFamily="34" charset="-120"/>
              </a:rPr>
              <a:t>CHANTIERS</a:t>
            </a:r>
            <a:endParaRPr lang="en-US" sz="950" dirty="0"/>
          </a:p>
        </p:txBody>
      </p:sp>
      <p:sp>
        <p:nvSpPr>
          <p:cNvPr id="4" name="Shape 2"/>
          <p:cNvSpPr/>
          <p:nvPr/>
        </p:nvSpPr>
        <p:spPr>
          <a:xfrm>
            <a:off x="640080" y="1005840"/>
            <a:ext cx="10881360" cy="1737360"/>
          </a:xfrm>
          <a:prstGeom prst="roundRect">
            <a:avLst>
              <a:gd name="adj" fmla="val 3158"/>
            </a:avLst>
          </a:prstGeom>
          <a:solidFill>
            <a:srgbClr val="FFFFFF"/>
          </a:solidFill>
          <a:ln w="12700">
            <a:solidFill>
              <a:srgbClr val="E4DCCB"/>
            </a:solidFill>
            <a:prstDash val="solid"/>
          </a:ln>
        </p:spPr>
      </p:sp>
      <p:sp>
        <p:nvSpPr>
          <p:cNvPr id="5" name="Shape 3"/>
          <p:cNvSpPr/>
          <p:nvPr/>
        </p:nvSpPr>
        <p:spPr>
          <a:xfrm>
            <a:off x="640080" y="1005840"/>
            <a:ext cx="54864" cy="1737360"/>
          </a:xfrm>
          <a:prstGeom prst="rect">
            <a:avLst/>
          </a:prstGeom>
          <a:solidFill>
            <a:srgbClr val="1D6FE0"/>
          </a:solidFill>
          <a:ln/>
        </p:spPr>
      </p:sp>
      <p:sp>
        <p:nvSpPr>
          <p:cNvPr id="6" name="Text 4"/>
          <p:cNvSpPr/>
          <p:nvPr/>
        </p:nvSpPr>
        <p:spPr>
          <a:xfrm>
            <a:off x="914400" y="1133856"/>
            <a:ext cx="10332720" cy="365760"/>
          </a:xfrm>
          <a:prstGeom prst="rect">
            <a:avLst/>
          </a:prstGeom>
          <a:noFill/>
          <a:ln/>
        </p:spPr>
        <p:txBody>
          <a:bodyPr wrap="square" rtlCol="0" anchor="ctr"/>
          <a:lstStyle/>
          <a:p>
            <a:pPr indent="0" marL="0">
              <a:buNone/>
            </a:pPr>
            <a:r>
              <a:rPr lang="en-US" sz="1500" b="1" dirty="0">
                <a:solidFill>
                  <a:srgbClr val="1B1F3B"/>
                </a:solidFill>
                <a:latin typeface="Georgia" pitchFamily="34" charset="0"/>
                <a:ea typeface="Georgia" pitchFamily="34" charset="-122"/>
                <a:cs typeface="Georgia" pitchFamily="34" charset="-120"/>
              </a:rPr>
              <a:t>Planification d'un ouvrage</a:t>
            </a:r>
            <a:endParaRPr lang="en-US" sz="1500" dirty="0"/>
          </a:p>
        </p:txBody>
      </p:sp>
      <p:sp>
        <p:nvSpPr>
          <p:cNvPr id="7" name="Text 5"/>
          <p:cNvSpPr/>
          <p:nvPr/>
        </p:nvSpPr>
        <p:spPr>
          <a:xfrm>
            <a:off x="914400" y="1536192"/>
            <a:ext cx="10332720" cy="1005840"/>
          </a:xfrm>
          <a:prstGeom prst="rect">
            <a:avLst/>
          </a:prstGeom>
          <a:noFill/>
          <a:ln/>
        </p:spPr>
        <p:txBody>
          <a:bodyPr wrap="square" rtlCol="0" anchor="ctr"/>
          <a:lstStyle/>
          <a:p>
            <a:pPr indent="0" marL="0">
              <a:lnSpc>
                <a:spcPts val="1600"/>
              </a:lnSpc>
              <a:buNone/>
            </a:pPr>
            <a:r>
              <a:rPr lang="en-US" sz="1150" dirty="0">
                <a:solidFill>
                  <a:srgbClr val="1B1F3B"/>
                </a:solidFill>
                <a:latin typeface="Segoe UI" pitchFamily="34" charset="0"/>
                <a:ea typeface="Segoe UI" pitchFamily="34" charset="-122"/>
                <a:cs typeface="Segoe UI" pitchFamily="34" charset="-120"/>
              </a:rPr>
              <a:t>Assignation de l'équipe à un ouvrage, dates de début/fin, et éventuel rendez-vous lié.</a:t>
            </a:r>
            <a:endParaRPr lang="en-US" sz="1150" dirty="0"/>
          </a:p>
        </p:txBody>
      </p:sp>
      <p:sp>
        <p:nvSpPr>
          <p:cNvPr id="8" name="Shape 6"/>
          <p:cNvSpPr/>
          <p:nvPr/>
        </p:nvSpPr>
        <p:spPr>
          <a:xfrm>
            <a:off x="640080" y="2944368"/>
            <a:ext cx="10881360" cy="1737360"/>
          </a:xfrm>
          <a:prstGeom prst="roundRect">
            <a:avLst>
              <a:gd name="adj" fmla="val 3158"/>
            </a:avLst>
          </a:prstGeom>
          <a:solidFill>
            <a:srgbClr val="FFFFFF"/>
          </a:solidFill>
          <a:ln w="12700">
            <a:solidFill>
              <a:srgbClr val="E4DCCB"/>
            </a:solidFill>
            <a:prstDash val="solid"/>
          </a:ln>
        </p:spPr>
      </p:sp>
      <p:sp>
        <p:nvSpPr>
          <p:cNvPr id="9" name="Shape 7"/>
          <p:cNvSpPr/>
          <p:nvPr/>
        </p:nvSpPr>
        <p:spPr>
          <a:xfrm>
            <a:off x="640080" y="2944368"/>
            <a:ext cx="54864" cy="1737360"/>
          </a:xfrm>
          <a:prstGeom prst="rect">
            <a:avLst/>
          </a:prstGeom>
          <a:solidFill>
            <a:srgbClr val="1D6FE0"/>
          </a:solidFill>
          <a:ln/>
        </p:spPr>
      </p:sp>
      <p:sp>
        <p:nvSpPr>
          <p:cNvPr id="10" name="Text 8"/>
          <p:cNvSpPr/>
          <p:nvPr/>
        </p:nvSpPr>
        <p:spPr>
          <a:xfrm>
            <a:off x="914400" y="3072384"/>
            <a:ext cx="10332720" cy="365760"/>
          </a:xfrm>
          <a:prstGeom prst="rect">
            <a:avLst/>
          </a:prstGeom>
          <a:noFill/>
          <a:ln/>
        </p:spPr>
        <p:txBody>
          <a:bodyPr wrap="square" rtlCol="0" anchor="ctr"/>
          <a:lstStyle/>
          <a:p>
            <a:pPr indent="0" marL="0">
              <a:buNone/>
            </a:pPr>
            <a:r>
              <a:rPr lang="en-US" sz="1500" b="1" dirty="0">
                <a:solidFill>
                  <a:srgbClr val="1B1F3B"/>
                </a:solidFill>
                <a:latin typeface="Georgia" pitchFamily="34" charset="0"/>
                <a:ea typeface="Georgia" pitchFamily="34" charset="-122"/>
                <a:cs typeface="Georgia" pitchFamily="34" charset="-120"/>
              </a:rPr>
              <a:t>Budget du chantier</a:t>
            </a:r>
            <a:endParaRPr lang="en-US" sz="1500" dirty="0"/>
          </a:p>
        </p:txBody>
      </p:sp>
      <p:sp>
        <p:nvSpPr>
          <p:cNvPr id="11" name="Text 9"/>
          <p:cNvSpPr/>
          <p:nvPr/>
        </p:nvSpPr>
        <p:spPr>
          <a:xfrm>
            <a:off x="914400" y="3474720"/>
            <a:ext cx="10332720" cy="1005840"/>
          </a:xfrm>
          <a:prstGeom prst="rect">
            <a:avLst/>
          </a:prstGeom>
          <a:noFill/>
          <a:ln/>
        </p:spPr>
        <p:txBody>
          <a:bodyPr wrap="square" rtlCol="0" anchor="ctr"/>
          <a:lstStyle/>
          <a:p>
            <a:pPr indent="0" marL="0">
              <a:lnSpc>
                <a:spcPts val="1600"/>
              </a:lnSpc>
              <a:buNone/>
            </a:pPr>
            <a:r>
              <a:rPr lang="en-US" sz="1150" dirty="0">
                <a:solidFill>
                  <a:srgbClr val="1B1F3B"/>
                </a:solidFill>
                <a:latin typeface="Segoe UI" pitchFamily="34" charset="0"/>
                <a:ea typeface="Segoe UI" pitchFamily="34" charset="-122"/>
                <a:cs typeface="Segoe UI" pitchFamily="34" charset="-120"/>
              </a:rPr>
              <a:t>Suivi budgétaire estimé/réel par poste (main d'œuvre, fournitures, budget global), avec calcul automatique des dépenses totales et de la marge du chantier à partir de toutes les dépenses enregistrées.</a:t>
            </a:r>
            <a:endParaRPr lang="en-US" sz="1150" dirty="0"/>
          </a:p>
        </p:txBody>
      </p:sp>
      <p:sp>
        <p:nvSpPr>
          <p:cNvPr id="12" name="Text 10"/>
          <p:cNvSpPr/>
          <p:nvPr/>
        </p:nvSpPr>
        <p:spPr>
          <a:xfrm>
            <a:off x="365760" y="6510528"/>
            <a:ext cx="5486400" cy="274320"/>
          </a:xfrm>
          <a:prstGeom prst="rect">
            <a:avLst/>
          </a:prstGeom>
          <a:noFill/>
          <a:ln/>
        </p:spPr>
        <p:txBody>
          <a:bodyPr wrap="square" rtlCol="0" anchor="ctr"/>
          <a:lstStyle/>
          <a:p>
            <a:pPr indent="0" marL="0">
              <a:buNone/>
            </a:pPr>
            <a:r>
              <a:rPr lang="en-US" sz="850" dirty="0">
                <a:solidFill>
                  <a:srgbClr val="8A7C68"/>
                </a:solidFill>
                <a:latin typeface="Segoe UI" pitchFamily="34" charset="0"/>
                <a:ea typeface="Segoe UI" pitchFamily="34" charset="-122"/>
                <a:cs typeface="Segoe UI" pitchFamily="34" charset="-120"/>
              </a:rPr>
              <a:t>Kôji Web — Cahier des charges</a:t>
            </a:r>
            <a:endParaRPr lang="en-US" sz="850" dirty="0"/>
          </a:p>
        </p:txBody>
      </p:sp>
      <p:sp>
        <p:nvSpPr>
          <p:cNvPr id="13" name="Text 11"/>
          <p:cNvSpPr/>
          <p:nvPr/>
        </p:nvSpPr>
        <p:spPr>
          <a:xfrm>
            <a:off x="9601200" y="6510528"/>
            <a:ext cx="2194560" cy="274320"/>
          </a:xfrm>
          <a:prstGeom prst="rect">
            <a:avLst/>
          </a:prstGeom>
          <a:noFill/>
          <a:ln/>
        </p:spPr>
        <p:txBody>
          <a:bodyPr wrap="square" rtlCol="0" anchor="ctr"/>
          <a:lstStyle/>
          <a:p>
            <a:pPr algn="r" indent="0" marL="0">
              <a:buNone/>
            </a:pPr>
            <a:r>
              <a:rPr lang="en-US" sz="850" dirty="0">
                <a:solidFill>
                  <a:srgbClr val="8A7C68"/>
                </a:solidFill>
                <a:latin typeface="Segoe UI" pitchFamily="34" charset="0"/>
                <a:ea typeface="Segoe UI" pitchFamily="34" charset="-122"/>
                <a:cs typeface="Segoe UI" pitchFamily="34" charset="-120"/>
              </a:rPr>
              <a:t>37</a:t>
            </a:r>
            <a:endParaRPr lang="en-US" sz="850"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3108960" cy="365760"/>
          </a:xfrm>
          <a:prstGeom prst="roundRect">
            <a:avLst>
              <a:gd name="adj" fmla="val 50000"/>
            </a:avLst>
          </a:prstGeom>
          <a:solidFill>
            <a:srgbClr val="F7EADF"/>
          </a:solidFill>
          <a:ln/>
        </p:spPr>
      </p:sp>
      <p:sp>
        <p:nvSpPr>
          <p:cNvPr id="3" name="Text 1"/>
          <p:cNvSpPr/>
          <p:nvPr/>
        </p:nvSpPr>
        <p:spPr>
          <a:xfrm>
            <a:off x="640080" y="411480"/>
            <a:ext cx="3108960" cy="365760"/>
          </a:xfrm>
          <a:prstGeom prst="rect">
            <a:avLst/>
          </a:prstGeom>
          <a:noFill/>
          <a:ln/>
        </p:spPr>
        <p:txBody>
          <a:bodyPr wrap="square" rtlCol="0" anchor="ctr"/>
          <a:lstStyle/>
          <a:p>
            <a:pPr algn="ctr" indent="0" marL="0">
              <a:buNone/>
            </a:pPr>
            <a:r>
              <a:rPr lang="en-US" sz="950" b="1" spc="100" kern="0" dirty="0">
                <a:solidFill>
                  <a:srgbClr val="9A7C5C"/>
                </a:solidFill>
                <a:latin typeface="Segoe UI" pitchFamily="34" charset="0"/>
                <a:ea typeface="Segoe UI" pitchFamily="34" charset="-122"/>
                <a:cs typeface="Segoe UI" pitchFamily="34" charset="-120"/>
              </a:rPr>
              <a:t>CHANTIERS</a:t>
            </a:r>
            <a:endParaRPr lang="en-US" sz="950" dirty="0"/>
          </a:p>
        </p:txBody>
      </p:sp>
      <p:sp>
        <p:nvSpPr>
          <p:cNvPr id="4" name="Shape 2"/>
          <p:cNvSpPr/>
          <p:nvPr/>
        </p:nvSpPr>
        <p:spPr>
          <a:xfrm>
            <a:off x="640080" y="1005840"/>
            <a:ext cx="10881360" cy="1737360"/>
          </a:xfrm>
          <a:prstGeom prst="roundRect">
            <a:avLst>
              <a:gd name="adj" fmla="val 3158"/>
            </a:avLst>
          </a:prstGeom>
          <a:solidFill>
            <a:srgbClr val="FFFFFF"/>
          </a:solidFill>
          <a:ln w="12700">
            <a:solidFill>
              <a:srgbClr val="E4DCCB"/>
            </a:solidFill>
            <a:prstDash val="solid"/>
          </a:ln>
        </p:spPr>
      </p:sp>
      <p:sp>
        <p:nvSpPr>
          <p:cNvPr id="5" name="Shape 3"/>
          <p:cNvSpPr/>
          <p:nvPr/>
        </p:nvSpPr>
        <p:spPr>
          <a:xfrm>
            <a:off x="640080" y="1005840"/>
            <a:ext cx="54864" cy="1737360"/>
          </a:xfrm>
          <a:prstGeom prst="rect">
            <a:avLst/>
          </a:prstGeom>
          <a:solidFill>
            <a:srgbClr val="1D6FE0"/>
          </a:solidFill>
          <a:ln/>
        </p:spPr>
      </p:sp>
      <p:sp>
        <p:nvSpPr>
          <p:cNvPr id="6" name="Text 4"/>
          <p:cNvSpPr/>
          <p:nvPr/>
        </p:nvSpPr>
        <p:spPr>
          <a:xfrm>
            <a:off x="914400" y="1133856"/>
            <a:ext cx="10332720" cy="365760"/>
          </a:xfrm>
          <a:prstGeom prst="rect">
            <a:avLst/>
          </a:prstGeom>
          <a:noFill/>
          <a:ln/>
        </p:spPr>
        <p:txBody>
          <a:bodyPr wrap="square" rtlCol="0" anchor="ctr"/>
          <a:lstStyle/>
          <a:p>
            <a:pPr indent="0" marL="0">
              <a:buNone/>
            </a:pPr>
            <a:r>
              <a:rPr lang="en-US" sz="1500" b="1" dirty="0">
                <a:solidFill>
                  <a:srgbClr val="1B1F3B"/>
                </a:solidFill>
                <a:latin typeface="Georgia" pitchFamily="34" charset="0"/>
                <a:ea typeface="Georgia" pitchFamily="34" charset="-122"/>
                <a:cs typeface="Georgia" pitchFamily="34" charset="-120"/>
              </a:rPr>
              <a:t>Documents et messages du chantier</a:t>
            </a:r>
            <a:endParaRPr lang="en-US" sz="1500" dirty="0"/>
          </a:p>
        </p:txBody>
      </p:sp>
      <p:sp>
        <p:nvSpPr>
          <p:cNvPr id="7" name="Text 5"/>
          <p:cNvSpPr/>
          <p:nvPr/>
        </p:nvSpPr>
        <p:spPr>
          <a:xfrm>
            <a:off x="914400" y="1536192"/>
            <a:ext cx="10332720" cy="1005840"/>
          </a:xfrm>
          <a:prstGeom prst="rect">
            <a:avLst/>
          </a:prstGeom>
          <a:noFill/>
          <a:ln/>
        </p:spPr>
        <p:txBody>
          <a:bodyPr wrap="square" rtlCol="0" anchor="ctr"/>
          <a:lstStyle/>
          <a:p>
            <a:pPr indent="0" marL="0">
              <a:lnSpc>
                <a:spcPts val="1600"/>
              </a:lnSpc>
              <a:buNone/>
            </a:pPr>
            <a:r>
              <a:rPr lang="en-US" sz="1150" dirty="0">
                <a:solidFill>
                  <a:srgbClr val="1B1F3B"/>
                </a:solidFill>
                <a:latin typeface="Segoe UI" pitchFamily="34" charset="0"/>
                <a:ea typeface="Segoe UI" pitchFamily="34" charset="-122"/>
                <a:cs typeface="Segoe UI" pitchFamily="34" charset="-120"/>
              </a:rPr>
              <a:t>Documents liés au chantier (photos, factures, notes) et fil de messages avec le client (notes envoyées, réponses du client, pièces jointes).</a:t>
            </a:r>
            <a:endParaRPr lang="en-US" sz="1150" dirty="0"/>
          </a:p>
        </p:txBody>
      </p:sp>
      <p:sp>
        <p:nvSpPr>
          <p:cNvPr id="8" name="Shape 6"/>
          <p:cNvSpPr/>
          <p:nvPr/>
        </p:nvSpPr>
        <p:spPr>
          <a:xfrm>
            <a:off x="640080" y="2944368"/>
            <a:ext cx="10881360" cy="1737360"/>
          </a:xfrm>
          <a:prstGeom prst="roundRect">
            <a:avLst>
              <a:gd name="adj" fmla="val 3158"/>
            </a:avLst>
          </a:prstGeom>
          <a:solidFill>
            <a:srgbClr val="FFFFFF"/>
          </a:solidFill>
          <a:ln w="12700">
            <a:solidFill>
              <a:srgbClr val="E4DCCB"/>
            </a:solidFill>
            <a:prstDash val="solid"/>
          </a:ln>
        </p:spPr>
      </p:sp>
      <p:sp>
        <p:nvSpPr>
          <p:cNvPr id="9" name="Shape 7"/>
          <p:cNvSpPr/>
          <p:nvPr/>
        </p:nvSpPr>
        <p:spPr>
          <a:xfrm>
            <a:off x="640080" y="2944368"/>
            <a:ext cx="54864" cy="1737360"/>
          </a:xfrm>
          <a:prstGeom prst="rect">
            <a:avLst/>
          </a:prstGeom>
          <a:solidFill>
            <a:srgbClr val="1D6FE0"/>
          </a:solidFill>
          <a:ln/>
        </p:spPr>
      </p:sp>
      <p:sp>
        <p:nvSpPr>
          <p:cNvPr id="10" name="Text 8"/>
          <p:cNvSpPr/>
          <p:nvPr/>
        </p:nvSpPr>
        <p:spPr>
          <a:xfrm>
            <a:off x="914400" y="3072384"/>
            <a:ext cx="10332720" cy="365760"/>
          </a:xfrm>
          <a:prstGeom prst="rect">
            <a:avLst/>
          </a:prstGeom>
          <a:noFill/>
          <a:ln/>
        </p:spPr>
        <p:txBody>
          <a:bodyPr wrap="square" rtlCol="0" anchor="ctr"/>
          <a:lstStyle/>
          <a:p>
            <a:pPr indent="0" marL="0">
              <a:buNone/>
            </a:pPr>
            <a:r>
              <a:rPr lang="en-US" sz="1500" b="1" dirty="0">
                <a:solidFill>
                  <a:srgbClr val="1B1F3B"/>
                </a:solidFill>
                <a:latin typeface="Georgia" pitchFamily="34" charset="0"/>
                <a:ea typeface="Georgia" pitchFamily="34" charset="-122"/>
                <a:cs typeface="Georgia" pitchFamily="34" charset="-120"/>
              </a:rPr>
              <a:t>Archivage</a:t>
            </a:r>
            <a:endParaRPr lang="en-US" sz="1500" dirty="0"/>
          </a:p>
        </p:txBody>
      </p:sp>
      <p:sp>
        <p:nvSpPr>
          <p:cNvPr id="11" name="Text 9"/>
          <p:cNvSpPr/>
          <p:nvPr/>
        </p:nvSpPr>
        <p:spPr>
          <a:xfrm>
            <a:off x="914400" y="3474720"/>
            <a:ext cx="10332720" cy="1005840"/>
          </a:xfrm>
          <a:prstGeom prst="rect">
            <a:avLst/>
          </a:prstGeom>
          <a:noFill/>
          <a:ln/>
        </p:spPr>
        <p:txBody>
          <a:bodyPr wrap="square" rtlCol="0" anchor="ctr"/>
          <a:lstStyle/>
          <a:p>
            <a:pPr indent="0" marL="0">
              <a:lnSpc>
                <a:spcPts val="1600"/>
              </a:lnSpc>
              <a:buNone/>
            </a:pPr>
            <a:r>
              <a:rPr lang="en-US" sz="1150" dirty="0">
                <a:solidFill>
                  <a:srgbClr val="1B1F3B"/>
                </a:solidFill>
                <a:latin typeface="Segoe UI" pitchFamily="34" charset="0"/>
                <a:ea typeface="Segoe UI" pitchFamily="34" charset="-122"/>
                <a:cs typeface="Segoe UI" pitchFamily="34" charset="-120"/>
              </a:rPr>
              <a:t>Un chantier terminé peut être archivé, avec conservation de son historique.</a:t>
            </a:r>
            <a:endParaRPr lang="en-US" sz="1150" dirty="0"/>
          </a:p>
        </p:txBody>
      </p:sp>
      <p:sp>
        <p:nvSpPr>
          <p:cNvPr id="12" name="Text 10"/>
          <p:cNvSpPr/>
          <p:nvPr/>
        </p:nvSpPr>
        <p:spPr>
          <a:xfrm>
            <a:off x="365760" y="6510528"/>
            <a:ext cx="5486400" cy="274320"/>
          </a:xfrm>
          <a:prstGeom prst="rect">
            <a:avLst/>
          </a:prstGeom>
          <a:noFill/>
          <a:ln/>
        </p:spPr>
        <p:txBody>
          <a:bodyPr wrap="square" rtlCol="0" anchor="ctr"/>
          <a:lstStyle/>
          <a:p>
            <a:pPr indent="0" marL="0">
              <a:buNone/>
            </a:pPr>
            <a:r>
              <a:rPr lang="en-US" sz="850" dirty="0">
                <a:solidFill>
                  <a:srgbClr val="8A7C68"/>
                </a:solidFill>
                <a:latin typeface="Segoe UI" pitchFamily="34" charset="0"/>
                <a:ea typeface="Segoe UI" pitchFamily="34" charset="-122"/>
                <a:cs typeface="Segoe UI" pitchFamily="34" charset="-120"/>
              </a:rPr>
              <a:t>Kôji Web — Cahier des charges</a:t>
            </a:r>
            <a:endParaRPr lang="en-US" sz="850" dirty="0"/>
          </a:p>
        </p:txBody>
      </p:sp>
      <p:sp>
        <p:nvSpPr>
          <p:cNvPr id="13" name="Text 11"/>
          <p:cNvSpPr/>
          <p:nvPr/>
        </p:nvSpPr>
        <p:spPr>
          <a:xfrm>
            <a:off x="9601200" y="6510528"/>
            <a:ext cx="2194560" cy="274320"/>
          </a:xfrm>
          <a:prstGeom prst="rect">
            <a:avLst/>
          </a:prstGeom>
          <a:noFill/>
          <a:ln/>
        </p:spPr>
        <p:txBody>
          <a:bodyPr wrap="square" rtlCol="0" anchor="ctr"/>
          <a:lstStyle/>
          <a:p>
            <a:pPr algn="r" indent="0" marL="0">
              <a:buNone/>
            </a:pPr>
            <a:r>
              <a:rPr lang="en-US" sz="850" dirty="0">
                <a:solidFill>
                  <a:srgbClr val="8A7C68"/>
                </a:solidFill>
                <a:latin typeface="Segoe UI" pitchFamily="34" charset="0"/>
                <a:ea typeface="Segoe UI" pitchFamily="34" charset="-122"/>
                <a:cs typeface="Segoe UI" pitchFamily="34" charset="-120"/>
              </a:rPr>
              <a:t>38</a:t>
            </a:r>
            <a:endParaRPr lang="en-US" sz="850"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bg>
      <p:bgPr>
        <a:solidFill>
          <a:srgbClr val="0B1030"/>
        </a:solidFill>
      </p:bgPr>
    </p:bg>
    <p:spTree>
      <p:nvGrpSpPr>
        <p:cNvPr id="1" name=""/>
        <p:cNvGrpSpPr/>
        <p:nvPr/>
      </p:nvGrpSpPr>
      <p:grpSpPr>
        <a:xfrm>
          <a:off x="0" y="0"/>
          <a:ext cx="0" cy="0"/>
          <a:chOff x="0" y="0"/>
          <a:chExt cx="0" cy="0"/>
        </a:xfrm>
      </p:grpSpPr>
      <p:sp>
        <p:nvSpPr>
          <p:cNvPr id="2" name="Shape 0"/>
          <p:cNvSpPr/>
          <p:nvPr/>
        </p:nvSpPr>
        <p:spPr>
          <a:xfrm>
            <a:off x="0" y="3246120"/>
            <a:ext cx="12191695" cy="54864"/>
          </a:xfrm>
          <a:prstGeom prst="rect">
            <a:avLst/>
          </a:prstGeom>
          <a:solidFill>
            <a:srgbClr val="C9A96A"/>
          </a:solidFill>
          <a:ln/>
        </p:spPr>
      </p:sp>
      <p:sp>
        <p:nvSpPr>
          <p:cNvPr id="3" name="Text 1"/>
          <p:cNvSpPr/>
          <p:nvPr/>
        </p:nvSpPr>
        <p:spPr>
          <a:xfrm>
            <a:off x="640080" y="1920240"/>
            <a:ext cx="2743200" cy="548640"/>
          </a:xfrm>
          <a:prstGeom prst="rect">
            <a:avLst/>
          </a:prstGeom>
          <a:noFill/>
          <a:ln/>
        </p:spPr>
        <p:txBody>
          <a:bodyPr wrap="square" rtlCol="0" anchor="ctr"/>
          <a:lstStyle/>
          <a:p>
            <a:pPr indent="0" marL="0">
              <a:buNone/>
            </a:pPr>
            <a:r>
              <a:rPr lang="en-US" sz="1500" b="1" dirty="0">
                <a:solidFill>
                  <a:srgbClr val="C9A96A"/>
                </a:solidFill>
                <a:latin typeface="Segoe UI" pitchFamily="34" charset="0"/>
                <a:ea typeface="Segoe UI" pitchFamily="34" charset="-122"/>
                <a:cs typeface="Segoe UI" pitchFamily="34" charset="-120"/>
              </a:rPr>
              <a:t>08</a:t>
            </a:r>
            <a:endParaRPr lang="en-US" sz="1500" dirty="0"/>
          </a:p>
        </p:txBody>
      </p:sp>
      <p:sp>
        <p:nvSpPr>
          <p:cNvPr id="4" name="Text 2"/>
          <p:cNvSpPr/>
          <p:nvPr/>
        </p:nvSpPr>
        <p:spPr>
          <a:xfrm>
            <a:off x="640080" y="2377440"/>
            <a:ext cx="10515600" cy="914400"/>
          </a:xfrm>
          <a:prstGeom prst="rect">
            <a:avLst/>
          </a:prstGeom>
          <a:noFill/>
          <a:ln/>
        </p:spPr>
        <p:txBody>
          <a:bodyPr wrap="square" rtlCol="0" anchor="ctr"/>
          <a:lstStyle/>
          <a:p>
            <a:pPr indent="0" marL="0">
              <a:buNone/>
            </a:pPr>
            <a:r>
              <a:rPr lang="en-US" sz="3400" b="1" dirty="0">
                <a:solidFill>
                  <a:srgbClr val="FFFFFF"/>
                </a:solidFill>
                <a:latin typeface="Georgia" pitchFamily="34" charset="0"/>
                <a:ea typeface="Georgia" pitchFamily="34" charset="-122"/>
                <a:cs typeface="Georgia" pitchFamily="34" charset="-120"/>
              </a:rPr>
              <a:t>Équipe (Ouvriers &amp; Sous-traitants)</a:t>
            </a:r>
            <a:endParaRPr lang="en-US" sz="3400" dirty="0"/>
          </a:p>
        </p:txBody>
      </p:sp>
      <p:sp>
        <p:nvSpPr>
          <p:cNvPr id="5" name="Text 3"/>
          <p:cNvSpPr/>
          <p:nvPr/>
        </p:nvSpPr>
        <p:spPr>
          <a:xfrm>
            <a:off x="640080" y="3429000"/>
            <a:ext cx="10058400" cy="1188720"/>
          </a:xfrm>
          <a:prstGeom prst="rect">
            <a:avLst/>
          </a:prstGeom>
          <a:noFill/>
          <a:ln/>
        </p:spPr>
        <p:txBody>
          <a:bodyPr wrap="square" rtlCol="0" anchor="ctr"/>
          <a:lstStyle/>
          <a:p>
            <a:pPr indent="0" marL="0">
              <a:lnSpc>
                <a:spcPts val="1800"/>
              </a:lnSpc>
              <a:buNone/>
            </a:pPr>
            <a:r>
              <a:rPr lang="en-US" sz="1300" dirty="0">
                <a:solidFill>
                  <a:srgbClr val="C7C9E0"/>
                </a:solidFill>
                <a:latin typeface="Segoe UI" pitchFamily="34" charset="0"/>
                <a:ea typeface="Segoe UI" pitchFamily="34" charset="-122"/>
                <a:cs typeface="Segoe UI" pitchFamily="34" charset="-120"/>
              </a:rPr>
              <a:t>Gestion du personnel de l'entreprise, de ses accès au portail ouvrier, et suivi de ses heures travaillées pour la paie.</a:t>
            </a:r>
            <a:endParaRPr lang="en-US" sz="1300" dirty="0"/>
          </a:p>
        </p:txBody>
      </p:sp>
      <p:sp>
        <p:nvSpPr>
          <p:cNvPr id="6" name="Text 4"/>
          <p:cNvSpPr/>
          <p:nvPr/>
        </p:nvSpPr>
        <p:spPr>
          <a:xfrm>
            <a:off x="365760" y="6510528"/>
            <a:ext cx="5486400" cy="274320"/>
          </a:xfrm>
          <a:prstGeom prst="rect">
            <a:avLst/>
          </a:prstGeom>
          <a:noFill/>
          <a:ln/>
        </p:spPr>
        <p:txBody>
          <a:bodyPr wrap="square" rtlCol="0" anchor="ctr"/>
          <a:lstStyle/>
          <a:p>
            <a:pPr indent="0" marL="0">
              <a:buNone/>
            </a:pPr>
            <a:r>
              <a:rPr lang="en-US" sz="850" dirty="0">
                <a:solidFill>
                  <a:srgbClr val="8A7C68"/>
                </a:solidFill>
                <a:latin typeface="Segoe UI" pitchFamily="34" charset="0"/>
                <a:ea typeface="Segoe UI" pitchFamily="34" charset="-122"/>
                <a:cs typeface="Segoe UI" pitchFamily="34" charset="-120"/>
              </a:rPr>
              <a:t>Kôji Web — Cahier des charges</a:t>
            </a:r>
            <a:endParaRPr lang="en-US" sz="850" dirty="0"/>
          </a:p>
        </p:txBody>
      </p:sp>
      <p:sp>
        <p:nvSpPr>
          <p:cNvPr id="7" name="Text 5"/>
          <p:cNvSpPr/>
          <p:nvPr/>
        </p:nvSpPr>
        <p:spPr>
          <a:xfrm>
            <a:off x="9601200" y="6510528"/>
            <a:ext cx="2194560" cy="274320"/>
          </a:xfrm>
          <a:prstGeom prst="rect">
            <a:avLst/>
          </a:prstGeom>
          <a:noFill/>
          <a:ln/>
        </p:spPr>
        <p:txBody>
          <a:bodyPr wrap="square" rtlCol="0" anchor="ctr"/>
          <a:lstStyle/>
          <a:p>
            <a:pPr algn="r" indent="0" marL="0">
              <a:buNone/>
            </a:pPr>
            <a:r>
              <a:rPr lang="en-US" sz="850" dirty="0">
                <a:solidFill>
                  <a:srgbClr val="8A7C68"/>
                </a:solidFill>
                <a:latin typeface="Segoe UI" pitchFamily="34" charset="0"/>
                <a:ea typeface="Segoe UI" pitchFamily="34" charset="-122"/>
                <a:cs typeface="Segoe UI" pitchFamily="34" charset="-120"/>
              </a:rPr>
              <a:t>39</a:t>
            </a:r>
            <a:endParaRPr lang="en-US" sz="850"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3108960" cy="365760"/>
          </a:xfrm>
          <a:prstGeom prst="roundRect">
            <a:avLst>
              <a:gd name="adj" fmla="val 50000"/>
            </a:avLst>
          </a:prstGeom>
          <a:solidFill>
            <a:srgbClr val="F7EADF"/>
          </a:solidFill>
          <a:ln/>
        </p:spPr>
      </p:sp>
      <p:sp>
        <p:nvSpPr>
          <p:cNvPr id="3" name="Text 1"/>
          <p:cNvSpPr/>
          <p:nvPr/>
        </p:nvSpPr>
        <p:spPr>
          <a:xfrm>
            <a:off x="640080" y="411480"/>
            <a:ext cx="3108960" cy="365760"/>
          </a:xfrm>
          <a:prstGeom prst="rect">
            <a:avLst/>
          </a:prstGeom>
          <a:noFill/>
          <a:ln/>
        </p:spPr>
        <p:txBody>
          <a:bodyPr wrap="square" rtlCol="0" anchor="ctr"/>
          <a:lstStyle/>
          <a:p>
            <a:pPr algn="ctr" indent="0" marL="0">
              <a:buNone/>
            </a:pPr>
            <a:r>
              <a:rPr lang="en-US" sz="950" b="1" spc="100" kern="0" dirty="0">
                <a:solidFill>
                  <a:srgbClr val="9A7C5C"/>
                </a:solidFill>
                <a:latin typeface="Segoe UI" pitchFamily="34" charset="0"/>
                <a:ea typeface="Segoe UI" pitchFamily="34" charset="-122"/>
                <a:cs typeface="Segoe UI" pitchFamily="34" charset="-120"/>
              </a:rPr>
              <a:t>ÉQUIPE (OUVRIERS &amp; SOUS-TRAITANTS)</a:t>
            </a:r>
            <a:endParaRPr lang="en-US" sz="950" dirty="0"/>
          </a:p>
        </p:txBody>
      </p:sp>
      <p:sp>
        <p:nvSpPr>
          <p:cNvPr id="4" name="Shape 2"/>
          <p:cNvSpPr/>
          <p:nvPr/>
        </p:nvSpPr>
        <p:spPr>
          <a:xfrm>
            <a:off x="640080" y="1005840"/>
            <a:ext cx="10881360" cy="2606040"/>
          </a:xfrm>
          <a:prstGeom prst="roundRect">
            <a:avLst>
              <a:gd name="adj" fmla="val 2105"/>
            </a:avLst>
          </a:prstGeom>
          <a:solidFill>
            <a:srgbClr val="FFFFFF"/>
          </a:solidFill>
          <a:ln w="12700">
            <a:solidFill>
              <a:srgbClr val="E4DCCB"/>
            </a:solidFill>
            <a:prstDash val="solid"/>
          </a:ln>
        </p:spPr>
      </p:sp>
      <p:sp>
        <p:nvSpPr>
          <p:cNvPr id="5" name="Shape 3"/>
          <p:cNvSpPr/>
          <p:nvPr/>
        </p:nvSpPr>
        <p:spPr>
          <a:xfrm>
            <a:off x="640080" y="1005840"/>
            <a:ext cx="54864" cy="2606040"/>
          </a:xfrm>
          <a:prstGeom prst="rect">
            <a:avLst/>
          </a:prstGeom>
          <a:solidFill>
            <a:srgbClr val="1D6FE0"/>
          </a:solidFill>
          <a:ln/>
        </p:spPr>
      </p:sp>
      <p:sp>
        <p:nvSpPr>
          <p:cNvPr id="6" name="Text 4"/>
          <p:cNvSpPr/>
          <p:nvPr/>
        </p:nvSpPr>
        <p:spPr>
          <a:xfrm>
            <a:off x="914400" y="1133856"/>
            <a:ext cx="10332720" cy="365760"/>
          </a:xfrm>
          <a:prstGeom prst="rect">
            <a:avLst/>
          </a:prstGeom>
          <a:noFill/>
          <a:ln/>
        </p:spPr>
        <p:txBody>
          <a:bodyPr wrap="square" rtlCol="0" anchor="ctr"/>
          <a:lstStyle/>
          <a:p>
            <a:pPr indent="0" marL="0">
              <a:buNone/>
            </a:pPr>
            <a:r>
              <a:rPr lang="en-US" sz="1500" b="1" dirty="0">
                <a:solidFill>
                  <a:srgbClr val="1B1F3B"/>
                </a:solidFill>
                <a:latin typeface="Georgia" pitchFamily="34" charset="0"/>
                <a:ea typeface="Georgia" pitchFamily="34" charset="-122"/>
                <a:cs typeface="Georgia" pitchFamily="34" charset="-120"/>
              </a:rPr>
              <a:t>Fiches Ouvrier / Sous-traitant</a:t>
            </a:r>
            <a:endParaRPr lang="en-US" sz="1500" dirty="0"/>
          </a:p>
        </p:txBody>
      </p:sp>
      <p:sp>
        <p:nvSpPr>
          <p:cNvPr id="7" name="Text 5"/>
          <p:cNvSpPr/>
          <p:nvPr/>
        </p:nvSpPr>
        <p:spPr>
          <a:xfrm>
            <a:off x="914400" y="1536192"/>
            <a:ext cx="10332720" cy="1051560"/>
          </a:xfrm>
          <a:prstGeom prst="rect">
            <a:avLst/>
          </a:prstGeom>
          <a:noFill/>
          <a:ln/>
        </p:spPr>
        <p:txBody>
          <a:bodyPr wrap="square" rtlCol="0" anchor="ctr"/>
          <a:lstStyle/>
          <a:p>
            <a:pPr indent="0" marL="0">
              <a:lnSpc>
                <a:spcPts val="1600"/>
              </a:lnSpc>
              <a:buNone/>
            </a:pPr>
            <a:r>
              <a:rPr lang="en-US" sz="1150" dirty="0">
                <a:solidFill>
                  <a:srgbClr val="1B1F3B"/>
                </a:solidFill>
                <a:latin typeface="Segoe UI" pitchFamily="34" charset="0"/>
                <a:ea typeface="Segoe UI" pitchFamily="34" charset="-122"/>
                <a:cs typeface="Segoe UI" pitchFamily="34" charset="-120"/>
              </a:rPr>
              <a:t>Création et édition d'une fiche personnel : coordonnées, métier, disponibilité, taux horaire, photo ; pour un sous-traitant, informations d'entreprise (SIRET) et liaison à un ou plusieurs chantiers/devis/ouvrages.</a:t>
            </a:r>
            <a:endParaRPr lang="en-US" sz="1150" dirty="0"/>
          </a:p>
        </p:txBody>
      </p:sp>
      <p:sp>
        <p:nvSpPr>
          <p:cNvPr id="8" name="Text 6"/>
          <p:cNvSpPr/>
          <p:nvPr/>
        </p:nvSpPr>
        <p:spPr>
          <a:xfrm>
            <a:off x="914400" y="2743200"/>
            <a:ext cx="10332720" cy="228600"/>
          </a:xfrm>
          <a:prstGeom prst="rect">
            <a:avLst/>
          </a:prstGeom>
          <a:noFill/>
          <a:ln/>
        </p:spPr>
        <p:txBody>
          <a:bodyPr wrap="square" rtlCol="0" anchor="ctr"/>
          <a:lstStyle/>
          <a:p>
            <a:pPr indent="0" marL="0">
              <a:buNone/>
            </a:pPr>
            <a:r>
              <a:rPr lang="en-US" sz="800" b="1" spc="100" kern="0" dirty="0">
                <a:solidFill>
                  <a:srgbClr val="9A7C5C"/>
                </a:solidFill>
                <a:latin typeface="Segoe UI" pitchFamily="34" charset="0"/>
                <a:ea typeface="Segoe UI" pitchFamily="34" charset="-122"/>
                <a:cs typeface="Segoe UI" pitchFamily="34" charset="-120"/>
              </a:rPr>
              <a:t>RÉALISATION TECHNIQUE</a:t>
            </a:r>
            <a:endParaRPr lang="en-US" sz="800" dirty="0"/>
          </a:p>
        </p:txBody>
      </p:sp>
      <p:sp>
        <p:nvSpPr>
          <p:cNvPr id="9" name="Text 7"/>
          <p:cNvSpPr/>
          <p:nvPr/>
        </p:nvSpPr>
        <p:spPr>
          <a:xfrm>
            <a:off x="914400" y="2990088"/>
            <a:ext cx="10332720" cy="548640"/>
          </a:xfrm>
          <a:prstGeom prst="rect">
            <a:avLst/>
          </a:prstGeom>
          <a:noFill/>
          <a:ln/>
        </p:spPr>
        <p:txBody>
          <a:bodyPr wrap="square" rtlCol="0" anchor="ctr"/>
          <a:lstStyle/>
          <a:p>
            <a:pPr indent="0" marL="0">
              <a:lnSpc>
                <a:spcPts val="1400"/>
              </a:lnSpc>
              <a:buNone/>
            </a:pPr>
            <a:r>
              <a:rPr lang="en-US" sz="1000" i="1" dirty="0">
                <a:solidFill>
                  <a:srgbClr val="8A7C68"/>
                </a:solidFill>
                <a:latin typeface="Segoe UI" pitchFamily="34" charset="0"/>
                <a:ea typeface="Segoe UI" pitchFamily="34" charset="-122"/>
                <a:cs typeface="Segoe UI" pitchFamily="34" charset="-120"/>
              </a:rPr>
              <a:t>Page /equipe, API /api/workers.</a:t>
            </a:r>
            <a:endParaRPr lang="en-US" sz="1000" dirty="0"/>
          </a:p>
        </p:txBody>
      </p:sp>
      <p:sp>
        <p:nvSpPr>
          <p:cNvPr id="10" name="Shape 8"/>
          <p:cNvSpPr/>
          <p:nvPr/>
        </p:nvSpPr>
        <p:spPr>
          <a:xfrm>
            <a:off x="640080" y="3813048"/>
            <a:ext cx="10881360" cy="1737360"/>
          </a:xfrm>
          <a:prstGeom prst="roundRect">
            <a:avLst>
              <a:gd name="adj" fmla="val 3158"/>
            </a:avLst>
          </a:prstGeom>
          <a:solidFill>
            <a:srgbClr val="FFFFFF"/>
          </a:solidFill>
          <a:ln w="12700">
            <a:solidFill>
              <a:srgbClr val="E4DCCB"/>
            </a:solidFill>
            <a:prstDash val="solid"/>
          </a:ln>
        </p:spPr>
      </p:sp>
      <p:sp>
        <p:nvSpPr>
          <p:cNvPr id="11" name="Shape 9"/>
          <p:cNvSpPr/>
          <p:nvPr/>
        </p:nvSpPr>
        <p:spPr>
          <a:xfrm>
            <a:off x="640080" y="3813048"/>
            <a:ext cx="54864" cy="1737360"/>
          </a:xfrm>
          <a:prstGeom prst="rect">
            <a:avLst/>
          </a:prstGeom>
          <a:solidFill>
            <a:srgbClr val="1D6FE0"/>
          </a:solidFill>
          <a:ln/>
        </p:spPr>
      </p:sp>
      <p:sp>
        <p:nvSpPr>
          <p:cNvPr id="12" name="Text 10"/>
          <p:cNvSpPr/>
          <p:nvPr/>
        </p:nvSpPr>
        <p:spPr>
          <a:xfrm>
            <a:off x="914400" y="3941064"/>
            <a:ext cx="10332720" cy="365760"/>
          </a:xfrm>
          <a:prstGeom prst="rect">
            <a:avLst/>
          </a:prstGeom>
          <a:noFill/>
          <a:ln/>
        </p:spPr>
        <p:txBody>
          <a:bodyPr wrap="square" rtlCol="0" anchor="ctr"/>
          <a:lstStyle/>
          <a:p>
            <a:pPr indent="0" marL="0">
              <a:buNone/>
            </a:pPr>
            <a:r>
              <a:rPr lang="en-US" sz="1500" b="1" dirty="0">
                <a:solidFill>
                  <a:srgbClr val="1B1F3B"/>
                </a:solidFill>
                <a:latin typeface="Georgia" pitchFamily="34" charset="0"/>
                <a:ea typeface="Georgia" pitchFamily="34" charset="-122"/>
                <a:cs typeface="Georgia" pitchFamily="34" charset="-120"/>
              </a:rPr>
              <a:t>Carte d'ajout</a:t>
            </a:r>
            <a:endParaRPr lang="en-US" sz="1500" dirty="0"/>
          </a:p>
        </p:txBody>
      </p:sp>
      <p:sp>
        <p:nvSpPr>
          <p:cNvPr id="13" name="Text 11"/>
          <p:cNvSpPr/>
          <p:nvPr/>
        </p:nvSpPr>
        <p:spPr>
          <a:xfrm>
            <a:off x="914400" y="4343400"/>
            <a:ext cx="10332720" cy="1005840"/>
          </a:xfrm>
          <a:prstGeom prst="rect">
            <a:avLst/>
          </a:prstGeom>
          <a:noFill/>
          <a:ln/>
        </p:spPr>
        <p:txBody>
          <a:bodyPr wrap="square" rtlCol="0" anchor="ctr"/>
          <a:lstStyle/>
          <a:p>
            <a:pPr indent="0" marL="0">
              <a:lnSpc>
                <a:spcPts val="1600"/>
              </a:lnSpc>
              <a:buNone/>
            </a:pPr>
            <a:r>
              <a:rPr lang="en-US" sz="1150" dirty="0">
                <a:solidFill>
                  <a:srgbClr val="1B1F3B"/>
                </a:solidFill>
                <a:latin typeface="Segoe UI" pitchFamily="34" charset="0"/>
                <a:ea typeface="Segoe UI" pitchFamily="34" charset="-122"/>
                <a:cs typeface="Segoe UI" pitchFamily="34" charset="-120"/>
              </a:rPr>
              <a:t>Bouton flottant "+" ouvrant une carte avec 3 choix : Ouvrier, Sous-traitant, ou Planning.</a:t>
            </a:r>
            <a:endParaRPr lang="en-US" sz="1150" dirty="0"/>
          </a:p>
        </p:txBody>
      </p:sp>
      <p:sp>
        <p:nvSpPr>
          <p:cNvPr id="14" name="Text 12"/>
          <p:cNvSpPr/>
          <p:nvPr/>
        </p:nvSpPr>
        <p:spPr>
          <a:xfrm>
            <a:off x="365760" y="6510528"/>
            <a:ext cx="5486400" cy="274320"/>
          </a:xfrm>
          <a:prstGeom prst="rect">
            <a:avLst/>
          </a:prstGeom>
          <a:noFill/>
          <a:ln/>
        </p:spPr>
        <p:txBody>
          <a:bodyPr wrap="square" rtlCol="0" anchor="ctr"/>
          <a:lstStyle/>
          <a:p>
            <a:pPr indent="0" marL="0">
              <a:buNone/>
            </a:pPr>
            <a:r>
              <a:rPr lang="en-US" sz="850" dirty="0">
                <a:solidFill>
                  <a:srgbClr val="8A7C68"/>
                </a:solidFill>
                <a:latin typeface="Segoe UI" pitchFamily="34" charset="0"/>
                <a:ea typeface="Segoe UI" pitchFamily="34" charset="-122"/>
                <a:cs typeface="Segoe UI" pitchFamily="34" charset="-120"/>
              </a:rPr>
              <a:t>Kôji Web — Cahier des charges</a:t>
            </a:r>
            <a:endParaRPr lang="en-US" sz="850" dirty="0"/>
          </a:p>
        </p:txBody>
      </p:sp>
      <p:sp>
        <p:nvSpPr>
          <p:cNvPr id="15" name="Text 13"/>
          <p:cNvSpPr/>
          <p:nvPr/>
        </p:nvSpPr>
        <p:spPr>
          <a:xfrm>
            <a:off x="9601200" y="6510528"/>
            <a:ext cx="2194560" cy="274320"/>
          </a:xfrm>
          <a:prstGeom prst="rect">
            <a:avLst/>
          </a:prstGeom>
          <a:noFill/>
          <a:ln/>
        </p:spPr>
        <p:txBody>
          <a:bodyPr wrap="square" rtlCol="0" anchor="ctr"/>
          <a:lstStyle/>
          <a:p>
            <a:pPr algn="r" indent="0" marL="0">
              <a:buNone/>
            </a:pPr>
            <a:r>
              <a:rPr lang="en-US" sz="850" dirty="0">
                <a:solidFill>
                  <a:srgbClr val="8A7C68"/>
                </a:solidFill>
                <a:latin typeface="Segoe UI" pitchFamily="34" charset="0"/>
                <a:ea typeface="Segoe UI" pitchFamily="34" charset="-122"/>
                <a:cs typeface="Segoe UI" pitchFamily="34" charset="-120"/>
              </a:rPr>
              <a:t>40</a:t>
            </a:r>
            <a:endParaRPr lang="en-US" sz="850"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3108960" cy="365760"/>
          </a:xfrm>
          <a:prstGeom prst="roundRect">
            <a:avLst>
              <a:gd name="adj" fmla="val 50000"/>
            </a:avLst>
          </a:prstGeom>
          <a:solidFill>
            <a:srgbClr val="F7EADF"/>
          </a:solidFill>
          <a:ln/>
        </p:spPr>
      </p:sp>
      <p:sp>
        <p:nvSpPr>
          <p:cNvPr id="3" name="Text 1"/>
          <p:cNvSpPr/>
          <p:nvPr/>
        </p:nvSpPr>
        <p:spPr>
          <a:xfrm>
            <a:off x="640080" y="411480"/>
            <a:ext cx="3108960" cy="365760"/>
          </a:xfrm>
          <a:prstGeom prst="rect">
            <a:avLst/>
          </a:prstGeom>
          <a:noFill/>
          <a:ln/>
        </p:spPr>
        <p:txBody>
          <a:bodyPr wrap="square" rtlCol="0" anchor="ctr"/>
          <a:lstStyle/>
          <a:p>
            <a:pPr algn="ctr" indent="0" marL="0">
              <a:buNone/>
            </a:pPr>
            <a:r>
              <a:rPr lang="en-US" sz="950" b="1" spc="100" kern="0" dirty="0">
                <a:solidFill>
                  <a:srgbClr val="9A7C5C"/>
                </a:solidFill>
                <a:latin typeface="Segoe UI" pitchFamily="34" charset="0"/>
                <a:ea typeface="Segoe UI" pitchFamily="34" charset="-122"/>
                <a:cs typeface="Segoe UI" pitchFamily="34" charset="-120"/>
              </a:rPr>
              <a:t>ÉQUIPE (OUVRIERS &amp; SOUS-TRAITANTS)</a:t>
            </a:r>
            <a:endParaRPr lang="en-US" sz="950" dirty="0"/>
          </a:p>
        </p:txBody>
      </p:sp>
      <p:sp>
        <p:nvSpPr>
          <p:cNvPr id="4" name="Shape 2"/>
          <p:cNvSpPr/>
          <p:nvPr/>
        </p:nvSpPr>
        <p:spPr>
          <a:xfrm>
            <a:off x="640080" y="1005840"/>
            <a:ext cx="10881360" cy="1737360"/>
          </a:xfrm>
          <a:prstGeom prst="roundRect">
            <a:avLst>
              <a:gd name="adj" fmla="val 3158"/>
            </a:avLst>
          </a:prstGeom>
          <a:solidFill>
            <a:srgbClr val="FFFFFF"/>
          </a:solidFill>
          <a:ln w="12700">
            <a:solidFill>
              <a:srgbClr val="E4DCCB"/>
            </a:solidFill>
            <a:prstDash val="solid"/>
          </a:ln>
        </p:spPr>
      </p:sp>
      <p:sp>
        <p:nvSpPr>
          <p:cNvPr id="5" name="Shape 3"/>
          <p:cNvSpPr/>
          <p:nvPr/>
        </p:nvSpPr>
        <p:spPr>
          <a:xfrm>
            <a:off x="640080" y="1005840"/>
            <a:ext cx="54864" cy="1737360"/>
          </a:xfrm>
          <a:prstGeom prst="rect">
            <a:avLst/>
          </a:prstGeom>
          <a:solidFill>
            <a:srgbClr val="1D6FE0"/>
          </a:solidFill>
          <a:ln/>
        </p:spPr>
      </p:sp>
      <p:sp>
        <p:nvSpPr>
          <p:cNvPr id="6" name="Text 4"/>
          <p:cNvSpPr/>
          <p:nvPr/>
        </p:nvSpPr>
        <p:spPr>
          <a:xfrm>
            <a:off x="914400" y="1133856"/>
            <a:ext cx="10332720" cy="365760"/>
          </a:xfrm>
          <a:prstGeom prst="rect">
            <a:avLst/>
          </a:prstGeom>
          <a:noFill/>
          <a:ln/>
        </p:spPr>
        <p:txBody>
          <a:bodyPr wrap="square" rtlCol="0" anchor="ctr"/>
          <a:lstStyle/>
          <a:p>
            <a:pPr indent="0" marL="0">
              <a:buNone/>
            </a:pPr>
            <a:r>
              <a:rPr lang="en-US" sz="1500" b="1" dirty="0">
                <a:solidFill>
                  <a:srgbClr val="1B1F3B"/>
                </a:solidFill>
                <a:latin typeface="Georgia" pitchFamily="34" charset="0"/>
                <a:ea typeface="Georgia" pitchFamily="34" charset="-122"/>
                <a:cs typeface="Georgia" pitchFamily="34" charset="-120"/>
              </a:rPr>
              <a:t>Accès au portail ouvrier</a:t>
            </a:r>
            <a:endParaRPr lang="en-US" sz="1500" dirty="0"/>
          </a:p>
        </p:txBody>
      </p:sp>
      <p:sp>
        <p:nvSpPr>
          <p:cNvPr id="7" name="Text 5"/>
          <p:cNvSpPr/>
          <p:nvPr/>
        </p:nvSpPr>
        <p:spPr>
          <a:xfrm>
            <a:off x="914400" y="1536192"/>
            <a:ext cx="10332720" cy="1005840"/>
          </a:xfrm>
          <a:prstGeom prst="rect">
            <a:avLst/>
          </a:prstGeom>
          <a:noFill/>
          <a:ln/>
        </p:spPr>
        <p:txBody>
          <a:bodyPr wrap="square" rtlCol="0" anchor="ctr"/>
          <a:lstStyle/>
          <a:p>
            <a:pPr indent="0" marL="0">
              <a:lnSpc>
                <a:spcPts val="1600"/>
              </a:lnSpc>
              <a:buNone/>
            </a:pPr>
            <a:r>
              <a:rPr lang="en-US" sz="1150" dirty="0">
                <a:solidFill>
                  <a:srgbClr val="1B1F3B"/>
                </a:solidFill>
                <a:latin typeface="Segoe UI" pitchFamily="34" charset="0"/>
                <a:ea typeface="Segoe UI" pitchFamily="34" charset="-122"/>
                <a:cs typeface="Segoe UI" pitchFamily="34" charset="-120"/>
              </a:rPr>
              <a:t>Génération d'un identifiant et d'un mot de passe provisoire pour que l'ouvrier accède à son propre portail, avec possibilité de régénérer les identifiants et d'activer/désactiver l'accès.</a:t>
            </a:r>
            <a:endParaRPr lang="en-US" sz="1150" dirty="0"/>
          </a:p>
        </p:txBody>
      </p:sp>
      <p:sp>
        <p:nvSpPr>
          <p:cNvPr id="8" name="Shape 6"/>
          <p:cNvSpPr/>
          <p:nvPr/>
        </p:nvSpPr>
        <p:spPr>
          <a:xfrm>
            <a:off x="640080" y="2944368"/>
            <a:ext cx="10881360" cy="2606040"/>
          </a:xfrm>
          <a:prstGeom prst="roundRect">
            <a:avLst>
              <a:gd name="adj" fmla="val 2105"/>
            </a:avLst>
          </a:prstGeom>
          <a:solidFill>
            <a:srgbClr val="FFFFFF"/>
          </a:solidFill>
          <a:ln w="12700">
            <a:solidFill>
              <a:srgbClr val="E4DCCB"/>
            </a:solidFill>
            <a:prstDash val="solid"/>
          </a:ln>
        </p:spPr>
      </p:sp>
      <p:sp>
        <p:nvSpPr>
          <p:cNvPr id="9" name="Shape 7"/>
          <p:cNvSpPr/>
          <p:nvPr/>
        </p:nvSpPr>
        <p:spPr>
          <a:xfrm>
            <a:off x="640080" y="2944368"/>
            <a:ext cx="54864" cy="2606040"/>
          </a:xfrm>
          <a:prstGeom prst="rect">
            <a:avLst/>
          </a:prstGeom>
          <a:solidFill>
            <a:srgbClr val="1D6FE0"/>
          </a:solidFill>
          <a:ln/>
        </p:spPr>
      </p:sp>
      <p:sp>
        <p:nvSpPr>
          <p:cNvPr id="10" name="Text 8"/>
          <p:cNvSpPr/>
          <p:nvPr/>
        </p:nvSpPr>
        <p:spPr>
          <a:xfrm>
            <a:off x="914400" y="3072384"/>
            <a:ext cx="10332720" cy="365760"/>
          </a:xfrm>
          <a:prstGeom prst="rect">
            <a:avLst/>
          </a:prstGeom>
          <a:noFill/>
          <a:ln/>
        </p:spPr>
        <p:txBody>
          <a:bodyPr wrap="square" rtlCol="0" anchor="ctr"/>
          <a:lstStyle/>
          <a:p>
            <a:pPr indent="0" marL="0">
              <a:buNone/>
            </a:pPr>
            <a:r>
              <a:rPr lang="en-US" sz="1500" b="1" dirty="0">
                <a:solidFill>
                  <a:srgbClr val="1B1F3B"/>
                </a:solidFill>
                <a:latin typeface="Georgia" pitchFamily="34" charset="0"/>
                <a:ea typeface="Georgia" pitchFamily="34" charset="-122"/>
                <a:cs typeface="Georgia" pitchFamily="34" charset="-120"/>
              </a:rPr>
              <a:t>Planning / pointage des heures</a:t>
            </a:r>
            <a:endParaRPr lang="en-US" sz="1500" dirty="0"/>
          </a:p>
        </p:txBody>
      </p:sp>
      <p:sp>
        <p:nvSpPr>
          <p:cNvPr id="11" name="Text 9"/>
          <p:cNvSpPr/>
          <p:nvPr/>
        </p:nvSpPr>
        <p:spPr>
          <a:xfrm>
            <a:off x="914400" y="3474720"/>
            <a:ext cx="10332720" cy="1051560"/>
          </a:xfrm>
          <a:prstGeom prst="rect">
            <a:avLst/>
          </a:prstGeom>
          <a:noFill/>
          <a:ln/>
        </p:spPr>
        <p:txBody>
          <a:bodyPr wrap="square" rtlCol="0" anchor="ctr"/>
          <a:lstStyle/>
          <a:p>
            <a:pPr indent="0" marL="0">
              <a:lnSpc>
                <a:spcPts val="1600"/>
              </a:lnSpc>
              <a:buNone/>
            </a:pPr>
            <a:r>
              <a:rPr lang="en-US" sz="1150" dirty="0">
                <a:solidFill>
                  <a:srgbClr val="1B1F3B"/>
                </a:solidFill>
                <a:latin typeface="Segoe UI" pitchFamily="34" charset="0"/>
                <a:ea typeface="Segoe UI" pitchFamily="34" charset="-122"/>
                <a:cs typeface="Segoe UI" pitchFamily="34" charset="-120"/>
              </a:rPr>
              <a:t>Suivi hebdomadaire des heures par ouvrier, avec 6 types de saisie possibles : heures de travail, jour de travail, forfait, ouvrage, passage, déplacement, chacun avec une date et un montant.</a:t>
            </a:r>
            <a:endParaRPr lang="en-US" sz="1150" dirty="0"/>
          </a:p>
        </p:txBody>
      </p:sp>
      <p:sp>
        <p:nvSpPr>
          <p:cNvPr id="12" name="Text 10"/>
          <p:cNvSpPr/>
          <p:nvPr/>
        </p:nvSpPr>
        <p:spPr>
          <a:xfrm>
            <a:off x="914400" y="4681728"/>
            <a:ext cx="10332720" cy="228600"/>
          </a:xfrm>
          <a:prstGeom prst="rect">
            <a:avLst/>
          </a:prstGeom>
          <a:noFill/>
          <a:ln/>
        </p:spPr>
        <p:txBody>
          <a:bodyPr wrap="square" rtlCol="0" anchor="ctr"/>
          <a:lstStyle/>
          <a:p>
            <a:pPr indent="0" marL="0">
              <a:buNone/>
            </a:pPr>
            <a:r>
              <a:rPr lang="en-US" sz="800" b="1" spc="100" kern="0" dirty="0">
                <a:solidFill>
                  <a:srgbClr val="9A7C5C"/>
                </a:solidFill>
                <a:latin typeface="Segoe UI" pitchFamily="34" charset="0"/>
                <a:ea typeface="Segoe UI" pitchFamily="34" charset="-122"/>
                <a:cs typeface="Segoe UI" pitchFamily="34" charset="-120"/>
              </a:rPr>
              <a:t>RÉALISATION TECHNIQUE</a:t>
            </a:r>
            <a:endParaRPr lang="en-US" sz="800" dirty="0"/>
          </a:p>
        </p:txBody>
      </p:sp>
      <p:sp>
        <p:nvSpPr>
          <p:cNvPr id="13" name="Text 11"/>
          <p:cNvSpPr/>
          <p:nvPr/>
        </p:nvSpPr>
        <p:spPr>
          <a:xfrm>
            <a:off x="914400" y="4928616"/>
            <a:ext cx="10332720" cy="548640"/>
          </a:xfrm>
          <a:prstGeom prst="rect">
            <a:avLst/>
          </a:prstGeom>
          <a:noFill/>
          <a:ln/>
        </p:spPr>
        <p:txBody>
          <a:bodyPr wrap="square" rtlCol="0" anchor="ctr"/>
          <a:lstStyle/>
          <a:p>
            <a:pPr indent="0" marL="0">
              <a:lnSpc>
                <a:spcPts val="1400"/>
              </a:lnSpc>
              <a:buNone/>
            </a:pPr>
            <a:r>
              <a:rPr lang="en-US" sz="1000" i="1" dirty="0">
                <a:solidFill>
                  <a:srgbClr val="8A7C68"/>
                </a:solidFill>
                <a:latin typeface="Segoe UI" pitchFamily="34" charset="0"/>
                <a:ea typeface="Segoe UI" pitchFamily="34" charset="-122"/>
                <a:cs typeface="Segoe UI" pitchFamily="34" charset="-120"/>
              </a:rPr>
              <a:t>API /api/attendance ; le montant des heures de travail est calculé automatiquement à partir du taux horaire de l'ouvrier.</a:t>
            </a:r>
            <a:endParaRPr lang="en-US" sz="1000" dirty="0"/>
          </a:p>
        </p:txBody>
      </p:sp>
      <p:sp>
        <p:nvSpPr>
          <p:cNvPr id="14" name="Text 12"/>
          <p:cNvSpPr/>
          <p:nvPr/>
        </p:nvSpPr>
        <p:spPr>
          <a:xfrm>
            <a:off x="365760" y="6510528"/>
            <a:ext cx="5486400" cy="274320"/>
          </a:xfrm>
          <a:prstGeom prst="rect">
            <a:avLst/>
          </a:prstGeom>
          <a:noFill/>
          <a:ln/>
        </p:spPr>
        <p:txBody>
          <a:bodyPr wrap="square" rtlCol="0" anchor="ctr"/>
          <a:lstStyle/>
          <a:p>
            <a:pPr indent="0" marL="0">
              <a:buNone/>
            </a:pPr>
            <a:r>
              <a:rPr lang="en-US" sz="850" dirty="0">
                <a:solidFill>
                  <a:srgbClr val="8A7C68"/>
                </a:solidFill>
                <a:latin typeface="Segoe UI" pitchFamily="34" charset="0"/>
                <a:ea typeface="Segoe UI" pitchFamily="34" charset="-122"/>
                <a:cs typeface="Segoe UI" pitchFamily="34" charset="-120"/>
              </a:rPr>
              <a:t>Kôji Web — Cahier des charges</a:t>
            </a:r>
            <a:endParaRPr lang="en-US" sz="850" dirty="0"/>
          </a:p>
        </p:txBody>
      </p:sp>
      <p:sp>
        <p:nvSpPr>
          <p:cNvPr id="15" name="Text 13"/>
          <p:cNvSpPr/>
          <p:nvPr/>
        </p:nvSpPr>
        <p:spPr>
          <a:xfrm>
            <a:off x="9601200" y="6510528"/>
            <a:ext cx="2194560" cy="274320"/>
          </a:xfrm>
          <a:prstGeom prst="rect">
            <a:avLst/>
          </a:prstGeom>
          <a:noFill/>
          <a:ln/>
        </p:spPr>
        <p:txBody>
          <a:bodyPr wrap="square" rtlCol="0" anchor="ctr"/>
          <a:lstStyle/>
          <a:p>
            <a:pPr algn="r" indent="0" marL="0">
              <a:buNone/>
            </a:pPr>
            <a:r>
              <a:rPr lang="en-US" sz="850" dirty="0">
                <a:solidFill>
                  <a:srgbClr val="8A7C68"/>
                </a:solidFill>
                <a:latin typeface="Segoe UI" pitchFamily="34" charset="0"/>
                <a:ea typeface="Segoe UI" pitchFamily="34" charset="-122"/>
                <a:cs typeface="Segoe UI" pitchFamily="34" charset="-120"/>
              </a:rPr>
              <a:t>41</a:t>
            </a:r>
            <a:endParaRPr lang="en-US" sz="850"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3108960" cy="365760"/>
          </a:xfrm>
          <a:prstGeom prst="roundRect">
            <a:avLst>
              <a:gd name="adj" fmla="val 50000"/>
            </a:avLst>
          </a:prstGeom>
          <a:solidFill>
            <a:srgbClr val="F7EADF"/>
          </a:solidFill>
          <a:ln/>
        </p:spPr>
      </p:sp>
      <p:sp>
        <p:nvSpPr>
          <p:cNvPr id="3" name="Text 1"/>
          <p:cNvSpPr/>
          <p:nvPr/>
        </p:nvSpPr>
        <p:spPr>
          <a:xfrm>
            <a:off x="640080" y="411480"/>
            <a:ext cx="3108960" cy="365760"/>
          </a:xfrm>
          <a:prstGeom prst="rect">
            <a:avLst/>
          </a:prstGeom>
          <a:noFill/>
          <a:ln/>
        </p:spPr>
        <p:txBody>
          <a:bodyPr wrap="square" rtlCol="0" anchor="ctr"/>
          <a:lstStyle/>
          <a:p>
            <a:pPr algn="ctr" indent="0" marL="0">
              <a:buNone/>
            </a:pPr>
            <a:r>
              <a:rPr lang="en-US" sz="950" b="1" spc="100" kern="0" dirty="0">
                <a:solidFill>
                  <a:srgbClr val="9A7C5C"/>
                </a:solidFill>
                <a:latin typeface="Segoe UI" pitchFamily="34" charset="0"/>
                <a:ea typeface="Segoe UI" pitchFamily="34" charset="-122"/>
                <a:cs typeface="Segoe UI" pitchFamily="34" charset="-120"/>
              </a:rPr>
              <a:t>ÉQUIPE (OUVRIERS &amp; SOUS-TRAITANTS)</a:t>
            </a:r>
            <a:endParaRPr lang="en-US" sz="950" dirty="0"/>
          </a:p>
        </p:txBody>
      </p:sp>
      <p:sp>
        <p:nvSpPr>
          <p:cNvPr id="4" name="Shape 2"/>
          <p:cNvSpPr/>
          <p:nvPr/>
        </p:nvSpPr>
        <p:spPr>
          <a:xfrm>
            <a:off x="640080" y="1005840"/>
            <a:ext cx="10881360" cy="1737360"/>
          </a:xfrm>
          <a:prstGeom prst="roundRect">
            <a:avLst>
              <a:gd name="adj" fmla="val 3158"/>
            </a:avLst>
          </a:prstGeom>
          <a:solidFill>
            <a:srgbClr val="FFFFFF"/>
          </a:solidFill>
          <a:ln w="12700">
            <a:solidFill>
              <a:srgbClr val="E4DCCB"/>
            </a:solidFill>
            <a:prstDash val="solid"/>
          </a:ln>
        </p:spPr>
      </p:sp>
      <p:sp>
        <p:nvSpPr>
          <p:cNvPr id="5" name="Shape 3"/>
          <p:cNvSpPr/>
          <p:nvPr/>
        </p:nvSpPr>
        <p:spPr>
          <a:xfrm>
            <a:off x="640080" y="1005840"/>
            <a:ext cx="54864" cy="1737360"/>
          </a:xfrm>
          <a:prstGeom prst="rect">
            <a:avLst/>
          </a:prstGeom>
          <a:solidFill>
            <a:srgbClr val="1D6FE0"/>
          </a:solidFill>
          <a:ln/>
        </p:spPr>
      </p:sp>
      <p:sp>
        <p:nvSpPr>
          <p:cNvPr id="6" name="Text 4"/>
          <p:cNvSpPr/>
          <p:nvPr/>
        </p:nvSpPr>
        <p:spPr>
          <a:xfrm>
            <a:off x="914400" y="1133856"/>
            <a:ext cx="10332720" cy="365760"/>
          </a:xfrm>
          <a:prstGeom prst="rect">
            <a:avLst/>
          </a:prstGeom>
          <a:noFill/>
          <a:ln/>
        </p:spPr>
        <p:txBody>
          <a:bodyPr wrap="square" rtlCol="0" anchor="ctr"/>
          <a:lstStyle/>
          <a:p>
            <a:pPr indent="0" marL="0">
              <a:buNone/>
            </a:pPr>
            <a:r>
              <a:rPr lang="en-US" sz="1500" b="1" dirty="0">
                <a:solidFill>
                  <a:srgbClr val="1B1F3B"/>
                </a:solidFill>
                <a:latin typeface="Georgia" pitchFamily="34" charset="0"/>
                <a:ea typeface="Georgia" pitchFamily="34" charset="-122"/>
                <a:cs typeface="Georgia" pitchFamily="34" charset="-120"/>
              </a:rPr>
              <a:t>Heures contractuelles et alertes</a:t>
            </a:r>
            <a:endParaRPr lang="en-US" sz="1500" dirty="0"/>
          </a:p>
        </p:txBody>
      </p:sp>
      <p:sp>
        <p:nvSpPr>
          <p:cNvPr id="7" name="Text 5"/>
          <p:cNvSpPr/>
          <p:nvPr/>
        </p:nvSpPr>
        <p:spPr>
          <a:xfrm>
            <a:off x="914400" y="1536192"/>
            <a:ext cx="10332720" cy="1005840"/>
          </a:xfrm>
          <a:prstGeom prst="rect">
            <a:avLst/>
          </a:prstGeom>
          <a:noFill/>
          <a:ln/>
        </p:spPr>
        <p:txBody>
          <a:bodyPr wrap="square" rtlCol="0" anchor="ctr"/>
          <a:lstStyle/>
          <a:p>
            <a:pPr indent="0" marL="0">
              <a:lnSpc>
                <a:spcPts val="1600"/>
              </a:lnSpc>
              <a:buNone/>
            </a:pPr>
            <a:r>
              <a:rPr lang="en-US" sz="1150" dirty="0">
                <a:solidFill>
                  <a:srgbClr val="1B1F3B"/>
                </a:solidFill>
                <a:latin typeface="Segoe UI" pitchFamily="34" charset="0"/>
                <a:ea typeface="Segoe UI" pitchFamily="34" charset="-122"/>
                <a:cs typeface="Segoe UI" pitchFamily="34" charset="-120"/>
              </a:rPr>
              <a:t>Chaque ouvrier a un nombre d'heures contractuelles par semaine (35h par défaut) ; une alerte est envoyée automatiquement à l'entreprise si les heures réellement travaillées sur une semaine terminée sont trop hautes ou trop basses par rapport au contrat.</a:t>
            </a:r>
            <a:endParaRPr lang="en-US" sz="1150" dirty="0"/>
          </a:p>
        </p:txBody>
      </p:sp>
      <p:sp>
        <p:nvSpPr>
          <p:cNvPr id="8" name="Shape 6"/>
          <p:cNvSpPr/>
          <p:nvPr/>
        </p:nvSpPr>
        <p:spPr>
          <a:xfrm>
            <a:off x="640080" y="2944368"/>
            <a:ext cx="10881360" cy="1737360"/>
          </a:xfrm>
          <a:prstGeom prst="roundRect">
            <a:avLst>
              <a:gd name="adj" fmla="val 3158"/>
            </a:avLst>
          </a:prstGeom>
          <a:solidFill>
            <a:srgbClr val="FFFFFF"/>
          </a:solidFill>
          <a:ln w="12700">
            <a:solidFill>
              <a:srgbClr val="E4DCCB"/>
            </a:solidFill>
            <a:prstDash val="solid"/>
          </a:ln>
        </p:spPr>
      </p:sp>
      <p:sp>
        <p:nvSpPr>
          <p:cNvPr id="9" name="Shape 7"/>
          <p:cNvSpPr/>
          <p:nvPr/>
        </p:nvSpPr>
        <p:spPr>
          <a:xfrm>
            <a:off x="640080" y="2944368"/>
            <a:ext cx="54864" cy="1737360"/>
          </a:xfrm>
          <a:prstGeom prst="rect">
            <a:avLst/>
          </a:prstGeom>
          <a:solidFill>
            <a:srgbClr val="1D6FE0"/>
          </a:solidFill>
          <a:ln/>
        </p:spPr>
      </p:sp>
      <p:sp>
        <p:nvSpPr>
          <p:cNvPr id="10" name="Text 8"/>
          <p:cNvSpPr/>
          <p:nvPr/>
        </p:nvSpPr>
        <p:spPr>
          <a:xfrm>
            <a:off x="914400" y="3072384"/>
            <a:ext cx="10332720" cy="365760"/>
          </a:xfrm>
          <a:prstGeom prst="rect">
            <a:avLst/>
          </a:prstGeom>
          <a:noFill/>
          <a:ln/>
        </p:spPr>
        <p:txBody>
          <a:bodyPr wrap="square" rtlCol="0" anchor="ctr"/>
          <a:lstStyle/>
          <a:p>
            <a:pPr indent="0" marL="0">
              <a:buNone/>
            </a:pPr>
            <a:r>
              <a:rPr lang="en-US" sz="1500" b="1" dirty="0">
                <a:solidFill>
                  <a:srgbClr val="1B1F3B"/>
                </a:solidFill>
                <a:latin typeface="Georgia" pitchFamily="34" charset="0"/>
                <a:ea typeface="Georgia" pitchFamily="34" charset="-122"/>
                <a:cs typeface="Georgia" pitchFamily="34" charset="-120"/>
              </a:rPr>
              <a:t>Export PDF du relevé d'heures</a:t>
            </a:r>
            <a:endParaRPr lang="en-US" sz="1500" dirty="0"/>
          </a:p>
        </p:txBody>
      </p:sp>
      <p:sp>
        <p:nvSpPr>
          <p:cNvPr id="11" name="Text 9"/>
          <p:cNvSpPr/>
          <p:nvPr/>
        </p:nvSpPr>
        <p:spPr>
          <a:xfrm>
            <a:off x="914400" y="3474720"/>
            <a:ext cx="10332720" cy="1005840"/>
          </a:xfrm>
          <a:prstGeom prst="rect">
            <a:avLst/>
          </a:prstGeom>
          <a:noFill/>
          <a:ln/>
        </p:spPr>
        <p:txBody>
          <a:bodyPr wrap="square" rtlCol="0" anchor="ctr"/>
          <a:lstStyle/>
          <a:p>
            <a:pPr indent="0" marL="0">
              <a:lnSpc>
                <a:spcPts val="1600"/>
              </a:lnSpc>
              <a:buNone/>
            </a:pPr>
            <a:r>
              <a:rPr lang="en-US" sz="1150" dirty="0">
                <a:solidFill>
                  <a:srgbClr val="1B1F3B"/>
                </a:solidFill>
                <a:latin typeface="Segoe UI" pitchFamily="34" charset="0"/>
                <a:ea typeface="Segoe UI" pitchFamily="34" charset="-122"/>
                <a:cs typeface="Segoe UI" pitchFamily="34" charset="-120"/>
              </a:rPr>
              <a:t>Génération d'un PDF mensuel par ouvrier détaillant chaque journée/type de pointage, les totaux hebdomadaires, et le total du mois en heures et en montant, pour la comptabilité et la paie.</a:t>
            </a:r>
            <a:endParaRPr lang="en-US" sz="1150" dirty="0"/>
          </a:p>
        </p:txBody>
      </p:sp>
      <p:sp>
        <p:nvSpPr>
          <p:cNvPr id="12" name="Text 10"/>
          <p:cNvSpPr/>
          <p:nvPr/>
        </p:nvSpPr>
        <p:spPr>
          <a:xfrm>
            <a:off x="365760" y="6510528"/>
            <a:ext cx="5486400" cy="274320"/>
          </a:xfrm>
          <a:prstGeom prst="rect">
            <a:avLst/>
          </a:prstGeom>
          <a:noFill/>
          <a:ln/>
        </p:spPr>
        <p:txBody>
          <a:bodyPr wrap="square" rtlCol="0" anchor="ctr"/>
          <a:lstStyle/>
          <a:p>
            <a:pPr indent="0" marL="0">
              <a:buNone/>
            </a:pPr>
            <a:r>
              <a:rPr lang="en-US" sz="850" dirty="0">
                <a:solidFill>
                  <a:srgbClr val="8A7C68"/>
                </a:solidFill>
                <a:latin typeface="Segoe UI" pitchFamily="34" charset="0"/>
                <a:ea typeface="Segoe UI" pitchFamily="34" charset="-122"/>
                <a:cs typeface="Segoe UI" pitchFamily="34" charset="-120"/>
              </a:rPr>
              <a:t>Kôji Web — Cahier des charges</a:t>
            </a:r>
            <a:endParaRPr lang="en-US" sz="850" dirty="0"/>
          </a:p>
        </p:txBody>
      </p:sp>
      <p:sp>
        <p:nvSpPr>
          <p:cNvPr id="13" name="Text 11"/>
          <p:cNvSpPr/>
          <p:nvPr/>
        </p:nvSpPr>
        <p:spPr>
          <a:xfrm>
            <a:off x="9601200" y="6510528"/>
            <a:ext cx="2194560" cy="274320"/>
          </a:xfrm>
          <a:prstGeom prst="rect">
            <a:avLst/>
          </a:prstGeom>
          <a:noFill/>
          <a:ln/>
        </p:spPr>
        <p:txBody>
          <a:bodyPr wrap="square" rtlCol="0" anchor="ctr"/>
          <a:lstStyle/>
          <a:p>
            <a:pPr algn="r" indent="0" marL="0">
              <a:buNone/>
            </a:pPr>
            <a:r>
              <a:rPr lang="en-US" sz="850" dirty="0">
                <a:solidFill>
                  <a:srgbClr val="8A7C68"/>
                </a:solidFill>
                <a:latin typeface="Segoe UI" pitchFamily="34" charset="0"/>
                <a:ea typeface="Segoe UI" pitchFamily="34" charset="-122"/>
                <a:cs typeface="Segoe UI" pitchFamily="34" charset="-120"/>
              </a:rPr>
              <a:t>42</a:t>
            </a:r>
            <a:endParaRPr lang="en-US" sz="850"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3108960" cy="365760"/>
          </a:xfrm>
          <a:prstGeom prst="roundRect">
            <a:avLst>
              <a:gd name="adj" fmla="val 50000"/>
            </a:avLst>
          </a:prstGeom>
          <a:solidFill>
            <a:srgbClr val="F7EADF"/>
          </a:solidFill>
          <a:ln/>
        </p:spPr>
      </p:sp>
      <p:sp>
        <p:nvSpPr>
          <p:cNvPr id="3" name="Text 1"/>
          <p:cNvSpPr/>
          <p:nvPr/>
        </p:nvSpPr>
        <p:spPr>
          <a:xfrm>
            <a:off x="640080" y="411480"/>
            <a:ext cx="3108960" cy="365760"/>
          </a:xfrm>
          <a:prstGeom prst="rect">
            <a:avLst/>
          </a:prstGeom>
          <a:noFill/>
          <a:ln/>
        </p:spPr>
        <p:txBody>
          <a:bodyPr wrap="square" rtlCol="0" anchor="ctr"/>
          <a:lstStyle/>
          <a:p>
            <a:pPr algn="ctr" indent="0" marL="0">
              <a:buNone/>
            </a:pPr>
            <a:r>
              <a:rPr lang="en-US" sz="950" b="1" spc="100" kern="0" dirty="0">
                <a:solidFill>
                  <a:srgbClr val="9A7C5C"/>
                </a:solidFill>
                <a:latin typeface="Segoe UI" pitchFamily="34" charset="0"/>
                <a:ea typeface="Segoe UI" pitchFamily="34" charset="-122"/>
                <a:cs typeface="Segoe UI" pitchFamily="34" charset="-120"/>
              </a:rPr>
              <a:t>ÉQUIPE (OUVRIERS &amp; SOUS-TRAITANTS)</a:t>
            </a:r>
            <a:endParaRPr lang="en-US" sz="950" dirty="0"/>
          </a:p>
        </p:txBody>
      </p:sp>
      <p:sp>
        <p:nvSpPr>
          <p:cNvPr id="4" name="Shape 2"/>
          <p:cNvSpPr/>
          <p:nvPr/>
        </p:nvSpPr>
        <p:spPr>
          <a:xfrm>
            <a:off x="640080" y="1005840"/>
            <a:ext cx="10881360" cy="1737360"/>
          </a:xfrm>
          <a:prstGeom prst="roundRect">
            <a:avLst>
              <a:gd name="adj" fmla="val 3158"/>
            </a:avLst>
          </a:prstGeom>
          <a:solidFill>
            <a:srgbClr val="FFFFFF"/>
          </a:solidFill>
          <a:ln w="12700">
            <a:solidFill>
              <a:srgbClr val="E4DCCB"/>
            </a:solidFill>
            <a:prstDash val="solid"/>
          </a:ln>
        </p:spPr>
      </p:sp>
      <p:sp>
        <p:nvSpPr>
          <p:cNvPr id="5" name="Shape 3"/>
          <p:cNvSpPr/>
          <p:nvPr/>
        </p:nvSpPr>
        <p:spPr>
          <a:xfrm>
            <a:off x="640080" y="1005840"/>
            <a:ext cx="54864" cy="1737360"/>
          </a:xfrm>
          <a:prstGeom prst="rect">
            <a:avLst/>
          </a:prstGeom>
          <a:solidFill>
            <a:srgbClr val="1D6FE0"/>
          </a:solidFill>
          <a:ln/>
        </p:spPr>
      </p:sp>
      <p:sp>
        <p:nvSpPr>
          <p:cNvPr id="6" name="Text 4"/>
          <p:cNvSpPr/>
          <p:nvPr/>
        </p:nvSpPr>
        <p:spPr>
          <a:xfrm>
            <a:off x="914400" y="1133856"/>
            <a:ext cx="10332720" cy="365760"/>
          </a:xfrm>
          <a:prstGeom prst="rect">
            <a:avLst/>
          </a:prstGeom>
          <a:noFill/>
          <a:ln/>
        </p:spPr>
        <p:txBody>
          <a:bodyPr wrap="square" rtlCol="0" anchor="ctr"/>
          <a:lstStyle/>
          <a:p>
            <a:pPr indent="0" marL="0">
              <a:buNone/>
            </a:pPr>
            <a:r>
              <a:rPr lang="en-US" sz="1500" b="1" dirty="0">
                <a:solidFill>
                  <a:srgbClr val="1B1F3B"/>
                </a:solidFill>
                <a:latin typeface="Georgia" pitchFamily="34" charset="0"/>
                <a:ea typeface="Georgia" pitchFamily="34" charset="-122"/>
                <a:cs typeface="Georgia" pitchFamily="34" charset="-120"/>
              </a:rPr>
              <a:t>Calendrier de l'équipe</a:t>
            </a:r>
            <a:endParaRPr lang="en-US" sz="1500" dirty="0"/>
          </a:p>
        </p:txBody>
      </p:sp>
      <p:sp>
        <p:nvSpPr>
          <p:cNvPr id="7" name="Text 5"/>
          <p:cNvSpPr/>
          <p:nvPr/>
        </p:nvSpPr>
        <p:spPr>
          <a:xfrm>
            <a:off x="914400" y="1536192"/>
            <a:ext cx="10332720" cy="1005840"/>
          </a:xfrm>
          <a:prstGeom prst="rect">
            <a:avLst/>
          </a:prstGeom>
          <a:noFill/>
          <a:ln/>
        </p:spPr>
        <p:txBody>
          <a:bodyPr wrap="square" rtlCol="0" anchor="ctr"/>
          <a:lstStyle/>
          <a:p>
            <a:pPr indent="0" marL="0">
              <a:lnSpc>
                <a:spcPts val="1600"/>
              </a:lnSpc>
              <a:buNone/>
            </a:pPr>
            <a:r>
              <a:rPr lang="en-US" sz="1150" dirty="0">
                <a:solidFill>
                  <a:srgbClr val="1B1F3B"/>
                </a:solidFill>
                <a:latin typeface="Segoe UI" pitchFamily="34" charset="0"/>
                <a:ea typeface="Segoe UI" pitchFamily="34" charset="-122"/>
                <a:cs typeface="Segoe UI" pitchFamily="34" charset="-120"/>
              </a:rPr>
              <a:t>Cartes et tâches cliquables avec édition d'un événement directement depuis sa fiche.</a:t>
            </a:r>
            <a:endParaRPr lang="en-US" sz="1150" dirty="0"/>
          </a:p>
        </p:txBody>
      </p:sp>
      <p:sp>
        <p:nvSpPr>
          <p:cNvPr id="8" name="Text 6"/>
          <p:cNvSpPr/>
          <p:nvPr/>
        </p:nvSpPr>
        <p:spPr>
          <a:xfrm>
            <a:off x="365760" y="6510528"/>
            <a:ext cx="5486400" cy="274320"/>
          </a:xfrm>
          <a:prstGeom prst="rect">
            <a:avLst/>
          </a:prstGeom>
          <a:noFill/>
          <a:ln/>
        </p:spPr>
        <p:txBody>
          <a:bodyPr wrap="square" rtlCol="0" anchor="ctr"/>
          <a:lstStyle/>
          <a:p>
            <a:pPr indent="0" marL="0">
              <a:buNone/>
            </a:pPr>
            <a:r>
              <a:rPr lang="en-US" sz="850" dirty="0">
                <a:solidFill>
                  <a:srgbClr val="8A7C68"/>
                </a:solidFill>
                <a:latin typeface="Segoe UI" pitchFamily="34" charset="0"/>
                <a:ea typeface="Segoe UI" pitchFamily="34" charset="-122"/>
                <a:cs typeface="Segoe UI" pitchFamily="34" charset="-120"/>
              </a:rPr>
              <a:t>Kôji Web — Cahier des charges</a:t>
            </a:r>
            <a:endParaRPr lang="en-US" sz="850" dirty="0"/>
          </a:p>
        </p:txBody>
      </p:sp>
      <p:sp>
        <p:nvSpPr>
          <p:cNvPr id="9" name="Text 7"/>
          <p:cNvSpPr/>
          <p:nvPr/>
        </p:nvSpPr>
        <p:spPr>
          <a:xfrm>
            <a:off x="9601200" y="6510528"/>
            <a:ext cx="2194560" cy="274320"/>
          </a:xfrm>
          <a:prstGeom prst="rect">
            <a:avLst/>
          </a:prstGeom>
          <a:noFill/>
          <a:ln/>
        </p:spPr>
        <p:txBody>
          <a:bodyPr wrap="square" rtlCol="0" anchor="ctr"/>
          <a:lstStyle/>
          <a:p>
            <a:pPr algn="r" indent="0" marL="0">
              <a:buNone/>
            </a:pPr>
            <a:r>
              <a:rPr lang="en-US" sz="850" dirty="0">
                <a:solidFill>
                  <a:srgbClr val="8A7C68"/>
                </a:solidFill>
                <a:latin typeface="Segoe UI" pitchFamily="34" charset="0"/>
                <a:ea typeface="Segoe UI" pitchFamily="34" charset="-122"/>
                <a:cs typeface="Segoe UI" pitchFamily="34" charset="-120"/>
              </a:rPr>
              <a:t>43</a:t>
            </a:r>
            <a:endParaRPr lang="en-US" sz="850"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bg>
      <p:bgPr>
        <a:solidFill>
          <a:srgbClr val="0B1030"/>
        </a:solidFill>
      </p:bgPr>
    </p:bg>
    <p:spTree>
      <p:nvGrpSpPr>
        <p:cNvPr id="1" name=""/>
        <p:cNvGrpSpPr/>
        <p:nvPr/>
      </p:nvGrpSpPr>
      <p:grpSpPr>
        <a:xfrm>
          <a:off x="0" y="0"/>
          <a:ext cx="0" cy="0"/>
          <a:chOff x="0" y="0"/>
          <a:chExt cx="0" cy="0"/>
        </a:xfrm>
      </p:grpSpPr>
      <p:sp>
        <p:nvSpPr>
          <p:cNvPr id="2" name="Shape 0"/>
          <p:cNvSpPr/>
          <p:nvPr/>
        </p:nvSpPr>
        <p:spPr>
          <a:xfrm>
            <a:off x="0" y="3246120"/>
            <a:ext cx="12191695" cy="54864"/>
          </a:xfrm>
          <a:prstGeom prst="rect">
            <a:avLst/>
          </a:prstGeom>
          <a:solidFill>
            <a:srgbClr val="C9A96A"/>
          </a:solidFill>
          <a:ln/>
        </p:spPr>
      </p:sp>
      <p:sp>
        <p:nvSpPr>
          <p:cNvPr id="3" name="Text 1"/>
          <p:cNvSpPr/>
          <p:nvPr/>
        </p:nvSpPr>
        <p:spPr>
          <a:xfrm>
            <a:off x="640080" y="1920240"/>
            <a:ext cx="2743200" cy="548640"/>
          </a:xfrm>
          <a:prstGeom prst="rect">
            <a:avLst/>
          </a:prstGeom>
          <a:noFill/>
          <a:ln/>
        </p:spPr>
        <p:txBody>
          <a:bodyPr wrap="square" rtlCol="0" anchor="ctr"/>
          <a:lstStyle/>
          <a:p>
            <a:pPr indent="0" marL="0">
              <a:buNone/>
            </a:pPr>
            <a:r>
              <a:rPr lang="en-US" sz="1500" b="1" dirty="0">
                <a:solidFill>
                  <a:srgbClr val="C9A96A"/>
                </a:solidFill>
                <a:latin typeface="Segoe UI" pitchFamily="34" charset="0"/>
                <a:ea typeface="Segoe UI" pitchFamily="34" charset="-122"/>
                <a:cs typeface="Segoe UI" pitchFamily="34" charset="-120"/>
              </a:rPr>
              <a:t>09</a:t>
            </a:r>
            <a:endParaRPr lang="en-US" sz="1500" dirty="0"/>
          </a:p>
        </p:txBody>
      </p:sp>
      <p:sp>
        <p:nvSpPr>
          <p:cNvPr id="4" name="Text 2"/>
          <p:cNvSpPr/>
          <p:nvPr/>
        </p:nvSpPr>
        <p:spPr>
          <a:xfrm>
            <a:off x="640080" y="2377440"/>
            <a:ext cx="10515600" cy="914400"/>
          </a:xfrm>
          <a:prstGeom prst="rect">
            <a:avLst/>
          </a:prstGeom>
          <a:noFill/>
          <a:ln/>
        </p:spPr>
        <p:txBody>
          <a:bodyPr wrap="square" rtlCol="0" anchor="ctr"/>
          <a:lstStyle/>
          <a:p>
            <a:pPr indent="0" marL="0">
              <a:buNone/>
            </a:pPr>
            <a:r>
              <a:rPr lang="en-US" sz="3400" b="1" dirty="0">
                <a:solidFill>
                  <a:srgbClr val="FFFFFF"/>
                </a:solidFill>
                <a:latin typeface="Georgia" pitchFamily="34" charset="0"/>
                <a:ea typeface="Georgia" pitchFamily="34" charset="-122"/>
                <a:cs typeface="Georgia" pitchFamily="34" charset="-120"/>
              </a:rPr>
              <a:t>Calendrier &amp; Planning</a:t>
            </a:r>
            <a:endParaRPr lang="en-US" sz="3400" dirty="0"/>
          </a:p>
        </p:txBody>
      </p:sp>
      <p:sp>
        <p:nvSpPr>
          <p:cNvPr id="5" name="Text 3"/>
          <p:cNvSpPr/>
          <p:nvPr/>
        </p:nvSpPr>
        <p:spPr>
          <a:xfrm>
            <a:off x="640080" y="3429000"/>
            <a:ext cx="10058400" cy="1188720"/>
          </a:xfrm>
          <a:prstGeom prst="rect">
            <a:avLst/>
          </a:prstGeom>
          <a:noFill/>
          <a:ln/>
        </p:spPr>
        <p:txBody>
          <a:bodyPr wrap="square" rtlCol="0" anchor="ctr"/>
          <a:lstStyle/>
          <a:p>
            <a:pPr indent="0" marL="0">
              <a:lnSpc>
                <a:spcPts val="1800"/>
              </a:lnSpc>
              <a:buNone/>
            </a:pPr>
            <a:r>
              <a:rPr lang="en-US" sz="1300" dirty="0">
                <a:solidFill>
                  <a:srgbClr val="C7C9E0"/>
                </a:solidFill>
                <a:latin typeface="Segoe UI" pitchFamily="34" charset="0"/>
                <a:ea typeface="Segoe UI" pitchFamily="34" charset="-122"/>
                <a:cs typeface="Segoe UI" pitchFamily="34" charset="-120"/>
              </a:rPr>
              <a:t>Vision temporelle de l'activité : rendez-vous d'un côté, assignation des ouvriers aux ouvrages de l'autre.</a:t>
            </a:r>
            <a:endParaRPr lang="en-US" sz="1300" dirty="0"/>
          </a:p>
        </p:txBody>
      </p:sp>
      <p:sp>
        <p:nvSpPr>
          <p:cNvPr id="6" name="Text 4"/>
          <p:cNvSpPr/>
          <p:nvPr/>
        </p:nvSpPr>
        <p:spPr>
          <a:xfrm>
            <a:off x="365760" y="6510528"/>
            <a:ext cx="5486400" cy="274320"/>
          </a:xfrm>
          <a:prstGeom prst="rect">
            <a:avLst/>
          </a:prstGeom>
          <a:noFill/>
          <a:ln/>
        </p:spPr>
        <p:txBody>
          <a:bodyPr wrap="square" rtlCol="0" anchor="ctr"/>
          <a:lstStyle/>
          <a:p>
            <a:pPr indent="0" marL="0">
              <a:buNone/>
            </a:pPr>
            <a:r>
              <a:rPr lang="en-US" sz="850" dirty="0">
                <a:solidFill>
                  <a:srgbClr val="8A7C68"/>
                </a:solidFill>
                <a:latin typeface="Segoe UI" pitchFamily="34" charset="0"/>
                <a:ea typeface="Segoe UI" pitchFamily="34" charset="-122"/>
                <a:cs typeface="Segoe UI" pitchFamily="34" charset="-120"/>
              </a:rPr>
              <a:t>Kôji Web — Cahier des charges</a:t>
            </a:r>
            <a:endParaRPr lang="en-US" sz="850" dirty="0"/>
          </a:p>
        </p:txBody>
      </p:sp>
      <p:sp>
        <p:nvSpPr>
          <p:cNvPr id="7" name="Text 5"/>
          <p:cNvSpPr/>
          <p:nvPr/>
        </p:nvSpPr>
        <p:spPr>
          <a:xfrm>
            <a:off x="9601200" y="6510528"/>
            <a:ext cx="2194560" cy="274320"/>
          </a:xfrm>
          <a:prstGeom prst="rect">
            <a:avLst/>
          </a:prstGeom>
          <a:noFill/>
          <a:ln/>
        </p:spPr>
        <p:txBody>
          <a:bodyPr wrap="square" rtlCol="0" anchor="ctr"/>
          <a:lstStyle/>
          <a:p>
            <a:pPr algn="r" indent="0" marL="0">
              <a:buNone/>
            </a:pPr>
            <a:r>
              <a:rPr lang="en-US" sz="850" dirty="0">
                <a:solidFill>
                  <a:srgbClr val="8A7C68"/>
                </a:solidFill>
                <a:latin typeface="Segoe UI" pitchFamily="34" charset="0"/>
                <a:ea typeface="Segoe UI" pitchFamily="34" charset="-122"/>
                <a:cs typeface="Segoe UI" pitchFamily="34" charset="-120"/>
              </a:rPr>
              <a:t>44</a:t>
            </a:r>
            <a:endParaRPr lang="en-US" sz="850" dirty="0"/>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3108960" cy="365760"/>
          </a:xfrm>
          <a:prstGeom prst="roundRect">
            <a:avLst>
              <a:gd name="adj" fmla="val 50000"/>
            </a:avLst>
          </a:prstGeom>
          <a:solidFill>
            <a:srgbClr val="F7EADF"/>
          </a:solidFill>
          <a:ln/>
        </p:spPr>
      </p:sp>
      <p:sp>
        <p:nvSpPr>
          <p:cNvPr id="3" name="Text 1"/>
          <p:cNvSpPr/>
          <p:nvPr/>
        </p:nvSpPr>
        <p:spPr>
          <a:xfrm>
            <a:off x="640080" y="411480"/>
            <a:ext cx="3108960" cy="365760"/>
          </a:xfrm>
          <a:prstGeom prst="rect">
            <a:avLst/>
          </a:prstGeom>
          <a:noFill/>
          <a:ln/>
        </p:spPr>
        <p:txBody>
          <a:bodyPr wrap="square" rtlCol="0" anchor="ctr"/>
          <a:lstStyle/>
          <a:p>
            <a:pPr algn="ctr" indent="0" marL="0">
              <a:buNone/>
            </a:pPr>
            <a:r>
              <a:rPr lang="en-US" sz="950" b="1" spc="100" kern="0" dirty="0">
                <a:solidFill>
                  <a:srgbClr val="9A7C5C"/>
                </a:solidFill>
                <a:latin typeface="Segoe UI" pitchFamily="34" charset="0"/>
                <a:ea typeface="Segoe UI" pitchFamily="34" charset="-122"/>
                <a:cs typeface="Segoe UI" pitchFamily="34" charset="-120"/>
              </a:rPr>
              <a:t>CALENDRIER &amp; PLANNING</a:t>
            </a:r>
            <a:endParaRPr lang="en-US" sz="950" dirty="0"/>
          </a:p>
        </p:txBody>
      </p:sp>
      <p:sp>
        <p:nvSpPr>
          <p:cNvPr id="4" name="Shape 2"/>
          <p:cNvSpPr/>
          <p:nvPr/>
        </p:nvSpPr>
        <p:spPr>
          <a:xfrm>
            <a:off x="640080" y="1005840"/>
            <a:ext cx="10881360" cy="2606040"/>
          </a:xfrm>
          <a:prstGeom prst="roundRect">
            <a:avLst>
              <a:gd name="adj" fmla="val 2105"/>
            </a:avLst>
          </a:prstGeom>
          <a:solidFill>
            <a:srgbClr val="FFFFFF"/>
          </a:solidFill>
          <a:ln w="12700">
            <a:solidFill>
              <a:srgbClr val="E4DCCB"/>
            </a:solidFill>
            <a:prstDash val="solid"/>
          </a:ln>
        </p:spPr>
      </p:sp>
      <p:sp>
        <p:nvSpPr>
          <p:cNvPr id="5" name="Shape 3"/>
          <p:cNvSpPr/>
          <p:nvPr/>
        </p:nvSpPr>
        <p:spPr>
          <a:xfrm>
            <a:off x="640080" y="1005840"/>
            <a:ext cx="54864" cy="2606040"/>
          </a:xfrm>
          <a:prstGeom prst="rect">
            <a:avLst/>
          </a:prstGeom>
          <a:solidFill>
            <a:srgbClr val="1D6FE0"/>
          </a:solidFill>
          <a:ln/>
        </p:spPr>
      </p:sp>
      <p:sp>
        <p:nvSpPr>
          <p:cNvPr id="6" name="Text 4"/>
          <p:cNvSpPr/>
          <p:nvPr/>
        </p:nvSpPr>
        <p:spPr>
          <a:xfrm>
            <a:off x="914400" y="1133856"/>
            <a:ext cx="10332720" cy="365760"/>
          </a:xfrm>
          <a:prstGeom prst="rect">
            <a:avLst/>
          </a:prstGeom>
          <a:noFill/>
          <a:ln/>
        </p:spPr>
        <p:txBody>
          <a:bodyPr wrap="square" rtlCol="0" anchor="ctr"/>
          <a:lstStyle/>
          <a:p>
            <a:pPr indent="0" marL="0">
              <a:buNone/>
            </a:pPr>
            <a:r>
              <a:rPr lang="en-US" sz="1500" b="1" dirty="0">
                <a:solidFill>
                  <a:srgbClr val="1B1F3B"/>
                </a:solidFill>
                <a:latin typeface="Georgia" pitchFamily="34" charset="0"/>
                <a:ea typeface="Georgia" pitchFamily="34" charset="-122"/>
                <a:cs typeface="Georgia" pitchFamily="34" charset="-120"/>
              </a:rPr>
              <a:t>Calendrier</a:t>
            </a:r>
            <a:endParaRPr lang="en-US" sz="1500" dirty="0"/>
          </a:p>
        </p:txBody>
      </p:sp>
      <p:sp>
        <p:nvSpPr>
          <p:cNvPr id="7" name="Text 5"/>
          <p:cNvSpPr/>
          <p:nvPr/>
        </p:nvSpPr>
        <p:spPr>
          <a:xfrm>
            <a:off x="914400" y="1536192"/>
            <a:ext cx="10332720" cy="1051560"/>
          </a:xfrm>
          <a:prstGeom prst="rect">
            <a:avLst/>
          </a:prstGeom>
          <a:noFill/>
          <a:ln/>
        </p:spPr>
        <p:txBody>
          <a:bodyPr wrap="square" rtlCol="0" anchor="ctr"/>
          <a:lstStyle/>
          <a:p>
            <a:pPr indent="0" marL="0">
              <a:lnSpc>
                <a:spcPts val="1600"/>
              </a:lnSpc>
              <a:buNone/>
            </a:pPr>
            <a:r>
              <a:rPr lang="en-US" sz="1150" dirty="0">
                <a:solidFill>
                  <a:srgbClr val="1B1F3B"/>
                </a:solidFill>
                <a:latin typeface="Segoe UI" pitchFamily="34" charset="0"/>
                <a:ea typeface="Segoe UI" pitchFamily="34" charset="-122"/>
                <a:cs typeface="Segoe UI" pitchFamily="34" charset="-120"/>
              </a:rPr>
              <a:t>Vue calendrier des rendez-vous (client, chantier, urgence, maintenance) et des tâches planifiées.</a:t>
            </a:r>
            <a:endParaRPr lang="en-US" sz="1150" dirty="0"/>
          </a:p>
        </p:txBody>
      </p:sp>
      <p:sp>
        <p:nvSpPr>
          <p:cNvPr id="8" name="Text 6"/>
          <p:cNvSpPr/>
          <p:nvPr/>
        </p:nvSpPr>
        <p:spPr>
          <a:xfrm>
            <a:off x="914400" y="2743200"/>
            <a:ext cx="10332720" cy="228600"/>
          </a:xfrm>
          <a:prstGeom prst="rect">
            <a:avLst/>
          </a:prstGeom>
          <a:noFill/>
          <a:ln/>
        </p:spPr>
        <p:txBody>
          <a:bodyPr wrap="square" rtlCol="0" anchor="ctr"/>
          <a:lstStyle/>
          <a:p>
            <a:pPr indent="0" marL="0">
              <a:buNone/>
            </a:pPr>
            <a:r>
              <a:rPr lang="en-US" sz="800" b="1" spc="100" kern="0" dirty="0">
                <a:solidFill>
                  <a:srgbClr val="9A7C5C"/>
                </a:solidFill>
                <a:latin typeface="Segoe UI" pitchFamily="34" charset="0"/>
                <a:ea typeface="Segoe UI" pitchFamily="34" charset="-122"/>
                <a:cs typeface="Segoe UI" pitchFamily="34" charset="-120"/>
              </a:rPr>
              <a:t>RÉALISATION TECHNIQUE</a:t>
            </a:r>
            <a:endParaRPr lang="en-US" sz="800" dirty="0"/>
          </a:p>
        </p:txBody>
      </p:sp>
      <p:sp>
        <p:nvSpPr>
          <p:cNvPr id="9" name="Text 7"/>
          <p:cNvSpPr/>
          <p:nvPr/>
        </p:nvSpPr>
        <p:spPr>
          <a:xfrm>
            <a:off x="914400" y="2990088"/>
            <a:ext cx="10332720" cy="548640"/>
          </a:xfrm>
          <a:prstGeom prst="rect">
            <a:avLst/>
          </a:prstGeom>
          <a:noFill/>
          <a:ln/>
        </p:spPr>
        <p:txBody>
          <a:bodyPr wrap="square" rtlCol="0" anchor="ctr"/>
          <a:lstStyle/>
          <a:p>
            <a:pPr indent="0" marL="0">
              <a:lnSpc>
                <a:spcPts val="1400"/>
              </a:lnSpc>
              <a:buNone/>
            </a:pPr>
            <a:r>
              <a:rPr lang="en-US" sz="1000" i="1" dirty="0">
                <a:solidFill>
                  <a:srgbClr val="8A7C68"/>
                </a:solidFill>
                <a:latin typeface="Segoe UI" pitchFamily="34" charset="0"/>
                <a:ea typeface="Segoe UI" pitchFamily="34" charset="-122"/>
                <a:cs typeface="Segoe UI" pitchFamily="34" charset="-120"/>
              </a:rPr>
              <a:t>Page /calendrier, API /api/calendar-events.</a:t>
            </a:r>
            <a:endParaRPr lang="en-US" sz="1000" dirty="0"/>
          </a:p>
        </p:txBody>
      </p:sp>
      <p:sp>
        <p:nvSpPr>
          <p:cNvPr id="10" name="Shape 8"/>
          <p:cNvSpPr/>
          <p:nvPr/>
        </p:nvSpPr>
        <p:spPr>
          <a:xfrm>
            <a:off x="640080" y="3813048"/>
            <a:ext cx="10881360" cy="2606040"/>
          </a:xfrm>
          <a:prstGeom prst="roundRect">
            <a:avLst>
              <a:gd name="adj" fmla="val 2105"/>
            </a:avLst>
          </a:prstGeom>
          <a:solidFill>
            <a:srgbClr val="FFFFFF"/>
          </a:solidFill>
          <a:ln w="12700">
            <a:solidFill>
              <a:srgbClr val="E4DCCB"/>
            </a:solidFill>
            <a:prstDash val="solid"/>
          </a:ln>
        </p:spPr>
      </p:sp>
      <p:sp>
        <p:nvSpPr>
          <p:cNvPr id="11" name="Shape 9"/>
          <p:cNvSpPr/>
          <p:nvPr/>
        </p:nvSpPr>
        <p:spPr>
          <a:xfrm>
            <a:off x="640080" y="3813048"/>
            <a:ext cx="54864" cy="2606040"/>
          </a:xfrm>
          <a:prstGeom prst="rect">
            <a:avLst/>
          </a:prstGeom>
          <a:solidFill>
            <a:srgbClr val="1D6FE0"/>
          </a:solidFill>
          <a:ln/>
        </p:spPr>
      </p:sp>
      <p:sp>
        <p:nvSpPr>
          <p:cNvPr id="12" name="Text 10"/>
          <p:cNvSpPr/>
          <p:nvPr/>
        </p:nvSpPr>
        <p:spPr>
          <a:xfrm>
            <a:off x="914400" y="3941064"/>
            <a:ext cx="10332720" cy="365760"/>
          </a:xfrm>
          <a:prstGeom prst="rect">
            <a:avLst/>
          </a:prstGeom>
          <a:noFill/>
          <a:ln/>
        </p:spPr>
        <p:txBody>
          <a:bodyPr wrap="square" rtlCol="0" anchor="ctr"/>
          <a:lstStyle/>
          <a:p>
            <a:pPr indent="0" marL="0">
              <a:buNone/>
            </a:pPr>
            <a:r>
              <a:rPr lang="en-US" sz="1500" b="1" dirty="0">
                <a:solidFill>
                  <a:srgbClr val="1B1F3B"/>
                </a:solidFill>
                <a:latin typeface="Georgia" pitchFamily="34" charset="0"/>
                <a:ea typeface="Georgia" pitchFamily="34" charset="-122"/>
                <a:cs typeface="Georgia" pitchFamily="34" charset="-120"/>
              </a:rPr>
              <a:t>Planning (assignation)</a:t>
            </a:r>
            <a:endParaRPr lang="en-US" sz="1500" dirty="0"/>
          </a:p>
        </p:txBody>
      </p:sp>
      <p:sp>
        <p:nvSpPr>
          <p:cNvPr id="13" name="Text 11"/>
          <p:cNvSpPr/>
          <p:nvPr/>
        </p:nvSpPr>
        <p:spPr>
          <a:xfrm>
            <a:off x="914400" y="4343400"/>
            <a:ext cx="10332720" cy="1051560"/>
          </a:xfrm>
          <a:prstGeom prst="rect">
            <a:avLst/>
          </a:prstGeom>
          <a:noFill/>
          <a:ln/>
        </p:spPr>
        <p:txBody>
          <a:bodyPr wrap="square" rtlCol="0" anchor="ctr"/>
          <a:lstStyle/>
          <a:p>
            <a:pPr indent="0" marL="0">
              <a:lnSpc>
                <a:spcPts val="1600"/>
              </a:lnSpc>
              <a:buNone/>
            </a:pPr>
            <a:r>
              <a:rPr lang="en-US" sz="1150" dirty="0">
                <a:solidFill>
                  <a:srgbClr val="1B1F3B"/>
                </a:solidFill>
                <a:latin typeface="Segoe UI" pitchFamily="34" charset="0"/>
                <a:ea typeface="Segoe UI" pitchFamily="34" charset="-122"/>
                <a:cs typeface="Segoe UI" pitchFamily="34" charset="-120"/>
              </a:rPr>
              <a:t>Sélection d'un chantier, liste de ses tâches, et assignation des ouvriers/sous-traitants à chaque tâche.</a:t>
            </a:r>
            <a:endParaRPr lang="en-US" sz="1150" dirty="0"/>
          </a:p>
        </p:txBody>
      </p:sp>
      <p:sp>
        <p:nvSpPr>
          <p:cNvPr id="14" name="Text 12"/>
          <p:cNvSpPr/>
          <p:nvPr/>
        </p:nvSpPr>
        <p:spPr>
          <a:xfrm>
            <a:off x="914400" y="5550408"/>
            <a:ext cx="10332720" cy="228600"/>
          </a:xfrm>
          <a:prstGeom prst="rect">
            <a:avLst/>
          </a:prstGeom>
          <a:noFill/>
          <a:ln/>
        </p:spPr>
        <p:txBody>
          <a:bodyPr wrap="square" rtlCol="0" anchor="ctr"/>
          <a:lstStyle/>
          <a:p>
            <a:pPr indent="0" marL="0">
              <a:buNone/>
            </a:pPr>
            <a:r>
              <a:rPr lang="en-US" sz="800" b="1" spc="100" kern="0" dirty="0">
                <a:solidFill>
                  <a:srgbClr val="9A7C5C"/>
                </a:solidFill>
                <a:latin typeface="Segoe UI" pitchFamily="34" charset="0"/>
                <a:ea typeface="Segoe UI" pitchFamily="34" charset="-122"/>
                <a:cs typeface="Segoe UI" pitchFamily="34" charset="-120"/>
              </a:rPr>
              <a:t>RÉALISATION TECHNIQUE</a:t>
            </a:r>
            <a:endParaRPr lang="en-US" sz="800" dirty="0"/>
          </a:p>
        </p:txBody>
      </p:sp>
      <p:sp>
        <p:nvSpPr>
          <p:cNvPr id="15" name="Text 13"/>
          <p:cNvSpPr/>
          <p:nvPr/>
        </p:nvSpPr>
        <p:spPr>
          <a:xfrm>
            <a:off x="914400" y="5797296"/>
            <a:ext cx="10332720" cy="548640"/>
          </a:xfrm>
          <a:prstGeom prst="rect">
            <a:avLst/>
          </a:prstGeom>
          <a:noFill/>
          <a:ln/>
        </p:spPr>
        <p:txBody>
          <a:bodyPr wrap="square" rtlCol="0" anchor="ctr"/>
          <a:lstStyle/>
          <a:p>
            <a:pPr indent="0" marL="0">
              <a:lnSpc>
                <a:spcPts val="1400"/>
              </a:lnSpc>
              <a:buNone/>
            </a:pPr>
            <a:r>
              <a:rPr lang="en-US" sz="1000" i="1" dirty="0">
                <a:solidFill>
                  <a:srgbClr val="8A7C68"/>
                </a:solidFill>
                <a:latin typeface="Segoe UI" pitchFamily="34" charset="0"/>
                <a:ea typeface="Segoe UI" pitchFamily="34" charset="-122"/>
                <a:cs typeface="Segoe UI" pitchFamily="34" charset="-120"/>
              </a:rPr>
              <a:t>Page /planning, API /api/tasks (action assign).</a:t>
            </a:r>
            <a:endParaRPr lang="en-US" sz="1000" dirty="0"/>
          </a:p>
        </p:txBody>
      </p:sp>
      <p:sp>
        <p:nvSpPr>
          <p:cNvPr id="16" name="Text 14"/>
          <p:cNvSpPr/>
          <p:nvPr/>
        </p:nvSpPr>
        <p:spPr>
          <a:xfrm>
            <a:off x="365760" y="6510528"/>
            <a:ext cx="5486400" cy="274320"/>
          </a:xfrm>
          <a:prstGeom prst="rect">
            <a:avLst/>
          </a:prstGeom>
          <a:noFill/>
          <a:ln/>
        </p:spPr>
        <p:txBody>
          <a:bodyPr wrap="square" rtlCol="0" anchor="ctr"/>
          <a:lstStyle/>
          <a:p>
            <a:pPr indent="0" marL="0">
              <a:buNone/>
            </a:pPr>
            <a:r>
              <a:rPr lang="en-US" sz="850" dirty="0">
                <a:solidFill>
                  <a:srgbClr val="8A7C68"/>
                </a:solidFill>
                <a:latin typeface="Segoe UI" pitchFamily="34" charset="0"/>
                <a:ea typeface="Segoe UI" pitchFamily="34" charset="-122"/>
                <a:cs typeface="Segoe UI" pitchFamily="34" charset="-120"/>
              </a:rPr>
              <a:t>Kôji Web — Cahier des charges</a:t>
            </a:r>
            <a:endParaRPr lang="en-US" sz="850" dirty="0"/>
          </a:p>
        </p:txBody>
      </p:sp>
      <p:sp>
        <p:nvSpPr>
          <p:cNvPr id="17" name="Text 15"/>
          <p:cNvSpPr/>
          <p:nvPr/>
        </p:nvSpPr>
        <p:spPr>
          <a:xfrm>
            <a:off x="9601200" y="6510528"/>
            <a:ext cx="2194560" cy="274320"/>
          </a:xfrm>
          <a:prstGeom prst="rect">
            <a:avLst/>
          </a:prstGeom>
          <a:noFill/>
          <a:ln/>
        </p:spPr>
        <p:txBody>
          <a:bodyPr wrap="square" rtlCol="0" anchor="ctr"/>
          <a:lstStyle/>
          <a:p>
            <a:pPr algn="r" indent="0" marL="0">
              <a:buNone/>
            </a:pPr>
            <a:r>
              <a:rPr lang="en-US" sz="850" dirty="0">
                <a:solidFill>
                  <a:srgbClr val="8A7C68"/>
                </a:solidFill>
                <a:latin typeface="Segoe UI" pitchFamily="34" charset="0"/>
                <a:ea typeface="Segoe UI" pitchFamily="34" charset="-122"/>
                <a:cs typeface="Segoe UI" pitchFamily="34" charset="-120"/>
              </a:rPr>
              <a:t>45</a:t>
            </a:r>
            <a:endParaRPr lang="en-US" sz="850" dirty="0"/>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3108960" cy="365760"/>
          </a:xfrm>
          <a:prstGeom prst="roundRect">
            <a:avLst>
              <a:gd name="adj" fmla="val 50000"/>
            </a:avLst>
          </a:prstGeom>
          <a:solidFill>
            <a:srgbClr val="F7EADF"/>
          </a:solidFill>
          <a:ln/>
        </p:spPr>
      </p:sp>
      <p:sp>
        <p:nvSpPr>
          <p:cNvPr id="3" name="Text 1"/>
          <p:cNvSpPr/>
          <p:nvPr/>
        </p:nvSpPr>
        <p:spPr>
          <a:xfrm>
            <a:off x="640080" y="411480"/>
            <a:ext cx="3108960" cy="365760"/>
          </a:xfrm>
          <a:prstGeom prst="rect">
            <a:avLst/>
          </a:prstGeom>
          <a:noFill/>
          <a:ln/>
        </p:spPr>
        <p:txBody>
          <a:bodyPr wrap="square" rtlCol="0" anchor="ctr"/>
          <a:lstStyle/>
          <a:p>
            <a:pPr algn="ctr" indent="0" marL="0">
              <a:buNone/>
            </a:pPr>
            <a:r>
              <a:rPr lang="en-US" sz="950" b="1" spc="100" kern="0" dirty="0">
                <a:solidFill>
                  <a:srgbClr val="9A7C5C"/>
                </a:solidFill>
                <a:latin typeface="Segoe UI" pitchFamily="34" charset="0"/>
                <a:ea typeface="Segoe UI" pitchFamily="34" charset="-122"/>
                <a:cs typeface="Segoe UI" pitchFamily="34" charset="-120"/>
              </a:rPr>
              <a:t>CALENDRIER &amp; PLANNING</a:t>
            </a:r>
            <a:endParaRPr lang="en-US" sz="950" dirty="0"/>
          </a:p>
        </p:txBody>
      </p:sp>
      <p:sp>
        <p:nvSpPr>
          <p:cNvPr id="4" name="Shape 2"/>
          <p:cNvSpPr/>
          <p:nvPr/>
        </p:nvSpPr>
        <p:spPr>
          <a:xfrm>
            <a:off x="640080" y="1005840"/>
            <a:ext cx="10881360" cy="1737360"/>
          </a:xfrm>
          <a:prstGeom prst="roundRect">
            <a:avLst>
              <a:gd name="adj" fmla="val 3158"/>
            </a:avLst>
          </a:prstGeom>
          <a:solidFill>
            <a:srgbClr val="FFFFFF"/>
          </a:solidFill>
          <a:ln w="12700">
            <a:solidFill>
              <a:srgbClr val="E4DCCB"/>
            </a:solidFill>
            <a:prstDash val="solid"/>
          </a:ln>
        </p:spPr>
      </p:sp>
      <p:sp>
        <p:nvSpPr>
          <p:cNvPr id="5" name="Shape 3"/>
          <p:cNvSpPr/>
          <p:nvPr/>
        </p:nvSpPr>
        <p:spPr>
          <a:xfrm>
            <a:off x="640080" y="1005840"/>
            <a:ext cx="54864" cy="1737360"/>
          </a:xfrm>
          <a:prstGeom prst="rect">
            <a:avLst/>
          </a:prstGeom>
          <a:solidFill>
            <a:srgbClr val="1D6FE0"/>
          </a:solidFill>
          <a:ln/>
        </p:spPr>
      </p:sp>
      <p:sp>
        <p:nvSpPr>
          <p:cNvPr id="6" name="Text 4"/>
          <p:cNvSpPr/>
          <p:nvPr/>
        </p:nvSpPr>
        <p:spPr>
          <a:xfrm>
            <a:off x="914400" y="1133856"/>
            <a:ext cx="10332720" cy="365760"/>
          </a:xfrm>
          <a:prstGeom prst="rect">
            <a:avLst/>
          </a:prstGeom>
          <a:noFill/>
          <a:ln/>
        </p:spPr>
        <p:txBody>
          <a:bodyPr wrap="square" rtlCol="0" anchor="ctr"/>
          <a:lstStyle/>
          <a:p>
            <a:pPr indent="0" marL="0">
              <a:buNone/>
            </a:pPr>
            <a:r>
              <a:rPr lang="en-US" sz="1500" b="1" dirty="0">
                <a:solidFill>
                  <a:srgbClr val="1B1F3B"/>
                </a:solidFill>
                <a:latin typeface="Georgia" pitchFamily="34" charset="0"/>
                <a:ea typeface="Georgia" pitchFamily="34" charset="-122"/>
                <a:cs typeface="Georgia" pitchFamily="34" charset="-120"/>
              </a:rPr>
              <a:t>Création rapide de tâche</a:t>
            </a:r>
            <a:endParaRPr lang="en-US" sz="1500" dirty="0"/>
          </a:p>
        </p:txBody>
      </p:sp>
      <p:sp>
        <p:nvSpPr>
          <p:cNvPr id="7" name="Text 5"/>
          <p:cNvSpPr/>
          <p:nvPr/>
        </p:nvSpPr>
        <p:spPr>
          <a:xfrm>
            <a:off x="914400" y="1536192"/>
            <a:ext cx="10332720" cy="1005840"/>
          </a:xfrm>
          <a:prstGeom prst="rect">
            <a:avLst/>
          </a:prstGeom>
          <a:noFill/>
          <a:ln/>
        </p:spPr>
        <p:txBody>
          <a:bodyPr wrap="square" rtlCol="0" anchor="ctr"/>
          <a:lstStyle/>
          <a:p>
            <a:pPr indent="0" marL="0">
              <a:lnSpc>
                <a:spcPts val="1600"/>
              </a:lnSpc>
              <a:buNone/>
            </a:pPr>
            <a:r>
              <a:rPr lang="en-US" sz="1150" dirty="0">
                <a:solidFill>
                  <a:srgbClr val="1B1F3B"/>
                </a:solidFill>
                <a:latin typeface="Segoe UI" pitchFamily="34" charset="0"/>
                <a:ea typeface="Segoe UI" pitchFamily="34" charset="-122"/>
                <a:cs typeface="Segoe UI" pitchFamily="34" charset="-120"/>
              </a:rPr>
              <a:t>Ajout d'une nouvelle tâche directement depuis le planning (libellé, pièce, date d'échéance).</a:t>
            </a:r>
            <a:endParaRPr lang="en-US" sz="1150" dirty="0"/>
          </a:p>
        </p:txBody>
      </p:sp>
      <p:sp>
        <p:nvSpPr>
          <p:cNvPr id="8" name="Text 6"/>
          <p:cNvSpPr/>
          <p:nvPr/>
        </p:nvSpPr>
        <p:spPr>
          <a:xfrm>
            <a:off x="365760" y="6510528"/>
            <a:ext cx="5486400" cy="274320"/>
          </a:xfrm>
          <a:prstGeom prst="rect">
            <a:avLst/>
          </a:prstGeom>
          <a:noFill/>
          <a:ln/>
        </p:spPr>
        <p:txBody>
          <a:bodyPr wrap="square" rtlCol="0" anchor="ctr"/>
          <a:lstStyle/>
          <a:p>
            <a:pPr indent="0" marL="0">
              <a:buNone/>
            </a:pPr>
            <a:r>
              <a:rPr lang="en-US" sz="850" dirty="0">
                <a:solidFill>
                  <a:srgbClr val="8A7C68"/>
                </a:solidFill>
                <a:latin typeface="Segoe UI" pitchFamily="34" charset="0"/>
                <a:ea typeface="Segoe UI" pitchFamily="34" charset="-122"/>
                <a:cs typeface="Segoe UI" pitchFamily="34" charset="-120"/>
              </a:rPr>
              <a:t>Kôji Web — Cahier des charges</a:t>
            </a:r>
            <a:endParaRPr lang="en-US" sz="850" dirty="0"/>
          </a:p>
        </p:txBody>
      </p:sp>
      <p:sp>
        <p:nvSpPr>
          <p:cNvPr id="9" name="Text 7"/>
          <p:cNvSpPr/>
          <p:nvPr/>
        </p:nvSpPr>
        <p:spPr>
          <a:xfrm>
            <a:off x="9601200" y="6510528"/>
            <a:ext cx="2194560" cy="274320"/>
          </a:xfrm>
          <a:prstGeom prst="rect">
            <a:avLst/>
          </a:prstGeom>
          <a:noFill/>
          <a:ln/>
        </p:spPr>
        <p:txBody>
          <a:bodyPr wrap="square" rtlCol="0" anchor="ctr"/>
          <a:lstStyle/>
          <a:p>
            <a:pPr algn="r" indent="0" marL="0">
              <a:buNone/>
            </a:pPr>
            <a:r>
              <a:rPr lang="en-US" sz="850" dirty="0">
                <a:solidFill>
                  <a:srgbClr val="8A7C68"/>
                </a:solidFill>
                <a:latin typeface="Segoe UI" pitchFamily="34" charset="0"/>
                <a:ea typeface="Segoe UI" pitchFamily="34" charset="-122"/>
                <a:cs typeface="Segoe UI" pitchFamily="34" charset="-120"/>
              </a:rPr>
              <a:t>46</a:t>
            </a:r>
            <a:endParaRPr lang="en-US" sz="850" dirty="0"/>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bg>
      <p:bgPr>
        <a:solidFill>
          <a:srgbClr val="0B1030"/>
        </a:solidFill>
      </p:bgPr>
    </p:bg>
    <p:spTree>
      <p:nvGrpSpPr>
        <p:cNvPr id="1" name=""/>
        <p:cNvGrpSpPr/>
        <p:nvPr/>
      </p:nvGrpSpPr>
      <p:grpSpPr>
        <a:xfrm>
          <a:off x="0" y="0"/>
          <a:ext cx="0" cy="0"/>
          <a:chOff x="0" y="0"/>
          <a:chExt cx="0" cy="0"/>
        </a:xfrm>
      </p:grpSpPr>
      <p:sp>
        <p:nvSpPr>
          <p:cNvPr id="2" name="Shape 0"/>
          <p:cNvSpPr/>
          <p:nvPr/>
        </p:nvSpPr>
        <p:spPr>
          <a:xfrm>
            <a:off x="0" y="3246120"/>
            <a:ext cx="12191695" cy="54864"/>
          </a:xfrm>
          <a:prstGeom prst="rect">
            <a:avLst/>
          </a:prstGeom>
          <a:solidFill>
            <a:srgbClr val="C9A96A"/>
          </a:solidFill>
          <a:ln/>
        </p:spPr>
      </p:sp>
      <p:sp>
        <p:nvSpPr>
          <p:cNvPr id="3" name="Text 1"/>
          <p:cNvSpPr/>
          <p:nvPr/>
        </p:nvSpPr>
        <p:spPr>
          <a:xfrm>
            <a:off x="640080" y="1920240"/>
            <a:ext cx="2743200" cy="548640"/>
          </a:xfrm>
          <a:prstGeom prst="rect">
            <a:avLst/>
          </a:prstGeom>
          <a:noFill/>
          <a:ln/>
        </p:spPr>
        <p:txBody>
          <a:bodyPr wrap="square" rtlCol="0" anchor="ctr"/>
          <a:lstStyle/>
          <a:p>
            <a:pPr indent="0" marL="0">
              <a:buNone/>
            </a:pPr>
            <a:r>
              <a:rPr lang="en-US" sz="1500" b="1" dirty="0">
                <a:solidFill>
                  <a:srgbClr val="C9A96A"/>
                </a:solidFill>
                <a:latin typeface="Segoe UI" pitchFamily="34" charset="0"/>
                <a:ea typeface="Segoe UI" pitchFamily="34" charset="-122"/>
                <a:cs typeface="Segoe UI" pitchFamily="34" charset="-120"/>
              </a:rPr>
              <a:t>10</a:t>
            </a:r>
            <a:endParaRPr lang="en-US" sz="1500" dirty="0"/>
          </a:p>
        </p:txBody>
      </p:sp>
      <p:sp>
        <p:nvSpPr>
          <p:cNvPr id="4" name="Text 2"/>
          <p:cNvSpPr/>
          <p:nvPr/>
        </p:nvSpPr>
        <p:spPr>
          <a:xfrm>
            <a:off x="640080" y="2377440"/>
            <a:ext cx="10515600" cy="914400"/>
          </a:xfrm>
          <a:prstGeom prst="rect">
            <a:avLst/>
          </a:prstGeom>
          <a:noFill/>
          <a:ln/>
        </p:spPr>
        <p:txBody>
          <a:bodyPr wrap="square" rtlCol="0" anchor="ctr"/>
          <a:lstStyle/>
          <a:p>
            <a:pPr indent="0" marL="0">
              <a:buNone/>
            </a:pPr>
            <a:r>
              <a:rPr lang="en-US" sz="3400" b="1" dirty="0">
                <a:solidFill>
                  <a:srgbClr val="FFFFFF"/>
                </a:solidFill>
                <a:latin typeface="Georgia" pitchFamily="34" charset="0"/>
                <a:ea typeface="Georgia" pitchFamily="34" charset="-122"/>
                <a:cs typeface="Georgia" pitchFamily="34" charset="-120"/>
              </a:rPr>
              <a:t>Fournitures</a:t>
            </a:r>
            <a:endParaRPr lang="en-US" sz="3400" dirty="0"/>
          </a:p>
        </p:txBody>
      </p:sp>
      <p:sp>
        <p:nvSpPr>
          <p:cNvPr id="5" name="Text 3"/>
          <p:cNvSpPr/>
          <p:nvPr/>
        </p:nvSpPr>
        <p:spPr>
          <a:xfrm>
            <a:off x="640080" y="3429000"/>
            <a:ext cx="10058400" cy="1188720"/>
          </a:xfrm>
          <a:prstGeom prst="rect">
            <a:avLst/>
          </a:prstGeom>
          <a:noFill/>
          <a:ln/>
        </p:spPr>
        <p:txBody>
          <a:bodyPr wrap="square" rtlCol="0" anchor="ctr"/>
          <a:lstStyle/>
          <a:p>
            <a:pPr indent="0" marL="0">
              <a:lnSpc>
                <a:spcPts val="1800"/>
              </a:lnSpc>
              <a:buNone/>
            </a:pPr>
            <a:r>
              <a:rPr lang="en-US" sz="1300" dirty="0">
                <a:solidFill>
                  <a:srgbClr val="C7C9E0"/>
                </a:solidFill>
                <a:latin typeface="Segoe UI" pitchFamily="34" charset="0"/>
                <a:ea typeface="Segoe UI" pitchFamily="34" charset="-122"/>
                <a:cs typeface="Segoe UI" pitchFamily="34" charset="-120"/>
              </a:rPr>
              <a:t>Catalogue des matériaux et produits utilisés dans les devis et achetés auprès des fournisseurs.</a:t>
            </a:r>
            <a:endParaRPr lang="en-US" sz="1300" dirty="0"/>
          </a:p>
        </p:txBody>
      </p:sp>
      <p:sp>
        <p:nvSpPr>
          <p:cNvPr id="6" name="Text 4"/>
          <p:cNvSpPr/>
          <p:nvPr/>
        </p:nvSpPr>
        <p:spPr>
          <a:xfrm>
            <a:off x="365760" y="6510528"/>
            <a:ext cx="5486400" cy="274320"/>
          </a:xfrm>
          <a:prstGeom prst="rect">
            <a:avLst/>
          </a:prstGeom>
          <a:noFill/>
          <a:ln/>
        </p:spPr>
        <p:txBody>
          <a:bodyPr wrap="square" rtlCol="0" anchor="ctr"/>
          <a:lstStyle/>
          <a:p>
            <a:pPr indent="0" marL="0">
              <a:buNone/>
            </a:pPr>
            <a:r>
              <a:rPr lang="en-US" sz="850" dirty="0">
                <a:solidFill>
                  <a:srgbClr val="8A7C68"/>
                </a:solidFill>
                <a:latin typeface="Segoe UI" pitchFamily="34" charset="0"/>
                <a:ea typeface="Segoe UI" pitchFamily="34" charset="-122"/>
                <a:cs typeface="Segoe UI" pitchFamily="34" charset="-120"/>
              </a:rPr>
              <a:t>Kôji Web — Cahier des charges</a:t>
            </a:r>
            <a:endParaRPr lang="en-US" sz="850" dirty="0"/>
          </a:p>
        </p:txBody>
      </p:sp>
      <p:sp>
        <p:nvSpPr>
          <p:cNvPr id="7" name="Text 5"/>
          <p:cNvSpPr/>
          <p:nvPr/>
        </p:nvSpPr>
        <p:spPr>
          <a:xfrm>
            <a:off x="9601200" y="6510528"/>
            <a:ext cx="2194560" cy="274320"/>
          </a:xfrm>
          <a:prstGeom prst="rect">
            <a:avLst/>
          </a:prstGeom>
          <a:noFill/>
          <a:ln/>
        </p:spPr>
        <p:txBody>
          <a:bodyPr wrap="square" rtlCol="0" anchor="ctr"/>
          <a:lstStyle/>
          <a:p>
            <a:pPr algn="r" indent="0" marL="0">
              <a:buNone/>
            </a:pPr>
            <a:r>
              <a:rPr lang="en-US" sz="850" dirty="0">
                <a:solidFill>
                  <a:srgbClr val="8A7C68"/>
                </a:solidFill>
                <a:latin typeface="Segoe UI" pitchFamily="34" charset="0"/>
                <a:ea typeface="Segoe UI" pitchFamily="34" charset="-122"/>
                <a:cs typeface="Segoe UI" pitchFamily="34" charset="-120"/>
              </a:rPr>
              <a:t>47</a:t>
            </a:r>
            <a:endParaRPr lang="en-US" sz="850" dirty="0"/>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3108960" cy="365760"/>
          </a:xfrm>
          <a:prstGeom prst="roundRect">
            <a:avLst>
              <a:gd name="adj" fmla="val 50000"/>
            </a:avLst>
          </a:prstGeom>
          <a:solidFill>
            <a:srgbClr val="F7EADF"/>
          </a:solidFill>
          <a:ln/>
        </p:spPr>
      </p:sp>
      <p:sp>
        <p:nvSpPr>
          <p:cNvPr id="3" name="Text 1"/>
          <p:cNvSpPr/>
          <p:nvPr/>
        </p:nvSpPr>
        <p:spPr>
          <a:xfrm>
            <a:off x="640080" y="411480"/>
            <a:ext cx="3108960" cy="365760"/>
          </a:xfrm>
          <a:prstGeom prst="rect">
            <a:avLst/>
          </a:prstGeom>
          <a:noFill/>
          <a:ln/>
        </p:spPr>
        <p:txBody>
          <a:bodyPr wrap="square" rtlCol="0" anchor="ctr"/>
          <a:lstStyle/>
          <a:p>
            <a:pPr algn="ctr" indent="0" marL="0">
              <a:buNone/>
            </a:pPr>
            <a:r>
              <a:rPr lang="en-US" sz="950" b="1" spc="100" kern="0" dirty="0">
                <a:solidFill>
                  <a:srgbClr val="9A7C5C"/>
                </a:solidFill>
                <a:latin typeface="Segoe UI" pitchFamily="34" charset="0"/>
                <a:ea typeface="Segoe UI" pitchFamily="34" charset="-122"/>
                <a:cs typeface="Segoe UI" pitchFamily="34" charset="-120"/>
              </a:rPr>
              <a:t>FOURNITURES</a:t>
            </a:r>
            <a:endParaRPr lang="en-US" sz="950" dirty="0"/>
          </a:p>
        </p:txBody>
      </p:sp>
      <p:sp>
        <p:nvSpPr>
          <p:cNvPr id="4" name="Shape 2"/>
          <p:cNvSpPr/>
          <p:nvPr/>
        </p:nvSpPr>
        <p:spPr>
          <a:xfrm>
            <a:off x="640080" y="1005840"/>
            <a:ext cx="10881360" cy="2606040"/>
          </a:xfrm>
          <a:prstGeom prst="roundRect">
            <a:avLst>
              <a:gd name="adj" fmla="val 2105"/>
            </a:avLst>
          </a:prstGeom>
          <a:solidFill>
            <a:srgbClr val="FFFFFF"/>
          </a:solidFill>
          <a:ln w="12700">
            <a:solidFill>
              <a:srgbClr val="E4DCCB"/>
            </a:solidFill>
            <a:prstDash val="solid"/>
          </a:ln>
        </p:spPr>
      </p:sp>
      <p:sp>
        <p:nvSpPr>
          <p:cNvPr id="5" name="Shape 3"/>
          <p:cNvSpPr/>
          <p:nvPr/>
        </p:nvSpPr>
        <p:spPr>
          <a:xfrm>
            <a:off x="640080" y="1005840"/>
            <a:ext cx="54864" cy="2606040"/>
          </a:xfrm>
          <a:prstGeom prst="rect">
            <a:avLst/>
          </a:prstGeom>
          <a:solidFill>
            <a:srgbClr val="1D6FE0"/>
          </a:solidFill>
          <a:ln/>
        </p:spPr>
      </p:sp>
      <p:sp>
        <p:nvSpPr>
          <p:cNvPr id="6" name="Text 4"/>
          <p:cNvSpPr/>
          <p:nvPr/>
        </p:nvSpPr>
        <p:spPr>
          <a:xfrm>
            <a:off x="914400" y="1133856"/>
            <a:ext cx="10332720" cy="365760"/>
          </a:xfrm>
          <a:prstGeom prst="rect">
            <a:avLst/>
          </a:prstGeom>
          <a:noFill/>
          <a:ln/>
        </p:spPr>
        <p:txBody>
          <a:bodyPr wrap="square" rtlCol="0" anchor="ctr"/>
          <a:lstStyle/>
          <a:p>
            <a:pPr indent="0" marL="0">
              <a:buNone/>
            </a:pPr>
            <a:r>
              <a:rPr lang="en-US" sz="1500" b="1" dirty="0">
                <a:solidFill>
                  <a:srgbClr val="1B1F3B"/>
                </a:solidFill>
                <a:latin typeface="Georgia" pitchFamily="34" charset="0"/>
                <a:ea typeface="Georgia" pitchFamily="34" charset="-122"/>
                <a:cs typeface="Georgia" pitchFamily="34" charset="-120"/>
              </a:rPr>
              <a:t>Gestion des fournitures</a:t>
            </a:r>
            <a:endParaRPr lang="en-US" sz="1500" dirty="0"/>
          </a:p>
        </p:txBody>
      </p:sp>
      <p:sp>
        <p:nvSpPr>
          <p:cNvPr id="7" name="Text 5"/>
          <p:cNvSpPr/>
          <p:nvPr/>
        </p:nvSpPr>
        <p:spPr>
          <a:xfrm>
            <a:off x="914400" y="1536192"/>
            <a:ext cx="10332720" cy="1051560"/>
          </a:xfrm>
          <a:prstGeom prst="rect">
            <a:avLst/>
          </a:prstGeom>
          <a:noFill/>
          <a:ln/>
        </p:spPr>
        <p:txBody>
          <a:bodyPr wrap="square" rtlCol="0" anchor="ctr"/>
          <a:lstStyle/>
          <a:p>
            <a:pPr indent="0" marL="0">
              <a:lnSpc>
                <a:spcPts val="1600"/>
              </a:lnSpc>
              <a:buNone/>
            </a:pPr>
            <a:r>
              <a:rPr lang="en-US" sz="1150" dirty="0">
                <a:solidFill>
                  <a:srgbClr val="1B1F3B"/>
                </a:solidFill>
                <a:latin typeface="Segoe UI" pitchFamily="34" charset="0"/>
                <a:ea typeface="Segoe UI" pitchFamily="34" charset="-122"/>
                <a:cs typeface="Segoe UI" pitchFamily="34" charset="-120"/>
              </a:rPr>
              <a:t>Création, édition, catégorisation des fournitures (matériaux), avec prix d'achat/de vente.</a:t>
            </a:r>
            <a:endParaRPr lang="en-US" sz="1150" dirty="0"/>
          </a:p>
        </p:txBody>
      </p:sp>
      <p:sp>
        <p:nvSpPr>
          <p:cNvPr id="8" name="Text 6"/>
          <p:cNvSpPr/>
          <p:nvPr/>
        </p:nvSpPr>
        <p:spPr>
          <a:xfrm>
            <a:off x="914400" y="2743200"/>
            <a:ext cx="10332720" cy="228600"/>
          </a:xfrm>
          <a:prstGeom prst="rect">
            <a:avLst/>
          </a:prstGeom>
          <a:noFill/>
          <a:ln/>
        </p:spPr>
        <p:txBody>
          <a:bodyPr wrap="square" rtlCol="0" anchor="ctr"/>
          <a:lstStyle/>
          <a:p>
            <a:pPr indent="0" marL="0">
              <a:buNone/>
            </a:pPr>
            <a:r>
              <a:rPr lang="en-US" sz="800" b="1" spc="100" kern="0" dirty="0">
                <a:solidFill>
                  <a:srgbClr val="9A7C5C"/>
                </a:solidFill>
                <a:latin typeface="Segoe UI" pitchFamily="34" charset="0"/>
                <a:ea typeface="Segoe UI" pitchFamily="34" charset="-122"/>
                <a:cs typeface="Segoe UI" pitchFamily="34" charset="-120"/>
              </a:rPr>
              <a:t>RÉALISATION TECHNIQUE</a:t>
            </a:r>
            <a:endParaRPr lang="en-US" sz="800" dirty="0"/>
          </a:p>
        </p:txBody>
      </p:sp>
      <p:sp>
        <p:nvSpPr>
          <p:cNvPr id="9" name="Text 7"/>
          <p:cNvSpPr/>
          <p:nvPr/>
        </p:nvSpPr>
        <p:spPr>
          <a:xfrm>
            <a:off x="914400" y="2990088"/>
            <a:ext cx="10332720" cy="548640"/>
          </a:xfrm>
          <a:prstGeom prst="rect">
            <a:avLst/>
          </a:prstGeom>
          <a:noFill/>
          <a:ln/>
        </p:spPr>
        <p:txBody>
          <a:bodyPr wrap="square" rtlCol="0" anchor="ctr"/>
          <a:lstStyle/>
          <a:p>
            <a:pPr indent="0" marL="0">
              <a:lnSpc>
                <a:spcPts val="1400"/>
              </a:lnSpc>
              <a:buNone/>
            </a:pPr>
            <a:r>
              <a:rPr lang="en-US" sz="1000" i="1" dirty="0">
                <a:solidFill>
                  <a:srgbClr val="8A7C68"/>
                </a:solidFill>
                <a:latin typeface="Segoe UI" pitchFamily="34" charset="0"/>
                <a:ea typeface="Segoe UI" pitchFamily="34" charset="-122"/>
                <a:cs typeface="Segoe UI" pitchFamily="34" charset="-120"/>
              </a:rPr>
              <a:t>Page /fournitures, API /api/supplies, /api/categories.</a:t>
            </a:r>
            <a:endParaRPr lang="en-US" sz="1000" dirty="0"/>
          </a:p>
        </p:txBody>
      </p:sp>
      <p:sp>
        <p:nvSpPr>
          <p:cNvPr id="10" name="Shape 8"/>
          <p:cNvSpPr/>
          <p:nvPr/>
        </p:nvSpPr>
        <p:spPr>
          <a:xfrm>
            <a:off x="640080" y="3813048"/>
            <a:ext cx="10881360" cy="2606040"/>
          </a:xfrm>
          <a:prstGeom prst="roundRect">
            <a:avLst>
              <a:gd name="adj" fmla="val 2105"/>
            </a:avLst>
          </a:prstGeom>
          <a:solidFill>
            <a:srgbClr val="FFFFFF"/>
          </a:solidFill>
          <a:ln w="12700">
            <a:solidFill>
              <a:srgbClr val="E4DCCB"/>
            </a:solidFill>
            <a:prstDash val="solid"/>
          </a:ln>
        </p:spPr>
      </p:sp>
      <p:sp>
        <p:nvSpPr>
          <p:cNvPr id="11" name="Shape 9"/>
          <p:cNvSpPr/>
          <p:nvPr/>
        </p:nvSpPr>
        <p:spPr>
          <a:xfrm>
            <a:off x="640080" y="3813048"/>
            <a:ext cx="54864" cy="2606040"/>
          </a:xfrm>
          <a:prstGeom prst="rect">
            <a:avLst/>
          </a:prstGeom>
          <a:solidFill>
            <a:srgbClr val="1D6FE0"/>
          </a:solidFill>
          <a:ln/>
        </p:spPr>
      </p:sp>
      <p:sp>
        <p:nvSpPr>
          <p:cNvPr id="12" name="Text 10"/>
          <p:cNvSpPr/>
          <p:nvPr/>
        </p:nvSpPr>
        <p:spPr>
          <a:xfrm>
            <a:off x="914400" y="3941064"/>
            <a:ext cx="10332720" cy="365760"/>
          </a:xfrm>
          <a:prstGeom prst="rect">
            <a:avLst/>
          </a:prstGeom>
          <a:noFill/>
          <a:ln/>
        </p:spPr>
        <p:txBody>
          <a:bodyPr wrap="square" rtlCol="0" anchor="ctr"/>
          <a:lstStyle/>
          <a:p>
            <a:pPr indent="0" marL="0">
              <a:buNone/>
            </a:pPr>
            <a:r>
              <a:rPr lang="en-US" sz="1500" b="1" dirty="0">
                <a:solidFill>
                  <a:srgbClr val="1B1F3B"/>
                </a:solidFill>
                <a:latin typeface="Georgia" pitchFamily="34" charset="0"/>
                <a:ea typeface="Georgia" pitchFamily="34" charset="-122"/>
                <a:cs typeface="Georgia" pitchFamily="34" charset="-120"/>
              </a:rPr>
              <a:t>Gestion des fournisseurs</a:t>
            </a:r>
            <a:endParaRPr lang="en-US" sz="1500" dirty="0"/>
          </a:p>
        </p:txBody>
      </p:sp>
      <p:sp>
        <p:nvSpPr>
          <p:cNvPr id="13" name="Text 11"/>
          <p:cNvSpPr/>
          <p:nvPr/>
        </p:nvSpPr>
        <p:spPr>
          <a:xfrm>
            <a:off x="914400" y="4343400"/>
            <a:ext cx="10332720" cy="1051560"/>
          </a:xfrm>
          <a:prstGeom prst="rect">
            <a:avLst/>
          </a:prstGeom>
          <a:noFill/>
          <a:ln/>
        </p:spPr>
        <p:txBody>
          <a:bodyPr wrap="square" rtlCol="0" anchor="ctr"/>
          <a:lstStyle/>
          <a:p>
            <a:pPr indent="0" marL="0">
              <a:lnSpc>
                <a:spcPts val="1600"/>
              </a:lnSpc>
              <a:buNone/>
            </a:pPr>
            <a:r>
              <a:rPr lang="en-US" sz="1150" dirty="0">
                <a:solidFill>
                  <a:srgbClr val="1B1F3B"/>
                </a:solidFill>
                <a:latin typeface="Segoe UI" pitchFamily="34" charset="0"/>
                <a:ea typeface="Segoe UI" pitchFamily="34" charset="-122"/>
                <a:cs typeface="Segoe UI" pitchFamily="34" charset="-120"/>
              </a:rPr>
              <a:t>Répertoire des fournisseurs associés aux fournitures.</a:t>
            </a:r>
            <a:endParaRPr lang="en-US" sz="1150" dirty="0"/>
          </a:p>
        </p:txBody>
      </p:sp>
      <p:sp>
        <p:nvSpPr>
          <p:cNvPr id="14" name="Text 12"/>
          <p:cNvSpPr/>
          <p:nvPr/>
        </p:nvSpPr>
        <p:spPr>
          <a:xfrm>
            <a:off x="914400" y="5550408"/>
            <a:ext cx="10332720" cy="228600"/>
          </a:xfrm>
          <a:prstGeom prst="rect">
            <a:avLst/>
          </a:prstGeom>
          <a:noFill/>
          <a:ln/>
        </p:spPr>
        <p:txBody>
          <a:bodyPr wrap="square" rtlCol="0" anchor="ctr"/>
          <a:lstStyle/>
          <a:p>
            <a:pPr indent="0" marL="0">
              <a:buNone/>
            </a:pPr>
            <a:r>
              <a:rPr lang="en-US" sz="800" b="1" spc="100" kern="0" dirty="0">
                <a:solidFill>
                  <a:srgbClr val="9A7C5C"/>
                </a:solidFill>
                <a:latin typeface="Segoe UI" pitchFamily="34" charset="0"/>
                <a:ea typeface="Segoe UI" pitchFamily="34" charset="-122"/>
                <a:cs typeface="Segoe UI" pitchFamily="34" charset="-120"/>
              </a:rPr>
              <a:t>RÉALISATION TECHNIQUE</a:t>
            </a:r>
            <a:endParaRPr lang="en-US" sz="800" dirty="0"/>
          </a:p>
        </p:txBody>
      </p:sp>
      <p:sp>
        <p:nvSpPr>
          <p:cNvPr id="15" name="Text 13"/>
          <p:cNvSpPr/>
          <p:nvPr/>
        </p:nvSpPr>
        <p:spPr>
          <a:xfrm>
            <a:off x="914400" y="5797296"/>
            <a:ext cx="10332720" cy="548640"/>
          </a:xfrm>
          <a:prstGeom prst="rect">
            <a:avLst/>
          </a:prstGeom>
          <a:noFill/>
          <a:ln/>
        </p:spPr>
        <p:txBody>
          <a:bodyPr wrap="square" rtlCol="0" anchor="ctr"/>
          <a:lstStyle/>
          <a:p>
            <a:pPr indent="0" marL="0">
              <a:lnSpc>
                <a:spcPts val="1400"/>
              </a:lnSpc>
              <a:buNone/>
            </a:pPr>
            <a:r>
              <a:rPr lang="en-US" sz="1000" i="1" dirty="0">
                <a:solidFill>
                  <a:srgbClr val="8A7C68"/>
                </a:solidFill>
                <a:latin typeface="Segoe UI" pitchFamily="34" charset="0"/>
                <a:ea typeface="Segoe UI" pitchFamily="34" charset="-122"/>
                <a:cs typeface="Segoe UI" pitchFamily="34" charset="-120"/>
              </a:rPr>
              <a:t>API /api/suppliers.</a:t>
            </a:r>
            <a:endParaRPr lang="en-US" sz="1000" dirty="0"/>
          </a:p>
        </p:txBody>
      </p:sp>
      <p:sp>
        <p:nvSpPr>
          <p:cNvPr id="16" name="Text 14"/>
          <p:cNvSpPr/>
          <p:nvPr/>
        </p:nvSpPr>
        <p:spPr>
          <a:xfrm>
            <a:off x="365760" y="6510528"/>
            <a:ext cx="5486400" cy="274320"/>
          </a:xfrm>
          <a:prstGeom prst="rect">
            <a:avLst/>
          </a:prstGeom>
          <a:noFill/>
          <a:ln/>
        </p:spPr>
        <p:txBody>
          <a:bodyPr wrap="square" rtlCol="0" anchor="ctr"/>
          <a:lstStyle/>
          <a:p>
            <a:pPr indent="0" marL="0">
              <a:buNone/>
            </a:pPr>
            <a:r>
              <a:rPr lang="en-US" sz="850" dirty="0">
                <a:solidFill>
                  <a:srgbClr val="8A7C68"/>
                </a:solidFill>
                <a:latin typeface="Segoe UI" pitchFamily="34" charset="0"/>
                <a:ea typeface="Segoe UI" pitchFamily="34" charset="-122"/>
                <a:cs typeface="Segoe UI" pitchFamily="34" charset="-120"/>
              </a:rPr>
              <a:t>Kôji Web — Cahier des charges</a:t>
            </a:r>
            <a:endParaRPr lang="en-US" sz="850" dirty="0"/>
          </a:p>
        </p:txBody>
      </p:sp>
      <p:sp>
        <p:nvSpPr>
          <p:cNvPr id="17" name="Text 15"/>
          <p:cNvSpPr/>
          <p:nvPr/>
        </p:nvSpPr>
        <p:spPr>
          <a:xfrm>
            <a:off x="9601200" y="6510528"/>
            <a:ext cx="2194560" cy="274320"/>
          </a:xfrm>
          <a:prstGeom prst="rect">
            <a:avLst/>
          </a:prstGeom>
          <a:noFill/>
          <a:ln/>
        </p:spPr>
        <p:txBody>
          <a:bodyPr wrap="square" rtlCol="0" anchor="ctr"/>
          <a:lstStyle/>
          <a:p>
            <a:pPr algn="r" indent="0" marL="0">
              <a:buNone/>
            </a:pPr>
            <a:r>
              <a:rPr lang="en-US" sz="850" dirty="0">
                <a:solidFill>
                  <a:srgbClr val="8A7C68"/>
                </a:solidFill>
                <a:latin typeface="Segoe UI" pitchFamily="34" charset="0"/>
                <a:ea typeface="Segoe UI" pitchFamily="34" charset="-122"/>
                <a:cs typeface="Segoe UI" pitchFamily="34" charset="-120"/>
              </a:rPr>
              <a:t>48</a:t>
            </a:r>
            <a:endParaRPr lang="en-US" sz="850" dirty="0"/>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3108960" cy="365760"/>
          </a:xfrm>
          <a:prstGeom prst="roundRect">
            <a:avLst>
              <a:gd name="adj" fmla="val 50000"/>
            </a:avLst>
          </a:prstGeom>
          <a:solidFill>
            <a:srgbClr val="F7EADF"/>
          </a:solidFill>
          <a:ln/>
        </p:spPr>
      </p:sp>
      <p:sp>
        <p:nvSpPr>
          <p:cNvPr id="3" name="Text 1"/>
          <p:cNvSpPr/>
          <p:nvPr/>
        </p:nvSpPr>
        <p:spPr>
          <a:xfrm>
            <a:off x="640080" y="411480"/>
            <a:ext cx="3108960" cy="365760"/>
          </a:xfrm>
          <a:prstGeom prst="rect">
            <a:avLst/>
          </a:prstGeom>
          <a:noFill/>
          <a:ln/>
        </p:spPr>
        <p:txBody>
          <a:bodyPr wrap="square" rtlCol="0" anchor="ctr"/>
          <a:lstStyle/>
          <a:p>
            <a:pPr algn="ctr" indent="0" marL="0">
              <a:buNone/>
            </a:pPr>
            <a:r>
              <a:rPr lang="en-US" sz="950" b="1" spc="100" kern="0" dirty="0">
                <a:solidFill>
                  <a:srgbClr val="9A7C5C"/>
                </a:solidFill>
                <a:latin typeface="Segoe UI" pitchFamily="34" charset="0"/>
                <a:ea typeface="Segoe UI" pitchFamily="34" charset="-122"/>
                <a:cs typeface="Segoe UI" pitchFamily="34" charset="-120"/>
              </a:rPr>
              <a:t>FOURNITURES</a:t>
            </a:r>
            <a:endParaRPr lang="en-US" sz="950" dirty="0"/>
          </a:p>
        </p:txBody>
      </p:sp>
      <p:sp>
        <p:nvSpPr>
          <p:cNvPr id="4" name="Shape 2"/>
          <p:cNvSpPr/>
          <p:nvPr/>
        </p:nvSpPr>
        <p:spPr>
          <a:xfrm>
            <a:off x="640080" y="1005840"/>
            <a:ext cx="10881360" cy="1737360"/>
          </a:xfrm>
          <a:prstGeom prst="roundRect">
            <a:avLst>
              <a:gd name="adj" fmla="val 3158"/>
            </a:avLst>
          </a:prstGeom>
          <a:solidFill>
            <a:srgbClr val="FFFFFF"/>
          </a:solidFill>
          <a:ln w="12700">
            <a:solidFill>
              <a:srgbClr val="E4DCCB"/>
            </a:solidFill>
            <a:prstDash val="solid"/>
          </a:ln>
        </p:spPr>
      </p:sp>
      <p:sp>
        <p:nvSpPr>
          <p:cNvPr id="5" name="Shape 3"/>
          <p:cNvSpPr/>
          <p:nvPr/>
        </p:nvSpPr>
        <p:spPr>
          <a:xfrm>
            <a:off x="640080" y="1005840"/>
            <a:ext cx="54864" cy="1737360"/>
          </a:xfrm>
          <a:prstGeom prst="rect">
            <a:avLst/>
          </a:prstGeom>
          <a:solidFill>
            <a:srgbClr val="1D6FE0"/>
          </a:solidFill>
          <a:ln/>
        </p:spPr>
      </p:sp>
      <p:sp>
        <p:nvSpPr>
          <p:cNvPr id="6" name="Text 4"/>
          <p:cNvSpPr/>
          <p:nvPr/>
        </p:nvSpPr>
        <p:spPr>
          <a:xfrm>
            <a:off x="914400" y="1133856"/>
            <a:ext cx="10332720" cy="365760"/>
          </a:xfrm>
          <a:prstGeom prst="rect">
            <a:avLst/>
          </a:prstGeom>
          <a:noFill/>
          <a:ln/>
        </p:spPr>
        <p:txBody>
          <a:bodyPr wrap="square" rtlCol="0" anchor="ctr"/>
          <a:lstStyle/>
          <a:p>
            <a:pPr indent="0" marL="0">
              <a:buNone/>
            </a:pPr>
            <a:r>
              <a:rPr lang="en-US" sz="1500" b="1" dirty="0">
                <a:solidFill>
                  <a:srgbClr val="1B1F3B"/>
                </a:solidFill>
                <a:latin typeface="Georgia" pitchFamily="34" charset="0"/>
                <a:ea typeface="Georgia" pitchFamily="34" charset="-122"/>
                <a:cs typeface="Georgia" pitchFamily="34" charset="-120"/>
              </a:rPr>
              <a:t>Import depuis une URL</a:t>
            </a:r>
            <a:endParaRPr lang="en-US" sz="1500" dirty="0"/>
          </a:p>
        </p:txBody>
      </p:sp>
      <p:sp>
        <p:nvSpPr>
          <p:cNvPr id="7" name="Text 5"/>
          <p:cNvSpPr/>
          <p:nvPr/>
        </p:nvSpPr>
        <p:spPr>
          <a:xfrm>
            <a:off x="914400" y="1536192"/>
            <a:ext cx="10332720" cy="1005840"/>
          </a:xfrm>
          <a:prstGeom prst="rect">
            <a:avLst/>
          </a:prstGeom>
          <a:noFill/>
          <a:ln/>
        </p:spPr>
        <p:txBody>
          <a:bodyPr wrap="square" rtlCol="0" anchor="ctr"/>
          <a:lstStyle/>
          <a:p>
            <a:pPr indent="0" marL="0">
              <a:lnSpc>
                <a:spcPts val="1600"/>
              </a:lnSpc>
              <a:buNone/>
            </a:pPr>
            <a:r>
              <a:rPr lang="en-US" sz="1150" dirty="0">
                <a:solidFill>
                  <a:srgbClr val="1B1F3B"/>
                </a:solidFill>
                <a:latin typeface="Segoe UI" pitchFamily="34" charset="0"/>
                <a:ea typeface="Segoe UI" pitchFamily="34" charset="-122"/>
                <a:cs typeface="Segoe UI" pitchFamily="34" charset="-120"/>
              </a:rPr>
              <a:t>Ajout rapide d'une fourniture en collant le lien d'une fiche produit fournisseur.</a:t>
            </a:r>
            <a:endParaRPr lang="en-US" sz="1150" dirty="0"/>
          </a:p>
        </p:txBody>
      </p:sp>
      <p:sp>
        <p:nvSpPr>
          <p:cNvPr id="8" name="Shape 6"/>
          <p:cNvSpPr/>
          <p:nvPr/>
        </p:nvSpPr>
        <p:spPr>
          <a:xfrm>
            <a:off x="640080" y="2944368"/>
            <a:ext cx="10881360" cy="1737360"/>
          </a:xfrm>
          <a:prstGeom prst="roundRect">
            <a:avLst>
              <a:gd name="adj" fmla="val 3158"/>
            </a:avLst>
          </a:prstGeom>
          <a:solidFill>
            <a:srgbClr val="FFFFFF"/>
          </a:solidFill>
          <a:ln w="12700">
            <a:solidFill>
              <a:srgbClr val="E4DCCB"/>
            </a:solidFill>
            <a:prstDash val="solid"/>
          </a:ln>
        </p:spPr>
      </p:sp>
      <p:sp>
        <p:nvSpPr>
          <p:cNvPr id="9" name="Shape 7"/>
          <p:cNvSpPr/>
          <p:nvPr/>
        </p:nvSpPr>
        <p:spPr>
          <a:xfrm>
            <a:off x="640080" y="2944368"/>
            <a:ext cx="54864" cy="1737360"/>
          </a:xfrm>
          <a:prstGeom prst="rect">
            <a:avLst/>
          </a:prstGeom>
          <a:solidFill>
            <a:srgbClr val="1D6FE0"/>
          </a:solidFill>
          <a:ln/>
        </p:spPr>
      </p:sp>
      <p:sp>
        <p:nvSpPr>
          <p:cNvPr id="10" name="Text 8"/>
          <p:cNvSpPr/>
          <p:nvPr/>
        </p:nvSpPr>
        <p:spPr>
          <a:xfrm>
            <a:off x="914400" y="3072384"/>
            <a:ext cx="10332720" cy="365760"/>
          </a:xfrm>
          <a:prstGeom prst="rect">
            <a:avLst/>
          </a:prstGeom>
          <a:noFill/>
          <a:ln/>
        </p:spPr>
        <p:txBody>
          <a:bodyPr wrap="square" rtlCol="0" anchor="ctr"/>
          <a:lstStyle/>
          <a:p>
            <a:pPr indent="0" marL="0">
              <a:buNone/>
            </a:pPr>
            <a:r>
              <a:rPr lang="en-US" sz="1500" b="1" dirty="0">
                <a:solidFill>
                  <a:srgbClr val="1B1F3B"/>
                </a:solidFill>
                <a:latin typeface="Georgia" pitchFamily="34" charset="0"/>
                <a:ea typeface="Georgia" pitchFamily="34" charset="-122"/>
                <a:cs typeface="Georgia" pitchFamily="34" charset="-120"/>
              </a:rPr>
              <a:t>Indication d'affichage</a:t>
            </a:r>
            <a:endParaRPr lang="en-US" sz="1500" dirty="0"/>
          </a:p>
        </p:txBody>
      </p:sp>
      <p:sp>
        <p:nvSpPr>
          <p:cNvPr id="11" name="Text 9"/>
          <p:cNvSpPr/>
          <p:nvPr/>
        </p:nvSpPr>
        <p:spPr>
          <a:xfrm>
            <a:off x="914400" y="3474720"/>
            <a:ext cx="10332720" cy="1005840"/>
          </a:xfrm>
          <a:prstGeom prst="rect">
            <a:avLst/>
          </a:prstGeom>
          <a:noFill/>
          <a:ln/>
        </p:spPr>
        <p:txBody>
          <a:bodyPr wrap="square" rtlCol="0" anchor="ctr"/>
          <a:lstStyle/>
          <a:p>
            <a:pPr indent="0" marL="0">
              <a:lnSpc>
                <a:spcPts val="1600"/>
              </a:lnSpc>
              <a:buNone/>
            </a:pPr>
            <a:r>
              <a:rPr lang="en-US" sz="1150" dirty="0">
                <a:solidFill>
                  <a:srgbClr val="1B1F3B"/>
                </a:solidFill>
                <a:latin typeface="Segoe UI" pitchFamily="34" charset="0"/>
                <a:ea typeface="Segoe UI" pitchFamily="34" charset="-122"/>
                <a:cs typeface="Segoe UI" pitchFamily="34" charset="-120"/>
              </a:rPr>
              <a:t>Un indice précise, sous la description, que celle-ci sera visible sur le devis et la facture envoyés au client.</a:t>
            </a:r>
            <a:endParaRPr lang="en-US" sz="1150" dirty="0"/>
          </a:p>
        </p:txBody>
      </p:sp>
      <p:sp>
        <p:nvSpPr>
          <p:cNvPr id="12" name="Text 10"/>
          <p:cNvSpPr/>
          <p:nvPr/>
        </p:nvSpPr>
        <p:spPr>
          <a:xfrm>
            <a:off x="365760" y="6510528"/>
            <a:ext cx="5486400" cy="274320"/>
          </a:xfrm>
          <a:prstGeom prst="rect">
            <a:avLst/>
          </a:prstGeom>
          <a:noFill/>
          <a:ln/>
        </p:spPr>
        <p:txBody>
          <a:bodyPr wrap="square" rtlCol="0" anchor="ctr"/>
          <a:lstStyle/>
          <a:p>
            <a:pPr indent="0" marL="0">
              <a:buNone/>
            </a:pPr>
            <a:r>
              <a:rPr lang="en-US" sz="850" dirty="0">
                <a:solidFill>
                  <a:srgbClr val="8A7C68"/>
                </a:solidFill>
                <a:latin typeface="Segoe UI" pitchFamily="34" charset="0"/>
                <a:ea typeface="Segoe UI" pitchFamily="34" charset="-122"/>
                <a:cs typeface="Segoe UI" pitchFamily="34" charset="-120"/>
              </a:rPr>
              <a:t>Kôji Web — Cahier des charges</a:t>
            </a:r>
            <a:endParaRPr lang="en-US" sz="850" dirty="0"/>
          </a:p>
        </p:txBody>
      </p:sp>
      <p:sp>
        <p:nvSpPr>
          <p:cNvPr id="13" name="Text 11"/>
          <p:cNvSpPr/>
          <p:nvPr/>
        </p:nvSpPr>
        <p:spPr>
          <a:xfrm>
            <a:off x="9601200" y="6510528"/>
            <a:ext cx="2194560" cy="274320"/>
          </a:xfrm>
          <a:prstGeom prst="rect">
            <a:avLst/>
          </a:prstGeom>
          <a:noFill/>
          <a:ln/>
        </p:spPr>
        <p:txBody>
          <a:bodyPr wrap="square" rtlCol="0" anchor="ctr"/>
          <a:lstStyle/>
          <a:p>
            <a:pPr algn="r" indent="0" marL="0">
              <a:buNone/>
            </a:pPr>
            <a:r>
              <a:rPr lang="en-US" sz="850" dirty="0">
                <a:solidFill>
                  <a:srgbClr val="8A7C68"/>
                </a:solidFill>
                <a:latin typeface="Segoe UI" pitchFamily="34" charset="0"/>
                <a:ea typeface="Segoe UI" pitchFamily="34" charset="-122"/>
                <a:cs typeface="Segoe UI" pitchFamily="34" charset="-120"/>
              </a:rPr>
              <a:t>49</a:t>
            </a:r>
            <a:endParaRPr lang="en-US" sz="850" dirty="0"/>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bg>
      <p:bgPr>
        <a:solidFill>
          <a:srgbClr val="0B1030"/>
        </a:solidFill>
      </p:bgPr>
    </p:bg>
    <p:spTree>
      <p:nvGrpSpPr>
        <p:cNvPr id="1" name=""/>
        <p:cNvGrpSpPr/>
        <p:nvPr/>
      </p:nvGrpSpPr>
      <p:grpSpPr>
        <a:xfrm>
          <a:off x="0" y="0"/>
          <a:ext cx="0" cy="0"/>
          <a:chOff x="0" y="0"/>
          <a:chExt cx="0" cy="0"/>
        </a:xfrm>
      </p:grpSpPr>
      <p:sp>
        <p:nvSpPr>
          <p:cNvPr id="2" name="Shape 0"/>
          <p:cNvSpPr/>
          <p:nvPr/>
        </p:nvSpPr>
        <p:spPr>
          <a:xfrm>
            <a:off x="0" y="3246120"/>
            <a:ext cx="12191695" cy="54864"/>
          </a:xfrm>
          <a:prstGeom prst="rect">
            <a:avLst/>
          </a:prstGeom>
          <a:solidFill>
            <a:srgbClr val="C9A96A"/>
          </a:solidFill>
          <a:ln/>
        </p:spPr>
      </p:sp>
      <p:sp>
        <p:nvSpPr>
          <p:cNvPr id="3" name="Text 1"/>
          <p:cNvSpPr/>
          <p:nvPr/>
        </p:nvSpPr>
        <p:spPr>
          <a:xfrm>
            <a:off x="640080" y="1920240"/>
            <a:ext cx="2743200" cy="548640"/>
          </a:xfrm>
          <a:prstGeom prst="rect">
            <a:avLst/>
          </a:prstGeom>
          <a:noFill/>
          <a:ln/>
        </p:spPr>
        <p:txBody>
          <a:bodyPr wrap="square" rtlCol="0" anchor="ctr"/>
          <a:lstStyle/>
          <a:p>
            <a:pPr indent="0" marL="0">
              <a:buNone/>
            </a:pPr>
            <a:r>
              <a:rPr lang="en-US" sz="1500" b="1" dirty="0">
                <a:solidFill>
                  <a:srgbClr val="C9A96A"/>
                </a:solidFill>
                <a:latin typeface="Segoe UI" pitchFamily="34" charset="0"/>
                <a:ea typeface="Segoe UI" pitchFamily="34" charset="-122"/>
                <a:cs typeface="Segoe UI" pitchFamily="34" charset="-120"/>
              </a:rPr>
              <a:t>11</a:t>
            </a:r>
            <a:endParaRPr lang="en-US" sz="1500" dirty="0"/>
          </a:p>
        </p:txBody>
      </p:sp>
      <p:sp>
        <p:nvSpPr>
          <p:cNvPr id="4" name="Text 2"/>
          <p:cNvSpPr/>
          <p:nvPr/>
        </p:nvSpPr>
        <p:spPr>
          <a:xfrm>
            <a:off x="640080" y="2377440"/>
            <a:ext cx="10515600" cy="914400"/>
          </a:xfrm>
          <a:prstGeom prst="rect">
            <a:avLst/>
          </a:prstGeom>
          <a:noFill/>
          <a:ln/>
        </p:spPr>
        <p:txBody>
          <a:bodyPr wrap="square" rtlCol="0" anchor="ctr"/>
          <a:lstStyle/>
          <a:p>
            <a:pPr indent="0" marL="0">
              <a:buNone/>
            </a:pPr>
            <a:r>
              <a:rPr lang="en-US" sz="3400" b="1" dirty="0">
                <a:solidFill>
                  <a:srgbClr val="FFFFFF"/>
                </a:solidFill>
                <a:latin typeface="Georgia" pitchFamily="34" charset="0"/>
                <a:ea typeface="Georgia" pitchFamily="34" charset="-122"/>
                <a:cs typeface="Georgia" pitchFamily="34" charset="-120"/>
              </a:rPr>
              <a:t>Facturation</a:t>
            </a:r>
            <a:endParaRPr lang="en-US" sz="3400" dirty="0"/>
          </a:p>
        </p:txBody>
      </p:sp>
      <p:sp>
        <p:nvSpPr>
          <p:cNvPr id="5" name="Text 3"/>
          <p:cNvSpPr/>
          <p:nvPr/>
        </p:nvSpPr>
        <p:spPr>
          <a:xfrm>
            <a:off x="640080" y="3429000"/>
            <a:ext cx="10058400" cy="1188720"/>
          </a:xfrm>
          <a:prstGeom prst="rect">
            <a:avLst/>
          </a:prstGeom>
          <a:noFill/>
          <a:ln/>
        </p:spPr>
        <p:txBody>
          <a:bodyPr wrap="square" rtlCol="0" anchor="ctr"/>
          <a:lstStyle/>
          <a:p>
            <a:pPr indent="0" marL="0">
              <a:lnSpc>
                <a:spcPts val="1800"/>
              </a:lnSpc>
              <a:buNone/>
            </a:pPr>
            <a:r>
              <a:rPr lang="en-US" sz="1300" dirty="0">
                <a:solidFill>
                  <a:srgbClr val="C7C9E0"/>
                </a:solidFill>
                <a:latin typeface="Segoe UI" pitchFamily="34" charset="0"/>
                <a:ea typeface="Segoe UI" pitchFamily="34" charset="-122"/>
                <a:cs typeface="Segoe UI" pitchFamily="34" charset="-120"/>
              </a:rPr>
              <a:t>Émission des factures à partir des devis signés (ou des interventions), avec suivi du montant restant à facturer.</a:t>
            </a:r>
            <a:endParaRPr lang="en-US" sz="1300" dirty="0"/>
          </a:p>
        </p:txBody>
      </p:sp>
      <p:sp>
        <p:nvSpPr>
          <p:cNvPr id="6" name="Text 4"/>
          <p:cNvSpPr/>
          <p:nvPr/>
        </p:nvSpPr>
        <p:spPr>
          <a:xfrm>
            <a:off x="365760" y="6510528"/>
            <a:ext cx="5486400" cy="274320"/>
          </a:xfrm>
          <a:prstGeom prst="rect">
            <a:avLst/>
          </a:prstGeom>
          <a:noFill/>
          <a:ln/>
        </p:spPr>
        <p:txBody>
          <a:bodyPr wrap="square" rtlCol="0" anchor="ctr"/>
          <a:lstStyle/>
          <a:p>
            <a:pPr indent="0" marL="0">
              <a:buNone/>
            </a:pPr>
            <a:r>
              <a:rPr lang="en-US" sz="850" dirty="0">
                <a:solidFill>
                  <a:srgbClr val="8A7C68"/>
                </a:solidFill>
                <a:latin typeface="Segoe UI" pitchFamily="34" charset="0"/>
                <a:ea typeface="Segoe UI" pitchFamily="34" charset="-122"/>
                <a:cs typeface="Segoe UI" pitchFamily="34" charset="-120"/>
              </a:rPr>
              <a:t>Kôji Web — Cahier des charges</a:t>
            </a:r>
            <a:endParaRPr lang="en-US" sz="850" dirty="0"/>
          </a:p>
        </p:txBody>
      </p:sp>
      <p:sp>
        <p:nvSpPr>
          <p:cNvPr id="7" name="Text 5"/>
          <p:cNvSpPr/>
          <p:nvPr/>
        </p:nvSpPr>
        <p:spPr>
          <a:xfrm>
            <a:off x="9601200" y="6510528"/>
            <a:ext cx="2194560" cy="274320"/>
          </a:xfrm>
          <a:prstGeom prst="rect">
            <a:avLst/>
          </a:prstGeom>
          <a:noFill/>
          <a:ln/>
        </p:spPr>
        <p:txBody>
          <a:bodyPr wrap="square" rtlCol="0" anchor="ctr"/>
          <a:lstStyle/>
          <a:p>
            <a:pPr algn="r" indent="0" marL="0">
              <a:buNone/>
            </a:pPr>
            <a:r>
              <a:rPr lang="en-US" sz="850" dirty="0">
                <a:solidFill>
                  <a:srgbClr val="8A7C68"/>
                </a:solidFill>
                <a:latin typeface="Segoe UI" pitchFamily="34" charset="0"/>
                <a:ea typeface="Segoe UI" pitchFamily="34" charset="-122"/>
                <a:cs typeface="Segoe UI" pitchFamily="34" charset="-120"/>
              </a:rPr>
              <a:t>50</a:t>
            </a:r>
            <a:endParaRPr lang="en-US" sz="850" dirty="0"/>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3108960" cy="365760"/>
          </a:xfrm>
          <a:prstGeom prst="roundRect">
            <a:avLst>
              <a:gd name="adj" fmla="val 50000"/>
            </a:avLst>
          </a:prstGeom>
          <a:solidFill>
            <a:srgbClr val="F7EADF"/>
          </a:solidFill>
          <a:ln/>
        </p:spPr>
      </p:sp>
      <p:sp>
        <p:nvSpPr>
          <p:cNvPr id="3" name="Text 1"/>
          <p:cNvSpPr/>
          <p:nvPr/>
        </p:nvSpPr>
        <p:spPr>
          <a:xfrm>
            <a:off x="640080" y="411480"/>
            <a:ext cx="3108960" cy="365760"/>
          </a:xfrm>
          <a:prstGeom prst="rect">
            <a:avLst/>
          </a:prstGeom>
          <a:noFill/>
          <a:ln/>
        </p:spPr>
        <p:txBody>
          <a:bodyPr wrap="square" rtlCol="0" anchor="ctr"/>
          <a:lstStyle/>
          <a:p>
            <a:pPr algn="ctr" indent="0" marL="0">
              <a:buNone/>
            </a:pPr>
            <a:r>
              <a:rPr lang="en-US" sz="950" b="1" spc="100" kern="0" dirty="0">
                <a:solidFill>
                  <a:srgbClr val="9A7C5C"/>
                </a:solidFill>
                <a:latin typeface="Segoe UI" pitchFamily="34" charset="0"/>
                <a:ea typeface="Segoe UI" pitchFamily="34" charset="-122"/>
                <a:cs typeface="Segoe UI" pitchFamily="34" charset="-120"/>
              </a:rPr>
              <a:t>FACTURATION</a:t>
            </a:r>
            <a:endParaRPr lang="en-US" sz="950" dirty="0"/>
          </a:p>
        </p:txBody>
      </p:sp>
      <p:sp>
        <p:nvSpPr>
          <p:cNvPr id="4" name="Shape 2"/>
          <p:cNvSpPr/>
          <p:nvPr/>
        </p:nvSpPr>
        <p:spPr>
          <a:xfrm>
            <a:off x="640080" y="1005840"/>
            <a:ext cx="10881360" cy="2606040"/>
          </a:xfrm>
          <a:prstGeom prst="roundRect">
            <a:avLst>
              <a:gd name="adj" fmla="val 2105"/>
            </a:avLst>
          </a:prstGeom>
          <a:solidFill>
            <a:srgbClr val="FFFFFF"/>
          </a:solidFill>
          <a:ln w="12700">
            <a:solidFill>
              <a:srgbClr val="E4DCCB"/>
            </a:solidFill>
            <a:prstDash val="solid"/>
          </a:ln>
        </p:spPr>
      </p:sp>
      <p:sp>
        <p:nvSpPr>
          <p:cNvPr id="5" name="Shape 3"/>
          <p:cNvSpPr/>
          <p:nvPr/>
        </p:nvSpPr>
        <p:spPr>
          <a:xfrm>
            <a:off x="640080" y="1005840"/>
            <a:ext cx="54864" cy="2606040"/>
          </a:xfrm>
          <a:prstGeom prst="rect">
            <a:avLst/>
          </a:prstGeom>
          <a:solidFill>
            <a:srgbClr val="1D6FE0"/>
          </a:solidFill>
          <a:ln/>
        </p:spPr>
      </p:sp>
      <p:sp>
        <p:nvSpPr>
          <p:cNvPr id="6" name="Text 4"/>
          <p:cNvSpPr/>
          <p:nvPr/>
        </p:nvSpPr>
        <p:spPr>
          <a:xfrm>
            <a:off x="914400" y="1133856"/>
            <a:ext cx="10332720" cy="365760"/>
          </a:xfrm>
          <a:prstGeom prst="rect">
            <a:avLst/>
          </a:prstGeom>
          <a:noFill/>
          <a:ln/>
        </p:spPr>
        <p:txBody>
          <a:bodyPr wrap="square" rtlCol="0" anchor="ctr"/>
          <a:lstStyle/>
          <a:p>
            <a:pPr indent="0" marL="0">
              <a:buNone/>
            </a:pPr>
            <a:r>
              <a:rPr lang="en-US" sz="1500" b="1" dirty="0">
                <a:solidFill>
                  <a:srgbClr val="1B1F3B"/>
                </a:solidFill>
                <a:latin typeface="Georgia" pitchFamily="34" charset="0"/>
                <a:ea typeface="Georgia" pitchFamily="34" charset="-122"/>
                <a:cs typeface="Georgia" pitchFamily="34" charset="-120"/>
              </a:rPr>
              <a:t>Création de facture</a:t>
            </a:r>
            <a:endParaRPr lang="en-US" sz="1500" dirty="0"/>
          </a:p>
        </p:txBody>
      </p:sp>
      <p:sp>
        <p:nvSpPr>
          <p:cNvPr id="7" name="Text 5"/>
          <p:cNvSpPr/>
          <p:nvPr/>
        </p:nvSpPr>
        <p:spPr>
          <a:xfrm>
            <a:off x="914400" y="1536192"/>
            <a:ext cx="10332720" cy="1051560"/>
          </a:xfrm>
          <a:prstGeom prst="rect">
            <a:avLst/>
          </a:prstGeom>
          <a:noFill/>
          <a:ln/>
        </p:spPr>
        <p:txBody>
          <a:bodyPr wrap="square" rtlCol="0" anchor="ctr"/>
          <a:lstStyle/>
          <a:p>
            <a:pPr indent="0" marL="0">
              <a:lnSpc>
                <a:spcPts val="1600"/>
              </a:lnSpc>
              <a:buNone/>
            </a:pPr>
            <a:r>
              <a:rPr lang="en-US" sz="1150" dirty="0">
                <a:solidFill>
                  <a:srgbClr val="1B1F3B"/>
                </a:solidFill>
                <a:latin typeface="Segoe UI" pitchFamily="34" charset="0"/>
                <a:ea typeface="Segoe UI" pitchFamily="34" charset="-122"/>
                <a:cs typeface="Segoe UI" pitchFamily="34" charset="-120"/>
              </a:rPr>
              <a:t>Facture générée à partir d'un devis signé, avec choix du mode de montant : fixe, pourcentage, acompte, ou solde restant.</a:t>
            </a:r>
            <a:endParaRPr lang="en-US" sz="1150" dirty="0"/>
          </a:p>
        </p:txBody>
      </p:sp>
      <p:sp>
        <p:nvSpPr>
          <p:cNvPr id="8" name="Text 6"/>
          <p:cNvSpPr/>
          <p:nvPr/>
        </p:nvSpPr>
        <p:spPr>
          <a:xfrm>
            <a:off x="914400" y="2743200"/>
            <a:ext cx="10332720" cy="228600"/>
          </a:xfrm>
          <a:prstGeom prst="rect">
            <a:avLst/>
          </a:prstGeom>
          <a:noFill/>
          <a:ln/>
        </p:spPr>
        <p:txBody>
          <a:bodyPr wrap="square" rtlCol="0" anchor="ctr"/>
          <a:lstStyle/>
          <a:p>
            <a:pPr indent="0" marL="0">
              <a:buNone/>
            </a:pPr>
            <a:r>
              <a:rPr lang="en-US" sz="800" b="1" spc="100" kern="0" dirty="0">
                <a:solidFill>
                  <a:srgbClr val="9A7C5C"/>
                </a:solidFill>
                <a:latin typeface="Segoe UI" pitchFamily="34" charset="0"/>
                <a:ea typeface="Segoe UI" pitchFamily="34" charset="-122"/>
                <a:cs typeface="Segoe UI" pitchFamily="34" charset="-120"/>
              </a:rPr>
              <a:t>RÉALISATION TECHNIQUE</a:t>
            </a:r>
            <a:endParaRPr lang="en-US" sz="800" dirty="0"/>
          </a:p>
        </p:txBody>
      </p:sp>
      <p:sp>
        <p:nvSpPr>
          <p:cNvPr id="9" name="Text 7"/>
          <p:cNvSpPr/>
          <p:nvPr/>
        </p:nvSpPr>
        <p:spPr>
          <a:xfrm>
            <a:off x="914400" y="2990088"/>
            <a:ext cx="10332720" cy="548640"/>
          </a:xfrm>
          <a:prstGeom prst="rect">
            <a:avLst/>
          </a:prstGeom>
          <a:noFill/>
          <a:ln/>
        </p:spPr>
        <p:txBody>
          <a:bodyPr wrap="square" rtlCol="0" anchor="ctr"/>
          <a:lstStyle/>
          <a:p>
            <a:pPr indent="0" marL="0">
              <a:lnSpc>
                <a:spcPts val="1400"/>
              </a:lnSpc>
              <a:buNone/>
            </a:pPr>
            <a:r>
              <a:rPr lang="en-US" sz="1000" i="1" dirty="0">
                <a:solidFill>
                  <a:srgbClr val="8A7C68"/>
                </a:solidFill>
                <a:latin typeface="Segoe UI" pitchFamily="34" charset="0"/>
                <a:ea typeface="Segoe UI" pitchFamily="34" charset="-122"/>
                <a:cs typeface="Segoe UI" pitchFamily="34" charset="-120"/>
              </a:rPr>
              <a:t>Page /facturation, API /api/invoices.</a:t>
            </a:r>
            <a:endParaRPr lang="en-US" sz="1000" dirty="0"/>
          </a:p>
        </p:txBody>
      </p:sp>
      <p:sp>
        <p:nvSpPr>
          <p:cNvPr id="10" name="Shape 8"/>
          <p:cNvSpPr/>
          <p:nvPr/>
        </p:nvSpPr>
        <p:spPr>
          <a:xfrm>
            <a:off x="640080" y="3813048"/>
            <a:ext cx="10881360" cy="1737360"/>
          </a:xfrm>
          <a:prstGeom prst="roundRect">
            <a:avLst>
              <a:gd name="adj" fmla="val 3158"/>
            </a:avLst>
          </a:prstGeom>
          <a:solidFill>
            <a:srgbClr val="FFFFFF"/>
          </a:solidFill>
          <a:ln w="12700">
            <a:solidFill>
              <a:srgbClr val="E4DCCB"/>
            </a:solidFill>
            <a:prstDash val="solid"/>
          </a:ln>
        </p:spPr>
      </p:sp>
      <p:sp>
        <p:nvSpPr>
          <p:cNvPr id="11" name="Shape 9"/>
          <p:cNvSpPr/>
          <p:nvPr/>
        </p:nvSpPr>
        <p:spPr>
          <a:xfrm>
            <a:off x="640080" y="3813048"/>
            <a:ext cx="54864" cy="1737360"/>
          </a:xfrm>
          <a:prstGeom prst="rect">
            <a:avLst/>
          </a:prstGeom>
          <a:solidFill>
            <a:srgbClr val="1D6FE0"/>
          </a:solidFill>
          <a:ln/>
        </p:spPr>
      </p:sp>
      <p:sp>
        <p:nvSpPr>
          <p:cNvPr id="12" name="Text 10"/>
          <p:cNvSpPr/>
          <p:nvPr/>
        </p:nvSpPr>
        <p:spPr>
          <a:xfrm>
            <a:off x="914400" y="3941064"/>
            <a:ext cx="10332720" cy="365760"/>
          </a:xfrm>
          <a:prstGeom prst="rect">
            <a:avLst/>
          </a:prstGeom>
          <a:noFill/>
          <a:ln/>
        </p:spPr>
        <p:txBody>
          <a:bodyPr wrap="square" rtlCol="0" anchor="ctr"/>
          <a:lstStyle/>
          <a:p>
            <a:pPr indent="0" marL="0">
              <a:buNone/>
            </a:pPr>
            <a:r>
              <a:rPr lang="en-US" sz="1500" b="1" dirty="0">
                <a:solidFill>
                  <a:srgbClr val="1B1F3B"/>
                </a:solidFill>
                <a:latin typeface="Georgia" pitchFamily="34" charset="0"/>
                <a:ea typeface="Georgia" pitchFamily="34" charset="-122"/>
                <a:cs typeface="Georgia" pitchFamily="34" charset="-120"/>
              </a:rPr>
              <a:t>Facturation directe d'une intervention</a:t>
            </a:r>
            <a:endParaRPr lang="en-US" sz="1500" dirty="0"/>
          </a:p>
        </p:txBody>
      </p:sp>
      <p:sp>
        <p:nvSpPr>
          <p:cNvPr id="13" name="Text 11"/>
          <p:cNvSpPr/>
          <p:nvPr/>
        </p:nvSpPr>
        <p:spPr>
          <a:xfrm>
            <a:off x="914400" y="4343400"/>
            <a:ext cx="10332720" cy="1005840"/>
          </a:xfrm>
          <a:prstGeom prst="rect">
            <a:avLst/>
          </a:prstGeom>
          <a:noFill/>
          <a:ln/>
        </p:spPr>
        <p:txBody>
          <a:bodyPr wrap="square" rtlCol="0" anchor="ctr"/>
          <a:lstStyle/>
          <a:p>
            <a:pPr indent="0" marL="0">
              <a:lnSpc>
                <a:spcPts val="1600"/>
              </a:lnSpc>
              <a:buNone/>
            </a:pPr>
            <a:r>
              <a:rPr lang="en-US" sz="1150" dirty="0">
                <a:solidFill>
                  <a:srgbClr val="1B1F3B"/>
                </a:solidFill>
                <a:latin typeface="Segoe UI" pitchFamily="34" charset="0"/>
                <a:ea typeface="Segoe UI" pitchFamily="34" charset="-122"/>
                <a:cs typeface="Segoe UI" pitchFamily="34" charset="-120"/>
              </a:rPr>
              <a:t>Une facture peut aussi être créée directement depuis un rapport d'intervention (sans devis signé derrière), avec un montant saisi manuellement.</a:t>
            </a:r>
            <a:endParaRPr lang="en-US" sz="1150" dirty="0"/>
          </a:p>
        </p:txBody>
      </p:sp>
      <p:sp>
        <p:nvSpPr>
          <p:cNvPr id="14" name="Text 12"/>
          <p:cNvSpPr/>
          <p:nvPr/>
        </p:nvSpPr>
        <p:spPr>
          <a:xfrm>
            <a:off x="365760" y="6510528"/>
            <a:ext cx="5486400" cy="274320"/>
          </a:xfrm>
          <a:prstGeom prst="rect">
            <a:avLst/>
          </a:prstGeom>
          <a:noFill/>
          <a:ln/>
        </p:spPr>
        <p:txBody>
          <a:bodyPr wrap="square" rtlCol="0" anchor="ctr"/>
          <a:lstStyle/>
          <a:p>
            <a:pPr indent="0" marL="0">
              <a:buNone/>
            </a:pPr>
            <a:r>
              <a:rPr lang="en-US" sz="850" dirty="0">
                <a:solidFill>
                  <a:srgbClr val="8A7C68"/>
                </a:solidFill>
                <a:latin typeface="Segoe UI" pitchFamily="34" charset="0"/>
                <a:ea typeface="Segoe UI" pitchFamily="34" charset="-122"/>
                <a:cs typeface="Segoe UI" pitchFamily="34" charset="-120"/>
              </a:rPr>
              <a:t>Kôji Web — Cahier des charges</a:t>
            </a:r>
            <a:endParaRPr lang="en-US" sz="850" dirty="0"/>
          </a:p>
        </p:txBody>
      </p:sp>
      <p:sp>
        <p:nvSpPr>
          <p:cNvPr id="15" name="Text 13"/>
          <p:cNvSpPr/>
          <p:nvPr/>
        </p:nvSpPr>
        <p:spPr>
          <a:xfrm>
            <a:off x="9601200" y="6510528"/>
            <a:ext cx="2194560" cy="274320"/>
          </a:xfrm>
          <a:prstGeom prst="rect">
            <a:avLst/>
          </a:prstGeom>
          <a:noFill/>
          <a:ln/>
        </p:spPr>
        <p:txBody>
          <a:bodyPr wrap="square" rtlCol="0" anchor="ctr"/>
          <a:lstStyle/>
          <a:p>
            <a:pPr algn="r" indent="0" marL="0">
              <a:buNone/>
            </a:pPr>
            <a:r>
              <a:rPr lang="en-US" sz="850" dirty="0">
                <a:solidFill>
                  <a:srgbClr val="8A7C68"/>
                </a:solidFill>
                <a:latin typeface="Segoe UI" pitchFamily="34" charset="0"/>
                <a:ea typeface="Segoe UI" pitchFamily="34" charset="-122"/>
                <a:cs typeface="Segoe UI" pitchFamily="34" charset="-120"/>
              </a:rPr>
              <a:t>51</a:t>
            </a:r>
            <a:endParaRPr lang="en-US" sz="850" dirty="0"/>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3108960" cy="365760"/>
          </a:xfrm>
          <a:prstGeom prst="roundRect">
            <a:avLst>
              <a:gd name="adj" fmla="val 50000"/>
            </a:avLst>
          </a:prstGeom>
          <a:solidFill>
            <a:srgbClr val="F7EADF"/>
          </a:solidFill>
          <a:ln/>
        </p:spPr>
      </p:sp>
      <p:sp>
        <p:nvSpPr>
          <p:cNvPr id="3" name="Text 1"/>
          <p:cNvSpPr/>
          <p:nvPr/>
        </p:nvSpPr>
        <p:spPr>
          <a:xfrm>
            <a:off x="640080" y="411480"/>
            <a:ext cx="3108960" cy="365760"/>
          </a:xfrm>
          <a:prstGeom prst="rect">
            <a:avLst/>
          </a:prstGeom>
          <a:noFill/>
          <a:ln/>
        </p:spPr>
        <p:txBody>
          <a:bodyPr wrap="square" rtlCol="0" anchor="ctr"/>
          <a:lstStyle/>
          <a:p>
            <a:pPr algn="ctr" indent="0" marL="0">
              <a:buNone/>
            </a:pPr>
            <a:r>
              <a:rPr lang="en-US" sz="950" b="1" spc="100" kern="0" dirty="0">
                <a:solidFill>
                  <a:srgbClr val="9A7C5C"/>
                </a:solidFill>
                <a:latin typeface="Segoe UI" pitchFamily="34" charset="0"/>
                <a:ea typeface="Segoe UI" pitchFamily="34" charset="-122"/>
                <a:cs typeface="Segoe UI" pitchFamily="34" charset="-120"/>
              </a:rPr>
              <a:t>FACTURATION</a:t>
            </a:r>
            <a:endParaRPr lang="en-US" sz="950" dirty="0"/>
          </a:p>
        </p:txBody>
      </p:sp>
      <p:sp>
        <p:nvSpPr>
          <p:cNvPr id="4" name="Shape 2"/>
          <p:cNvSpPr/>
          <p:nvPr/>
        </p:nvSpPr>
        <p:spPr>
          <a:xfrm>
            <a:off x="640080" y="1005840"/>
            <a:ext cx="10881360" cy="1737360"/>
          </a:xfrm>
          <a:prstGeom prst="roundRect">
            <a:avLst>
              <a:gd name="adj" fmla="val 3158"/>
            </a:avLst>
          </a:prstGeom>
          <a:solidFill>
            <a:srgbClr val="FFFFFF"/>
          </a:solidFill>
          <a:ln w="12700">
            <a:solidFill>
              <a:srgbClr val="E4DCCB"/>
            </a:solidFill>
            <a:prstDash val="solid"/>
          </a:ln>
        </p:spPr>
      </p:sp>
      <p:sp>
        <p:nvSpPr>
          <p:cNvPr id="5" name="Shape 3"/>
          <p:cNvSpPr/>
          <p:nvPr/>
        </p:nvSpPr>
        <p:spPr>
          <a:xfrm>
            <a:off x="640080" y="1005840"/>
            <a:ext cx="54864" cy="1737360"/>
          </a:xfrm>
          <a:prstGeom prst="rect">
            <a:avLst/>
          </a:prstGeom>
          <a:solidFill>
            <a:srgbClr val="1D6FE0"/>
          </a:solidFill>
          <a:ln/>
        </p:spPr>
      </p:sp>
      <p:sp>
        <p:nvSpPr>
          <p:cNvPr id="6" name="Text 4"/>
          <p:cNvSpPr/>
          <p:nvPr/>
        </p:nvSpPr>
        <p:spPr>
          <a:xfrm>
            <a:off x="914400" y="1133856"/>
            <a:ext cx="10332720" cy="365760"/>
          </a:xfrm>
          <a:prstGeom prst="rect">
            <a:avLst/>
          </a:prstGeom>
          <a:noFill/>
          <a:ln/>
        </p:spPr>
        <p:txBody>
          <a:bodyPr wrap="square" rtlCol="0" anchor="ctr"/>
          <a:lstStyle/>
          <a:p>
            <a:pPr indent="0" marL="0">
              <a:buNone/>
            </a:pPr>
            <a:r>
              <a:rPr lang="en-US" sz="1500" b="1" dirty="0">
                <a:solidFill>
                  <a:srgbClr val="1B1F3B"/>
                </a:solidFill>
                <a:latin typeface="Georgia" pitchFamily="34" charset="0"/>
                <a:ea typeface="Georgia" pitchFamily="34" charset="-122"/>
                <a:cs typeface="Georgia" pitchFamily="34" charset="-120"/>
              </a:rPr>
              <a:t>Suivi du solde</a:t>
            </a:r>
            <a:endParaRPr lang="en-US" sz="1500" dirty="0"/>
          </a:p>
        </p:txBody>
      </p:sp>
      <p:sp>
        <p:nvSpPr>
          <p:cNvPr id="7" name="Text 5"/>
          <p:cNvSpPr/>
          <p:nvPr/>
        </p:nvSpPr>
        <p:spPr>
          <a:xfrm>
            <a:off x="914400" y="1536192"/>
            <a:ext cx="10332720" cy="1005840"/>
          </a:xfrm>
          <a:prstGeom prst="rect">
            <a:avLst/>
          </a:prstGeom>
          <a:noFill/>
          <a:ln/>
        </p:spPr>
        <p:txBody>
          <a:bodyPr wrap="square" rtlCol="0" anchor="ctr"/>
          <a:lstStyle/>
          <a:p>
            <a:pPr indent="0" marL="0">
              <a:lnSpc>
                <a:spcPts val="1600"/>
              </a:lnSpc>
              <a:buNone/>
            </a:pPr>
            <a:r>
              <a:rPr lang="en-US" sz="1150" dirty="0">
                <a:solidFill>
                  <a:srgbClr val="1B1F3B"/>
                </a:solidFill>
                <a:latin typeface="Segoe UI" pitchFamily="34" charset="0"/>
                <a:ea typeface="Segoe UI" pitchFamily="34" charset="-122"/>
                <a:cs typeface="Segoe UI" pitchFamily="34" charset="-120"/>
              </a:rPr>
              <a:t>Calcul automatique du montant déjà facturé, du montant restant, et du statut (à facturer / partielle / soldée).</a:t>
            </a:r>
            <a:endParaRPr lang="en-US" sz="1150" dirty="0"/>
          </a:p>
        </p:txBody>
      </p:sp>
      <p:sp>
        <p:nvSpPr>
          <p:cNvPr id="8" name="Shape 6"/>
          <p:cNvSpPr/>
          <p:nvPr/>
        </p:nvSpPr>
        <p:spPr>
          <a:xfrm>
            <a:off x="640080" y="2944368"/>
            <a:ext cx="10881360" cy="1737360"/>
          </a:xfrm>
          <a:prstGeom prst="roundRect">
            <a:avLst>
              <a:gd name="adj" fmla="val 3158"/>
            </a:avLst>
          </a:prstGeom>
          <a:solidFill>
            <a:srgbClr val="FFFFFF"/>
          </a:solidFill>
          <a:ln w="12700">
            <a:solidFill>
              <a:srgbClr val="E4DCCB"/>
            </a:solidFill>
            <a:prstDash val="solid"/>
          </a:ln>
        </p:spPr>
      </p:sp>
      <p:sp>
        <p:nvSpPr>
          <p:cNvPr id="9" name="Shape 7"/>
          <p:cNvSpPr/>
          <p:nvPr/>
        </p:nvSpPr>
        <p:spPr>
          <a:xfrm>
            <a:off x="640080" y="2944368"/>
            <a:ext cx="54864" cy="1737360"/>
          </a:xfrm>
          <a:prstGeom prst="rect">
            <a:avLst/>
          </a:prstGeom>
          <a:solidFill>
            <a:srgbClr val="1D6FE0"/>
          </a:solidFill>
          <a:ln/>
        </p:spPr>
      </p:sp>
      <p:sp>
        <p:nvSpPr>
          <p:cNvPr id="10" name="Text 8"/>
          <p:cNvSpPr/>
          <p:nvPr/>
        </p:nvSpPr>
        <p:spPr>
          <a:xfrm>
            <a:off x="914400" y="3072384"/>
            <a:ext cx="10332720" cy="365760"/>
          </a:xfrm>
          <a:prstGeom prst="rect">
            <a:avLst/>
          </a:prstGeom>
          <a:noFill/>
          <a:ln/>
        </p:spPr>
        <p:txBody>
          <a:bodyPr wrap="square" rtlCol="0" anchor="ctr"/>
          <a:lstStyle/>
          <a:p>
            <a:pPr indent="0" marL="0">
              <a:buNone/>
            </a:pPr>
            <a:r>
              <a:rPr lang="en-US" sz="1500" b="1" dirty="0">
                <a:solidFill>
                  <a:srgbClr val="1B1F3B"/>
                </a:solidFill>
                <a:latin typeface="Georgia" pitchFamily="34" charset="0"/>
                <a:ea typeface="Georgia" pitchFamily="34" charset="-122"/>
                <a:cs typeface="Georgia" pitchFamily="34" charset="-120"/>
              </a:rPr>
              <a:t>Statuts de facture</a:t>
            </a:r>
            <a:endParaRPr lang="en-US" sz="1500" dirty="0"/>
          </a:p>
        </p:txBody>
      </p:sp>
      <p:sp>
        <p:nvSpPr>
          <p:cNvPr id="11" name="Text 9"/>
          <p:cNvSpPr/>
          <p:nvPr/>
        </p:nvSpPr>
        <p:spPr>
          <a:xfrm>
            <a:off x="914400" y="3474720"/>
            <a:ext cx="10332720" cy="1005840"/>
          </a:xfrm>
          <a:prstGeom prst="rect">
            <a:avLst/>
          </a:prstGeom>
          <a:noFill/>
          <a:ln/>
        </p:spPr>
        <p:txBody>
          <a:bodyPr wrap="square" rtlCol="0" anchor="ctr"/>
          <a:lstStyle/>
          <a:p>
            <a:pPr indent="0" marL="0">
              <a:lnSpc>
                <a:spcPts val="1600"/>
              </a:lnSpc>
              <a:buNone/>
            </a:pPr>
            <a:r>
              <a:rPr lang="en-US" sz="1150" dirty="0">
                <a:solidFill>
                  <a:srgbClr val="1B1F3B"/>
                </a:solidFill>
                <a:latin typeface="Segoe UI" pitchFamily="34" charset="0"/>
                <a:ea typeface="Segoe UI" pitchFamily="34" charset="-122"/>
                <a:cs typeface="Segoe UI" pitchFamily="34" charset="-120"/>
              </a:rPr>
              <a:t>Brouillon, Émise, Payée, Annulée, avec actions dédiées pour faire évoluer chaque facture.</a:t>
            </a:r>
            <a:endParaRPr lang="en-US" sz="1150" dirty="0"/>
          </a:p>
        </p:txBody>
      </p:sp>
      <p:sp>
        <p:nvSpPr>
          <p:cNvPr id="12" name="Text 10"/>
          <p:cNvSpPr/>
          <p:nvPr/>
        </p:nvSpPr>
        <p:spPr>
          <a:xfrm>
            <a:off x="365760" y="6510528"/>
            <a:ext cx="5486400" cy="274320"/>
          </a:xfrm>
          <a:prstGeom prst="rect">
            <a:avLst/>
          </a:prstGeom>
          <a:noFill/>
          <a:ln/>
        </p:spPr>
        <p:txBody>
          <a:bodyPr wrap="square" rtlCol="0" anchor="ctr"/>
          <a:lstStyle/>
          <a:p>
            <a:pPr indent="0" marL="0">
              <a:buNone/>
            </a:pPr>
            <a:r>
              <a:rPr lang="en-US" sz="850" dirty="0">
                <a:solidFill>
                  <a:srgbClr val="8A7C68"/>
                </a:solidFill>
                <a:latin typeface="Segoe UI" pitchFamily="34" charset="0"/>
                <a:ea typeface="Segoe UI" pitchFamily="34" charset="-122"/>
                <a:cs typeface="Segoe UI" pitchFamily="34" charset="-120"/>
              </a:rPr>
              <a:t>Kôji Web — Cahier des charges</a:t>
            </a:r>
            <a:endParaRPr lang="en-US" sz="850" dirty="0"/>
          </a:p>
        </p:txBody>
      </p:sp>
      <p:sp>
        <p:nvSpPr>
          <p:cNvPr id="13" name="Text 11"/>
          <p:cNvSpPr/>
          <p:nvPr/>
        </p:nvSpPr>
        <p:spPr>
          <a:xfrm>
            <a:off x="9601200" y="6510528"/>
            <a:ext cx="2194560" cy="274320"/>
          </a:xfrm>
          <a:prstGeom prst="rect">
            <a:avLst/>
          </a:prstGeom>
          <a:noFill/>
          <a:ln/>
        </p:spPr>
        <p:txBody>
          <a:bodyPr wrap="square" rtlCol="0" anchor="ctr"/>
          <a:lstStyle/>
          <a:p>
            <a:pPr algn="r" indent="0" marL="0">
              <a:buNone/>
            </a:pPr>
            <a:r>
              <a:rPr lang="en-US" sz="850" dirty="0">
                <a:solidFill>
                  <a:srgbClr val="8A7C68"/>
                </a:solidFill>
                <a:latin typeface="Segoe UI" pitchFamily="34" charset="0"/>
                <a:ea typeface="Segoe UI" pitchFamily="34" charset="-122"/>
                <a:cs typeface="Segoe UI" pitchFamily="34" charset="-120"/>
              </a:rPr>
              <a:t>52</a:t>
            </a:r>
            <a:endParaRPr lang="en-US" sz="850" dirty="0"/>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3108960" cy="365760"/>
          </a:xfrm>
          <a:prstGeom prst="roundRect">
            <a:avLst>
              <a:gd name="adj" fmla="val 50000"/>
            </a:avLst>
          </a:prstGeom>
          <a:solidFill>
            <a:srgbClr val="F7EADF"/>
          </a:solidFill>
          <a:ln/>
        </p:spPr>
      </p:sp>
      <p:sp>
        <p:nvSpPr>
          <p:cNvPr id="3" name="Text 1"/>
          <p:cNvSpPr/>
          <p:nvPr/>
        </p:nvSpPr>
        <p:spPr>
          <a:xfrm>
            <a:off x="640080" y="411480"/>
            <a:ext cx="3108960" cy="365760"/>
          </a:xfrm>
          <a:prstGeom prst="rect">
            <a:avLst/>
          </a:prstGeom>
          <a:noFill/>
          <a:ln/>
        </p:spPr>
        <p:txBody>
          <a:bodyPr wrap="square" rtlCol="0" anchor="ctr"/>
          <a:lstStyle/>
          <a:p>
            <a:pPr algn="ctr" indent="0" marL="0">
              <a:buNone/>
            </a:pPr>
            <a:r>
              <a:rPr lang="en-US" sz="950" b="1" spc="100" kern="0" dirty="0">
                <a:solidFill>
                  <a:srgbClr val="9A7C5C"/>
                </a:solidFill>
                <a:latin typeface="Segoe UI" pitchFamily="34" charset="0"/>
                <a:ea typeface="Segoe UI" pitchFamily="34" charset="-122"/>
                <a:cs typeface="Segoe UI" pitchFamily="34" charset="-120"/>
              </a:rPr>
              <a:t>FACTURATION</a:t>
            </a:r>
            <a:endParaRPr lang="en-US" sz="950" dirty="0"/>
          </a:p>
        </p:txBody>
      </p:sp>
      <p:sp>
        <p:nvSpPr>
          <p:cNvPr id="4" name="Shape 2"/>
          <p:cNvSpPr/>
          <p:nvPr/>
        </p:nvSpPr>
        <p:spPr>
          <a:xfrm>
            <a:off x="640080" y="1005840"/>
            <a:ext cx="10881360" cy="1737360"/>
          </a:xfrm>
          <a:prstGeom prst="roundRect">
            <a:avLst>
              <a:gd name="adj" fmla="val 3158"/>
            </a:avLst>
          </a:prstGeom>
          <a:solidFill>
            <a:srgbClr val="FFFFFF"/>
          </a:solidFill>
          <a:ln w="12700">
            <a:solidFill>
              <a:srgbClr val="E4DCCB"/>
            </a:solidFill>
            <a:prstDash val="solid"/>
          </a:ln>
        </p:spPr>
      </p:sp>
      <p:sp>
        <p:nvSpPr>
          <p:cNvPr id="5" name="Shape 3"/>
          <p:cNvSpPr/>
          <p:nvPr/>
        </p:nvSpPr>
        <p:spPr>
          <a:xfrm>
            <a:off x="640080" y="1005840"/>
            <a:ext cx="54864" cy="1737360"/>
          </a:xfrm>
          <a:prstGeom prst="rect">
            <a:avLst/>
          </a:prstGeom>
          <a:solidFill>
            <a:srgbClr val="1D6FE0"/>
          </a:solidFill>
          <a:ln/>
        </p:spPr>
      </p:sp>
      <p:sp>
        <p:nvSpPr>
          <p:cNvPr id="6" name="Text 4"/>
          <p:cNvSpPr/>
          <p:nvPr/>
        </p:nvSpPr>
        <p:spPr>
          <a:xfrm>
            <a:off x="914400" y="1133856"/>
            <a:ext cx="10332720" cy="365760"/>
          </a:xfrm>
          <a:prstGeom prst="rect">
            <a:avLst/>
          </a:prstGeom>
          <a:noFill/>
          <a:ln/>
        </p:spPr>
        <p:txBody>
          <a:bodyPr wrap="square" rtlCol="0" anchor="ctr"/>
          <a:lstStyle/>
          <a:p>
            <a:pPr indent="0" marL="0">
              <a:buNone/>
            </a:pPr>
            <a:r>
              <a:rPr lang="en-US" sz="1500" b="1" dirty="0">
                <a:solidFill>
                  <a:srgbClr val="1B1F3B"/>
                </a:solidFill>
                <a:latin typeface="Georgia" pitchFamily="34" charset="0"/>
                <a:ea typeface="Georgia" pitchFamily="34" charset="-122"/>
                <a:cs typeface="Georgia" pitchFamily="34" charset="-120"/>
              </a:rPr>
              <a:t>Export PDF</a:t>
            </a:r>
            <a:endParaRPr lang="en-US" sz="1500" dirty="0"/>
          </a:p>
        </p:txBody>
      </p:sp>
      <p:sp>
        <p:nvSpPr>
          <p:cNvPr id="7" name="Text 5"/>
          <p:cNvSpPr/>
          <p:nvPr/>
        </p:nvSpPr>
        <p:spPr>
          <a:xfrm>
            <a:off x="914400" y="1536192"/>
            <a:ext cx="10332720" cy="1005840"/>
          </a:xfrm>
          <a:prstGeom prst="rect">
            <a:avLst/>
          </a:prstGeom>
          <a:noFill/>
          <a:ln/>
        </p:spPr>
        <p:txBody>
          <a:bodyPr wrap="square" rtlCol="0" anchor="ctr"/>
          <a:lstStyle/>
          <a:p>
            <a:pPr indent="0" marL="0">
              <a:lnSpc>
                <a:spcPts val="1600"/>
              </a:lnSpc>
              <a:buNone/>
            </a:pPr>
            <a:r>
              <a:rPr lang="en-US" sz="1150" dirty="0">
                <a:solidFill>
                  <a:srgbClr val="1B1F3B"/>
                </a:solidFill>
                <a:latin typeface="Segoe UI" pitchFamily="34" charset="0"/>
                <a:ea typeface="Segoe UI" pitchFamily="34" charset="-122"/>
                <a:cs typeface="Segoe UI" pitchFamily="34" charset="-120"/>
              </a:rPr>
              <a:t>Chaque facture (issue d'un devis ou d'une intervention) peut être téléchargée en PDF avec les informations de l'entreprise, du client et du montant.</a:t>
            </a:r>
            <a:endParaRPr lang="en-US" sz="1150" dirty="0"/>
          </a:p>
        </p:txBody>
      </p:sp>
      <p:sp>
        <p:nvSpPr>
          <p:cNvPr id="8" name="Text 6"/>
          <p:cNvSpPr/>
          <p:nvPr/>
        </p:nvSpPr>
        <p:spPr>
          <a:xfrm>
            <a:off x="365760" y="6510528"/>
            <a:ext cx="5486400" cy="274320"/>
          </a:xfrm>
          <a:prstGeom prst="rect">
            <a:avLst/>
          </a:prstGeom>
          <a:noFill/>
          <a:ln/>
        </p:spPr>
        <p:txBody>
          <a:bodyPr wrap="square" rtlCol="0" anchor="ctr"/>
          <a:lstStyle/>
          <a:p>
            <a:pPr indent="0" marL="0">
              <a:buNone/>
            </a:pPr>
            <a:r>
              <a:rPr lang="en-US" sz="850" dirty="0">
                <a:solidFill>
                  <a:srgbClr val="8A7C68"/>
                </a:solidFill>
                <a:latin typeface="Segoe UI" pitchFamily="34" charset="0"/>
                <a:ea typeface="Segoe UI" pitchFamily="34" charset="-122"/>
                <a:cs typeface="Segoe UI" pitchFamily="34" charset="-120"/>
              </a:rPr>
              <a:t>Kôji Web — Cahier des charges</a:t>
            </a:r>
            <a:endParaRPr lang="en-US" sz="850" dirty="0"/>
          </a:p>
        </p:txBody>
      </p:sp>
      <p:sp>
        <p:nvSpPr>
          <p:cNvPr id="9" name="Text 7"/>
          <p:cNvSpPr/>
          <p:nvPr/>
        </p:nvSpPr>
        <p:spPr>
          <a:xfrm>
            <a:off x="9601200" y="6510528"/>
            <a:ext cx="2194560" cy="274320"/>
          </a:xfrm>
          <a:prstGeom prst="rect">
            <a:avLst/>
          </a:prstGeom>
          <a:noFill/>
          <a:ln/>
        </p:spPr>
        <p:txBody>
          <a:bodyPr wrap="square" rtlCol="0" anchor="ctr"/>
          <a:lstStyle/>
          <a:p>
            <a:pPr algn="r" indent="0" marL="0">
              <a:buNone/>
            </a:pPr>
            <a:r>
              <a:rPr lang="en-US" sz="850" dirty="0">
                <a:solidFill>
                  <a:srgbClr val="8A7C68"/>
                </a:solidFill>
                <a:latin typeface="Segoe UI" pitchFamily="34" charset="0"/>
                <a:ea typeface="Segoe UI" pitchFamily="34" charset="-122"/>
                <a:cs typeface="Segoe UI" pitchFamily="34" charset="-120"/>
              </a:rPr>
              <a:t>53</a:t>
            </a:r>
            <a:endParaRPr lang="en-US" sz="850" dirty="0"/>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bg>
      <p:bgPr>
        <a:solidFill>
          <a:srgbClr val="0B1030"/>
        </a:solidFill>
      </p:bgPr>
    </p:bg>
    <p:spTree>
      <p:nvGrpSpPr>
        <p:cNvPr id="1" name=""/>
        <p:cNvGrpSpPr/>
        <p:nvPr/>
      </p:nvGrpSpPr>
      <p:grpSpPr>
        <a:xfrm>
          <a:off x="0" y="0"/>
          <a:ext cx="0" cy="0"/>
          <a:chOff x="0" y="0"/>
          <a:chExt cx="0" cy="0"/>
        </a:xfrm>
      </p:grpSpPr>
      <p:sp>
        <p:nvSpPr>
          <p:cNvPr id="2" name="Shape 0"/>
          <p:cNvSpPr/>
          <p:nvPr/>
        </p:nvSpPr>
        <p:spPr>
          <a:xfrm>
            <a:off x="0" y="3246120"/>
            <a:ext cx="12191695" cy="54864"/>
          </a:xfrm>
          <a:prstGeom prst="rect">
            <a:avLst/>
          </a:prstGeom>
          <a:solidFill>
            <a:srgbClr val="C9A96A"/>
          </a:solidFill>
          <a:ln/>
        </p:spPr>
      </p:sp>
      <p:sp>
        <p:nvSpPr>
          <p:cNvPr id="3" name="Text 1"/>
          <p:cNvSpPr/>
          <p:nvPr/>
        </p:nvSpPr>
        <p:spPr>
          <a:xfrm>
            <a:off x="640080" y="1920240"/>
            <a:ext cx="2743200" cy="548640"/>
          </a:xfrm>
          <a:prstGeom prst="rect">
            <a:avLst/>
          </a:prstGeom>
          <a:noFill/>
          <a:ln/>
        </p:spPr>
        <p:txBody>
          <a:bodyPr wrap="square" rtlCol="0" anchor="ctr"/>
          <a:lstStyle/>
          <a:p>
            <a:pPr indent="0" marL="0">
              <a:buNone/>
            </a:pPr>
            <a:r>
              <a:rPr lang="en-US" sz="1500" b="1" dirty="0">
                <a:solidFill>
                  <a:srgbClr val="C9A96A"/>
                </a:solidFill>
                <a:latin typeface="Segoe UI" pitchFamily="34" charset="0"/>
                <a:ea typeface="Segoe UI" pitchFamily="34" charset="-122"/>
                <a:cs typeface="Segoe UI" pitchFamily="34" charset="-120"/>
              </a:rPr>
              <a:t>12</a:t>
            </a:r>
            <a:endParaRPr lang="en-US" sz="1500" dirty="0"/>
          </a:p>
        </p:txBody>
      </p:sp>
      <p:sp>
        <p:nvSpPr>
          <p:cNvPr id="4" name="Text 2"/>
          <p:cNvSpPr/>
          <p:nvPr/>
        </p:nvSpPr>
        <p:spPr>
          <a:xfrm>
            <a:off x="640080" y="2377440"/>
            <a:ext cx="10515600" cy="914400"/>
          </a:xfrm>
          <a:prstGeom prst="rect">
            <a:avLst/>
          </a:prstGeom>
          <a:noFill/>
          <a:ln/>
        </p:spPr>
        <p:txBody>
          <a:bodyPr wrap="square" rtlCol="0" anchor="ctr"/>
          <a:lstStyle/>
          <a:p>
            <a:pPr indent="0" marL="0">
              <a:buNone/>
            </a:pPr>
            <a:r>
              <a:rPr lang="en-US" sz="3400" b="1" dirty="0">
                <a:solidFill>
                  <a:srgbClr val="FFFFFF"/>
                </a:solidFill>
                <a:latin typeface="Georgia" pitchFamily="34" charset="0"/>
                <a:ea typeface="Georgia" pitchFamily="34" charset="-122"/>
                <a:cs typeface="Georgia" pitchFamily="34" charset="-120"/>
              </a:rPr>
              <a:t>Interventions</a:t>
            </a:r>
            <a:endParaRPr lang="en-US" sz="3400" dirty="0"/>
          </a:p>
        </p:txBody>
      </p:sp>
      <p:sp>
        <p:nvSpPr>
          <p:cNvPr id="5" name="Text 3"/>
          <p:cNvSpPr/>
          <p:nvPr/>
        </p:nvSpPr>
        <p:spPr>
          <a:xfrm>
            <a:off x="640080" y="3429000"/>
            <a:ext cx="10058400" cy="1188720"/>
          </a:xfrm>
          <a:prstGeom prst="rect">
            <a:avLst/>
          </a:prstGeom>
          <a:noFill/>
          <a:ln/>
        </p:spPr>
        <p:txBody>
          <a:bodyPr wrap="square" rtlCol="0" anchor="ctr"/>
          <a:lstStyle/>
          <a:p>
            <a:pPr indent="0" marL="0">
              <a:lnSpc>
                <a:spcPts val="1800"/>
              </a:lnSpc>
              <a:buNone/>
            </a:pPr>
            <a:r>
              <a:rPr lang="en-US" sz="1300" dirty="0">
                <a:solidFill>
                  <a:srgbClr val="C7C9E0"/>
                </a:solidFill>
                <a:latin typeface="Segoe UI" pitchFamily="34" charset="0"/>
                <a:ea typeface="Segoe UI" pitchFamily="34" charset="-122"/>
                <a:cs typeface="Segoe UI" pitchFamily="34" charset="-120"/>
              </a:rPr>
              <a:t>Module dédié aux rapports d'intervention type SAV/maintenance (constat, analyse, préconisations), indépendant d'un devis, avec son propre suivi et sa propre facturation.</a:t>
            </a:r>
            <a:endParaRPr lang="en-US" sz="1300" dirty="0"/>
          </a:p>
        </p:txBody>
      </p:sp>
      <p:sp>
        <p:nvSpPr>
          <p:cNvPr id="6" name="Text 4"/>
          <p:cNvSpPr/>
          <p:nvPr/>
        </p:nvSpPr>
        <p:spPr>
          <a:xfrm>
            <a:off x="365760" y="6510528"/>
            <a:ext cx="5486400" cy="274320"/>
          </a:xfrm>
          <a:prstGeom prst="rect">
            <a:avLst/>
          </a:prstGeom>
          <a:noFill/>
          <a:ln/>
        </p:spPr>
        <p:txBody>
          <a:bodyPr wrap="square" rtlCol="0" anchor="ctr"/>
          <a:lstStyle/>
          <a:p>
            <a:pPr indent="0" marL="0">
              <a:buNone/>
            </a:pPr>
            <a:r>
              <a:rPr lang="en-US" sz="850" dirty="0">
                <a:solidFill>
                  <a:srgbClr val="8A7C68"/>
                </a:solidFill>
                <a:latin typeface="Segoe UI" pitchFamily="34" charset="0"/>
                <a:ea typeface="Segoe UI" pitchFamily="34" charset="-122"/>
                <a:cs typeface="Segoe UI" pitchFamily="34" charset="-120"/>
              </a:rPr>
              <a:t>Kôji Web — Cahier des charges</a:t>
            </a:r>
            <a:endParaRPr lang="en-US" sz="850" dirty="0"/>
          </a:p>
        </p:txBody>
      </p:sp>
      <p:sp>
        <p:nvSpPr>
          <p:cNvPr id="7" name="Text 5"/>
          <p:cNvSpPr/>
          <p:nvPr/>
        </p:nvSpPr>
        <p:spPr>
          <a:xfrm>
            <a:off x="9601200" y="6510528"/>
            <a:ext cx="2194560" cy="274320"/>
          </a:xfrm>
          <a:prstGeom prst="rect">
            <a:avLst/>
          </a:prstGeom>
          <a:noFill/>
          <a:ln/>
        </p:spPr>
        <p:txBody>
          <a:bodyPr wrap="square" rtlCol="0" anchor="ctr"/>
          <a:lstStyle/>
          <a:p>
            <a:pPr algn="r" indent="0" marL="0">
              <a:buNone/>
            </a:pPr>
            <a:r>
              <a:rPr lang="en-US" sz="850" dirty="0">
                <a:solidFill>
                  <a:srgbClr val="8A7C68"/>
                </a:solidFill>
                <a:latin typeface="Segoe UI" pitchFamily="34" charset="0"/>
                <a:ea typeface="Segoe UI" pitchFamily="34" charset="-122"/>
                <a:cs typeface="Segoe UI" pitchFamily="34" charset="-120"/>
              </a:rPr>
              <a:t>54</a:t>
            </a:r>
            <a:endParaRPr lang="en-US" sz="850" dirty="0"/>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3108960" cy="365760"/>
          </a:xfrm>
          <a:prstGeom prst="roundRect">
            <a:avLst>
              <a:gd name="adj" fmla="val 50000"/>
            </a:avLst>
          </a:prstGeom>
          <a:solidFill>
            <a:srgbClr val="F7EADF"/>
          </a:solidFill>
          <a:ln/>
        </p:spPr>
      </p:sp>
      <p:sp>
        <p:nvSpPr>
          <p:cNvPr id="3" name="Text 1"/>
          <p:cNvSpPr/>
          <p:nvPr/>
        </p:nvSpPr>
        <p:spPr>
          <a:xfrm>
            <a:off x="640080" y="411480"/>
            <a:ext cx="3108960" cy="365760"/>
          </a:xfrm>
          <a:prstGeom prst="rect">
            <a:avLst/>
          </a:prstGeom>
          <a:noFill/>
          <a:ln/>
        </p:spPr>
        <p:txBody>
          <a:bodyPr wrap="square" rtlCol="0" anchor="ctr"/>
          <a:lstStyle/>
          <a:p>
            <a:pPr algn="ctr" indent="0" marL="0">
              <a:buNone/>
            </a:pPr>
            <a:r>
              <a:rPr lang="en-US" sz="950" b="1" spc="100" kern="0" dirty="0">
                <a:solidFill>
                  <a:srgbClr val="9A7C5C"/>
                </a:solidFill>
                <a:latin typeface="Segoe UI" pitchFamily="34" charset="0"/>
                <a:ea typeface="Segoe UI" pitchFamily="34" charset="-122"/>
                <a:cs typeface="Segoe UI" pitchFamily="34" charset="-120"/>
              </a:rPr>
              <a:t>INTERVENTIONS</a:t>
            </a:r>
            <a:endParaRPr lang="en-US" sz="950" dirty="0"/>
          </a:p>
        </p:txBody>
      </p:sp>
      <p:sp>
        <p:nvSpPr>
          <p:cNvPr id="4" name="Shape 2"/>
          <p:cNvSpPr/>
          <p:nvPr/>
        </p:nvSpPr>
        <p:spPr>
          <a:xfrm>
            <a:off x="640080" y="1005840"/>
            <a:ext cx="10881360" cy="2606040"/>
          </a:xfrm>
          <a:prstGeom prst="roundRect">
            <a:avLst>
              <a:gd name="adj" fmla="val 2105"/>
            </a:avLst>
          </a:prstGeom>
          <a:solidFill>
            <a:srgbClr val="FFFFFF"/>
          </a:solidFill>
          <a:ln w="12700">
            <a:solidFill>
              <a:srgbClr val="E4DCCB"/>
            </a:solidFill>
            <a:prstDash val="solid"/>
          </a:ln>
        </p:spPr>
      </p:sp>
      <p:sp>
        <p:nvSpPr>
          <p:cNvPr id="5" name="Shape 3"/>
          <p:cNvSpPr/>
          <p:nvPr/>
        </p:nvSpPr>
        <p:spPr>
          <a:xfrm>
            <a:off x="640080" y="1005840"/>
            <a:ext cx="54864" cy="2606040"/>
          </a:xfrm>
          <a:prstGeom prst="rect">
            <a:avLst/>
          </a:prstGeom>
          <a:solidFill>
            <a:srgbClr val="1D6FE0"/>
          </a:solidFill>
          <a:ln/>
        </p:spPr>
      </p:sp>
      <p:sp>
        <p:nvSpPr>
          <p:cNvPr id="6" name="Text 4"/>
          <p:cNvSpPr/>
          <p:nvPr/>
        </p:nvSpPr>
        <p:spPr>
          <a:xfrm>
            <a:off x="914400" y="1133856"/>
            <a:ext cx="10332720" cy="365760"/>
          </a:xfrm>
          <a:prstGeom prst="rect">
            <a:avLst/>
          </a:prstGeom>
          <a:noFill/>
          <a:ln/>
        </p:spPr>
        <p:txBody>
          <a:bodyPr wrap="square" rtlCol="0" anchor="ctr"/>
          <a:lstStyle/>
          <a:p>
            <a:pPr indent="0" marL="0">
              <a:buNone/>
            </a:pPr>
            <a:r>
              <a:rPr lang="en-US" sz="1500" b="1" dirty="0">
                <a:solidFill>
                  <a:srgbClr val="1B1F3B"/>
                </a:solidFill>
                <a:latin typeface="Georgia" pitchFamily="34" charset="0"/>
                <a:ea typeface="Georgia" pitchFamily="34" charset="-122"/>
                <a:cs typeface="Georgia" pitchFamily="34" charset="-120"/>
              </a:rPr>
              <a:t>Création d'un rapport</a:t>
            </a:r>
            <a:endParaRPr lang="en-US" sz="1500" dirty="0"/>
          </a:p>
        </p:txBody>
      </p:sp>
      <p:sp>
        <p:nvSpPr>
          <p:cNvPr id="7" name="Text 5"/>
          <p:cNvSpPr/>
          <p:nvPr/>
        </p:nvSpPr>
        <p:spPr>
          <a:xfrm>
            <a:off x="914400" y="1536192"/>
            <a:ext cx="10332720" cy="1051560"/>
          </a:xfrm>
          <a:prstGeom prst="rect">
            <a:avLst/>
          </a:prstGeom>
          <a:noFill/>
          <a:ln/>
        </p:spPr>
        <p:txBody>
          <a:bodyPr wrap="square" rtlCol="0" anchor="ctr"/>
          <a:lstStyle/>
          <a:p>
            <a:pPr indent="0" marL="0">
              <a:lnSpc>
                <a:spcPts val="1600"/>
              </a:lnSpc>
              <a:buNone/>
            </a:pPr>
            <a:r>
              <a:rPr lang="en-US" sz="1150" dirty="0">
                <a:solidFill>
                  <a:srgbClr val="1B1F3B"/>
                </a:solidFill>
                <a:latin typeface="Segoe UI" pitchFamily="34" charset="0"/>
                <a:ea typeface="Segoe UI" pitchFamily="34" charset="-122"/>
                <a:cs typeface="Segoe UI" pitchFamily="34" charset="-120"/>
              </a:rPr>
              <a:t>Formulaire avec en-tête d'entreprise modifiable (logo, nom, adresse, email, téléphone, SIRET), client, site, date, équipement, constat, analyse, préconisations, signature.</a:t>
            </a:r>
            <a:endParaRPr lang="en-US" sz="1150" dirty="0"/>
          </a:p>
        </p:txBody>
      </p:sp>
      <p:sp>
        <p:nvSpPr>
          <p:cNvPr id="8" name="Text 6"/>
          <p:cNvSpPr/>
          <p:nvPr/>
        </p:nvSpPr>
        <p:spPr>
          <a:xfrm>
            <a:off x="914400" y="2743200"/>
            <a:ext cx="10332720" cy="228600"/>
          </a:xfrm>
          <a:prstGeom prst="rect">
            <a:avLst/>
          </a:prstGeom>
          <a:noFill/>
          <a:ln/>
        </p:spPr>
        <p:txBody>
          <a:bodyPr wrap="square" rtlCol="0" anchor="ctr"/>
          <a:lstStyle/>
          <a:p>
            <a:pPr indent="0" marL="0">
              <a:buNone/>
            </a:pPr>
            <a:r>
              <a:rPr lang="en-US" sz="800" b="1" spc="100" kern="0" dirty="0">
                <a:solidFill>
                  <a:srgbClr val="9A7C5C"/>
                </a:solidFill>
                <a:latin typeface="Segoe UI" pitchFamily="34" charset="0"/>
                <a:ea typeface="Segoe UI" pitchFamily="34" charset="-122"/>
                <a:cs typeface="Segoe UI" pitchFamily="34" charset="-120"/>
              </a:rPr>
              <a:t>RÉALISATION TECHNIQUE</a:t>
            </a:r>
            <a:endParaRPr lang="en-US" sz="800" dirty="0"/>
          </a:p>
        </p:txBody>
      </p:sp>
      <p:sp>
        <p:nvSpPr>
          <p:cNvPr id="9" name="Text 7"/>
          <p:cNvSpPr/>
          <p:nvPr/>
        </p:nvSpPr>
        <p:spPr>
          <a:xfrm>
            <a:off x="914400" y="2990088"/>
            <a:ext cx="10332720" cy="548640"/>
          </a:xfrm>
          <a:prstGeom prst="rect">
            <a:avLst/>
          </a:prstGeom>
          <a:noFill/>
          <a:ln/>
        </p:spPr>
        <p:txBody>
          <a:bodyPr wrap="square" rtlCol="0" anchor="ctr"/>
          <a:lstStyle/>
          <a:p>
            <a:pPr indent="0" marL="0">
              <a:lnSpc>
                <a:spcPts val="1400"/>
              </a:lnSpc>
              <a:buNone/>
            </a:pPr>
            <a:r>
              <a:rPr lang="en-US" sz="1000" i="1" dirty="0">
                <a:solidFill>
                  <a:srgbClr val="8A7C68"/>
                </a:solidFill>
                <a:latin typeface="Segoe UI" pitchFamily="34" charset="0"/>
                <a:ea typeface="Segoe UI" pitchFamily="34" charset="-122"/>
                <a:cs typeface="Segoe UI" pitchFamily="34" charset="-120"/>
              </a:rPr>
              <a:t>Page /interventions, API /api/interventions.</a:t>
            </a:r>
            <a:endParaRPr lang="en-US" sz="1000" dirty="0"/>
          </a:p>
        </p:txBody>
      </p:sp>
      <p:sp>
        <p:nvSpPr>
          <p:cNvPr id="10" name="Shape 8"/>
          <p:cNvSpPr/>
          <p:nvPr/>
        </p:nvSpPr>
        <p:spPr>
          <a:xfrm>
            <a:off x="640080" y="3813048"/>
            <a:ext cx="10881360" cy="1737360"/>
          </a:xfrm>
          <a:prstGeom prst="roundRect">
            <a:avLst>
              <a:gd name="adj" fmla="val 3158"/>
            </a:avLst>
          </a:prstGeom>
          <a:solidFill>
            <a:srgbClr val="FFFFFF"/>
          </a:solidFill>
          <a:ln w="12700">
            <a:solidFill>
              <a:srgbClr val="E4DCCB"/>
            </a:solidFill>
            <a:prstDash val="solid"/>
          </a:ln>
        </p:spPr>
      </p:sp>
      <p:sp>
        <p:nvSpPr>
          <p:cNvPr id="11" name="Shape 9"/>
          <p:cNvSpPr/>
          <p:nvPr/>
        </p:nvSpPr>
        <p:spPr>
          <a:xfrm>
            <a:off x="640080" y="3813048"/>
            <a:ext cx="54864" cy="1737360"/>
          </a:xfrm>
          <a:prstGeom prst="rect">
            <a:avLst/>
          </a:prstGeom>
          <a:solidFill>
            <a:srgbClr val="1D6FE0"/>
          </a:solidFill>
          <a:ln/>
        </p:spPr>
      </p:sp>
      <p:sp>
        <p:nvSpPr>
          <p:cNvPr id="12" name="Text 10"/>
          <p:cNvSpPr/>
          <p:nvPr/>
        </p:nvSpPr>
        <p:spPr>
          <a:xfrm>
            <a:off x="914400" y="3941064"/>
            <a:ext cx="10332720" cy="365760"/>
          </a:xfrm>
          <a:prstGeom prst="rect">
            <a:avLst/>
          </a:prstGeom>
          <a:noFill/>
          <a:ln/>
        </p:spPr>
        <p:txBody>
          <a:bodyPr wrap="square" rtlCol="0" anchor="ctr"/>
          <a:lstStyle/>
          <a:p>
            <a:pPr indent="0" marL="0">
              <a:buNone/>
            </a:pPr>
            <a:r>
              <a:rPr lang="en-US" sz="1500" b="1" dirty="0">
                <a:solidFill>
                  <a:srgbClr val="1B1F3B"/>
                </a:solidFill>
                <a:latin typeface="Georgia" pitchFamily="34" charset="0"/>
                <a:ea typeface="Georgia" pitchFamily="34" charset="-122"/>
                <a:cs typeface="Georgia" pitchFamily="34" charset="-120"/>
              </a:rPr>
              <a:t>Aperçu avant génération</a:t>
            </a:r>
            <a:endParaRPr lang="en-US" sz="1500" dirty="0"/>
          </a:p>
        </p:txBody>
      </p:sp>
      <p:sp>
        <p:nvSpPr>
          <p:cNvPr id="13" name="Text 11"/>
          <p:cNvSpPr/>
          <p:nvPr/>
        </p:nvSpPr>
        <p:spPr>
          <a:xfrm>
            <a:off x="914400" y="4343400"/>
            <a:ext cx="10332720" cy="1005840"/>
          </a:xfrm>
          <a:prstGeom prst="rect">
            <a:avLst/>
          </a:prstGeom>
          <a:noFill/>
          <a:ln/>
        </p:spPr>
        <p:txBody>
          <a:bodyPr wrap="square" rtlCol="0" anchor="ctr"/>
          <a:lstStyle/>
          <a:p>
            <a:pPr indent="0" marL="0">
              <a:lnSpc>
                <a:spcPts val="1600"/>
              </a:lnSpc>
              <a:buNone/>
            </a:pPr>
            <a:r>
              <a:rPr lang="en-US" sz="1150" dirty="0">
                <a:solidFill>
                  <a:srgbClr val="1B1F3B"/>
                </a:solidFill>
                <a:latin typeface="Segoe UI" pitchFamily="34" charset="0"/>
                <a:ea typeface="Segoe UI" pitchFamily="34" charset="-122"/>
                <a:cs typeface="Segoe UI" pitchFamily="34" charset="-120"/>
              </a:rPr>
              <a:t>Aperçu fidèle au document final avant de créer définitivement le rapport, avec retour possible pour modifier.</a:t>
            </a:r>
            <a:endParaRPr lang="en-US" sz="1150" dirty="0"/>
          </a:p>
        </p:txBody>
      </p:sp>
      <p:sp>
        <p:nvSpPr>
          <p:cNvPr id="14" name="Text 12"/>
          <p:cNvSpPr/>
          <p:nvPr/>
        </p:nvSpPr>
        <p:spPr>
          <a:xfrm>
            <a:off x="365760" y="6510528"/>
            <a:ext cx="5486400" cy="274320"/>
          </a:xfrm>
          <a:prstGeom prst="rect">
            <a:avLst/>
          </a:prstGeom>
          <a:noFill/>
          <a:ln/>
        </p:spPr>
        <p:txBody>
          <a:bodyPr wrap="square" rtlCol="0" anchor="ctr"/>
          <a:lstStyle/>
          <a:p>
            <a:pPr indent="0" marL="0">
              <a:buNone/>
            </a:pPr>
            <a:r>
              <a:rPr lang="en-US" sz="850" dirty="0">
                <a:solidFill>
                  <a:srgbClr val="8A7C68"/>
                </a:solidFill>
                <a:latin typeface="Segoe UI" pitchFamily="34" charset="0"/>
                <a:ea typeface="Segoe UI" pitchFamily="34" charset="-122"/>
                <a:cs typeface="Segoe UI" pitchFamily="34" charset="-120"/>
              </a:rPr>
              <a:t>Kôji Web — Cahier des charges</a:t>
            </a:r>
            <a:endParaRPr lang="en-US" sz="850" dirty="0"/>
          </a:p>
        </p:txBody>
      </p:sp>
      <p:sp>
        <p:nvSpPr>
          <p:cNvPr id="15" name="Text 13"/>
          <p:cNvSpPr/>
          <p:nvPr/>
        </p:nvSpPr>
        <p:spPr>
          <a:xfrm>
            <a:off x="9601200" y="6510528"/>
            <a:ext cx="2194560" cy="274320"/>
          </a:xfrm>
          <a:prstGeom prst="rect">
            <a:avLst/>
          </a:prstGeom>
          <a:noFill/>
          <a:ln/>
        </p:spPr>
        <p:txBody>
          <a:bodyPr wrap="square" rtlCol="0" anchor="ctr"/>
          <a:lstStyle/>
          <a:p>
            <a:pPr algn="r" indent="0" marL="0">
              <a:buNone/>
            </a:pPr>
            <a:r>
              <a:rPr lang="en-US" sz="850" dirty="0">
                <a:solidFill>
                  <a:srgbClr val="8A7C68"/>
                </a:solidFill>
                <a:latin typeface="Segoe UI" pitchFamily="34" charset="0"/>
                <a:ea typeface="Segoe UI" pitchFamily="34" charset="-122"/>
                <a:cs typeface="Segoe UI" pitchFamily="34" charset="-120"/>
              </a:rPr>
              <a:t>55</a:t>
            </a:r>
            <a:endParaRPr lang="en-US" sz="850" dirty="0"/>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3108960" cy="365760"/>
          </a:xfrm>
          <a:prstGeom prst="roundRect">
            <a:avLst>
              <a:gd name="adj" fmla="val 50000"/>
            </a:avLst>
          </a:prstGeom>
          <a:solidFill>
            <a:srgbClr val="F7EADF"/>
          </a:solidFill>
          <a:ln/>
        </p:spPr>
      </p:sp>
      <p:sp>
        <p:nvSpPr>
          <p:cNvPr id="3" name="Text 1"/>
          <p:cNvSpPr/>
          <p:nvPr/>
        </p:nvSpPr>
        <p:spPr>
          <a:xfrm>
            <a:off x="640080" y="411480"/>
            <a:ext cx="3108960" cy="365760"/>
          </a:xfrm>
          <a:prstGeom prst="rect">
            <a:avLst/>
          </a:prstGeom>
          <a:noFill/>
          <a:ln/>
        </p:spPr>
        <p:txBody>
          <a:bodyPr wrap="square" rtlCol="0" anchor="ctr"/>
          <a:lstStyle/>
          <a:p>
            <a:pPr algn="ctr" indent="0" marL="0">
              <a:buNone/>
            </a:pPr>
            <a:r>
              <a:rPr lang="en-US" sz="950" b="1" spc="100" kern="0" dirty="0">
                <a:solidFill>
                  <a:srgbClr val="9A7C5C"/>
                </a:solidFill>
                <a:latin typeface="Segoe UI" pitchFamily="34" charset="0"/>
                <a:ea typeface="Segoe UI" pitchFamily="34" charset="-122"/>
                <a:cs typeface="Segoe UI" pitchFamily="34" charset="-120"/>
              </a:rPr>
              <a:t>INTERVENTIONS</a:t>
            </a:r>
            <a:endParaRPr lang="en-US" sz="950" dirty="0"/>
          </a:p>
        </p:txBody>
      </p:sp>
      <p:sp>
        <p:nvSpPr>
          <p:cNvPr id="4" name="Shape 2"/>
          <p:cNvSpPr/>
          <p:nvPr/>
        </p:nvSpPr>
        <p:spPr>
          <a:xfrm>
            <a:off x="640080" y="1005840"/>
            <a:ext cx="10881360" cy="1737360"/>
          </a:xfrm>
          <a:prstGeom prst="roundRect">
            <a:avLst>
              <a:gd name="adj" fmla="val 3158"/>
            </a:avLst>
          </a:prstGeom>
          <a:solidFill>
            <a:srgbClr val="FFFFFF"/>
          </a:solidFill>
          <a:ln w="12700">
            <a:solidFill>
              <a:srgbClr val="E4DCCB"/>
            </a:solidFill>
            <a:prstDash val="solid"/>
          </a:ln>
        </p:spPr>
      </p:sp>
      <p:sp>
        <p:nvSpPr>
          <p:cNvPr id="5" name="Shape 3"/>
          <p:cNvSpPr/>
          <p:nvPr/>
        </p:nvSpPr>
        <p:spPr>
          <a:xfrm>
            <a:off x="640080" y="1005840"/>
            <a:ext cx="54864" cy="1737360"/>
          </a:xfrm>
          <a:prstGeom prst="rect">
            <a:avLst/>
          </a:prstGeom>
          <a:solidFill>
            <a:srgbClr val="1D6FE0"/>
          </a:solidFill>
          <a:ln/>
        </p:spPr>
      </p:sp>
      <p:sp>
        <p:nvSpPr>
          <p:cNvPr id="6" name="Text 4"/>
          <p:cNvSpPr/>
          <p:nvPr/>
        </p:nvSpPr>
        <p:spPr>
          <a:xfrm>
            <a:off x="914400" y="1133856"/>
            <a:ext cx="10332720" cy="365760"/>
          </a:xfrm>
          <a:prstGeom prst="rect">
            <a:avLst/>
          </a:prstGeom>
          <a:noFill/>
          <a:ln/>
        </p:spPr>
        <p:txBody>
          <a:bodyPr wrap="square" rtlCol="0" anchor="ctr"/>
          <a:lstStyle/>
          <a:p>
            <a:pPr indent="0" marL="0">
              <a:buNone/>
            </a:pPr>
            <a:r>
              <a:rPr lang="en-US" sz="1500" b="1" dirty="0">
                <a:solidFill>
                  <a:srgbClr val="1B1F3B"/>
                </a:solidFill>
                <a:latin typeface="Georgia" pitchFamily="34" charset="0"/>
                <a:ea typeface="Georgia" pitchFamily="34" charset="-122"/>
                <a:cs typeface="Georgia" pitchFamily="34" charset="-120"/>
              </a:rPr>
              <a:t>Numéro automatique</a:t>
            </a:r>
            <a:endParaRPr lang="en-US" sz="1500" dirty="0"/>
          </a:p>
        </p:txBody>
      </p:sp>
      <p:sp>
        <p:nvSpPr>
          <p:cNvPr id="7" name="Text 5"/>
          <p:cNvSpPr/>
          <p:nvPr/>
        </p:nvSpPr>
        <p:spPr>
          <a:xfrm>
            <a:off x="914400" y="1536192"/>
            <a:ext cx="10332720" cy="1005840"/>
          </a:xfrm>
          <a:prstGeom prst="rect">
            <a:avLst/>
          </a:prstGeom>
          <a:noFill/>
          <a:ln/>
        </p:spPr>
        <p:txBody>
          <a:bodyPr wrap="square" rtlCol="0" anchor="ctr"/>
          <a:lstStyle/>
          <a:p>
            <a:pPr indent="0" marL="0">
              <a:lnSpc>
                <a:spcPts val="1600"/>
              </a:lnSpc>
              <a:buNone/>
            </a:pPr>
            <a:r>
              <a:rPr lang="en-US" sz="1150" dirty="0">
                <a:solidFill>
                  <a:srgbClr val="1B1F3B"/>
                </a:solidFill>
                <a:latin typeface="Segoe UI" pitchFamily="34" charset="0"/>
                <a:ea typeface="Segoe UI" pitchFamily="34" charset="-122"/>
                <a:cs typeface="Segoe UI" pitchFamily="34" charset="-120"/>
              </a:rPr>
              <a:t>Chaque rapport reçoit un numéro unique généré automatiquement (ex. INT-2026-0003), affiché en en-tête avec la date de création.</a:t>
            </a:r>
            <a:endParaRPr lang="en-US" sz="1150" dirty="0"/>
          </a:p>
        </p:txBody>
      </p:sp>
      <p:sp>
        <p:nvSpPr>
          <p:cNvPr id="8" name="Shape 6"/>
          <p:cNvSpPr/>
          <p:nvPr/>
        </p:nvSpPr>
        <p:spPr>
          <a:xfrm>
            <a:off x="640080" y="2944368"/>
            <a:ext cx="10881360" cy="1737360"/>
          </a:xfrm>
          <a:prstGeom prst="roundRect">
            <a:avLst>
              <a:gd name="adj" fmla="val 3158"/>
            </a:avLst>
          </a:prstGeom>
          <a:solidFill>
            <a:srgbClr val="FFFFFF"/>
          </a:solidFill>
          <a:ln w="12700">
            <a:solidFill>
              <a:srgbClr val="E4DCCB"/>
            </a:solidFill>
            <a:prstDash val="solid"/>
          </a:ln>
        </p:spPr>
      </p:sp>
      <p:sp>
        <p:nvSpPr>
          <p:cNvPr id="9" name="Shape 7"/>
          <p:cNvSpPr/>
          <p:nvPr/>
        </p:nvSpPr>
        <p:spPr>
          <a:xfrm>
            <a:off x="640080" y="2944368"/>
            <a:ext cx="54864" cy="1737360"/>
          </a:xfrm>
          <a:prstGeom prst="rect">
            <a:avLst/>
          </a:prstGeom>
          <a:solidFill>
            <a:srgbClr val="1D6FE0"/>
          </a:solidFill>
          <a:ln/>
        </p:spPr>
      </p:sp>
      <p:sp>
        <p:nvSpPr>
          <p:cNvPr id="10" name="Text 8"/>
          <p:cNvSpPr/>
          <p:nvPr/>
        </p:nvSpPr>
        <p:spPr>
          <a:xfrm>
            <a:off x="914400" y="3072384"/>
            <a:ext cx="10332720" cy="365760"/>
          </a:xfrm>
          <a:prstGeom prst="rect">
            <a:avLst/>
          </a:prstGeom>
          <a:noFill/>
          <a:ln/>
        </p:spPr>
        <p:txBody>
          <a:bodyPr wrap="square" rtlCol="0" anchor="ctr"/>
          <a:lstStyle/>
          <a:p>
            <a:pPr indent="0" marL="0">
              <a:buNone/>
            </a:pPr>
            <a:r>
              <a:rPr lang="en-US" sz="1500" b="1" dirty="0">
                <a:solidFill>
                  <a:srgbClr val="1B1F3B"/>
                </a:solidFill>
                <a:latin typeface="Georgia" pitchFamily="34" charset="0"/>
                <a:ea typeface="Georgia" pitchFamily="34" charset="-122"/>
                <a:cs typeface="Georgia" pitchFamily="34" charset="-120"/>
              </a:rPr>
              <a:t>Signature réutilisable</a:t>
            </a:r>
            <a:endParaRPr lang="en-US" sz="1500" dirty="0"/>
          </a:p>
        </p:txBody>
      </p:sp>
      <p:sp>
        <p:nvSpPr>
          <p:cNvPr id="11" name="Text 9"/>
          <p:cNvSpPr/>
          <p:nvPr/>
        </p:nvSpPr>
        <p:spPr>
          <a:xfrm>
            <a:off x="914400" y="3474720"/>
            <a:ext cx="10332720" cy="1005840"/>
          </a:xfrm>
          <a:prstGeom prst="rect">
            <a:avLst/>
          </a:prstGeom>
          <a:noFill/>
          <a:ln/>
        </p:spPr>
        <p:txBody>
          <a:bodyPr wrap="square" rtlCol="0" anchor="ctr"/>
          <a:lstStyle/>
          <a:p>
            <a:pPr indent="0" marL="0">
              <a:lnSpc>
                <a:spcPts val="1600"/>
              </a:lnSpc>
              <a:buNone/>
            </a:pPr>
            <a:r>
              <a:rPr lang="en-US" sz="1150" dirty="0">
                <a:solidFill>
                  <a:srgbClr val="1B1F3B"/>
                </a:solidFill>
                <a:latin typeface="Segoe UI" pitchFamily="34" charset="0"/>
                <a:ea typeface="Segoe UI" pitchFamily="34" charset="-122"/>
                <a:cs typeface="Segoe UI" pitchFamily="34" charset="-120"/>
              </a:rPr>
              <a:t>La signature déjà enregistrée dans "Ma Signature" peut être importée en un clic sur le rapport, affichée en bas à droite comme une vraie signature.</a:t>
            </a:r>
            <a:endParaRPr lang="en-US" sz="1150" dirty="0"/>
          </a:p>
        </p:txBody>
      </p:sp>
      <p:sp>
        <p:nvSpPr>
          <p:cNvPr id="12" name="Text 10"/>
          <p:cNvSpPr/>
          <p:nvPr/>
        </p:nvSpPr>
        <p:spPr>
          <a:xfrm>
            <a:off x="365760" y="6510528"/>
            <a:ext cx="5486400" cy="274320"/>
          </a:xfrm>
          <a:prstGeom prst="rect">
            <a:avLst/>
          </a:prstGeom>
          <a:noFill/>
          <a:ln/>
        </p:spPr>
        <p:txBody>
          <a:bodyPr wrap="square" rtlCol="0" anchor="ctr"/>
          <a:lstStyle/>
          <a:p>
            <a:pPr indent="0" marL="0">
              <a:buNone/>
            </a:pPr>
            <a:r>
              <a:rPr lang="en-US" sz="850" dirty="0">
                <a:solidFill>
                  <a:srgbClr val="8A7C68"/>
                </a:solidFill>
                <a:latin typeface="Segoe UI" pitchFamily="34" charset="0"/>
                <a:ea typeface="Segoe UI" pitchFamily="34" charset="-122"/>
                <a:cs typeface="Segoe UI" pitchFamily="34" charset="-120"/>
              </a:rPr>
              <a:t>Kôji Web — Cahier des charges</a:t>
            </a:r>
            <a:endParaRPr lang="en-US" sz="850" dirty="0"/>
          </a:p>
        </p:txBody>
      </p:sp>
      <p:sp>
        <p:nvSpPr>
          <p:cNvPr id="13" name="Text 11"/>
          <p:cNvSpPr/>
          <p:nvPr/>
        </p:nvSpPr>
        <p:spPr>
          <a:xfrm>
            <a:off x="9601200" y="6510528"/>
            <a:ext cx="2194560" cy="274320"/>
          </a:xfrm>
          <a:prstGeom prst="rect">
            <a:avLst/>
          </a:prstGeom>
          <a:noFill/>
          <a:ln/>
        </p:spPr>
        <p:txBody>
          <a:bodyPr wrap="square" rtlCol="0" anchor="ctr"/>
          <a:lstStyle/>
          <a:p>
            <a:pPr algn="r" indent="0" marL="0">
              <a:buNone/>
            </a:pPr>
            <a:r>
              <a:rPr lang="en-US" sz="850" dirty="0">
                <a:solidFill>
                  <a:srgbClr val="8A7C68"/>
                </a:solidFill>
                <a:latin typeface="Segoe UI" pitchFamily="34" charset="0"/>
                <a:ea typeface="Segoe UI" pitchFamily="34" charset="-122"/>
                <a:cs typeface="Segoe UI" pitchFamily="34" charset="-120"/>
              </a:rPr>
              <a:t>56</a:t>
            </a:r>
            <a:endParaRPr lang="en-US" sz="850" dirty="0"/>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name="Slide 58">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3108960" cy="365760"/>
          </a:xfrm>
          <a:prstGeom prst="roundRect">
            <a:avLst>
              <a:gd name="adj" fmla="val 50000"/>
            </a:avLst>
          </a:prstGeom>
          <a:solidFill>
            <a:srgbClr val="F7EADF"/>
          </a:solidFill>
          <a:ln/>
        </p:spPr>
      </p:sp>
      <p:sp>
        <p:nvSpPr>
          <p:cNvPr id="3" name="Text 1"/>
          <p:cNvSpPr/>
          <p:nvPr/>
        </p:nvSpPr>
        <p:spPr>
          <a:xfrm>
            <a:off x="640080" y="411480"/>
            <a:ext cx="3108960" cy="365760"/>
          </a:xfrm>
          <a:prstGeom prst="rect">
            <a:avLst/>
          </a:prstGeom>
          <a:noFill/>
          <a:ln/>
        </p:spPr>
        <p:txBody>
          <a:bodyPr wrap="square" rtlCol="0" anchor="ctr"/>
          <a:lstStyle/>
          <a:p>
            <a:pPr algn="ctr" indent="0" marL="0">
              <a:buNone/>
            </a:pPr>
            <a:r>
              <a:rPr lang="en-US" sz="950" b="1" spc="100" kern="0" dirty="0">
                <a:solidFill>
                  <a:srgbClr val="9A7C5C"/>
                </a:solidFill>
                <a:latin typeface="Segoe UI" pitchFamily="34" charset="0"/>
                <a:ea typeface="Segoe UI" pitchFamily="34" charset="-122"/>
                <a:cs typeface="Segoe UI" pitchFamily="34" charset="-120"/>
              </a:rPr>
              <a:t>INTERVENTIONS</a:t>
            </a:r>
            <a:endParaRPr lang="en-US" sz="950" dirty="0"/>
          </a:p>
        </p:txBody>
      </p:sp>
      <p:sp>
        <p:nvSpPr>
          <p:cNvPr id="4" name="Shape 2"/>
          <p:cNvSpPr/>
          <p:nvPr/>
        </p:nvSpPr>
        <p:spPr>
          <a:xfrm>
            <a:off x="640080" y="1005840"/>
            <a:ext cx="10881360" cy="1737360"/>
          </a:xfrm>
          <a:prstGeom prst="roundRect">
            <a:avLst>
              <a:gd name="adj" fmla="val 3158"/>
            </a:avLst>
          </a:prstGeom>
          <a:solidFill>
            <a:srgbClr val="FFFFFF"/>
          </a:solidFill>
          <a:ln w="12700">
            <a:solidFill>
              <a:srgbClr val="E4DCCB"/>
            </a:solidFill>
            <a:prstDash val="solid"/>
          </a:ln>
        </p:spPr>
      </p:sp>
      <p:sp>
        <p:nvSpPr>
          <p:cNvPr id="5" name="Shape 3"/>
          <p:cNvSpPr/>
          <p:nvPr/>
        </p:nvSpPr>
        <p:spPr>
          <a:xfrm>
            <a:off x="640080" y="1005840"/>
            <a:ext cx="54864" cy="1737360"/>
          </a:xfrm>
          <a:prstGeom prst="rect">
            <a:avLst/>
          </a:prstGeom>
          <a:solidFill>
            <a:srgbClr val="1D6FE0"/>
          </a:solidFill>
          <a:ln/>
        </p:spPr>
      </p:sp>
      <p:sp>
        <p:nvSpPr>
          <p:cNvPr id="6" name="Text 4"/>
          <p:cNvSpPr/>
          <p:nvPr/>
        </p:nvSpPr>
        <p:spPr>
          <a:xfrm>
            <a:off x="914400" y="1133856"/>
            <a:ext cx="10332720" cy="365760"/>
          </a:xfrm>
          <a:prstGeom prst="rect">
            <a:avLst/>
          </a:prstGeom>
          <a:noFill/>
          <a:ln/>
        </p:spPr>
        <p:txBody>
          <a:bodyPr wrap="square" rtlCol="0" anchor="ctr"/>
          <a:lstStyle/>
          <a:p>
            <a:pPr indent="0" marL="0">
              <a:buNone/>
            </a:pPr>
            <a:r>
              <a:rPr lang="en-US" sz="1500" b="1" dirty="0">
                <a:solidFill>
                  <a:srgbClr val="1B1F3B"/>
                </a:solidFill>
                <a:latin typeface="Georgia" pitchFamily="34" charset="0"/>
                <a:ea typeface="Georgia" pitchFamily="34" charset="-122"/>
                <a:cs typeface="Georgia" pitchFamily="34" charset="-120"/>
              </a:rPr>
              <a:t>Statut de suivi automatique</a:t>
            </a:r>
            <a:endParaRPr lang="en-US" sz="1500" dirty="0"/>
          </a:p>
        </p:txBody>
      </p:sp>
      <p:sp>
        <p:nvSpPr>
          <p:cNvPr id="7" name="Text 5"/>
          <p:cNvSpPr/>
          <p:nvPr/>
        </p:nvSpPr>
        <p:spPr>
          <a:xfrm>
            <a:off x="914400" y="1536192"/>
            <a:ext cx="10332720" cy="1005840"/>
          </a:xfrm>
          <a:prstGeom prst="rect">
            <a:avLst/>
          </a:prstGeom>
          <a:noFill/>
          <a:ln/>
        </p:spPr>
        <p:txBody>
          <a:bodyPr wrap="square" rtlCol="0" anchor="ctr"/>
          <a:lstStyle/>
          <a:p>
            <a:pPr indent="0" marL="0">
              <a:lnSpc>
                <a:spcPts val="1600"/>
              </a:lnSpc>
              <a:buNone/>
            </a:pPr>
            <a:r>
              <a:rPr lang="en-US" sz="1150" dirty="0">
                <a:solidFill>
                  <a:srgbClr val="1B1F3B"/>
                </a:solidFill>
                <a:latin typeface="Segoe UI" pitchFamily="34" charset="0"/>
                <a:ea typeface="Segoe UI" pitchFamily="34" charset="-122"/>
                <a:cs typeface="Segoe UI" pitchFamily="34" charset="-120"/>
              </a:rPr>
              <a:t>Le statut évolue automatiquement selon la date : "À faire" tant que la date n'est pas arrivée, "En cours" le jour J, jusqu'à être marquée "Terminée" manuellement.</a:t>
            </a:r>
            <a:endParaRPr lang="en-US" sz="1150" dirty="0"/>
          </a:p>
        </p:txBody>
      </p:sp>
      <p:sp>
        <p:nvSpPr>
          <p:cNvPr id="8" name="Shape 6"/>
          <p:cNvSpPr/>
          <p:nvPr/>
        </p:nvSpPr>
        <p:spPr>
          <a:xfrm>
            <a:off x="640080" y="2944368"/>
            <a:ext cx="10881360" cy="1737360"/>
          </a:xfrm>
          <a:prstGeom prst="roundRect">
            <a:avLst>
              <a:gd name="adj" fmla="val 3158"/>
            </a:avLst>
          </a:prstGeom>
          <a:solidFill>
            <a:srgbClr val="FFFFFF"/>
          </a:solidFill>
          <a:ln w="12700">
            <a:solidFill>
              <a:srgbClr val="E4DCCB"/>
            </a:solidFill>
            <a:prstDash val="solid"/>
          </a:ln>
        </p:spPr>
      </p:sp>
      <p:sp>
        <p:nvSpPr>
          <p:cNvPr id="9" name="Shape 7"/>
          <p:cNvSpPr/>
          <p:nvPr/>
        </p:nvSpPr>
        <p:spPr>
          <a:xfrm>
            <a:off x="640080" y="2944368"/>
            <a:ext cx="54864" cy="1737360"/>
          </a:xfrm>
          <a:prstGeom prst="rect">
            <a:avLst/>
          </a:prstGeom>
          <a:solidFill>
            <a:srgbClr val="1D6FE0"/>
          </a:solidFill>
          <a:ln/>
        </p:spPr>
      </p:sp>
      <p:sp>
        <p:nvSpPr>
          <p:cNvPr id="10" name="Text 8"/>
          <p:cNvSpPr/>
          <p:nvPr/>
        </p:nvSpPr>
        <p:spPr>
          <a:xfrm>
            <a:off x="914400" y="3072384"/>
            <a:ext cx="10332720" cy="365760"/>
          </a:xfrm>
          <a:prstGeom prst="rect">
            <a:avLst/>
          </a:prstGeom>
          <a:noFill/>
          <a:ln/>
        </p:spPr>
        <p:txBody>
          <a:bodyPr wrap="square" rtlCol="0" anchor="ctr"/>
          <a:lstStyle/>
          <a:p>
            <a:pPr indent="0" marL="0">
              <a:buNone/>
            </a:pPr>
            <a:r>
              <a:rPr lang="en-US" sz="1500" b="1" dirty="0">
                <a:solidFill>
                  <a:srgbClr val="1B1F3B"/>
                </a:solidFill>
                <a:latin typeface="Georgia" pitchFamily="34" charset="0"/>
                <a:ea typeface="Georgia" pitchFamily="34" charset="-122"/>
                <a:cs typeface="Georgia" pitchFamily="34" charset="-120"/>
              </a:rPr>
              <a:t>Devenir du rapport</a:t>
            </a:r>
            <a:endParaRPr lang="en-US" sz="1500" dirty="0"/>
          </a:p>
        </p:txBody>
      </p:sp>
      <p:sp>
        <p:nvSpPr>
          <p:cNvPr id="11" name="Text 9"/>
          <p:cNvSpPr/>
          <p:nvPr/>
        </p:nvSpPr>
        <p:spPr>
          <a:xfrm>
            <a:off x="914400" y="3474720"/>
            <a:ext cx="10332720" cy="1005840"/>
          </a:xfrm>
          <a:prstGeom prst="rect">
            <a:avLst/>
          </a:prstGeom>
          <a:noFill/>
          <a:ln/>
        </p:spPr>
        <p:txBody>
          <a:bodyPr wrap="square" rtlCol="0" anchor="ctr"/>
          <a:lstStyle/>
          <a:p>
            <a:pPr indent="0" marL="0">
              <a:lnSpc>
                <a:spcPts val="1600"/>
              </a:lnSpc>
              <a:buNone/>
            </a:pPr>
            <a:r>
              <a:rPr lang="en-US" sz="1150" dirty="0">
                <a:solidFill>
                  <a:srgbClr val="1B1F3B"/>
                </a:solidFill>
                <a:latin typeface="Segoe UI" pitchFamily="34" charset="0"/>
                <a:ea typeface="Segoe UI" pitchFamily="34" charset="-122"/>
                <a:cs typeface="Segoe UI" pitchFamily="34" charset="-120"/>
              </a:rPr>
              <a:t>Une intervention peut être liée à un chantier existant, gardée en attente pour un futur devis, archivée, ou directement transformée en facture.</a:t>
            </a:r>
            <a:endParaRPr lang="en-US" sz="1150" dirty="0"/>
          </a:p>
        </p:txBody>
      </p:sp>
      <p:sp>
        <p:nvSpPr>
          <p:cNvPr id="12" name="Text 10"/>
          <p:cNvSpPr/>
          <p:nvPr/>
        </p:nvSpPr>
        <p:spPr>
          <a:xfrm>
            <a:off x="365760" y="6510528"/>
            <a:ext cx="5486400" cy="274320"/>
          </a:xfrm>
          <a:prstGeom prst="rect">
            <a:avLst/>
          </a:prstGeom>
          <a:noFill/>
          <a:ln/>
        </p:spPr>
        <p:txBody>
          <a:bodyPr wrap="square" rtlCol="0" anchor="ctr"/>
          <a:lstStyle/>
          <a:p>
            <a:pPr indent="0" marL="0">
              <a:buNone/>
            </a:pPr>
            <a:r>
              <a:rPr lang="en-US" sz="850" dirty="0">
                <a:solidFill>
                  <a:srgbClr val="8A7C68"/>
                </a:solidFill>
                <a:latin typeface="Segoe UI" pitchFamily="34" charset="0"/>
                <a:ea typeface="Segoe UI" pitchFamily="34" charset="-122"/>
                <a:cs typeface="Segoe UI" pitchFamily="34" charset="-120"/>
              </a:rPr>
              <a:t>Kôji Web — Cahier des charges</a:t>
            </a:r>
            <a:endParaRPr lang="en-US" sz="850" dirty="0"/>
          </a:p>
        </p:txBody>
      </p:sp>
      <p:sp>
        <p:nvSpPr>
          <p:cNvPr id="13" name="Text 11"/>
          <p:cNvSpPr/>
          <p:nvPr/>
        </p:nvSpPr>
        <p:spPr>
          <a:xfrm>
            <a:off x="9601200" y="6510528"/>
            <a:ext cx="2194560" cy="274320"/>
          </a:xfrm>
          <a:prstGeom prst="rect">
            <a:avLst/>
          </a:prstGeom>
          <a:noFill/>
          <a:ln/>
        </p:spPr>
        <p:txBody>
          <a:bodyPr wrap="square" rtlCol="0" anchor="ctr"/>
          <a:lstStyle/>
          <a:p>
            <a:pPr algn="r" indent="0" marL="0">
              <a:buNone/>
            </a:pPr>
            <a:r>
              <a:rPr lang="en-US" sz="850" dirty="0">
                <a:solidFill>
                  <a:srgbClr val="8A7C68"/>
                </a:solidFill>
                <a:latin typeface="Segoe UI" pitchFamily="34" charset="0"/>
                <a:ea typeface="Segoe UI" pitchFamily="34" charset="-122"/>
                <a:cs typeface="Segoe UI" pitchFamily="34" charset="-120"/>
              </a:rPr>
              <a:t>57</a:t>
            </a:r>
            <a:endParaRPr lang="en-US" sz="850" dirty="0"/>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name="Slide 59">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3108960" cy="365760"/>
          </a:xfrm>
          <a:prstGeom prst="roundRect">
            <a:avLst>
              <a:gd name="adj" fmla="val 50000"/>
            </a:avLst>
          </a:prstGeom>
          <a:solidFill>
            <a:srgbClr val="F7EADF"/>
          </a:solidFill>
          <a:ln/>
        </p:spPr>
      </p:sp>
      <p:sp>
        <p:nvSpPr>
          <p:cNvPr id="3" name="Text 1"/>
          <p:cNvSpPr/>
          <p:nvPr/>
        </p:nvSpPr>
        <p:spPr>
          <a:xfrm>
            <a:off x="640080" y="411480"/>
            <a:ext cx="3108960" cy="365760"/>
          </a:xfrm>
          <a:prstGeom prst="rect">
            <a:avLst/>
          </a:prstGeom>
          <a:noFill/>
          <a:ln/>
        </p:spPr>
        <p:txBody>
          <a:bodyPr wrap="square" rtlCol="0" anchor="ctr"/>
          <a:lstStyle/>
          <a:p>
            <a:pPr algn="ctr" indent="0" marL="0">
              <a:buNone/>
            </a:pPr>
            <a:r>
              <a:rPr lang="en-US" sz="950" b="1" spc="100" kern="0" dirty="0">
                <a:solidFill>
                  <a:srgbClr val="9A7C5C"/>
                </a:solidFill>
                <a:latin typeface="Segoe UI" pitchFamily="34" charset="0"/>
                <a:ea typeface="Segoe UI" pitchFamily="34" charset="-122"/>
                <a:cs typeface="Segoe UI" pitchFamily="34" charset="-120"/>
              </a:rPr>
              <a:t>INTERVENTIONS</a:t>
            </a:r>
            <a:endParaRPr lang="en-US" sz="950" dirty="0"/>
          </a:p>
        </p:txBody>
      </p:sp>
      <p:sp>
        <p:nvSpPr>
          <p:cNvPr id="4" name="Shape 2"/>
          <p:cNvSpPr/>
          <p:nvPr/>
        </p:nvSpPr>
        <p:spPr>
          <a:xfrm>
            <a:off x="640080" y="1005840"/>
            <a:ext cx="10881360" cy="1737360"/>
          </a:xfrm>
          <a:prstGeom prst="roundRect">
            <a:avLst>
              <a:gd name="adj" fmla="val 3158"/>
            </a:avLst>
          </a:prstGeom>
          <a:solidFill>
            <a:srgbClr val="FFFFFF"/>
          </a:solidFill>
          <a:ln w="12700">
            <a:solidFill>
              <a:srgbClr val="E4DCCB"/>
            </a:solidFill>
            <a:prstDash val="solid"/>
          </a:ln>
        </p:spPr>
      </p:sp>
      <p:sp>
        <p:nvSpPr>
          <p:cNvPr id="5" name="Shape 3"/>
          <p:cNvSpPr/>
          <p:nvPr/>
        </p:nvSpPr>
        <p:spPr>
          <a:xfrm>
            <a:off x="640080" y="1005840"/>
            <a:ext cx="54864" cy="1737360"/>
          </a:xfrm>
          <a:prstGeom prst="rect">
            <a:avLst/>
          </a:prstGeom>
          <a:solidFill>
            <a:srgbClr val="1D6FE0"/>
          </a:solidFill>
          <a:ln/>
        </p:spPr>
      </p:sp>
      <p:sp>
        <p:nvSpPr>
          <p:cNvPr id="6" name="Text 4"/>
          <p:cNvSpPr/>
          <p:nvPr/>
        </p:nvSpPr>
        <p:spPr>
          <a:xfrm>
            <a:off x="914400" y="1133856"/>
            <a:ext cx="10332720" cy="365760"/>
          </a:xfrm>
          <a:prstGeom prst="rect">
            <a:avLst/>
          </a:prstGeom>
          <a:noFill/>
          <a:ln/>
        </p:spPr>
        <p:txBody>
          <a:bodyPr wrap="square" rtlCol="0" anchor="ctr"/>
          <a:lstStyle/>
          <a:p>
            <a:pPr indent="0" marL="0">
              <a:buNone/>
            </a:pPr>
            <a:r>
              <a:rPr lang="en-US" sz="1500" b="1" dirty="0">
                <a:solidFill>
                  <a:srgbClr val="1B1F3B"/>
                </a:solidFill>
                <a:latin typeface="Georgia" pitchFamily="34" charset="0"/>
                <a:ea typeface="Georgia" pitchFamily="34" charset="-122"/>
                <a:cs typeface="Georgia" pitchFamily="34" charset="-120"/>
              </a:rPr>
              <a:t>Passage dans "À faire maintenant"</a:t>
            </a:r>
            <a:endParaRPr lang="en-US" sz="1500" dirty="0"/>
          </a:p>
        </p:txBody>
      </p:sp>
      <p:sp>
        <p:nvSpPr>
          <p:cNvPr id="7" name="Text 5"/>
          <p:cNvSpPr/>
          <p:nvPr/>
        </p:nvSpPr>
        <p:spPr>
          <a:xfrm>
            <a:off x="914400" y="1536192"/>
            <a:ext cx="10332720" cy="1005840"/>
          </a:xfrm>
          <a:prstGeom prst="rect">
            <a:avLst/>
          </a:prstGeom>
          <a:noFill/>
          <a:ln/>
        </p:spPr>
        <p:txBody>
          <a:bodyPr wrap="square" rtlCol="0" anchor="ctr"/>
          <a:lstStyle/>
          <a:p>
            <a:pPr indent="0" marL="0">
              <a:lnSpc>
                <a:spcPts val="1600"/>
              </a:lnSpc>
              <a:buNone/>
            </a:pPr>
            <a:r>
              <a:rPr lang="en-US" sz="1150" dirty="0">
                <a:solidFill>
                  <a:srgbClr val="1B1F3B"/>
                </a:solidFill>
                <a:latin typeface="Segoe UI" pitchFamily="34" charset="0"/>
                <a:ea typeface="Segoe UI" pitchFamily="34" charset="-122"/>
                <a:cs typeface="Segoe UI" pitchFamily="34" charset="-120"/>
              </a:rPr>
              <a:t>Une intervention du jour peut être déplacée en un clic vers la liste "À faire maintenant" de l'accueil.</a:t>
            </a:r>
            <a:endParaRPr lang="en-US" sz="1150" dirty="0"/>
          </a:p>
        </p:txBody>
      </p:sp>
      <p:sp>
        <p:nvSpPr>
          <p:cNvPr id="8" name="Shape 6"/>
          <p:cNvSpPr/>
          <p:nvPr/>
        </p:nvSpPr>
        <p:spPr>
          <a:xfrm>
            <a:off x="640080" y="2944368"/>
            <a:ext cx="10881360" cy="1737360"/>
          </a:xfrm>
          <a:prstGeom prst="roundRect">
            <a:avLst>
              <a:gd name="adj" fmla="val 3158"/>
            </a:avLst>
          </a:prstGeom>
          <a:solidFill>
            <a:srgbClr val="FFFFFF"/>
          </a:solidFill>
          <a:ln w="12700">
            <a:solidFill>
              <a:srgbClr val="E4DCCB"/>
            </a:solidFill>
            <a:prstDash val="solid"/>
          </a:ln>
        </p:spPr>
      </p:sp>
      <p:sp>
        <p:nvSpPr>
          <p:cNvPr id="9" name="Shape 7"/>
          <p:cNvSpPr/>
          <p:nvPr/>
        </p:nvSpPr>
        <p:spPr>
          <a:xfrm>
            <a:off x="640080" y="2944368"/>
            <a:ext cx="54864" cy="1737360"/>
          </a:xfrm>
          <a:prstGeom prst="rect">
            <a:avLst/>
          </a:prstGeom>
          <a:solidFill>
            <a:srgbClr val="1D6FE0"/>
          </a:solidFill>
          <a:ln/>
        </p:spPr>
      </p:sp>
      <p:sp>
        <p:nvSpPr>
          <p:cNvPr id="10" name="Text 8"/>
          <p:cNvSpPr/>
          <p:nvPr/>
        </p:nvSpPr>
        <p:spPr>
          <a:xfrm>
            <a:off x="914400" y="3072384"/>
            <a:ext cx="10332720" cy="365760"/>
          </a:xfrm>
          <a:prstGeom prst="rect">
            <a:avLst/>
          </a:prstGeom>
          <a:noFill/>
          <a:ln/>
        </p:spPr>
        <p:txBody>
          <a:bodyPr wrap="square" rtlCol="0" anchor="ctr"/>
          <a:lstStyle/>
          <a:p>
            <a:pPr indent="0" marL="0">
              <a:buNone/>
            </a:pPr>
            <a:r>
              <a:rPr lang="en-US" sz="1500" b="1" dirty="0">
                <a:solidFill>
                  <a:srgbClr val="1B1F3B"/>
                </a:solidFill>
                <a:latin typeface="Georgia" pitchFamily="34" charset="0"/>
                <a:ea typeface="Georgia" pitchFamily="34" charset="-122"/>
                <a:cs typeface="Georgia" pitchFamily="34" charset="-120"/>
              </a:rPr>
              <a:t>Export PDF</a:t>
            </a:r>
            <a:endParaRPr lang="en-US" sz="1500" dirty="0"/>
          </a:p>
        </p:txBody>
      </p:sp>
      <p:sp>
        <p:nvSpPr>
          <p:cNvPr id="11" name="Text 9"/>
          <p:cNvSpPr/>
          <p:nvPr/>
        </p:nvSpPr>
        <p:spPr>
          <a:xfrm>
            <a:off x="914400" y="3474720"/>
            <a:ext cx="10332720" cy="1005840"/>
          </a:xfrm>
          <a:prstGeom prst="rect">
            <a:avLst/>
          </a:prstGeom>
          <a:noFill/>
          <a:ln/>
        </p:spPr>
        <p:txBody>
          <a:bodyPr wrap="square" rtlCol="0" anchor="ctr"/>
          <a:lstStyle/>
          <a:p>
            <a:pPr indent="0" marL="0">
              <a:lnSpc>
                <a:spcPts val="1600"/>
              </a:lnSpc>
              <a:buNone/>
            </a:pPr>
            <a:r>
              <a:rPr lang="en-US" sz="1150" dirty="0">
                <a:solidFill>
                  <a:srgbClr val="1B1F3B"/>
                </a:solidFill>
                <a:latin typeface="Segoe UI" pitchFamily="34" charset="0"/>
                <a:ea typeface="Segoe UI" pitchFamily="34" charset="-122"/>
                <a:cs typeface="Segoe UI" pitchFamily="34" charset="-120"/>
              </a:rPr>
              <a:t>Génération du rapport en PDF, avec mise en page reprenant celle d'un rapport d'intervention professionnel classique.</a:t>
            </a:r>
            <a:endParaRPr lang="en-US" sz="1150" dirty="0"/>
          </a:p>
        </p:txBody>
      </p:sp>
      <p:sp>
        <p:nvSpPr>
          <p:cNvPr id="12" name="Text 10"/>
          <p:cNvSpPr/>
          <p:nvPr/>
        </p:nvSpPr>
        <p:spPr>
          <a:xfrm>
            <a:off x="365760" y="6510528"/>
            <a:ext cx="5486400" cy="274320"/>
          </a:xfrm>
          <a:prstGeom prst="rect">
            <a:avLst/>
          </a:prstGeom>
          <a:noFill/>
          <a:ln/>
        </p:spPr>
        <p:txBody>
          <a:bodyPr wrap="square" rtlCol="0" anchor="ctr"/>
          <a:lstStyle/>
          <a:p>
            <a:pPr indent="0" marL="0">
              <a:buNone/>
            </a:pPr>
            <a:r>
              <a:rPr lang="en-US" sz="850" dirty="0">
                <a:solidFill>
                  <a:srgbClr val="8A7C68"/>
                </a:solidFill>
                <a:latin typeface="Segoe UI" pitchFamily="34" charset="0"/>
                <a:ea typeface="Segoe UI" pitchFamily="34" charset="-122"/>
                <a:cs typeface="Segoe UI" pitchFamily="34" charset="-120"/>
              </a:rPr>
              <a:t>Kôji Web — Cahier des charges</a:t>
            </a:r>
            <a:endParaRPr lang="en-US" sz="850" dirty="0"/>
          </a:p>
        </p:txBody>
      </p:sp>
      <p:sp>
        <p:nvSpPr>
          <p:cNvPr id="13" name="Text 11"/>
          <p:cNvSpPr/>
          <p:nvPr/>
        </p:nvSpPr>
        <p:spPr>
          <a:xfrm>
            <a:off x="9601200" y="6510528"/>
            <a:ext cx="2194560" cy="274320"/>
          </a:xfrm>
          <a:prstGeom prst="rect">
            <a:avLst/>
          </a:prstGeom>
          <a:noFill/>
          <a:ln/>
        </p:spPr>
        <p:txBody>
          <a:bodyPr wrap="square" rtlCol="0" anchor="ctr"/>
          <a:lstStyle/>
          <a:p>
            <a:pPr algn="r" indent="0" marL="0">
              <a:buNone/>
            </a:pPr>
            <a:r>
              <a:rPr lang="en-US" sz="850" dirty="0">
                <a:solidFill>
                  <a:srgbClr val="8A7C68"/>
                </a:solidFill>
                <a:latin typeface="Segoe UI" pitchFamily="34" charset="0"/>
                <a:ea typeface="Segoe UI" pitchFamily="34" charset="-122"/>
                <a:cs typeface="Segoe UI" pitchFamily="34" charset="-120"/>
              </a:rPr>
              <a:t>58</a:t>
            </a:r>
            <a:endParaRPr lang="en-US" sz="850" dirty="0"/>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name="Slide 60">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3108960" cy="365760"/>
          </a:xfrm>
          <a:prstGeom prst="roundRect">
            <a:avLst>
              <a:gd name="adj" fmla="val 50000"/>
            </a:avLst>
          </a:prstGeom>
          <a:solidFill>
            <a:srgbClr val="F7EADF"/>
          </a:solidFill>
          <a:ln/>
        </p:spPr>
      </p:sp>
      <p:sp>
        <p:nvSpPr>
          <p:cNvPr id="3" name="Text 1"/>
          <p:cNvSpPr/>
          <p:nvPr/>
        </p:nvSpPr>
        <p:spPr>
          <a:xfrm>
            <a:off x="640080" y="411480"/>
            <a:ext cx="3108960" cy="365760"/>
          </a:xfrm>
          <a:prstGeom prst="rect">
            <a:avLst/>
          </a:prstGeom>
          <a:noFill/>
          <a:ln/>
        </p:spPr>
        <p:txBody>
          <a:bodyPr wrap="square" rtlCol="0" anchor="ctr"/>
          <a:lstStyle/>
          <a:p>
            <a:pPr algn="ctr" indent="0" marL="0">
              <a:buNone/>
            </a:pPr>
            <a:r>
              <a:rPr lang="en-US" sz="950" b="1" spc="100" kern="0" dirty="0">
                <a:solidFill>
                  <a:srgbClr val="9A7C5C"/>
                </a:solidFill>
                <a:latin typeface="Segoe UI" pitchFamily="34" charset="0"/>
                <a:ea typeface="Segoe UI" pitchFamily="34" charset="-122"/>
                <a:cs typeface="Segoe UI" pitchFamily="34" charset="-120"/>
              </a:rPr>
              <a:t>INTERVENTIONS</a:t>
            </a:r>
            <a:endParaRPr lang="en-US" sz="950" dirty="0"/>
          </a:p>
        </p:txBody>
      </p:sp>
      <p:sp>
        <p:nvSpPr>
          <p:cNvPr id="4" name="Shape 2"/>
          <p:cNvSpPr/>
          <p:nvPr/>
        </p:nvSpPr>
        <p:spPr>
          <a:xfrm>
            <a:off x="640080" y="1005840"/>
            <a:ext cx="10881360" cy="1737360"/>
          </a:xfrm>
          <a:prstGeom prst="roundRect">
            <a:avLst>
              <a:gd name="adj" fmla="val 3158"/>
            </a:avLst>
          </a:prstGeom>
          <a:solidFill>
            <a:srgbClr val="FFFFFF"/>
          </a:solidFill>
          <a:ln w="12700">
            <a:solidFill>
              <a:srgbClr val="E4DCCB"/>
            </a:solidFill>
            <a:prstDash val="solid"/>
          </a:ln>
        </p:spPr>
      </p:sp>
      <p:sp>
        <p:nvSpPr>
          <p:cNvPr id="5" name="Shape 3"/>
          <p:cNvSpPr/>
          <p:nvPr/>
        </p:nvSpPr>
        <p:spPr>
          <a:xfrm>
            <a:off x="640080" y="1005840"/>
            <a:ext cx="54864" cy="1737360"/>
          </a:xfrm>
          <a:prstGeom prst="rect">
            <a:avLst/>
          </a:prstGeom>
          <a:solidFill>
            <a:srgbClr val="1D6FE0"/>
          </a:solidFill>
          <a:ln/>
        </p:spPr>
      </p:sp>
      <p:sp>
        <p:nvSpPr>
          <p:cNvPr id="6" name="Text 4"/>
          <p:cNvSpPr/>
          <p:nvPr/>
        </p:nvSpPr>
        <p:spPr>
          <a:xfrm>
            <a:off x="914400" y="1133856"/>
            <a:ext cx="10332720" cy="365760"/>
          </a:xfrm>
          <a:prstGeom prst="rect">
            <a:avLst/>
          </a:prstGeom>
          <a:noFill/>
          <a:ln/>
        </p:spPr>
        <p:txBody>
          <a:bodyPr wrap="square" rtlCol="0" anchor="ctr"/>
          <a:lstStyle/>
          <a:p>
            <a:pPr indent="0" marL="0">
              <a:buNone/>
            </a:pPr>
            <a:r>
              <a:rPr lang="en-US" sz="1500" b="1" dirty="0">
                <a:solidFill>
                  <a:srgbClr val="1B1F3B"/>
                </a:solidFill>
                <a:latin typeface="Georgia" pitchFamily="34" charset="0"/>
                <a:ea typeface="Georgia" pitchFamily="34" charset="-122"/>
                <a:cs typeface="Georgia" pitchFamily="34" charset="-120"/>
              </a:rPr>
              <a:t>Section dédiée sur l'accueil</a:t>
            </a:r>
            <a:endParaRPr lang="en-US" sz="1500" dirty="0"/>
          </a:p>
        </p:txBody>
      </p:sp>
      <p:sp>
        <p:nvSpPr>
          <p:cNvPr id="7" name="Text 5"/>
          <p:cNvSpPr/>
          <p:nvPr/>
        </p:nvSpPr>
        <p:spPr>
          <a:xfrm>
            <a:off x="914400" y="1536192"/>
            <a:ext cx="10332720" cy="1005840"/>
          </a:xfrm>
          <a:prstGeom prst="rect">
            <a:avLst/>
          </a:prstGeom>
          <a:noFill/>
          <a:ln/>
        </p:spPr>
        <p:txBody>
          <a:bodyPr wrap="square" rtlCol="0" anchor="ctr"/>
          <a:lstStyle/>
          <a:p>
            <a:pPr indent="0" marL="0">
              <a:lnSpc>
                <a:spcPts val="1600"/>
              </a:lnSpc>
              <a:buNone/>
            </a:pPr>
            <a:r>
              <a:rPr lang="en-US" sz="1150" dirty="0">
                <a:solidFill>
                  <a:srgbClr val="1B1F3B"/>
                </a:solidFill>
                <a:latin typeface="Segoe UI" pitchFamily="34" charset="0"/>
                <a:ea typeface="Segoe UI" pitchFamily="34" charset="-122"/>
                <a:cs typeface="Segoe UI" pitchFamily="34" charset="-120"/>
              </a:rPr>
              <a:t>Liste des interventions visible directement sur l'accueil, sous "Devis en cours".</a:t>
            </a:r>
            <a:endParaRPr lang="en-US" sz="1150" dirty="0"/>
          </a:p>
        </p:txBody>
      </p:sp>
      <p:sp>
        <p:nvSpPr>
          <p:cNvPr id="8" name="Text 6"/>
          <p:cNvSpPr/>
          <p:nvPr/>
        </p:nvSpPr>
        <p:spPr>
          <a:xfrm>
            <a:off x="365760" y="6510528"/>
            <a:ext cx="5486400" cy="274320"/>
          </a:xfrm>
          <a:prstGeom prst="rect">
            <a:avLst/>
          </a:prstGeom>
          <a:noFill/>
          <a:ln/>
        </p:spPr>
        <p:txBody>
          <a:bodyPr wrap="square" rtlCol="0" anchor="ctr"/>
          <a:lstStyle/>
          <a:p>
            <a:pPr indent="0" marL="0">
              <a:buNone/>
            </a:pPr>
            <a:r>
              <a:rPr lang="en-US" sz="850" dirty="0">
                <a:solidFill>
                  <a:srgbClr val="8A7C68"/>
                </a:solidFill>
                <a:latin typeface="Segoe UI" pitchFamily="34" charset="0"/>
                <a:ea typeface="Segoe UI" pitchFamily="34" charset="-122"/>
                <a:cs typeface="Segoe UI" pitchFamily="34" charset="-120"/>
              </a:rPr>
              <a:t>Kôji Web — Cahier des charges</a:t>
            </a:r>
            <a:endParaRPr lang="en-US" sz="850" dirty="0"/>
          </a:p>
        </p:txBody>
      </p:sp>
      <p:sp>
        <p:nvSpPr>
          <p:cNvPr id="9" name="Text 7"/>
          <p:cNvSpPr/>
          <p:nvPr/>
        </p:nvSpPr>
        <p:spPr>
          <a:xfrm>
            <a:off x="9601200" y="6510528"/>
            <a:ext cx="2194560" cy="274320"/>
          </a:xfrm>
          <a:prstGeom prst="rect">
            <a:avLst/>
          </a:prstGeom>
          <a:noFill/>
          <a:ln/>
        </p:spPr>
        <p:txBody>
          <a:bodyPr wrap="square" rtlCol="0" anchor="ctr"/>
          <a:lstStyle/>
          <a:p>
            <a:pPr algn="r" indent="0" marL="0">
              <a:buNone/>
            </a:pPr>
            <a:r>
              <a:rPr lang="en-US" sz="850" dirty="0">
                <a:solidFill>
                  <a:srgbClr val="8A7C68"/>
                </a:solidFill>
                <a:latin typeface="Segoe UI" pitchFamily="34" charset="0"/>
                <a:ea typeface="Segoe UI" pitchFamily="34" charset="-122"/>
                <a:cs typeface="Segoe UI" pitchFamily="34" charset="-120"/>
              </a:rPr>
              <a:t>59</a:t>
            </a:r>
            <a:endParaRPr lang="en-US" sz="850" dirty="0"/>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name="Slide 61">
    <p:bg>
      <p:bgPr>
        <a:solidFill>
          <a:srgbClr val="0B1030"/>
        </a:solidFill>
      </p:bgPr>
    </p:bg>
    <p:spTree>
      <p:nvGrpSpPr>
        <p:cNvPr id="1" name=""/>
        <p:cNvGrpSpPr/>
        <p:nvPr/>
      </p:nvGrpSpPr>
      <p:grpSpPr>
        <a:xfrm>
          <a:off x="0" y="0"/>
          <a:ext cx="0" cy="0"/>
          <a:chOff x="0" y="0"/>
          <a:chExt cx="0" cy="0"/>
        </a:xfrm>
      </p:grpSpPr>
      <p:sp>
        <p:nvSpPr>
          <p:cNvPr id="2" name="Shape 0"/>
          <p:cNvSpPr/>
          <p:nvPr/>
        </p:nvSpPr>
        <p:spPr>
          <a:xfrm>
            <a:off x="0" y="3246120"/>
            <a:ext cx="12191695" cy="54864"/>
          </a:xfrm>
          <a:prstGeom prst="rect">
            <a:avLst/>
          </a:prstGeom>
          <a:solidFill>
            <a:srgbClr val="C9A96A"/>
          </a:solidFill>
          <a:ln/>
        </p:spPr>
      </p:sp>
      <p:sp>
        <p:nvSpPr>
          <p:cNvPr id="3" name="Text 1"/>
          <p:cNvSpPr/>
          <p:nvPr/>
        </p:nvSpPr>
        <p:spPr>
          <a:xfrm>
            <a:off x="640080" y="1920240"/>
            <a:ext cx="2743200" cy="548640"/>
          </a:xfrm>
          <a:prstGeom prst="rect">
            <a:avLst/>
          </a:prstGeom>
          <a:noFill/>
          <a:ln/>
        </p:spPr>
        <p:txBody>
          <a:bodyPr wrap="square" rtlCol="0" anchor="ctr"/>
          <a:lstStyle/>
          <a:p>
            <a:pPr indent="0" marL="0">
              <a:buNone/>
            </a:pPr>
            <a:r>
              <a:rPr lang="en-US" sz="1500" b="1" dirty="0">
                <a:solidFill>
                  <a:srgbClr val="C9A96A"/>
                </a:solidFill>
                <a:latin typeface="Segoe UI" pitchFamily="34" charset="0"/>
                <a:ea typeface="Segoe UI" pitchFamily="34" charset="-122"/>
                <a:cs typeface="Segoe UI" pitchFamily="34" charset="-120"/>
              </a:rPr>
              <a:t>13</a:t>
            </a:r>
            <a:endParaRPr lang="en-US" sz="1500" dirty="0"/>
          </a:p>
        </p:txBody>
      </p:sp>
      <p:sp>
        <p:nvSpPr>
          <p:cNvPr id="4" name="Text 2"/>
          <p:cNvSpPr/>
          <p:nvPr/>
        </p:nvSpPr>
        <p:spPr>
          <a:xfrm>
            <a:off x="640080" y="2377440"/>
            <a:ext cx="10515600" cy="914400"/>
          </a:xfrm>
          <a:prstGeom prst="rect">
            <a:avLst/>
          </a:prstGeom>
          <a:noFill/>
          <a:ln/>
        </p:spPr>
        <p:txBody>
          <a:bodyPr wrap="square" rtlCol="0" anchor="ctr"/>
          <a:lstStyle/>
          <a:p>
            <a:pPr indent="0" marL="0">
              <a:buNone/>
            </a:pPr>
            <a:r>
              <a:rPr lang="en-US" sz="3400" b="1" dirty="0">
                <a:solidFill>
                  <a:srgbClr val="FFFFFF"/>
                </a:solidFill>
                <a:latin typeface="Georgia" pitchFamily="34" charset="0"/>
                <a:ea typeface="Georgia" pitchFamily="34" charset="-122"/>
                <a:cs typeface="Georgia" pitchFamily="34" charset="-120"/>
              </a:rPr>
              <a:t>Notifications</a:t>
            </a:r>
            <a:endParaRPr lang="en-US" sz="3400" dirty="0"/>
          </a:p>
        </p:txBody>
      </p:sp>
      <p:sp>
        <p:nvSpPr>
          <p:cNvPr id="5" name="Text 3"/>
          <p:cNvSpPr/>
          <p:nvPr/>
        </p:nvSpPr>
        <p:spPr>
          <a:xfrm>
            <a:off x="640080" y="3429000"/>
            <a:ext cx="10058400" cy="1188720"/>
          </a:xfrm>
          <a:prstGeom prst="rect">
            <a:avLst/>
          </a:prstGeom>
          <a:noFill/>
          <a:ln/>
        </p:spPr>
        <p:txBody>
          <a:bodyPr wrap="square" rtlCol="0" anchor="ctr"/>
          <a:lstStyle/>
          <a:p>
            <a:pPr indent="0" marL="0">
              <a:lnSpc>
                <a:spcPts val="1800"/>
              </a:lnSpc>
              <a:buNone/>
            </a:pPr>
            <a:r>
              <a:rPr lang="en-US" sz="1300" dirty="0">
                <a:solidFill>
                  <a:srgbClr val="C7C9E0"/>
                </a:solidFill>
                <a:latin typeface="Segoe UI" pitchFamily="34" charset="0"/>
                <a:ea typeface="Segoe UI" pitchFamily="34" charset="-122"/>
                <a:cs typeface="Segoe UI" pitchFamily="34" charset="-120"/>
              </a:rPr>
              <a:t>Centre de notifications informant l'entreprise des événements importants (devis signé, ouvrage terminé, message client, dépassement d'heures...).</a:t>
            </a:r>
            <a:endParaRPr lang="en-US" sz="1300" dirty="0"/>
          </a:p>
        </p:txBody>
      </p:sp>
      <p:sp>
        <p:nvSpPr>
          <p:cNvPr id="6" name="Text 4"/>
          <p:cNvSpPr/>
          <p:nvPr/>
        </p:nvSpPr>
        <p:spPr>
          <a:xfrm>
            <a:off x="365760" y="6510528"/>
            <a:ext cx="5486400" cy="274320"/>
          </a:xfrm>
          <a:prstGeom prst="rect">
            <a:avLst/>
          </a:prstGeom>
          <a:noFill/>
          <a:ln/>
        </p:spPr>
        <p:txBody>
          <a:bodyPr wrap="square" rtlCol="0" anchor="ctr"/>
          <a:lstStyle/>
          <a:p>
            <a:pPr indent="0" marL="0">
              <a:buNone/>
            </a:pPr>
            <a:r>
              <a:rPr lang="en-US" sz="850" dirty="0">
                <a:solidFill>
                  <a:srgbClr val="8A7C68"/>
                </a:solidFill>
                <a:latin typeface="Segoe UI" pitchFamily="34" charset="0"/>
                <a:ea typeface="Segoe UI" pitchFamily="34" charset="-122"/>
                <a:cs typeface="Segoe UI" pitchFamily="34" charset="-120"/>
              </a:rPr>
              <a:t>Kôji Web — Cahier des charges</a:t>
            </a:r>
            <a:endParaRPr lang="en-US" sz="850" dirty="0"/>
          </a:p>
        </p:txBody>
      </p:sp>
      <p:sp>
        <p:nvSpPr>
          <p:cNvPr id="7" name="Text 5"/>
          <p:cNvSpPr/>
          <p:nvPr/>
        </p:nvSpPr>
        <p:spPr>
          <a:xfrm>
            <a:off x="9601200" y="6510528"/>
            <a:ext cx="2194560" cy="274320"/>
          </a:xfrm>
          <a:prstGeom prst="rect">
            <a:avLst/>
          </a:prstGeom>
          <a:noFill/>
          <a:ln/>
        </p:spPr>
        <p:txBody>
          <a:bodyPr wrap="square" rtlCol="0" anchor="ctr"/>
          <a:lstStyle/>
          <a:p>
            <a:pPr algn="r" indent="0" marL="0">
              <a:buNone/>
            </a:pPr>
            <a:r>
              <a:rPr lang="en-US" sz="850" dirty="0">
                <a:solidFill>
                  <a:srgbClr val="8A7C68"/>
                </a:solidFill>
                <a:latin typeface="Segoe UI" pitchFamily="34" charset="0"/>
                <a:ea typeface="Segoe UI" pitchFamily="34" charset="-122"/>
                <a:cs typeface="Segoe UI" pitchFamily="34" charset="-120"/>
              </a:rPr>
              <a:t>60</a:t>
            </a:r>
            <a:endParaRPr lang="en-US" sz="850" dirty="0"/>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name="Slide 62">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3108960" cy="365760"/>
          </a:xfrm>
          <a:prstGeom prst="roundRect">
            <a:avLst>
              <a:gd name="adj" fmla="val 50000"/>
            </a:avLst>
          </a:prstGeom>
          <a:solidFill>
            <a:srgbClr val="F7EADF"/>
          </a:solidFill>
          <a:ln/>
        </p:spPr>
      </p:sp>
      <p:sp>
        <p:nvSpPr>
          <p:cNvPr id="3" name="Text 1"/>
          <p:cNvSpPr/>
          <p:nvPr/>
        </p:nvSpPr>
        <p:spPr>
          <a:xfrm>
            <a:off x="640080" y="411480"/>
            <a:ext cx="3108960" cy="365760"/>
          </a:xfrm>
          <a:prstGeom prst="rect">
            <a:avLst/>
          </a:prstGeom>
          <a:noFill/>
          <a:ln/>
        </p:spPr>
        <p:txBody>
          <a:bodyPr wrap="square" rtlCol="0" anchor="ctr"/>
          <a:lstStyle/>
          <a:p>
            <a:pPr algn="ctr" indent="0" marL="0">
              <a:buNone/>
            </a:pPr>
            <a:r>
              <a:rPr lang="en-US" sz="950" b="1" spc="100" kern="0" dirty="0">
                <a:solidFill>
                  <a:srgbClr val="9A7C5C"/>
                </a:solidFill>
                <a:latin typeface="Segoe UI" pitchFamily="34" charset="0"/>
                <a:ea typeface="Segoe UI" pitchFamily="34" charset="-122"/>
                <a:cs typeface="Segoe UI" pitchFamily="34" charset="-120"/>
              </a:rPr>
              <a:t>NOTIFICATIONS</a:t>
            </a:r>
            <a:endParaRPr lang="en-US" sz="950" dirty="0"/>
          </a:p>
        </p:txBody>
      </p:sp>
      <p:sp>
        <p:nvSpPr>
          <p:cNvPr id="4" name="Shape 2"/>
          <p:cNvSpPr/>
          <p:nvPr/>
        </p:nvSpPr>
        <p:spPr>
          <a:xfrm>
            <a:off x="640080" y="1005840"/>
            <a:ext cx="10881360" cy="2606040"/>
          </a:xfrm>
          <a:prstGeom prst="roundRect">
            <a:avLst>
              <a:gd name="adj" fmla="val 2105"/>
            </a:avLst>
          </a:prstGeom>
          <a:solidFill>
            <a:srgbClr val="FFFFFF"/>
          </a:solidFill>
          <a:ln w="12700">
            <a:solidFill>
              <a:srgbClr val="E4DCCB"/>
            </a:solidFill>
            <a:prstDash val="solid"/>
          </a:ln>
        </p:spPr>
      </p:sp>
      <p:sp>
        <p:nvSpPr>
          <p:cNvPr id="5" name="Shape 3"/>
          <p:cNvSpPr/>
          <p:nvPr/>
        </p:nvSpPr>
        <p:spPr>
          <a:xfrm>
            <a:off x="640080" y="1005840"/>
            <a:ext cx="54864" cy="2606040"/>
          </a:xfrm>
          <a:prstGeom prst="rect">
            <a:avLst/>
          </a:prstGeom>
          <a:solidFill>
            <a:srgbClr val="1D6FE0"/>
          </a:solidFill>
          <a:ln/>
        </p:spPr>
      </p:sp>
      <p:sp>
        <p:nvSpPr>
          <p:cNvPr id="6" name="Text 4"/>
          <p:cNvSpPr/>
          <p:nvPr/>
        </p:nvSpPr>
        <p:spPr>
          <a:xfrm>
            <a:off x="914400" y="1133856"/>
            <a:ext cx="10332720" cy="365760"/>
          </a:xfrm>
          <a:prstGeom prst="rect">
            <a:avLst/>
          </a:prstGeom>
          <a:noFill/>
          <a:ln/>
        </p:spPr>
        <p:txBody>
          <a:bodyPr wrap="square" rtlCol="0" anchor="ctr"/>
          <a:lstStyle/>
          <a:p>
            <a:pPr indent="0" marL="0">
              <a:buNone/>
            </a:pPr>
            <a:r>
              <a:rPr lang="en-US" sz="1500" b="1" dirty="0">
                <a:solidFill>
                  <a:srgbClr val="1B1F3B"/>
                </a:solidFill>
                <a:latin typeface="Georgia" pitchFamily="34" charset="0"/>
                <a:ea typeface="Georgia" pitchFamily="34" charset="-122"/>
                <a:cs typeface="Georgia" pitchFamily="34" charset="-120"/>
              </a:rPr>
              <a:t>Centre de notifications</a:t>
            </a:r>
            <a:endParaRPr lang="en-US" sz="1500" dirty="0"/>
          </a:p>
        </p:txBody>
      </p:sp>
      <p:sp>
        <p:nvSpPr>
          <p:cNvPr id="7" name="Text 5"/>
          <p:cNvSpPr/>
          <p:nvPr/>
        </p:nvSpPr>
        <p:spPr>
          <a:xfrm>
            <a:off x="914400" y="1536192"/>
            <a:ext cx="10332720" cy="1051560"/>
          </a:xfrm>
          <a:prstGeom prst="rect">
            <a:avLst/>
          </a:prstGeom>
          <a:noFill/>
          <a:ln/>
        </p:spPr>
        <p:txBody>
          <a:bodyPr wrap="square" rtlCol="0" anchor="ctr"/>
          <a:lstStyle/>
          <a:p>
            <a:pPr indent="0" marL="0">
              <a:lnSpc>
                <a:spcPts val="1600"/>
              </a:lnSpc>
              <a:buNone/>
            </a:pPr>
            <a:r>
              <a:rPr lang="en-US" sz="1150" dirty="0">
                <a:solidFill>
                  <a:srgbClr val="1B1F3B"/>
                </a:solidFill>
                <a:latin typeface="Segoe UI" pitchFamily="34" charset="0"/>
                <a:ea typeface="Segoe UI" pitchFamily="34" charset="-122"/>
                <a:cs typeface="Segoe UI" pitchFamily="34" charset="-120"/>
              </a:rPr>
              <a:t>Liste complète des notifications avec recherche et filtres, chacune associée à un type (devis signé, accès client envoyé, alerte urgente, dépassement d'heures...).</a:t>
            </a:r>
            <a:endParaRPr lang="en-US" sz="1150" dirty="0"/>
          </a:p>
        </p:txBody>
      </p:sp>
      <p:sp>
        <p:nvSpPr>
          <p:cNvPr id="8" name="Text 6"/>
          <p:cNvSpPr/>
          <p:nvPr/>
        </p:nvSpPr>
        <p:spPr>
          <a:xfrm>
            <a:off x="914400" y="2743200"/>
            <a:ext cx="10332720" cy="228600"/>
          </a:xfrm>
          <a:prstGeom prst="rect">
            <a:avLst/>
          </a:prstGeom>
          <a:noFill/>
          <a:ln/>
        </p:spPr>
        <p:txBody>
          <a:bodyPr wrap="square" rtlCol="0" anchor="ctr"/>
          <a:lstStyle/>
          <a:p>
            <a:pPr indent="0" marL="0">
              <a:buNone/>
            </a:pPr>
            <a:r>
              <a:rPr lang="en-US" sz="800" b="1" spc="100" kern="0" dirty="0">
                <a:solidFill>
                  <a:srgbClr val="9A7C5C"/>
                </a:solidFill>
                <a:latin typeface="Segoe UI" pitchFamily="34" charset="0"/>
                <a:ea typeface="Segoe UI" pitchFamily="34" charset="-122"/>
                <a:cs typeface="Segoe UI" pitchFamily="34" charset="-120"/>
              </a:rPr>
              <a:t>RÉALISATION TECHNIQUE</a:t>
            </a:r>
            <a:endParaRPr lang="en-US" sz="800" dirty="0"/>
          </a:p>
        </p:txBody>
      </p:sp>
      <p:sp>
        <p:nvSpPr>
          <p:cNvPr id="9" name="Text 7"/>
          <p:cNvSpPr/>
          <p:nvPr/>
        </p:nvSpPr>
        <p:spPr>
          <a:xfrm>
            <a:off x="914400" y="2990088"/>
            <a:ext cx="10332720" cy="548640"/>
          </a:xfrm>
          <a:prstGeom prst="rect">
            <a:avLst/>
          </a:prstGeom>
          <a:noFill/>
          <a:ln/>
        </p:spPr>
        <p:txBody>
          <a:bodyPr wrap="square" rtlCol="0" anchor="ctr"/>
          <a:lstStyle/>
          <a:p>
            <a:pPr indent="0" marL="0">
              <a:lnSpc>
                <a:spcPts val="1400"/>
              </a:lnSpc>
              <a:buNone/>
            </a:pPr>
            <a:r>
              <a:rPr lang="en-US" sz="1000" i="1" dirty="0">
                <a:solidFill>
                  <a:srgbClr val="8A7C68"/>
                </a:solidFill>
                <a:latin typeface="Segoe UI" pitchFamily="34" charset="0"/>
                <a:ea typeface="Segoe UI" pitchFamily="34" charset="-122"/>
                <a:cs typeface="Segoe UI" pitchFamily="34" charset="-120"/>
              </a:rPr>
              <a:t>Page /notifications, API /api/notifications.</a:t>
            </a:r>
            <a:endParaRPr lang="en-US" sz="1000" dirty="0"/>
          </a:p>
        </p:txBody>
      </p:sp>
      <p:sp>
        <p:nvSpPr>
          <p:cNvPr id="10" name="Shape 8"/>
          <p:cNvSpPr/>
          <p:nvPr/>
        </p:nvSpPr>
        <p:spPr>
          <a:xfrm>
            <a:off x="640080" y="3813048"/>
            <a:ext cx="10881360" cy="1737360"/>
          </a:xfrm>
          <a:prstGeom prst="roundRect">
            <a:avLst>
              <a:gd name="adj" fmla="val 3158"/>
            </a:avLst>
          </a:prstGeom>
          <a:solidFill>
            <a:srgbClr val="FFFFFF"/>
          </a:solidFill>
          <a:ln w="12700">
            <a:solidFill>
              <a:srgbClr val="E4DCCB"/>
            </a:solidFill>
            <a:prstDash val="solid"/>
          </a:ln>
        </p:spPr>
      </p:sp>
      <p:sp>
        <p:nvSpPr>
          <p:cNvPr id="11" name="Shape 9"/>
          <p:cNvSpPr/>
          <p:nvPr/>
        </p:nvSpPr>
        <p:spPr>
          <a:xfrm>
            <a:off x="640080" y="3813048"/>
            <a:ext cx="54864" cy="1737360"/>
          </a:xfrm>
          <a:prstGeom prst="rect">
            <a:avLst/>
          </a:prstGeom>
          <a:solidFill>
            <a:srgbClr val="1D6FE0"/>
          </a:solidFill>
          <a:ln/>
        </p:spPr>
      </p:sp>
      <p:sp>
        <p:nvSpPr>
          <p:cNvPr id="12" name="Text 10"/>
          <p:cNvSpPr/>
          <p:nvPr/>
        </p:nvSpPr>
        <p:spPr>
          <a:xfrm>
            <a:off x="914400" y="3941064"/>
            <a:ext cx="10332720" cy="365760"/>
          </a:xfrm>
          <a:prstGeom prst="rect">
            <a:avLst/>
          </a:prstGeom>
          <a:noFill/>
          <a:ln/>
        </p:spPr>
        <p:txBody>
          <a:bodyPr wrap="square" rtlCol="0" anchor="ctr"/>
          <a:lstStyle/>
          <a:p>
            <a:pPr indent="0" marL="0">
              <a:buNone/>
            </a:pPr>
            <a:r>
              <a:rPr lang="en-US" sz="1500" b="1" dirty="0">
                <a:solidFill>
                  <a:srgbClr val="1B1F3B"/>
                </a:solidFill>
                <a:latin typeface="Georgia" pitchFamily="34" charset="0"/>
                <a:ea typeface="Georgia" pitchFamily="34" charset="-122"/>
                <a:cs typeface="Georgia" pitchFamily="34" charset="-120"/>
              </a:rPr>
              <a:t>Menu déroulant rapide</a:t>
            </a:r>
            <a:endParaRPr lang="en-US" sz="1500" dirty="0"/>
          </a:p>
        </p:txBody>
      </p:sp>
      <p:sp>
        <p:nvSpPr>
          <p:cNvPr id="13" name="Text 11"/>
          <p:cNvSpPr/>
          <p:nvPr/>
        </p:nvSpPr>
        <p:spPr>
          <a:xfrm>
            <a:off x="914400" y="4343400"/>
            <a:ext cx="10332720" cy="1005840"/>
          </a:xfrm>
          <a:prstGeom prst="rect">
            <a:avLst/>
          </a:prstGeom>
          <a:noFill/>
          <a:ln/>
        </p:spPr>
        <p:txBody>
          <a:bodyPr wrap="square" rtlCol="0" anchor="ctr"/>
          <a:lstStyle/>
          <a:p>
            <a:pPr indent="0" marL="0">
              <a:lnSpc>
                <a:spcPts val="1600"/>
              </a:lnSpc>
              <a:buNone/>
            </a:pPr>
            <a:r>
              <a:rPr lang="en-US" sz="1150" dirty="0">
                <a:solidFill>
                  <a:srgbClr val="1B1F3B"/>
                </a:solidFill>
                <a:latin typeface="Segoe UI" pitchFamily="34" charset="0"/>
                <a:ea typeface="Segoe UI" pitchFamily="34" charset="-122"/>
                <a:cs typeface="Segoe UI" pitchFamily="34" charset="-120"/>
              </a:rPr>
              <a:t>La cloche dans le menu du haut ouvre les 5 dernières notifications sans quitter la page en cours.</a:t>
            </a:r>
            <a:endParaRPr lang="en-US" sz="1150" dirty="0"/>
          </a:p>
        </p:txBody>
      </p:sp>
      <p:sp>
        <p:nvSpPr>
          <p:cNvPr id="14" name="Text 12"/>
          <p:cNvSpPr/>
          <p:nvPr/>
        </p:nvSpPr>
        <p:spPr>
          <a:xfrm>
            <a:off x="365760" y="6510528"/>
            <a:ext cx="5486400" cy="274320"/>
          </a:xfrm>
          <a:prstGeom prst="rect">
            <a:avLst/>
          </a:prstGeom>
          <a:noFill/>
          <a:ln/>
        </p:spPr>
        <p:txBody>
          <a:bodyPr wrap="square" rtlCol="0" anchor="ctr"/>
          <a:lstStyle/>
          <a:p>
            <a:pPr indent="0" marL="0">
              <a:buNone/>
            </a:pPr>
            <a:r>
              <a:rPr lang="en-US" sz="850" dirty="0">
                <a:solidFill>
                  <a:srgbClr val="8A7C68"/>
                </a:solidFill>
                <a:latin typeface="Segoe UI" pitchFamily="34" charset="0"/>
                <a:ea typeface="Segoe UI" pitchFamily="34" charset="-122"/>
                <a:cs typeface="Segoe UI" pitchFamily="34" charset="-120"/>
              </a:rPr>
              <a:t>Kôji Web — Cahier des charges</a:t>
            </a:r>
            <a:endParaRPr lang="en-US" sz="850" dirty="0"/>
          </a:p>
        </p:txBody>
      </p:sp>
      <p:sp>
        <p:nvSpPr>
          <p:cNvPr id="15" name="Text 13"/>
          <p:cNvSpPr/>
          <p:nvPr/>
        </p:nvSpPr>
        <p:spPr>
          <a:xfrm>
            <a:off x="9601200" y="6510528"/>
            <a:ext cx="2194560" cy="274320"/>
          </a:xfrm>
          <a:prstGeom prst="rect">
            <a:avLst/>
          </a:prstGeom>
          <a:noFill/>
          <a:ln/>
        </p:spPr>
        <p:txBody>
          <a:bodyPr wrap="square" rtlCol="0" anchor="ctr"/>
          <a:lstStyle/>
          <a:p>
            <a:pPr algn="r" indent="0" marL="0">
              <a:buNone/>
            </a:pPr>
            <a:r>
              <a:rPr lang="en-US" sz="850" dirty="0">
                <a:solidFill>
                  <a:srgbClr val="8A7C68"/>
                </a:solidFill>
                <a:latin typeface="Segoe UI" pitchFamily="34" charset="0"/>
                <a:ea typeface="Segoe UI" pitchFamily="34" charset="-122"/>
                <a:cs typeface="Segoe UI" pitchFamily="34" charset="-120"/>
              </a:rPr>
              <a:t>61</a:t>
            </a:r>
            <a:endParaRPr lang="en-US" sz="850" dirty="0"/>
          </a:p>
        </p:txBody>
      </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name="Slide 63">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3108960" cy="365760"/>
          </a:xfrm>
          <a:prstGeom prst="roundRect">
            <a:avLst>
              <a:gd name="adj" fmla="val 50000"/>
            </a:avLst>
          </a:prstGeom>
          <a:solidFill>
            <a:srgbClr val="F7EADF"/>
          </a:solidFill>
          <a:ln/>
        </p:spPr>
      </p:sp>
      <p:sp>
        <p:nvSpPr>
          <p:cNvPr id="3" name="Text 1"/>
          <p:cNvSpPr/>
          <p:nvPr/>
        </p:nvSpPr>
        <p:spPr>
          <a:xfrm>
            <a:off x="640080" y="411480"/>
            <a:ext cx="3108960" cy="365760"/>
          </a:xfrm>
          <a:prstGeom prst="rect">
            <a:avLst/>
          </a:prstGeom>
          <a:noFill/>
          <a:ln/>
        </p:spPr>
        <p:txBody>
          <a:bodyPr wrap="square" rtlCol="0" anchor="ctr"/>
          <a:lstStyle/>
          <a:p>
            <a:pPr algn="ctr" indent="0" marL="0">
              <a:buNone/>
            </a:pPr>
            <a:r>
              <a:rPr lang="en-US" sz="950" b="1" spc="100" kern="0" dirty="0">
                <a:solidFill>
                  <a:srgbClr val="9A7C5C"/>
                </a:solidFill>
                <a:latin typeface="Segoe UI" pitchFamily="34" charset="0"/>
                <a:ea typeface="Segoe UI" pitchFamily="34" charset="-122"/>
                <a:cs typeface="Segoe UI" pitchFamily="34" charset="-120"/>
              </a:rPr>
              <a:t>NOTIFICATIONS</a:t>
            </a:r>
            <a:endParaRPr lang="en-US" sz="950" dirty="0"/>
          </a:p>
        </p:txBody>
      </p:sp>
      <p:sp>
        <p:nvSpPr>
          <p:cNvPr id="4" name="Shape 2"/>
          <p:cNvSpPr/>
          <p:nvPr/>
        </p:nvSpPr>
        <p:spPr>
          <a:xfrm>
            <a:off x="640080" y="1005840"/>
            <a:ext cx="10881360" cy="1737360"/>
          </a:xfrm>
          <a:prstGeom prst="roundRect">
            <a:avLst>
              <a:gd name="adj" fmla="val 3158"/>
            </a:avLst>
          </a:prstGeom>
          <a:solidFill>
            <a:srgbClr val="FFFFFF"/>
          </a:solidFill>
          <a:ln w="12700">
            <a:solidFill>
              <a:srgbClr val="E4DCCB"/>
            </a:solidFill>
            <a:prstDash val="solid"/>
          </a:ln>
        </p:spPr>
      </p:sp>
      <p:sp>
        <p:nvSpPr>
          <p:cNvPr id="5" name="Shape 3"/>
          <p:cNvSpPr/>
          <p:nvPr/>
        </p:nvSpPr>
        <p:spPr>
          <a:xfrm>
            <a:off x="640080" y="1005840"/>
            <a:ext cx="54864" cy="1737360"/>
          </a:xfrm>
          <a:prstGeom prst="rect">
            <a:avLst/>
          </a:prstGeom>
          <a:solidFill>
            <a:srgbClr val="1D6FE0"/>
          </a:solidFill>
          <a:ln/>
        </p:spPr>
      </p:sp>
      <p:sp>
        <p:nvSpPr>
          <p:cNvPr id="6" name="Text 4"/>
          <p:cNvSpPr/>
          <p:nvPr/>
        </p:nvSpPr>
        <p:spPr>
          <a:xfrm>
            <a:off x="914400" y="1133856"/>
            <a:ext cx="10332720" cy="365760"/>
          </a:xfrm>
          <a:prstGeom prst="rect">
            <a:avLst/>
          </a:prstGeom>
          <a:noFill/>
          <a:ln/>
        </p:spPr>
        <p:txBody>
          <a:bodyPr wrap="square" rtlCol="0" anchor="ctr"/>
          <a:lstStyle/>
          <a:p>
            <a:pPr indent="0" marL="0">
              <a:buNone/>
            </a:pPr>
            <a:r>
              <a:rPr lang="en-US" sz="1500" b="1" dirty="0">
                <a:solidFill>
                  <a:srgbClr val="1B1F3B"/>
                </a:solidFill>
                <a:latin typeface="Georgia" pitchFamily="34" charset="0"/>
                <a:ea typeface="Georgia" pitchFamily="34" charset="-122"/>
                <a:cs typeface="Georgia" pitchFamily="34" charset="-120"/>
              </a:rPr>
              <a:t>Fiche détail</a:t>
            </a:r>
            <a:endParaRPr lang="en-US" sz="1500" dirty="0"/>
          </a:p>
        </p:txBody>
      </p:sp>
      <p:sp>
        <p:nvSpPr>
          <p:cNvPr id="7" name="Text 5"/>
          <p:cNvSpPr/>
          <p:nvPr/>
        </p:nvSpPr>
        <p:spPr>
          <a:xfrm>
            <a:off x="914400" y="1536192"/>
            <a:ext cx="10332720" cy="1005840"/>
          </a:xfrm>
          <a:prstGeom prst="rect">
            <a:avLst/>
          </a:prstGeom>
          <a:noFill/>
          <a:ln/>
        </p:spPr>
        <p:txBody>
          <a:bodyPr wrap="square" rtlCol="0" anchor="ctr"/>
          <a:lstStyle/>
          <a:p>
            <a:pPr indent="0" marL="0">
              <a:lnSpc>
                <a:spcPts val="1600"/>
              </a:lnSpc>
              <a:buNone/>
            </a:pPr>
            <a:r>
              <a:rPr lang="en-US" sz="1150" dirty="0">
                <a:solidFill>
                  <a:srgbClr val="1B1F3B"/>
                </a:solidFill>
                <a:latin typeface="Segoe UI" pitchFamily="34" charset="0"/>
                <a:ea typeface="Segoe UI" pitchFamily="34" charset="-122"/>
                <a:cs typeface="Segoe UI" pitchFamily="34" charset="-120"/>
              </a:rPr>
              <a:t>Détail d'une notification, avec les informations associées (ex. identifiants client) et boutons pour les copier ou les renvoyer par email/WhatsApp.</a:t>
            </a:r>
            <a:endParaRPr lang="en-US" sz="1150" dirty="0"/>
          </a:p>
        </p:txBody>
      </p:sp>
      <p:sp>
        <p:nvSpPr>
          <p:cNvPr id="8" name="Shape 6"/>
          <p:cNvSpPr/>
          <p:nvPr/>
        </p:nvSpPr>
        <p:spPr>
          <a:xfrm>
            <a:off x="640080" y="2944368"/>
            <a:ext cx="10881360" cy="1737360"/>
          </a:xfrm>
          <a:prstGeom prst="roundRect">
            <a:avLst>
              <a:gd name="adj" fmla="val 3158"/>
            </a:avLst>
          </a:prstGeom>
          <a:solidFill>
            <a:srgbClr val="FFFFFF"/>
          </a:solidFill>
          <a:ln w="12700">
            <a:solidFill>
              <a:srgbClr val="E4DCCB"/>
            </a:solidFill>
            <a:prstDash val="solid"/>
          </a:ln>
        </p:spPr>
      </p:sp>
      <p:sp>
        <p:nvSpPr>
          <p:cNvPr id="9" name="Shape 7"/>
          <p:cNvSpPr/>
          <p:nvPr/>
        </p:nvSpPr>
        <p:spPr>
          <a:xfrm>
            <a:off x="640080" y="2944368"/>
            <a:ext cx="54864" cy="1737360"/>
          </a:xfrm>
          <a:prstGeom prst="rect">
            <a:avLst/>
          </a:prstGeom>
          <a:solidFill>
            <a:srgbClr val="1D6FE0"/>
          </a:solidFill>
          <a:ln/>
        </p:spPr>
      </p:sp>
      <p:sp>
        <p:nvSpPr>
          <p:cNvPr id="10" name="Text 8"/>
          <p:cNvSpPr/>
          <p:nvPr/>
        </p:nvSpPr>
        <p:spPr>
          <a:xfrm>
            <a:off x="914400" y="3072384"/>
            <a:ext cx="10332720" cy="365760"/>
          </a:xfrm>
          <a:prstGeom prst="rect">
            <a:avLst/>
          </a:prstGeom>
          <a:noFill/>
          <a:ln/>
        </p:spPr>
        <p:txBody>
          <a:bodyPr wrap="square" rtlCol="0" anchor="ctr"/>
          <a:lstStyle/>
          <a:p>
            <a:pPr indent="0" marL="0">
              <a:buNone/>
            </a:pPr>
            <a:r>
              <a:rPr lang="en-US" sz="1500" b="1" dirty="0">
                <a:solidFill>
                  <a:srgbClr val="1B1F3B"/>
                </a:solidFill>
                <a:latin typeface="Georgia" pitchFamily="34" charset="0"/>
                <a:ea typeface="Georgia" pitchFamily="34" charset="-122"/>
                <a:cs typeface="Georgia" pitchFamily="34" charset="-120"/>
              </a:rPr>
              <a:t>Renvoi des identifiants client</a:t>
            </a:r>
            <a:endParaRPr lang="en-US" sz="1500" dirty="0"/>
          </a:p>
        </p:txBody>
      </p:sp>
      <p:sp>
        <p:nvSpPr>
          <p:cNvPr id="11" name="Text 9"/>
          <p:cNvSpPr/>
          <p:nvPr/>
        </p:nvSpPr>
        <p:spPr>
          <a:xfrm>
            <a:off x="914400" y="3474720"/>
            <a:ext cx="10332720" cy="1005840"/>
          </a:xfrm>
          <a:prstGeom prst="rect">
            <a:avLst/>
          </a:prstGeom>
          <a:noFill/>
          <a:ln/>
        </p:spPr>
        <p:txBody>
          <a:bodyPr wrap="square" rtlCol="0" anchor="ctr"/>
          <a:lstStyle/>
          <a:p>
            <a:pPr indent="0" marL="0">
              <a:lnSpc>
                <a:spcPts val="1600"/>
              </a:lnSpc>
              <a:buNone/>
            </a:pPr>
            <a:r>
              <a:rPr lang="en-US" sz="1150" dirty="0">
                <a:solidFill>
                  <a:srgbClr val="1B1F3B"/>
                </a:solidFill>
                <a:latin typeface="Segoe UI" pitchFamily="34" charset="0"/>
                <a:ea typeface="Segoe UI" pitchFamily="34" charset="-122"/>
                <a:cs typeface="Segoe UI" pitchFamily="34" charset="-120"/>
              </a:rPr>
              <a:t>Depuis la notification d'envoi d'accès client, possibilité de renvoyer l'identifiant et le mot de passe par email ou WhatsApp.</a:t>
            </a:r>
            <a:endParaRPr lang="en-US" sz="1150" dirty="0"/>
          </a:p>
        </p:txBody>
      </p:sp>
      <p:sp>
        <p:nvSpPr>
          <p:cNvPr id="12" name="Text 10"/>
          <p:cNvSpPr/>
          <p:nvPr/>
        </p:nvSpPr>
        <p:spPr>
          <a:xfrm>
            <a:off x="365760" y="6510528"/>
            <a:ext cx="5486400" cy="274320"/>
          </a:xfrm>
          <a:prstGeom prst="rect">
            <a:avLst/>
          </a:prstGeom>
          <a:noFill/>
          <a:ln/>
        </p:spPr>
        <p:txBody>
          <a:bodyPr wrap="square" rtlCol="0" anchor="ctr"/>
          <a:lstStyle/>
          <a:p>
            <a:pPr indent="0" marL="0">
              <a:buNone/>
            </a:pPr>
            <a:r>
              <a:rPr lang="en-US" sz="850" dirty="0">
                <a:solidFill>
                  <a:srgbClr val="8A7C68"/>
                </a:solidFill>
                <a:latin typeface="Segoe UI" pitchFamily="34" charset="0"/>
                <a:ea typeface="Segoe UI" pitchFamily="34" charset="-122"/>
                <a:cs typeface="Segoe UI" pitchFamily="34" charset="-120"/>
              </a:rPr>
              <a:t>Kôji Web — Cahier des charges</a:t>
            </a:r>
            <a:endParaRPr lang="en-US" sz="850" dirty="0"/>
          </a:p>
        </p:txBody>
      </p:sp>
      <p:sp>
        <p:nvSpPr>
          <p:cNvPr id="13" name="Text 11"/>
          <p:cNvSpPr/>
          <p:nvPr/>
        </p:nvSpPr>
        <p:spPr>
          <a:xfrm>
            <a:off x="9601200" y="6510528"/>
            <a:ext cx="2194560" cy="274320"/>
          </a:xfrm>
          <a:prstGeom prst="rect">
            <a:avLst/>
          </a:prstGeom>
          <a:noFill/>
          <a:ln/>
        </p:spPr>
        <p:txBody>
          <a:bodyPr wrap="square" rtlCol="0" anchor="ctr"/>
          <a:lstStyle/>
          <a:p>
            <a:pPr algn="r" indent="0" marL="0">
              <a:buNone/>
            </a:pPr>
            <a:r>
              <a:rPr lang="en-US" sz="850" dirty="0">
                <a:solidFill>
                  <a:srgbClr val="8A7C68"/>
                </a:solidFill>
                <a:latin typeface="Segoe UI" pitchFamily="34" charset="0"/>
                <a:ea typeface="Segoe UI" pitchFamily="34" charset="-122"/>
                <a:cs typeface="Segoe UI" pitchFamily="34" charset="-120"/>
              </a:rPr>
              <a:t>62</a:t>
            </a:r>
            <a:endParaRPr lang="en-US" sz="850" dirty="0"/>
          </a:p>
        </p:txBody>
      </p:sp>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name="Slide 64">
    <p:bg>
      <p:bgPr>
        <a:solidFill>
          <a:srgbClr val="0B1030"/>
        </a:solidFill>
      </p:bgPr>
    </p:bg>
    <p:spTree>
      <p:nvGrpSpPr>
        <p:cNvPr id="1" name=""/>
        <p:cNvGrpSpPr/>
        <p:nvPr/>
      </p:nvGrpSpPr>
      <p:grpSpPr>
        <a:xfrm>
          <a:off x="0" y="0"/>
          <a:ext cx="0" cy="0"/>
          <a:chOff x="0" y="0"/>
          <a:chExt cx="0" cy="0"/>
        </a:xfrm>
      </p:grpSpPr>
      <p:sp>
        <p:nvSpPr>
          <p:cNvPr id="2" name="Shape 0"/>
          <p:cNvSpPr/>
          <p:nvPr/>
        </p:nvSpPr>
        <p:spPr>
          <a:xfrm>
            <a:off x="0" y="3246120"/>
            <a:ext cx="12191695" cy="54864"/>
          </a:xfrm>
          <a:prstGeom prst="rect">
            <a:avLst/>
          </a:prstGeom>
          <a:solidFill>
            <a:srgbClr val="C9A96A"/>
          </a:solidFill>
          <a:ln/>
        </p:spPr>
      </p:sp>
      <p:sp>
        <p:nvSpPr>
          <p:cNvPr id="3" name="Text 1"/>
          <p:cNvSpPr/>
          <p:nvPr/>
        </p:nvSpPr>
        <p:spPr>
          <a:xfrm>
            <a:off x="640080" y="1920240"/>
            <a:ext cx="2743200" cy="548640"/>
          </a:xfrm>
          <a:prstGeom prst="rect">
            <a:avLst/>
          </a:prstGeom>
          <a:noFill/>
          <a:ln/>
        </p:spPr>
        <p:txBody>
          <a:bodyPr wrap="square" rtlCol="0" anchor="ctr"/>
          <a:lstStyle/>
          <a:p>
            <a:pPr indent="0" marL="0">
              <a:buNone/>
            </a:pPr>
            <a:r>
              <a:rPr lang="en-US" sz="1500" b="1" dirty="0">
                <a:solidFill>
                  <a:srgbClr val="C9A96A"/>
                </a:solidFill>
                <a:latin typeface="Segoe UI" pitchFamily="34" charset="0"/>
                <a:ea typeface="Segoe UI" pitchFamily="34" charset="-122"/>
                <a:cs typeface="Segoe UI" pitchFamily="34" charset="-120"/>
              </a:rPr>
              <a:t>14</a:t>
            </a:r>
            <a:endParaRPr lang="en-US" sz="1500" dirty="0"/>
          </a:p>
        </p:txBody>
      </p:sp>
      <p:sp>
        <p:nvSpPr>
          <p:cNvPr id="4" name="Text 2"/>
          <p:cNvSpPr/>
          <p:nvPr/>
        </p:nvSpPr>
        <p:spPr>
          <a:xfrm>
            <a:off x="640080" y="2377440"/>
            <a:ext cx="10515600" cy="914400"/>
          </a:xfrm>
          <a:prstGeom prst="rect">
            <a:avLst/>
          </a:prstGeom>
          <a:noFill/>
          <a:ln/>
        </p:spPr>
        <p:txBody>
          <a:bodyPr wrap="square" rtlCol="0" anchor="ctr"/>
          <a:lstStyle/>
          <a:p>
            <a:pPr indent="0" marL="0">
              <a:buNone/>
            </a:pPr>
            <a:r>
              <a:rPr lang="en-US" sz="3400" b="1" dirty="0">
                <a:solidFill>
                  <a:srgbClr val="FFFFFF"/>
                </a:solidFill>
                <a:latin typeface="Georgia" pitchFamily="34" charset="0"/>
                <a:ea typeface="Georgia" pitchFamily="34" charset="-122"/>
                <a:cs typeface="Georgia" pitchFamily="34" charset="-120"/>
              </a:rPr>
              <a:t>Archives</a:t>
            </a:r>
            <a:endParaRPr lang="en-US" sz="3400" dirty="0"/>
          </a:p>
        </p:txBody>
      </p:sp>
      <p:sp>
        <p:nvSpPr>
          <p:cNvPr id="5" name="Text 3"/>
          <p:cNvSpPr/>
          <p:nvPr/>
        </p:nvSpPr>
        <p:spPr>
          <a:xfrm>
            <a:off x="640080" y="3429000"/>
            <a:ext cx="10058400" cy="1188720"/>
          </a:xfrm>
          <a:prstGeom prst="rect">
            <a:avLst/>
          </a:prstGeom>
          <a:noFill/>
          <a:ln/>
        </p:spPr>
        <p:txBody>
          <a:bodyPr wrap="square" rtlCol="0" anchor="ctr"/>
          <a:lstStyle/>
          <a:p>
            <a:pPr indent="0" marL="0">
              <a:lnSpc>
                <a:spcPts val="1800"/>
              </a:lnSpc>
              <a:buNone/>
            </a:pPr>
            <a:r>
              <a:rPr lang="en-US" sz="1300" dirty="0">
                <a:solidFill>
                  <a:srgbClr val="C7C9E0"/>
                </a:solidFill>
                <a:latin typeface="Segoe UI" pitchFamily="34" charset="0"/>
                <a:ea typeface="Segoe UI" pitchFamily="34" charset="-122"/>
                <a:cs typeface="Segoe UI" pitchFamily="34" charset="-120"/>
              </a:rPr>
              <a:t>Conservation des chantiers et devis terminés ou archivés, consultables sans encombrer les listes actives.</a:t>
            </a:r>
            <a:endParaRPr lang="en-US" sz="1300" dirty="0"/>
          </a:p>
        </p:txBody>
      </p:sp>
      <p:sp>
        <p:nvSpPr>
          <p:cNvPr id="6" name="Text 4"/>
          <p:cNvSpPr/>
          <p:nvPr/>
        </p:nvSpPr>
        <p:spPr>
          <a:xfrm>
            <a:off x="365760" y="6510528"/>
            <a:ext cx="5486400" cy="274320"/>
          </a:xfrm>
          <a:prstGeom prst="rect">
            <a:avLst/>
          </a:prstGeom>
          <a:noFill/>
          <a:ln/>
        </p:spPr>
        <p:txBody>
          <a:bodyPr wrap="square" rtlCol="0" anchor="ctr"/>
          <a:lstStyle/>
          <a:p>
            <a:pPr indent="0" marL="0">
              <a:buNone/>
            </a:pPr>
            <a:r>
              <a:rPr lang="en-US" sz="850" dirty="0">
                <a:solidFill>
                  <a:srgbClr val="8A7C68"/>
                </a:solidFill>
                <a:latin typeface="Segoe UI" pitchFamily="34" charset="0"/>
                <a:ea typeface="Segoe UI" pitchFamily="34" charset="-122"/>
                <a:cs typeface="Segoe UI" pitchFamily="34" charset="-120"/>
              </a:rPr>
              <a:t>Kôji Web — Cahier des charges</a:t>
            </a:r>
            <a:endParaRPr lang="en-US" sz="850" dirty="0"/>
          </a:p>
        </p:txBody>
      </p:sp>
      <p:sp>
        <p:nvSpPr>
          <p:cNvPr id="7" name="Text 5"/>
          <p:cNvSpPr/>
          <p:nvPr/>
        </p:nvSpPr>
        <p:spPr>
          <a:xfrm>
            <a:off x="9601200" y="6510528"/>
            <a:ext cx="2194560" cy="274320"/>
          </a:xfrm>
          <a:prstGeom prst="rect">
            <a:avLst/>
          </a:prstGeom>
          <a:noFill/>
          <a:ln/>
        </p:spPr>
        <p:txBody>
          <a:bodyPr wrap="square" rtlCol="0" anchor="ctr"/>
          <a:lstStyle/>
          <a:p>
            <a:pPr algn="r" indent="0" marL="0">
              <a:buNone/>
            </a:pPr>
            <a:r>
              <a:rPr lang="en-US" sz="850" dirty="0">
                <a:solidFill>
                  <a:srgbClr val="8A7C68"/>
                </a:solidFill>
                <a:latin typeface="Segoe UI" pitchFamily="34" charset="0"/>
                <a:ea typeface="Segoe UI" pitchFamily="34" charset="-122"/>
                <a:cs typeface="Segoe UI" pitchFamily="34" charset="-120"/>
              </a:rPr>
              <a:t>63</a:t>
            </a:r>
            <a:endParaRPr lang="en-US" sz="850" dirty="0"/>
          </a:p>
        </p:txBody>
      </p:sp>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name="Slide 65">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3108960" cy="365760"/>
          </a:xfrm>
          <a:prstGeom prst="roundRect">
            <a:avLst>
              <a:gd name="adj" fmla="val 50000"/>
            </a:avLst>
          </a:prstGeom>
          <a:solidFill>
            <a:srgbClr val="F7EADF"/>
          </a:solidFill>
          <a:ln/>
        </p:spPr>
      </p:sp>
      <p:sp>
        <p:nvSpPr>
          <p:cNvPr id="3" name="Text 1"/>
          <p:cNvSpPr/>
          <p:nvPr/>
        </p:nvSpPr>
        <p:spPr>
          <a:xfrm>
            <a:off x="640080" y="411480"/>
            <a:ext cx="3108960" cy="365760"/>
          </a:xfrm>
          <a:prstGeom prst="rect">
            <a:avLst/>
          </a:prstGeom>
          <a:noFill/>
          <a:ln/>
        </p:spPr>
        <p:txBody>
          <a:bodyPr wrap="square" rtlCol="0" anchor="ctr"/>
          <a:lstStyle/>
          <a:p>
            <a:pPr algn="ctr" indent="0" marL="0">
              <a:buNone/>
            </a:pPr>
            <a:r>
              <a:rPr lang="en-US" sz="950" b="1" spc="100" kern="0" dirty="0">
                <a:solidFill>
                  <a:srgbClr val="9A7C5C"/>
                </a:solidFill>
                <a:latin typeface="Segoe UI" pitchFamily="34" charset="0"/>
                <a:ea typeface="Segoe UI" pitchFamily="34" charset="-122"/>
                <a:cs typeface="Segoe UI" pitchFamily="34" charset="-120"/>
              </a:rPr>
              <a:t>ARCHIVES</a:t>
            </a:r>
            <a:endParaRPr lang="en-US" sz="950" dirty="0"/>
          </a:p>
        </p:txBody>
      </p:sp>
      <p:sp>
        <p:nvSpPr>
          <p:cNvPr id="4" name="Shape 2"/>
          <p:cNvSpPr/>
          <p:nvPr/>
        </p:nvSpPr>
        <p:spPr>
          <a:xfrm>
            <a:off x="640080" y="1005840"/>
            <a:ext cx="10881360" cy="2606040"/>
          </a:xfrm>
          <a:prstGeom prst="roundRect">
            <a:avLst>
              <a:gd name="adj" fmla="val 2105"/>
            </a:avLst>
          </a:prstGeom>
          <a:solidFill>
            <a:srgbClr val="FFFFFF"/>
          </a:solidFill>
          <a:ln w="12700">
            <a:solidFill>
              <a:srgbClr val="E4DCCB"/>
            </a:solidFill>
            <a:prstDash val="solid"/>
          </a:ln>
        </p:spPr>
      </p:sp>
      <p:sp>
        <p:nvSpPr>
          <p:cNvPr id="5" name="Shape 3"/>
          <p:cNvSpPr/>
          <p:nvPr/>
        </p:nvSpPr>
        <p:spPr>
          <a:xfrm>
            <a:off x="640080" y="1005840"/>
            <a:ext cx="54864" cy="2606040"/>
          </a:xfrm>
          <a:prstGeom prst="rect">
            <a:avLst/>
          </a:prstGeom>
          <a:solidFill>
            <a:srgbClr val="1D6FE0"/>
          </a:solidFill>
          <a:ln/>
        </p:spPr>
      </p:sp>
      <p:sp>
        <p:nvSpPr>
          <p:cNvPr id="6" name="Text 4"/>
          <p:cNvSpPr/>
          <p:nvPr/>
        </p:nvSpPr>
        <p:spPr>
          <a:xfrm>
            <a:off x="914400" y="1133856"/>
            <a:ext cx="10332720" cy="365760"/>
          </a:xfrm>
          <a:prstGeom prst="rect">
            <a:avLst/>
          </a:prstGeom>
          <a:noFill/>
          <a:ln/>
        </p:spPr>
        <p:txBody>
          <a:bodyPr wrap="square" rtlCol="0" anchor="ctr"/>
          <a:lstStyle/>
          <a:p>
            <a:pPr indent="0" marL="0">
              <a:buNone/>
            </a:pPr>
            <a:r>
              <a:rPr lang="en-US" sz="1500" b="1" dirty="0">
                <a:solidFill>
                  <a:srgbClr val="1B1F3B"/>
                </a:solidFill>
                <a:latin typeface="Georgia" pitchFamily="34" charset="0"/>
                <a:ea typeface="Georgia" pitchFamily="34" charset="-122"/>
                <a:cs typeface="Georgia" pitchFamily="34" charset="-120"/>
              </a:rPr>
              <a:t>Chantiers et devis archivés</a:t>
            </a:r>
            <a:endParaRPr lang="en-US" sz="1500" dirty="0"/>
          </a:p>
        </p:txBody>
      </p:sp>
      <p:sp>
        <p:nvSpPr>
          <p:cNvPr id="7" name="Text 5"/>
          <p:cNvSpPr/>
          <p:nvPr/>
        </p:nvSpPr>
        <p:spPr>
          <a:xfrm>
            <a:off x="914400" y="1536192"/>
            <a:ext cx="10332720" cy="1051560"/>
          </a:xfrm>
          <a:prstGeom prst="rect">
            <a:avLst/>
          </a:prstGeom>
          <a:noFill/>
          <a:ln/>
        </p:spPr>
        <p:txBody>
          <a:bodyPr wrap="square" rtlCol="0" anchor="ctr"/>
          <a:lstStyle/>
          <a:p>
            <a:pPr indent="0" marL="0">
              <a:lnSpc>
                <a:spcPts val="1600"/>
              </a:lnSpc>
              <a:buNone/>
            </a:pPr>
            <a:r>
              <a:rPr lang="en-US" sz="1150" dirty="0">
                <a:solidFill>
                  <a:srgbClr val="1B1F3B"/>
                </a:solidFill>
                <a:latin typeface="Segoe UI" pitchFamily="34" charset="0"/>
                <a:ea typeface="Segoe UI" pitchFamily="34" charset="-122"/>
                <a:cs typeface="Segoe UI" pitchFamily="34" charset="-120"/>
              </a:rPr>
              <a:t>Deux onglets listant respectivement les chantiers et les devis archivés.</a:t>
            </a:r>
            <a:endParaRPr lang="en-US" sz="1150" dirty="0"/>
          </a:p>
        </p:txBody>
      </p:sp>
      <p:sp>
        <p:nvSpPr>
          <p:cNvPr id="8" name="Text 6"/>
          <p:cNvSpPr/>
          <p:nvPr/>
        </p:nvSpPr>
        <p:spPr>
          <a:xfrm>
            <a:off x="914400" y="2743200"/>
            <a:ext cx="10332720" cy="228600"/>
          </a:xfrm>
          <a:prstGeom prst="rect">
            <a:avLst/>
          </a:prstGeom>
          <a:noFill/>
          <a:ln/>
        </p:spPr>
        <p:txBody>
          <a:bodyPr wrap="square" rtlCol="0" anchor="ctr"/>
          <a:lstStyle/>
          <a:p>
            <a:pPr indent="0" marL="0">
              <a:buNone/>
            </a:pPr>
            <a:r>
              <a:rPr lang="en-US" sz="800" b="1" spc="100" kern="0" dirty="0">
                <a:solidFill>
                  <a:srgbClr val="9A7C5C"/>
                </a:solidFill>
                <a:latin typeface="Segoe UI" pitchFamily="34" charset="0"/>
                <a:ea typeface="Segoe UI" pitchFamily="34" charset="-122"/>
                <a:cs typeface="Segoe UI" pitchFamily="34" charset="-120"/>
              </a:rPr>
              <a:t>RÉALISATION TECHNIQUE</a:t>
            </a:r>
            <a:endParaRPr lang="en-US" sz="800" dirty="0"/>
          </a:p>
        </p:txBody>
      </p:sp>
      <p:sp>
        <p:nvSpPr>
          <p:cNvPr id="9" name="Text 7"/>
          <p:cNvSpPr/>
          <p:nvPr/>
        </p:nvSpPr>
        <p:spPr>
          <a:xfrm>
            <a:off x="914400" y="2990088"/>
            <a:ext cx="10332720" cy="548640"/>
          </a:xfrm>
          <a:prstGeom prst="rect">
            <a:avLst/>
          </a:prstGeom>
          <a:noFill/>
          <a:ln/>
        </p:spPr>
        <p:txBody>
          <a:bodyPr wrap="square" rtlCol="0" anchor="ctr"/>
          <a:lstStyle/>
          <a:p>
            <a:pPr indent="0" marL="0">
              <a:lnSpc>
                <a:spcPts val="1400"/>
              </a:lnSpc>
              <a:buNone/>
            </a:pPr>
            <a:r>
              <a:rPr lang="en-US" sz="1000" i="1" dirty="0">
                <a:solidFill>
                  <a:srgbClr val="8A7C68"/>
                </a:solidFill>
                <a:latin typeface="Segoe UI" pitchFamily="34" charset="0"/>
                <a:ea typeface="Segoe UI" pitchFamily="34" charset="-122"/>
                <a:cs typeface="Segoe UI" pitchFamily="34" charset="-120"/>
              </a:rPr>
              <a:t>Page /archives, API /api/project-archives.</a:t>
            </a:r>
            <a:endParaRPr lang="en-US" sz="1000" dirty="0"/>
          </a:p>
        </p:txBody>
      </p:sp>
      <p:sp>
        <p:nvSpPr>
          <p:cNvPr id="10" name="Shape 8"/>
          <p:cNvSpPr/>
          <p:nvPr/>
        </p:nvSpPr>
        <p:spPr>
          <a:xfrm>
            <a:off x="640080" y="3813048"/>
            <a:ext cx="10881360" cy="1737360"/>
          </a:xfrm>
          <a:prstGeom prst="roundRect">
            <a:avLst>
              <a:gd name="adj" fmla="val 3158"/>
            </a:avLst>
          </a:prstGeom>
          <a:solidFill>
            <a:srgbClr val="FFFFFF"/>
          </a:solidFill>
          <a:ln w="12700">
            <a:solidFill>
              <a:srgbClr val="E4DCCB"/>
            </a:solidFill>
            <a:prstDash val="solid"/>
          </a:ln>
        </p:spPr>
      </p:sp>
      <p:sp>
        <p:nvSpPr>
          <p:cNvPr id="11" name="Shape 9"/>
          <p:cNvSpPr/>
          <p:nvPr/>
        </p:nvSpPr>
        <p:spPr>
          <a:xfrm>
            <a:off x="640080" y="3813048"/>
            <a:ext cx="54864" cy="1737360"/>
          </a:xfrm>
          <a:prstGeom prst="rect">
            <a:avLst/>
          </a:prstGeom>
          <a:solidFill>
            <a:srgbClr val="1D6FE0"/>
          </a:solidFill>
          <a:ln/>
        </p:spPr>
      </p:sp>
      <p:sp>
        <p:nvSpPr>
          <p:cNvPr id="12" name="Text 10"/>
          <p:cNvSpPr/>
          <p:nvPr/>
        </p:nvSpPr>
        <p:spPr>
          <a:xfrm>
            <a:off x="914400" y="3941064"/>
            <a:ext cx="10332720" cy="365760"/>
          </a:xfrm>
          <a:prstGeom prst="rect">
            <a:avLst/>
          </a:prstGeom>
          <a:noFill/>
          <a:ln/>
        </p:spPr>
        <p:txBody>
          <a:bodyPr wrap="square" rtlCol="0" anchor="ctr"/>
          <a:lstStyle/>
          <a:p>
            <a:pPr indent="0" marL="0">
              <a:buNone/>
            </a:pPr>
            <a:r>
              <a:rPr lang="en-US" sz="1500" b="1" dirty="0">
                <a:solidFill>
                  <a:srgbClr val="1B1F3B"/>
                </a:solidFill>
                <a:latin typeface="Georgia" pitchFamily="34" charset="0"/>
                <a:ea typeface="Georgia" pitchFamily="34" charset="-122"/>
                <a:cs typeface="Georgia" pitchFamily="34" charset="-120"/>
              </a:rPr>
              <a:t>Ajout manuel</a:t>
            </a:r>
            <a:endParaRPr lang="en-US" sz="1500" dirty="0"/>
          </a:p>
        </p:txBody>
      </p:sp>
      <p:sp>
        <p:nvSpPr>
          <p:cNvPr id="13" name="Text 11"/>
          <p:cNvSpPr/>
          <p:nvPr/>
        </p:nvSpPr>
        <p:spPr>
          <a:xfrm>
            <a:off x="914400" y="4343400"/>
            <a:ext cx="10332720" cy="1005840"/>
          </a:xfrm>
          <a:prstGeom prst="rect">
            <a:avLst/>
          </a:prstGeom>
          <a:noFill/>
          <a:ln/>
        </p:spPr>
        <p:txBody>
          <a:bodyPr wrap="square" rtlCol="0" anchor="ctr"/>
          <a:lstStyle/>
          <a:p>
            <a:pPr indent="0" marL="0">
              <a:lnSpc>
                <a:spcPts val="1600"/>
              </a:lnSpc>
              <a:buNone/>
            </a:pPr>
            <a:r>
              <a:rPr lang="en-US" sz="1150" dirty="0">
                <a:solidFill>
                  <a:srgbClr val="1B1F3B"/>
                </a:solidFill>
                <a:latin typeface="Segoe UI" pitchFamily="34" charset="0"/>
                <a:ea typeface="Segoe UI" pitchFamily="34" charset="-122"/>
                <a:cs typeface="Segoe UI" pitchFamily="34" charset="-120"/>
              </a:rPr>
              <a:t>Possibilité d'ajouter manuellement un chantier archivé qui n'a pas de devis derrière lui.</a:t>
            </a:r>
            <a:endParaRPr lang="en-US" sz="1150" dirty="0"/>
          </a:p>
        </p:txBody>
      </p:sp>
      <p:sp>
        <p:nvSpPr>
          <p:cNvPr id="14" name="Text 12"/>
          <p:cNvSpPr/>
          <p:nvPr/>
        </p:nvSpPr>
        <p:spPr>
          <a:xfrm>
            <a:off x="365760" y="6510528"/>
            <a:ext cx="5486400" cy="274320"/>
          </a:xfrm>
          <a:prstGeom prst="rect">
            <a:avLst/>
          </a:prstGeom>
          <a:noFill/>
          <a:ln/>
        </p:spPr>
        <p:txBody>
          <a:bodyPr wrap="square" rtlCol="0" anchor="ctr"/>
          <a:lstStyle/>
          <a:p>
            <a:pPr indent="0" marL="0">
              <a:buNone/>
            </a:pPr>
            <a:r>
              <a:rPr lang="en-US" sz="850" dirty="0">
                <a:solidFill>
                  <a:srgbClr val="8A7C68"/>
                </a:solidFill>
                <a:latin typeface="Segoe UI" pitchFamily="34" charset="0"/>
                <a:ea typeface="Segoe UI" pitchFamily="34" charset="-122"/>
                <a:cs typeface="Segoe UI" pitchFamily="34" charset="-120"/>
              </a:rPr>
              <a:t>Kôji Web — Cahier des charges</a:t>
            </a:r>
            <a:endParaRPr lang="en-US" sz="850" dirty="0"/>
          </a:p>
        </p:txBody>
      </p:sp>
      <p:sp>
        <p:nvSpPr>
          <p:cNvPr id="15" name="Text 13"/>
          <p:cNvSpPr/>
          <p:nvPr/>
        </p:nvSpPr>
        <p:spPr>
          <a:xfrm>
            <a:off x="9601200" y="6510528"/>
            <a:ext cx="2194560" cy="274320"/>
          </a:xfrm>
          <a:prstGeom prst="rect">
            <a:avLst/>
          </a:prstGeom>
          <a:noFill/>
          <a:ln/>
        </p:spPr>
        <p:txBody>
          <a:bodyPr wrap="square" rtlCol="0" anchor="ctr"/>
          <a:lstStyle/>
          <a:p>
            <a:pPr algn="r" indent="0" marL="0">
              <a:buNone/>
            </a:pPr>
            <a:r>
              <a:rPr lang="en-US" sz="850" dirty="0">
                <a:solidFill>
                  <a:srgbClr val="8A7C68"/>
                </a:solidFill>
                <a:latin typeface="Segoe UI" pitchFamily="34" charset="0"/>
                <a:ea typeface="Segoe UI" pitchFamily="34" charset="-122"/>
                <a:cs typeface="Segoe UI" pitchFamily="34" charset="-120"/>
              </a:rPr>
              <a:t>64</a:t>
            </a:r>
            <a:endParaRPr lang="en-US" sz="850" dirty="0"/>
          </a:p>
        </p:txBody>
      </p:sp>
    </p:spTree>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name="Slide 66">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3108960" cy="365760"/>
          </a:xfrm>
          <a:prstGeom prst="roundRect">
            <a:avLst>
              <a:gd name="adj" fmla="val 50000"/>
            </a:avLst>
          </a:prstGeom>
          <a:solidFill>
            <a:srgbClr val="F7EADF"/>
          </a:solidFill>
          <a:ln/>
        </p:spPr>
      </p:sp>
      <p:sp>
        <p:nvSpPr>
          <p:cNvPr id="3" name="Text 1"/>
          <p:cNvSpPr/>
          <p:nvPr/>
        </p:nvSpPr>
        <p:spPr>
          <a:xfrm>
            <a:off x="640080" y="411480"/>
            <a:ext cx="3108960" cy="365760"/>
          </a:xfrm>
          <a:prstGeom prst="rect">
            <a:avLst/>
          </a:prstGeom>
          <a:noFill/>
          <a:ln/>
        </p:spPr>
        <p:txBody>
          <a:bodyPr wrap="square" rtlCol="0" anchor="ctr"/>
          <a:lstStyle/>
          <a:p>
            <a:pPr algn="ctr" indent="0" marL="0">
              <a:buNone/>
            </a:pPr>
            <a:r>
              <a:rPr lang="en-US" sz="950" b="1" spc="100" kern="0" dirty="0">
                <a:solidFill>
                  <a:srgbClr val="9A7C5C"/>
                </a:solidFill>
                <a:latin typeface="Segoe UI" pitchFamily="34" charset="0"/>
                <a:ea typeface="Segoe UI" pitchFamily="34" charset="-122"/>
                <a:cs typeface="Segoe UI" pitchFamily="34" charset="-120"/>
              </a:rPr>
              <a:t>ARCHIVES</a:t>
            </a:r>
            <a:endParaRPr lang="en-US" sz="950" dirty="0"/>
          </a:p>
        </p:txBody>
      </p:sp>
      <p:sp>
        <p:nvSpPr>
          <p:cNvPr id="4" name="Shape 2"/>
          <p:cNvSpPr/>
          <p:nvPr/>
        </p:nvSpPr>
        <p:spPr>
          <a:xfrm>
            <a:off x="640080" y="1005840"/>
            <a:ext cx="10881360" cy="1737360"/>
          </a:xfrm>
          <a:prstGeom prst="roundRect">
            <a:avLst>
              <a:gd name="adj" fmla="val 3158"/>
            </a:avLst>
          </a:prstGeom>
          <a:solidFill>
            <a:srgbClr val="FFFFFF"/>
          </a:solidFill>
          <a:ln w="12700">
            <a:solidFill>
              <a:srgbClr val="E4DCCB"/>
            </a:solidFill>
            <a:prstDash val="solid"/>
          </a:ln>
        </p:spPr>
      </p:sp>
      <p:sp>
        <p:nvSpPr>
          <p:cNvPr id="5" name="Shape 3"/>
          <p:cNvSpPr/>
          <p:nvPr/>
        </p:nvSpPr>
        <p:spPr>
          <a:xfrm>
            <a:off x="640080" y="1005840"/>
            <a:ext cx="54864" cy="1737360"/>
          </a:xfrm>
          <a:prstGeom prst="rect">
            <a:avLst/>
          </a:prstGeom>
          <a:solidFill>
            <a:srgbClr val="1D6FE0"/>
          </a:solidFill>
          <a:ln/>
        </p:spPr>
      </p:sp>
      <p:sp>
        <p:nvSpPr>
          <p:cNvPr id="6" name="Text 4"/>
          <p:cNvSpPr/>
          <p:nvPr/>
        </p:nvSpPr>
        <p:spPr>
          <a:xfrm>
            <a:off x="914400" y="1133856"/>
            <a:ext cx="10332720" cy="365760"/>
          </a:xfrm>
          <a:prstGeom prst="rect">
            <a:avLst/>
          </a:prstGeom>
          <a:noFill/>
          <a:ln/>
        </p:spPr>
        <p:txBody>
          <a:bodyPr wrap="square" rtlCol="0" anchor="ctr"/>
          <a:lstStyle/>
          <a:p>
            <a:pPr indent="0" marL="0">
              <a:buNone/>
            </a:pPr>
            <a:r>
              <a:rPr lang="en-US" sz="1500" b="1" dirty="0">
                <a:solidFill>
                  <a:srgbClr val="1B1F3B"/>
                </a:solidFill>
                <a:latin typeface="Georgia" pitchFamily="34" charset="0"/>
                <a:ea typeface="Georgia" pitchFamily="34" charset="-122"/>
                <a:cs typeface="Georgia" pitchFamily="34" charset="-120"/>
              </a:rPr>
              <a:t>Fiche détail d'archive</a:t>
            </a:r>
            <a:endParaRPr lang="en-US" sz="1500" dirty="0"/>
          </a:p>
        </p:txBody>
      </p:sp>
      <p:sp>
        <p:nvSpPr>
          <p:cNvPr id="7" name="Text 5"/>
          <p:cNvSpPr/>
          <p:nvPr/>
        </p:nvSpPr>
        <p:spPr>
          <a:xfrm>
            <a:off x="914400" y="1536192"/>
            <a:ext cx="10332720" cy="1005840"/>
          </a:xfrm>
          <a:prstGeom prst="rect">
            <a:avLst/>
          </a:prstGeom>
          <a:noFill/>
          <a:ln/>
        </p:spPr>
        <p:txBody>
          <a:bodyPr wrap="square" rtlCol="0" anchor="ctr"/>
          <a:lstStyle/>
          <a:p>
            <a:pPr indent="0" marL="0">
              <a:lnSpc>
                <a:spcPts val="1600"/>
              </a:lnSpc>
              <a:buNone/>
            </a:pPr>
            <a:r>
              <a:rPr lang="en-US" sz="1150" dirty="0">
                <a:solidFill>
                  <a:srgbClr val="1B1F3B"/>
                </a:solidFill>
                <a:latin typeface="Segoe UI" pitchFamily="34" charset="0"/>
                <a:ea typeface="Segoe UI" pitchFamily="34" charset="-122"/>
                <a:cs typeface="Segoe UI" pitchFamily="34" charset="-120"/>
              </a:rPr>
              <a:t>Détail d'un chantier archivé avec ses documents (photos, factures, reçus, notes) et son historique de messages.</a:t>
            </a:r>
            <a:endParaRPr lang="en-US" sz="1150" dirty="0"/>
          </a:p>
        </p:txBody>
      </p:sp>
      <p:sp>
        <p:nvSpPr>
          <p:cNvPr id="8" name="Text 6"/>
          <p:cNvSpPr/>
          <p:nvPr/>
        </p:nvSpPr>
        <p:spPr>
          <a:xfrm>
            <a:off x="365760" y="6510528"/>
            <a:ext cx="5486400" cy="274320"/>
          </a:xfrm>
          <a:prstGeom prst="rect">
            <a:avLst/>
          </a:prstGeom>
          <a:noFill/>
          <a:ln/>
        </p:spPr>
        <p:txBody>
          <a:bodyPr wrap="square" rtlCol="0" anchor="ctr"/>
          <a:lstStyle/>
          <a:p>
            <a:pPr indent="0" marL="0">
              <a:buNone/>
            </a:pPr>
            <a:r>
              <a:rPr lang="en-US" sz="850" dirty="0">
                <a:solidFill>
                  <a:srgbClr val="8A7C68"/>
                </a:solidFill>
                <a:latin typeface="Segoe UI" pitchFamily="34" charset="0"/>
                <a:ea typeface="Segoe UI" pitchFamily="34" charset="-122"/>
                <a:cs typeface="Segoe UI" pitchFamily="34" charset="-120"/>
              </a:rPr>
              <a:t>Kôji Web — Cahier des charges</a:t>
            </a:r>
            <a:endParaRPr lang="en-US" sz="850" dirty="0"/>
          </a:p>
        </p:txBody>
      </p:sp>
      <p:sp>
        <p:nvSpPr>
          <p:cNvPr id="9" name="Text 7"/>
          <p:cNvSpPr/>
          <p:nvPr/>
        </p:nvSpPr>
        <p:spPr>
          <a:xfrm>
            <a:off x="9601200" y="6510528"/>
            <a:ext cx="2194560" cy="274320"/>
          </a:xfrm>
          <a:prstGeom prst="rect">
            <a:avLst/>
          </a:prstGeom>
          <a:noFill/>
          <a:ln/>
        </p:spPr>
        <p:txBody>
          <a:bodyPr wrap="square" rtlCol="0" anchor="ctr"/>
          <a:lstStyle/>
          <a:p>
            <a:pPr algn="r" indent="0" marL="0">
              <a:buNone/>
            </a:pPr>
            <a:r>
              <a:rPr lang="en-US" sz="850" dirty="0">
                <a:solidFill>
                  <a:srgbClr val="8A7C68"/>
                </a:solidFill>
                <a:latin typeface="Segoe UI" pitchFamily="34" charset="0"/>
                <a:ea typeface="Segoe UI" pitchFamily="34" charset="-122"/>
                <a:cs typeface="Segoe UI" pitchFamily="34" charset="-120"/>
              </a:rPr>
              <a:t>65</a:t>
            </a:r>
            <a:endParaRPr lang="en-US" sz="850" dirty="0"/>
          </a:p>
        </p:txBody>
      </p:sp>
    </p:spTree>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name="Slide 67">
    <p:bg>
      <p:bgPr>
        <a:solidFill>
          <a:srgbClr val="0B1030"/>
        </a:solidFill>
      </p:bgPr>
    </p:bg>
    <p:spTree>
      <p:nvGrpSpPr>
        <p:cNvPr id="1" name=""/>
        <p:cNvGrpSpPr/>
        <p:nvPr/>
      </p:nvGrpSpPr>
      <p:grpSpPr>
        <a:xfrm>
          <a:off x="0" y="0"/>
          <a:ext cx="0" cy="0"/>
          <a:chOff x="0" y="0"/>
          <a:chExt cx="0" cy="0"/>
        </a:xfrm>
      </p:grpSpPr>
      <p:sp>
        <p:nvSpPr>
          <p:cNvPr id="2" name="Shape 0"/>
          <p:cNvSpPr/>
          <p:nvPr/>
        </p:nvSpPr>
        <p:spPr>
          <a:xfrm>
            <a:off x="0" y="3246120"/>
            <a:ext cx="12191695" cy="54864"/>
          </a:xfrm>
          <a:prstGeom prst="rect">
            <a:avLst/>
          </a:prstGeom>
          <a:solidFill>
            <a:srgbClr val="C9A96A"/>
          </a:solidFill>
          <a:ln/>
        </p:spPr>
      </p:sp>
      <p:sp>
        <p:nvSpPr>
          <p:cNvPr id="3" name="Text 1"/>
          <p:cNvSpPr/>
          <p:nvPr/>
        </p:nvSpPr>
        <p:spPr>
          <a:xfrm>
            <a:off x="640080" y="1920240"/>
            <a:ext cx="2743200" cy="548640"/>
          </a:xfrm>
          <a:prstGeom prst="rect">
            <a:avLst/>
          </a:prstGeom>
          <a:noFill/>
          <a:ln/>
        </p:spPr>
        <p:txBody>
          <a:bodyPr wrap="square" rtlCol="0" anchor="ctr"/>
          <a:lstStyle/>
          <a:p>
            <a:pPr indent="0" marL="0">
              <a:buNone/>
            </a:pPr>
            <a:r>
              <a:rPr lang="en-US" sz="1500" b="1" dirty="0">
                <a:solidFill>
                  <a:srgbClr val="C9A96A"/>
                </a:solidFill>
                <a:latin typeface="Segoe UI" pitchFamily="34" charset="0"/>
                <a:ea typeface="Segoe UI" pitchFamily="34" charset="-122"/>
                <a:cs typeface="Segoe UI" pitchFamily="34" charset="-120"/>
              </a:rPr>
              <a:t>15</a:t>
            </a:r>
            <a:endParaRPr lang="en-US" sz="1500" dirty="0"/>
          </a:p>
        </p:txBody>
      </p:sp>
      <p:sp>
        <p:nvSpPr>
          <p:cNvPr id="4" name="Text 2"/>
          <p:cNvSpPr/>
          <p:nvPr/>
        </p:nvSpPr>
        <p:spPr>
          <a:xfrm>
            <a:off x="640080" y="2377440"/>
            <a:ext cx="10515600" cy="914400"/>
          </a:xfrm>
          <a:prstGeom prst="rect">
            <a:avLst/>
          </a:prstGeom>
          <a:noFill/>
          <a:ln/>
        </p:spPr>
        <p:txBody>
          <a:bodyPr wrap="square" rtlCol="0" anchor="ctr"/>
          <a:lstStyle/>
          <a:p>
            <a:pPr indent="0" marL="0">
              <a:buNone/>
            </a:pPr>
            <a:r>
              <a:rPr lang="en-US" sz="3400" b="1" dirty="0">
                <a:solidFill>
                  <a:srgbClr val="FFFFFF"/>
                </a:solidFill>
                <a:latin typeface="Georgia" pitchFamily="34" charset="0"/>
                <a:ea typeface="Georgia" pitchFamily="34" charset="-122"/>
                <a:cs typeface="Georgia" pitchFamily="34" charset="-120"/>
              </a:rPr>
              <a:t>Espace Client Particulier</a:t>
            </a:r>
            <a:endParaRPr lang="en-US" sz="3400" dirty="0"/>
          </a:p>
        </p:txBody>
      </p:sp>
      <p:sp>
        <p:nvSpPr>
          <p:cNvPr id="5" name="Text 3"/>
          <p:cNvSpPr/>
          <p:nvPr/>
        </p:nvSpPr>
        <p:spPr>
          <a:xfrm>
            <a:off x="640080" y="3429000"/>
            <a:ext cx="10058400" cy="1188720"/>
          </a:xfrm>
          <a:prstGeom prst="rect">
            <a:avLst/>
          </a:prstGeom>
          <a:noFill/>
          <a:ln/>
        </p:spPr>
        <p:txBody>
          <a:bodyPr wrap="square" rtlCol="0" anchor="ctr"/>
          <a:lstStyle/>
          <a:p>
            <a:pPr indent="0" marL="0">
              <a:lnSpc>
                <a:spcPts val="1800"/>
              </a:lnSpc>
              <a:buNone/>
            </a:pPr>
            <a:r>
              <a:rPr lang="en-US" sz="1300" dirty="0">
                <a:solidFill>
                  <a:srgbClr val="C7C9E0"/>
                </a:solidFill>
                <a:latin typeface="Segoe UI" pitchFamily="34" charset="0"/>
                <a:ea typeface="Segoe UI" pitchFamily="34" charset="-122"/>
                <a:cs typeface="Segoe UI" pitchFamily="34" charset="-120"/>
              </a:rPr>
              <a:t>Portail dédié au client final : suivi de son chantier, échange avec l'entreprise, et signalement en cas de problème.</a:t>
            </a:r>
            <a:endParaRPr lang="en-US" sz="1300" dirty="0"/>
          </a:p>
        </p:txBody>
      </p:sp>
      <p:sp>
        <p:nvSpPr>
          <p:cNvPr id="6" name="Text 4"/>
          <p:cNvSpPr/>
          <p:nvPr/>
        </p:nvSpPr>
        <p:spPr>
          <a:xfrm>
            <a:off x="365760" y="6510528"/>
            <a:ext cx="5486400" cy="274320"/>
          </a:xfrm>
          <a:prstGeom prst="rect">
            <a:avLst/>
          </a:prstGeom>
          <a:noFill/>
          <a:ln/>
        </p:spPr>
        <p:txBody>
          <a:bodyPr wrap="square" rtlCol="0" anchor="ctr"/>
          <a:lstStyle/>
          <a:p>
            <a:pPr indent="0" marL="0">
              <a:buNone/>
            </a:pPr>
            <a:r>
              <a:rPr lang="en-US" sz="850" dirty="0">
                <a:solidFill>
                  <a:srgbClr val="8A7C68"/>
                </a:solidFill>
                <a:latin typeface="Segoe UI" pitchFamily="34" charset="0"/>
                <a:ea typeface="Segoe UI" pitchFamily="34" charset="-122"/>
                <a:cs typeface="Segoe UI" pitchFamily="34" charset="-120"/>
              </a:rPr>
              <a:t>Kôji Web — Cahier des charges</a:t>
            </a:r>
            <a:endParaRPr lang="en-US" sz="850" dirty="0"/>
          </a:p>
        </p:txBody>
      </p:sp>
      <p:sp>
        <p:nvSpPr>
          <p:cNvPr id="7" name="Text 5"/>
          <p:cNvSpPr/>
          <p:nvPr/>
        </p:nvSpPr>
        <p:spPr>
          <a:xfrm>
            <a:off x="9601200" y="6510528"/>
            <a:ext cx="2194560" cy="274320"/>
          </a:xfrm>
          <a:prstGeom prst="rect">
            <a:avLst/>
          </a:prstGeom>
          <a:noFill/>
          <a:ln/>
        </p:spPr>
        <p:txBody>
          <a:bodyPr wrap="square" rtlCol="0" anchor="ctr"/>
          <a:lstStyle/>
          <a:p>
            <a:pPr algn="r" indent="0" marL="0">
              <a:buNone/>
            </a:pPr>
            <a:r>
              <a:rPr lang="en-US" sz="850" dirty="0">
                <a:solidFill>
                  <a:srgbClr val="8A7C68"/>
                </a:solidFill>
                <a:latin typeface="Segoe UI" pitchFamily="34" charset="0"/>
                <a:ea typeface="Segoe UI" pitchFamily="34" charset="-122"/>
                <a:cs typeface="Segoe UI" pitchFamily="34" charset="-120"/>
              </a:rPr>
              <a:t>66</a:t>
            </a:r>
            <a:endParaRPr lang="en-US" sz="850" dirty="0"/>
          </a:p>
        </p:txBody>
      </p:sp>
    </p:spTree>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name="Slide 68">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3108960" cy="365760"/>
          </a:xfrm>
          <a:prstGeom prst="roundRect">
            <a:avLst>
              <a:gd name="adj" fmla="val 50000"/>
            </a:avLst>
          </a:prstGeom>
          <a:solidFill>
            <a:srgbClr val="F7EADF"/>
          </a:solidFill>
          <a:ln/>
        </p:spPr>
      </p:sp>
      <p:sp>
        <p:nvSpPr>
          <p:cNvPr id="3" name="Text 1"/>
          <p:cNvSpPr/>
          <p:nvPr/>
        </p:nvSpPr>
        <p:spPr>
          <a:xfrm>
            <a:off x="640080" y="411480"/>
            <a:ext cx="3108960" cy="365760"/>
          </a:xfrm>
          <a:prstGeom prst="rect">
            <a:avLst/>
          </a:prstGeom>
          <a:noFill/>
          <a:ln/>
        </p:spPr>
        <p:txBody>
          <a:bodyPr wrap="square" rtlCol="0" anchor="ctr"/>
          <a:lstStyle/>
          <a:p>
            <a:pPr algn="ctr" indent="0" marL="0">
              <a:buNone/>
            </a:pPr>
            <a:r>
              <a:rPr lang="en-US" sz="950" b="1" spc="100" kern="0" dirty="0">
                <a:solidFill>
                  <a:srgbClr val="9A7C5C"/>
                </a:solidFill>
                <a:latin typeface="Segoe UI" pitchFamily="34" charset="0"/>
                <a:ea typeface="Segoe UI" pitchFamily="34" charset="-122"/>
                <a:cs typeface="Segoe UI" pitchFamily="34" charset="-120"/>
              </a:rPr>
              <a:t>ESPACE CLIENT PARTICULIER</a:t>
            </a:r>
            <a:endParaRPr lang="en-US" sz="950" dirty="0"/>
          </a:p>
        </p:txBody>
      </p:sp>
      <p:sp>
        <p:nvSpPr>
          <p:cNvPr id="4" name="Shape 2"/>
          <p:cNvSpPr/>
          <p:nvPr/>
        </p:nvSpPr>
        <p:spPr>
          <a:xfrm>
            <a:off x="640080" y="1005840"/>
            <a:ext cx="10881360" cy="2606040"/>
          </a:xfrm>
          <a:prstGeom prst="roundRect">
            <a:avLst>
              <a:gd name="adj" fmla="val 2105"/>
            </a:avLst>
          </a:prstGeom>
          <a:solidFill>
            <a:srgbClr val="FFFFFF"/>
          </a:solidFill>
          <a:ln w="12700">
            <a:solidFill>
              <a:srgbClr val="E4DCCB"/>
            </a:solidFill>
            <a:prstDash val="solid"/>
          </a:ln>
        </p:spPr>
      </p:sp>
      <p:sp>
        <p:nvSpPr>
          <p:cNvPr id="5" name="Shape 3"/>
          <p:cNvSpPr/>
          <p:nvPr/>
        </p:nvSpPr>
        <p:spPr>
          <a:xfrm>
            <a:off x="640080" y="1005840"/>
            <a:ext cx="54864" cy="2606040"/>
          </a:xfrm>
          <a:prstGeom prst="rect">
            <a:avLst/>
          </a:prstGeom>
          <a:solidFill>
            <a:srgbClr val="1D6FE0"/>
          </a:solidFill>
          <a:ln/>
        </p:spPr>
      </p:sp>
      <p:sp>
        <p:nvSpPr>
          <p:cNvPr id="6" name="Text 4"/>
          <p:cNvSpPr/>
          <p:nvPr/>
        </p:nvSpPr>
        <p:spPr>
          <a:xfrm>
            <a:off x="914400" y="1133856"/>
            <a:ext cx="10332720" cy="365760"/>
          </a:xfrm>
          <a:prstGeom prst="rect">
            <a:avLst/>
          </a:prstGeom>
          <a:noFill/>
          <a:ln/>
        </p:spPr>
        <p:txBody>
          <a:bodyPr wrap="square" rtlCol="0" anchor="ctr"/>
          <a:lstStyle/>
          <a:p>
            <a:pPr indent="0" marL="0">
              <a:buNone/>
            </a:pPr>
            <a:r>
              <a:rPr lang="en-US" sz="1500" b="1" dirty="0">
                <a:solidFill>
                  <a:srgbClr val="1B1F3B"/>
                </a:solidFill>
                <a:latin typeface="Georgia" pitchFamily="34" charset="0"/>
                <a:ea typeface="Georgia" pitchFamily="34" charset="-122"/>
                <a:cs typeface="Georgia" pitchFamily="34" charset="-120"/>
              </a:rPr>
              <a:t>Tableau de bord client</a:t>
            </a:r>
            <a:endParaRPr lang="en-US" sz="1500" dirty="0"/>
          </a:p>
        </p:txBody>
      </p:sp>
      <p:sp>
        <p:nvSpPr>
          <p:cNvPr id="7" name="Text 5"/>
          <p:cNvSpPr/>
          <p:nvPr/>
        </p:nvSpPr>
        <p:spPr>
          <a:xfrm>
            <a:off x="914400" y="1536192"/>
            <a:ext cx="10332720" cy="1051560"/>
          </a:xfrm>
          <a:prstGeom prst="rect">
            <a:avLst/>
          </a:prstGeom>
          <a:noFill/>
          <a:ln/>
        </p:spPr>
        <p:txBody>
          <a:bodyPr wrap="square" rtlCol="0" anchor="ctr"/>
          <a:lstStyle/>
          <a:p>
            <a:pPr indent="0" marL="0">
              <a:lnSpc>
                <a:spcPts val="1600"/>
              </a:lnSpc>
              <a:buNone/>
            </a:pPr>
            <a:r>
              <a:rPr lang="en-US" sz="1150" dirty="0">
                <a:solidFill>
                  <a:srgbClr val="1B1F3B"/>
                </a:solidFill>
                <a:latin typeface="Segoe UI" pitchFamily="34" charset="0"/>
                <a:ea typeface="Segoe UI" pitchFamily="34" charset="-122"/>
                <a:cs typeface="Segoe UI" pitchFamily="34" charset="-120"/>
              </a:rPr>
              <a:t>Statistiques (devis reçus/signés, travaux réalisés) et liste des chantiers du client, chacun avec un anneau de progression.</a:t>
            </a:r>
            <a:endParaRPr lang="en-US" sz="1150" dirty="0"/>
          </a:p>
        </p:txBody>
      </p:sp>
      <p:sp>
        <p:nvSpPr>
          <p:cNvPr id="8" name="Text 6"/>
          <p:cNvSpPr/>
          <p:nvPr/>
        </p:nvSpPr>
        <p:spPr>
          <a:xfrm>
            <a:off x="914400" y="2743200"/>
            <a:ext cx="10332720" cy="228600"/>
          </a:xfrm>
          <a:prstGeom prst="rect">
            <a:avLst/>
          </a:prstGeom>
          <a:noFill/>
          <a:ln/>
        </p:spPr>
        <p:txBody>
          <a:bodyPr wrap="square" rtlCol="0" anchor="ctr"/>
          <a:lstStyle/>
          <a:p>
            <a:pPr indent="0" marL="0">
              <a:buNone/>
            </a:pPr>
            <a:r>
              <a:rPr lang="en-US" sz="800" b="1" spc="100" kern="0" dirty="0">
                <a:solidFill>
                  <a:srgbClr val="9A7C5C"/>
                </a:solidFill>
                <a:latin typeface="Segoe UI" pitchFamily="34" charset="0"/>
                <a:ea typeface="Segoe UI" pitchFamily="34" charset="-122"/>
                <a:cs typeface="Segoe UI" pitchFamily="34" charset="-120"/>
              </a:rPr>
              <a:t>RÉALISATION TECHNIQUE</a:t>
            </a:r>
            <a:endParaRPr lang="en-US" sz="800" dirty="0"/>
          </a:p>
        </p:txBody>
      </p:sp>
      <p:sp>
        <p:nvSpPr>
          <p:cNvPr id="9" name="Text 7"/>
          <p:cNvSpPr/>
          <p:nvPr/>
        </p:nvSpPr>
        <p:spPr>
          <a:xfrm>
            <a:off x="914400" y="2990088"/>
            <a:ext cx="10332720" cy="548640"/>
          </a:xfrm>
          <a:prstGeom prst="rect">
            <a:avLst/>
          </a:prstGeom>
          <a:noFill/>
          <a:ln/>
        </p:spPr>
        <p:txBody>
          <a:bodyPr wrap="square" rtlCol="0" anchor="ctr"/>
          <a:lstStyle/>
          <a:p>
            <a:pPr indent="0" marL="0">
              <a:lnSpc>
                <a:spcPts val="1400"/>
              </a:lnSpc>
              <a:buNone/>
            </a:pPr>
            <a:r>
              <a:rPr lang="en-US" sz="1000" i="1" dirty="0">
                <a:solidFill>
                  <a:srgbClr val="8A7C68"/>
                </a:solidFill>
                <a:latin typeface="Segoe UI" pitchFamily="34" charset="0"/>
                <a:ea typeface="Segoe UI" pitchFamily="34" charset="-122"/>
                <a:cs typeface="Segoe UI" pitchFamily="34" charset="-120"/>
              </a:rPr>
              <a:t>Page /client, connexion via /login (onglet Particulier).</a:t>
            </a:r>
            <a:endParaRPr lang="en-US" sz="1000" dirty="0"/>
          </a:p>
        </p:txBody>
      </p:sp>
      <p:sp>
        <p:nvSpPr>
          <p:cNvPr id="10" name="Shape 8"/>
          <p:cNvSpPr/>
          <p:nvPr/>
        </p:nvSpPr>
        <p:spPr>
          <a:xfrm>
            <a:off x="640080" y="3813048"/>
            <a:ext cx="10881360" cy="2606040"/>
          </a:xfrm>
          <a:prstGeom prst="roundRect">
            <a:avLst>
              <a:gd name="adj" fmla="val 2105"/>
            </a:avLst>
          </a:prstGeom>
          <a:solidFill>
            <a:srgbClr val="FFFFFF"/>
          </a:solidFill>
          <a:ln w="12700">
            <a:solidFill>
              <a:srgbClr val="E4DCCB"/>
            </a:solidFill>
            <a:prstDash val="solid"/>
          </a:ln>
        </p:spPr>
      </p:sp>
      <p:sp>
        <p:nvSpPr>
          <p:cNvPr id="11" name="Shape 9"/>
          <p:cNvSpPr/>
          <p:nvPr/>
        </p:nvSpPr>
        <p:spPr>
          <a:xfrm>
            <a:off x="640080" y="3813048"/>
            <a:ext cx="54864" cy="2606040"/>
          </a:xfrm>
          <a:prstGeom prst="rect">
            <a:avLst/>
          </a:prstGeom>
          <a:solidFill>
            <a:srgbClr val="1D6FE0"/>
          </a:solidFill>
          <a:ln/>
        </p:spPr>
      </p:sp>
      <p:sp>
        <p:nvSpPr>
          <p:cNvPr id="12" name="Text 10"/>
          <p:cNvSpPr/>
          <p:nvPr/>
        </p:nvSpPr>
        <p:spPr>
          <a:xfrm>
            <a:off x="914400" y="3941064"/>
            <a:ext cx="10332720" cy="365760"/>
          </a:xfrm>
          <a:prstGeom prst="rect">
            <a:avLst/>
          </a:prstGeom>
          <a:noFill/>
          <a:ln/>
        </p:spPr>
        <p:txBody>
          <a:bodyPr wrap="square" rtlCol="0" anchor="ctr"/>
          <a:lstStyle/>
          <a:p>
            <a:pPr indent="0" marL="0">
              <a:buNone/>
            </a:pPr>
            <a:r>
              <a:rPr lang="en-US" sz="1500" b="1" dirty="0">
                <a:solidFill>
                  <a:srgbClr val="1B1F3B"/>
                </a:solidFill>
                <a:latin typeface="Georgia" pitchFamily="34" charset="0"/>
                <a:ea typeface="Georgia" pitchFamily="34" charset="-122"/>
                <a:cs typeface="Georgia" pitchFamily="34" charset="-120"/>
              </a:rPr>
              <a:t>Profil client</a:t>
            </a:r>
            <a:endParaRPr lang="en-US" sz="1500" dirty="0"/>
          </a:p>
        </p:txBody>
      </p:sp>
      <p:sp>
        <p:nvSpPr>
          <p:cNvPr id="13" name="Text 11"/>
          <p:cNvSpPr/>
          <p:nvPr/>
        </p:nvSpPr>
        <p:spPr>
          <a:xfrm>
            <a:off x="914400" y="4343400"/>
            <a:ext cx="10332720" cy="1051560"/>
          </a:xfrm>
          <a:prstGeom prst="rect">
            <a:avLst/>
          </a:prstGeom>
          <a:noFill/>
          <a:ln/>
        </p:spPr>
        <p:txBody>
          <a:bodyPr wrap="square" rtlCol="0" anchor="ctr"/>
          <a:lstStyle/>
          <a:p>
            <a:pPr indent="0" marL="0">
              <a:lnSpc>
                <a:spcPts val="1600"/>
              </a:lnSpc>
              <a:buNone/>
            </a:pPr>
            <a:r>
              <a:rPr lang="en-US" sz="1150" dirty="0">
                <a:solidFill>
                  <a:srgbClr val="1B1F3B"/>
                </a:solidFill>
                <a:latin typeface="Segoe UI" pitchFamily="34" charset="0"/>
                <a:ea typeface="Segoe UI" pitchFamily="34" charset="-122"/>
                <a:cs typeface="Segoe UI" pitchFamily="34" charset="-120"/>
              </a:rPr>
              <a:t>Modification des informations personnelles (nom, téléphone, adresse).</a:t>
            </a:r>
            <a:endParaRPr lang="en-US" sz="1150" dirty="0"/>
          </a:p>
        </p:txBody>
      </p:sp>
      <p:sp>
        <p:nvSpPr>
          <p:cNvPr id="14" name="Text 12"/>
          <p:cNvSpPr/>
          <p:nvPr/>
        </p:nvSpPr>
        <p:spPr>
          <a:xfrm>
            <a:off x="914400" y="5550408"/>
            <a:ext cx="10332720" cy="228600"/>
          </a:xfrm>
          <a:prstGeom prst="rect">
            <a:avLst/>
          </a:prstGeom>
          <a:noFill/>
          <a:ln/>
        </p:spPr>
        <p:txBody>
          <a:bodyPr wrap="square" rtlCol="0" anchor="ctr"/>
          <a:lstStyle/>
          <a:p>
            <a:pPr indent="0" marL="0">
              <a:buNone/>
            </a:pPr>
            <a:r>
              <a:rPr lang="en-US" sz="800" b="1" spc="100" kern="0" dirty="0">
                <a:solidFill>
                  <a:srgbClr val="9A7C5C"/>
                </a:solidFill>
                <a:latin typeface="Segoe UI" pitchFamily="34" charset="0"/>
                <a:ea typeface="Segoe UI" pitchFamily="34" charset="-122"/>
                <a:cs typeface="Segoe UI" pitchFamily="34" charset="-120"/>
              </a:rPr>
              <a:t>RÉALISATION TECHNIQUE</a:t>
            </a:r>
            <a:endParaRPr lang="en-US" sz="800" dirty="0"/>
          </a:p>
        </p:txBody>
      </p:sp>
      <p:sp>
        <p:nvSpPr>
          <p:cNvPr id="15" name="Text 13"/>
          <p:cNvSpPr/>
          <p:nvPr/>
        </p:nvSpPr>
        <p:spPr>
          <a:xfrm>
            <a:off x="914400" y="5797296"/>
            <a:ext cx="10332720" cy="548640"/>
          </a:xfrm>
          <a:prstGeom prst="rect">
            <a:avLst/>
          </a:prstGeom>
          <a:noFill/>
          <a:ln/>
        </p:spPr>
        <p:txBody>
          <a:bodyPr wrap="square" rtlCol="0" anchor="ctr"/>
          <a:lstStyle/>
          <a:p>
            <a:pPr indent="0" marL="0">
              <a:lnSpc>
                <a:spcPts val="1400"/>
              </a:lnSpc>
              <a:buNone/>
            </a:pPr>
            <a:r>
              <a:rPr lang="en-US" sz="1000" i="1" dirty="0">
                <a:solidFill>
                  <a:srgbClr val="8A7C68"/>
                </a:solidFill>
                <a:latin typeface="Segoe UI" pitchFamily="34" charset="0"/>
                <a:ea typeface="Segoe UI" pitchFamily="34" charset="-122"/>
                <a:cs typeface="Segoe UI" pitchFamily="34" charset="-120"/>
              </a:rPr>
              <a:t>Page /client/profil, API /api/client/profile.</a:t>
            </a:r>
            <a:endParaRPr lang="en-US" sz="1000" dirty="0"/>
          </a:p>
        </p:txBody>
      </p:sp>
      <p:sp>
        <p:nvSpPr>
          <p:cNvPr id="16" name="Text 14"/>
          <p:cNvSpPr/>
          <p:nvPr/>
        </p:nvSpPr>
        <p:spPr>
          <a:xfrm>
            <a:off x="365760" y="6510528"/>
            <a:ext cx="5486400" cy="274320"/>
          </a:xfrm>
          <a:prstGeom prst="rect">
            <a:avLst/>
          </a:prstGeom>
          <a:noFill/>
          <a:ln/>
        </p:spPr>
        <p:txBody>
          <a:bodyPr wrap="square" rtlCol="0" anchor="ctr"/>
          <a:lstStyle/>
          <a:p>
            <a:pPr indent="0" marL="0">
              <a:buNone/>
            </a:pPr>
            <a:r>
              <a:rPr lang="en-US" sz="850" dirty="0">
                <a:solidFill>
                  <a:srgbClr val="8A7C68"/>
                </a:solidFill>
                <a:latin typeface="Segoe UI" pitchFamily="34" charset="0"/>
                <a:ea typeface="Segoe UI" pitchFamily="34" charset="-122"/>
                <a:cs typeface="Segoe UI" pitchFamily="34" charset="-120"/>
              </a:rPr>
              <a:t>Kôji Web — Cahier des charges</a:t>
            </a:r>
            <a:endParaRPr lang="en-US" sz="850" dirty="0"/>
          </a:p>
        </p:txBody>
      </p:sp>
      <p:sp>
        <p:nvSpPr>
          <p:cNvPr id="17" name="Text 15"/>
          <p:cNvSpPr/>
          <p:nvPr/>
        </p:nvSpPr>
        <p:spPr>
          <a:xfrm>
            <a:off x="9601200" y="6510528"/>
            <a:ext cx="2194560" cy="274320"/>
          </a:xfrm>
          <a:prstGeom prst="rect">
            <a:avLst/>
          </a:prstGeom>
          <a:noFill/>
          <a:ln/>
        </p:spPr>
        <p:txBody>
          <a:bodyPr wrap="square" rtlCol="0" anchor="ctr"/>
          <a:lstStyle/>
          <a:p>
            <a:pPr algn="r" indent="0" marL="0">
              <a:buNone/>
            </a:pPr>
            <a:r>
              <a:rPr lang="en-US" sz="850" dirty="0">
                <a:solidFill>
                  <a:srgbClr val="8A7C68"/>
                </a:solidFill>
                <a:latin typeface="Segoe UI" pitchFamily="34" charset="0"/>
                <a:ea typeface="Segoe UI" pitchFamily="34" charset="-122"/>
                <a:cs typeface="Segoe UI" pitchFamily="34" charset="-120"/>
              </a:rPr>
              <a:t>67</a:t>
            </a:r>
            <a:endParaRPr lang="en-US" sz="850" dirty="0"/>
          </a:p>
        </p:txBody>
      </p:sp>
    </p:spTree>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name="Slide 69">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3108960" cy="365760"/>
          </a:xfrm>
          <a:prstGeom prst="roundRect">
            <a:avLst>
              <a:gd name="adj" fmla="val 50000"/>
            </a:avLst>
          </a:prstGeom>
          <a:solidFill>
            <a:srgbClr val="F7EADF"/>
          </a:solidFill>
          <a:ln/>
        </p:spPr>
      </p:sp>
      <p:sp>
        <p:nvSpPr>
          <p:cNvPr id="3" name="Text 1"/>
          <p:cNvSpPr/>
          <p:nvPr/>
        </p:nvSpPr>
        <p:spPr>
          <a:xfrm>
            <a:off x="640080" y="411480"/>
            <a:ext cx="3108960" cy="365760"/>
          </a:xfrm>
          <a:prstGeom prst="rect">
            <a:avLst/>
          </a:prstGeom>
          <a:noFill/>
          <a:ln/>
        </p:spPr>
        <p:txBody>
          <a:bodyPr wrap="square" rtlCol="0" anchor="ctr"/>
          <a:lstStyle/>
          <a:p>
            <a:pPr algn="ctr" indent="0" marL="0">
              <a:buNone/>
            </a:pPr>
            <a:r>
              <a:rPr lang="en-US" sz="950" b="1" spc="100" kern="0" dirty="0">
                <a:solidFill>
                  <a:srgbClr val="9A7C5C"/>
                </a:solidFill>
                <a:latin typeface="Segoe UI" pitchFamily="34" charset="0"/>
                <a:ea typeface="Segoe UI" pitchFamily="34" charset="-122"/>
                <a:cs typeface="Segoe UI" pitchFamily="34" charset="-120"/>
              </a:rPr>
              <a:t>ESPACE CLIENT PARTICULIER</a:t>
            </a:r>
            <a:endParaRPr lang="en-US" sz="950" dirty="0"/>
          </a:p>
        </p:txBody>
      </p:sp>
      <p:sp>
        <p:nvSpPr>
          <p:cNvPr id="4" name="Shape 2"/>
          <p:cNvSpPr/>
          <p:nvPr/>
        </p:nvSpPr>
        <p:spPr>
          <a:xfrm>
            <a:off x="640080" y="1005840"/>
            <a:ext cx="10881360" cy="1737360"/>
          </a:xfrm>
          <a:prstGeom prst="roundRect">
            <a:avLst>
              <a:gd name="adj" fmla="val 3158"/>
            </a:avLst>
          </a:prstGeom>
          <a:solidFill>
            <a:srgbClr val="FFFFFF"/>
          </a:solidFill>
          <a:ln w="12700">
            <a:solidFill>
              <a:srgbClr val="E4DCCB"/>
            </a:solidFill>
            <a:prstDash val="solid"/>
          </a:ln>
        </p:spPr>
      </p:sp>
      <p:sp>
        <p:nvSpPr>
          <p:cNvPr id="5" name="Shape 3"/>
          <p:cNvSpPr/>
          <p:nvPr/>
        </p:nvSpPr>
        <p:spPr>
          <a:xfrm>
            <a:off x="640080" y="1005840"/>
            <a:ext cx="54864" cy="1737360"/>
          </a:xfrm>
          <a:prstGeom prst="rect">
            <a:avLst/>
          </a:prstGeom>
          <a:solidFill>
            <a:srgbClr val="1D6FE0"/>
          </a:solidFill>
          <a:ln/>
        </p:spPr>
      </p:sp>
      <p:sp>
        <p:nvSpPr>
          <p:cNvPr id="6" name="Text 4"/>
          <p:cNvSpPr/>
          <p:nvPr/>
        </p:nvSpPr>
        <p:spPr>
          <a:xfrm>
            <a:off x="914400" y="1133856"/>
            <a:ext cx="10332720" cy="365760"/>
          </a:xfrm>
          <a:prstGeom prst="rect">
            <a:avLst/>
          </a:prstGeom>
          <a:noFill/>
          <a:ln/>
        </p:spPr>
        <p:txBody>
          <a:bodyPr wrap="square" rtlCol="0" anchor="ctr"/>
          <a:lstStyle/>
          <a:p>
            <a:pPr indent="0" marL="0">
              <a:buNone/>
            </a:pPr>
            <a:r>
              <a:rPr lang="en-US" sz="1500" b="1" dirty="0">
                <a:solidFill>
                  <a:srgbClr val="1B1F3B"/>
                </a:solidFill>
                <a:latin typeface="Georgia" pitchFamily="34" charset="0"/>
                <a:ea typeface="Georgia" pitchFamily="34" charset="-122"/>
                <a:cs typeface="Georgia" pitchFamily="34" charset="-120"/>
              </a:rPr>
              <a:t>Notifications client</a:t>
            </a:r>
            <a:endParaRPr lang="en-US" sz="1500" dirty="0"/>
          </a:p>
        </p:txBody>
      </p:sp>
      <p:sp>
        <p:nvSpPr>
          <p:cNvPr id="7" name="Text 5"/>
          <p:cNvSpPr/>
          <p:nvPr/>
        </p:nvSpPr>
        <p:spPr>
          <a:xfrm>
            <a:off x="914400" y="1536192"/>
            <a:ext cx="10332720" cy="1005840"/>
          </a:xfrm>
          <a:prstGeom prst="rect">
            <a:avLst/>
          </a:prstGeom>
          <a:noFill/>
          <a:ln/>
        </p:spPr>
        <p:txBody>
          <a:bodyPr wrap="square" rtlCol="0" anchor="ctr"/>
          <a:lstStyle/>
          <a:p>
            <a:pPr indent="0" marL="0">
              <a:lnSpc>
                <a:spcPts val="1600"/>
              </a:lnSpc>
              <a:buNone/>
            </a:pPr>
            <a:r>
              <a:rPr lang="en-US" sz="1150" dirty="0">
                <a:solidFill>
                  <a:srgbClr val="1B1F3B"/>
                </a:solidFill>
                <a:latin typeface="Segoe UI" pitchFamily="34" charset="0"/>
                <a:ea typeface="Segoe UI" pitchFamily="34" charset="-122"/>
                <a:cs typeface="Segoe UI" pitchFamily="34" charset="-120"/>
              </a:rPr>
              <a:t>Fil de notifications filtré sur les événements qui concernent le client (réponse de l'entreprise, démarrage/validation d'un ouvrage).</a:t>
            </a:r>
            <a:endParaRPr lang="en-US" sz="1150" dirty="0"/>
          </a:p>
        </p:txBody>
      </p:sp>
      <p:sp>
        <p:nvSpPr>
          <p:cNvPr id="8" name="Shape 6"/>
          <p:cNvSpPr/>
          <p:nvPr/>
        </p:nvSpPr>
        <p:spPr>
          <a:xfrm>
            <a:off x="640080" y="2944368"/>
            <a:ext cx="10881360" cy="2606040"/>
          </a:xfrm>
          <a:prstGeom prst="roundRect">
            <a:avLst>
              <a:gd name="adj" fmla="val 2105"/>
            </a:avLst>
          </a:prstGeom>
          <a:solidFill>
            <a:srgbClr val="FFFFFF"/>
          </a:solidFill>
          <a:ln w="12700">
            <a:solidFill>
              <a:srgbClr val="E4DCCB"/>
            </a:solidFill>
            <a:prstDash val="solid"/>
          </a:ln>
        </p:spPr>
      </p:sp>
      <p:sp>
        <p:nvSpPr>
          <p:cNvPr id="9" name="Shape 7"/>
          <p:cNvSpPr/>
          <p:nvPr/>
        </p:nvSpPr>
        <p:spPr>
          <a:xfrm>
            <a:off x="640080" y="2944368"/>
            <a:ext cx="54864" cy="2606040"/>
          </a:xfrm>
          <a:prstGeom prst="rect">
            <a:avLst/>
          </a:prstGeom>
          <a:solidFill>
            <a:srgbClr val="1D6FE0"/>
          </a:solidFill>
          <a:ln/>
        </p:spPr>
      </p:sp>
      <p:sp>
        <p:nvSpPr>
          <p:cNvPr id="10" name="Text 8"/>
          <p:cNvSpPr/>
          <p:nvPr/>
        </p:nvSpPr>
        <p:spPr>
          <a:xfrm>
            <a:off x="914400" y="3072384"/>
            <a:ext cx="10332720" cy="365760"/>
          </a:xfrm>
          <a:prstGeom prst="rect">
            <a:avLst/>
          </a:prstGeom>
          <a:noFill/>
          <a:ln/>
        </p:spPr>
        <p:txBody>
          <a:bodyPr wrap="square" rtlCol="0" anchor="ctr"/>
          <a:lstStyle/>
          <a:p>
            <a:pPr indent="0" marL="0">
              <a:buNone/>
            </a:pPr>
            <a:r>
              <a:rPr lang="en-US" sz="1500" b="1" dirty="0">
                <a:solidFill>
                  <a:srgbClr val="1B1F3B"/>
                </a:solidFill>
                <a:latin typeface="Georgia" pitchFamily="34" charset="0"/>
                <a:ea typeface="Georgia" pitchFamily="34" charset="-122"/>
                <a:cs typeface="Georgia" pitchFamily="34" charset="-120"/>
              </a:rPr>
              <a:t>Suivi de chantier</a:t>
            </a:r>
            <a:endParaRPr lang="en-US" sz="1500" dirty="0"/>
          </a:p>
        </p:txBody>
      </p:sp>
      <p:sp>
        <p:nvSpPr>
          <p:cNvPr id="11" name="Text 9"/>
          <p:cNvSpPr/>
          <p:nvPr/>
        </p:nvSpPr>
        <p:spPr>
          <a:xfrm>
            <a:off x="914400" y="3474720"/>
            <a:ext cx="10332720" cy="1051560"/>
          </a:xfrm>
          <a:prstGeom prst="rect">
            <a:avLst/>
          </a:prstGeom>
          <a:noFill/>
          <a:ln/>
        </p:spPr>
        <p:txBody>
          <a:bodyPr wrap="square" rtlCol="0" anchor="ctr"/>
          <a:lstStyle/>
          <a:p>
            <a:pPr indent="0" marL="0">
              <a:lnSpc>
                <a:spcPts val="1600"/>
              </a:lnSpc>
              <a:buNone/>
            </a:pPr>
            <a:r>
              <a:rPr lang="en-US" sz="1150" dirty="0">
                <a:solidFill>
                  <a:srgbClr val="1B1F3B"/>
                </a:solidFill>
                <a:latin typeface="Segoe UI" pitchFamily="34" charset="0"/>
                <a:ea typeface="Segoe UI" pitchFamily="34" charset="-122"/>
                <a:cs typeface="Segoe UI" pitchFamily="34" charset="-120"/>
              </a:rPr>
              <a:t>Détail du chantier avec, pour chaque ouvrage, une barre d'étapes (démarré / en cours / validé / terminé) et un bouton pour valider un ouvrage terminé.</a:t>
            </a:r>
            <a:endParaRPr lang="en-US" sz="1150" dirty="0"/>
          </a:p>
        </p:txBody>
      </p:sp>
      <p:sp>
        <p:nvSpPr>
          <p:cNvPr id="12" name="Text 10"/>
          <p:cNvSpPr/>
          <p:nvPr/>
        </p:nvSpPr>
        <p:spPr>
          <a:xfrm>
            <a:off x="914400" y="4681728"/>
            <a:ext cx="10332720" cy="228600"/>
          </a:xfrm>
          <a:prstGeom prst="rect">
            <a:avLst/>
          </a:prstGeom>
          <a:noFill/>
          <a:ln/>
        </p:spPr>
        <p:txBody>
          <a:bodyPr wrap="square" rtlCol="0" anchor="ctr"/>
          <a:lstStyle/>
          <a:p>
            <a:pPr indent="0" marL="0">
              <a:buNone/>
            </a:pPr>
            <a:r>
              <a:rPr lang="en-US" sz="800" b="1" spc="100" kern="0" dirty="0">
                <a:solidFill>
                  <a:srgbClr val="9A7C5C"/>
                </a:solidFill>
                <a:latin typeface="Segoe UI" pitchFamily="34" charset="0"/>
                <a:ea typeface="Segoe UI" pitchFamily="34" charset="-122"/>
                <a:cs typeface="Segoe UI" pitchFamily="34" charset="-120"/>
              </a:rPr>
              <a:t>RÉALISATION TECHNIQUE</a:t>
            </a:r>
            <a:endParaRPr lang="en-US" sz="800" dirty="0"/>
          </a:p>
        </p:txBody>
      </p:sp>
      <p:sp>
        <p:nvSpPr>
          <p:cNvPr id="13" name="Text 11"/>
          <p:cNvSpPr/>
          <p:nvPr/>
        </p:nvSpPr>
        <p:spPr>
          <a:xfrm>
            <a:off x="914400" y="4928616"/>
            <a:ext cx="10332720" cy="548640"/>
          </a:xfrm>
          <a:prstGeom prst="rect">
            <a:avLst/>
          </a:prstGeom>
          <a:noFill/>
          <a:ln/>
        </p:spPr>
        <p:txBody>
          <a:bodyPr wrap="square" rtlCol="0" anchor="ctr"/>
          <a:lstStyle/>
          <a:p>
            <a:pPr indent="0" marL="0">
              <a:lnSpc>
                <a:spcPts val="1400"/>
              </a:lnSpc>
              <a:buNone/>
            </a:pPr>
            <a:r>
              <a:rPr lang="en-US" sz="1000" i="1" dirty="0">
                <a:solidFill>
                  <a:srgbClr val="8A7C68"/>
                </a:solidFill>
                <a:latin typeface="Segoe UI" pitchFamily="34" charset="0"/>
                <a:ea typeface="Segoe UI" pitchFamily="34" charset="-122"/>
                <a:cs typeface="Segoe UI" pitchFamily="34" charset="-120"/>
              </a:rPr>
              <a:t>Page /client/chantier/[id].</a:t>
            </a:r>
            <a:endParaRPr lang="en-US" sz="1000" dirty="0"/>
          </a:p>
        </p:txBody>
      </p:sp>
      <p:sp>
        <p:nvSpPr>
          <p:cNvPr id="14" name="Text 12"/>
          <p:cNvSpPr/>
          <p:nvPr/>
        </p:nvSpPr>
        <p:spPr>
          <a:xfrm>
            <a:off x="365760" y="6510528"/>
            <a:ext cx="5486400" cy="274320"/>
          </a:xfrm>
          <a:prstGeom prst="rect">
            <a:avLst/>
          </a:prstGeom>
          <a:noFill/>
          <a:ln/>
        </p:spPr>
        <p:txBody>
          <a:bodyPr wrap="square" rtlCol="0" anchor="ctr"/>
          <a:lstStyle/>
          <a:p>
            <a:pPr indent="0" marL="0">
              <a:buNone/>
            </a:pPr>
            <a:r>
              <a:rPr lang="en-US" sz="850" dirty="0">
                <a:solidFill>
                  <a:srgbClr val="8A7C68"/>
                </a:solidFill>
                <a:latin typeface="Segoe UI" pitchFamily="34" charset="0"/>
                <a:ea typeface="Segoe UI" pitchFamily="34" charset="-122"/>
                <a:cs typeface="Segoe UI" pitchFamily="34" charset="-120"/>
              </a:rPr>
              <a:t>Kôji Web — Cahier des charges</a:t>
            </a:r>
            <a:endParaRPr lang="en-US" sz="850" dirty="0"/>
          </a:p>
        </p:txBody>
      </p:sp>
      <p:sp>
        <p:nvSpPr>
          <p:cNvPr id="15" name="Text 13"/>
          <p:cNvSpPr/>
          <p:nvPr/>
        </p:nvSpPr>
        <p:spPr>
          <a:xfrm>
            <a:off x="9601200" y="6510528"/>
            <a:ext cx="2194560" cy="274320"/>
          </a:xfrm>
          <a:prstGeom prst="rect">
            <a:avLst/>
          </a:prstGeom>
          <a:noFill/>
          <a:ln/>
        </p:spPr>
        <p:txBody>
          <a:bodyPr wrap="square" rtlCol="0" anchor="ctr"/>
          <a:lstStyle/>
          <a:p>
            <a:pPr algn="r" indent="0" marL="0">
              <a:buNone/>
            </a:pPr>
            <a:r>
              <a:rPr lang="en-US" sz="850" dirty="0">
                <a:solidFill>
                  <a:srgbClr val="8A7C68"/>
                </a:solidFill>
                <a:latin typeface="Segoe UI" pitchFamily="34" charset="0"/>
                <a:ea typeface="Segoe UI" pitchFamily="34" charset="-122"/>
                <a:cs typeface="Segoe UI" pitchFamily="34" charset="-120"/>
              </a:rPr>
              <a:t>68</a:t>
            </a:r>
            <a:endParaRPr lang="en-US" sz="850" dirty="0"/>
          </a:p>
        </p:txBody>
      </p:sp>
    </p:spTree>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name="Slide 70">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3108960" cy="365760"/>
          </a:xfrm>
          <a:prstGeom prst="roundRect">
            <a:avLst>
              <a:gd name="adj" fmla="val 50000"/>
            </a:avLst>
          </a:prstGeom>
          <a:solidFill>
            <a:srgbClr val="F7EADF"/>
          </a:solidFill>
          <a:ln/>
        </p:spPr>
      </p:sp>
      <p:sp>
        <p:nvSpPr>
          <p:cNvPr id="3" name="Text 1"/>
          <p:cNvSpPr/>
          <p:nvPr/>
        </p:nvSpPr>
        <p:spPr>
          <a:xfrm>
            <a:off x="640080" y="411480"/>
            <a:ext cx="3108960" cy="365760"/>
          </a:xfrm>
          <a:prstGeom prst="rect">
            <a:avLst/>
          </a:prstGeom>
          <a:noFill/>
          <a:ln/>
        </p:spPr>
        <p:txBody>
          <a:bodyPr wrap="square" rtlCol="0" anchor="ctr"/>
          <a:lstStyle/>
          <a:p>
            <a:pPr algn="ctr" indent="0" marL="0">
              <a:buNone/>
            </a:pPr>
            <a:r>
              <a:rPr lang="en-US" sz="950" b="1" spc="100" kern="0" dirty="0">
                <a:solidFill>
                  <a:srgbClr val="9A7C5C"/>
                </a:solidFill>
                <a:latin typeface="Segoe UI" pitchFamily="34" charset="0"/>
                <a:ea typeface="Segoe UI" pitchFamily="34" charset="-122"/>
                <a:cs typeface="Segoe UI" pitchFamily="34" charset="-120"/>
              </a:rPr>
              <a:t>ESPACE CLIENT PARTICULIER</a:t>
            </a:r>
            <a:endParaRPr lang="en-US" sz="950" dirty="0"/>
          </a:p>
        </p:txBody>
      </p:sp>
      <p:sp>
        <p:nvSpPr>
          <p:cNvPr id="4" name="Shape 2"/>
          <p:cNvSpPr/>
          <p:nvPr/>
        </p:nvSpPr>
        <p:spPr>
          <a:xfrm>
            <a:off x="640080" y="1005840"/>
            <a:ext cx="10881360" cy="1737360"/>
          </a:xfrm>
          <a:prstGeom prst="roundRect">
            <a:avLst>
              <a:gd name="adj" fmla="val 3158"/>
            </a:avLst>
          </a:prstGeom>
          <a:solidFill>
            <a:srgbClr val="FFFFFF"/>
          </a:solidFill>
          <a:ln w="12700">
            <a:solidFill>
              <a:srgbClr val="E4DCCB"/>
            </a:solidFill>
            <a:prstDash val="solid"/>
          </a:ln>
        </p:spPr>
      </p:sp>
      <p:sp>
        <p:nvSpPr>
          <p:cNvPr id="5" name="Shape 3"/>
          <p:cNvSpPr/>
          <p:nvPr/>
        </p:nvSpPr>
        <p:spPr>
          <a:xfrm>
            <a:off x="640080" y="1005840"/>
            <a:ext cx="54864" cy="1737360"/>
          </a:xfrm>
          <a:prstGeom prst="rect">
            <a:avLst/>
          </a:prstGeom>
          <a:solidFill>
            <a:srgbClr val="1D6FE0"/>
          </a:solidFill>
          <a:ln/>
        </p:spPr>
      </p:sp>
      <p:sp>
        <p:nvSpPr>
          <p:cNvPr id="6" name="Text 4"/>
          <p:cNvSpPr/>
          <p:nvPr/>
        </p:nvSpPr>
        <p:spPr>
          <a:xfrm>
            <a:off x="914400" y="1133856"/>
            <a:ext cx="10332720" cy="365760"/>
          </a:xfrm>
          <a:prstGeom prst="rect">
            <a:avLst/>
          </a:prstGeom>
          <a:noFill/>
          <a:ln/>
        </p:spPr>
        <p:txBody>
          <a:bodyPr wrap="square" rtlCol="0" anchor="ctr"/>
          <a:lstStyle/>
          <a:p>
            <a:pPr indent="0" marL="0">
              <a:buNone/>
            </a:pPr>
            <a:r>
              <a:rPr lang="en-US" sz="1500" b="1" dirty="0">
                <a:solidFill>
                  <a:srgbClr val="1B1F3B"/>
                </a:solidFill>
                <a:latin typeface="Georgia" pitchFamily="34" charset="0"/>
                <a:ea typeface="Georgia" pitchFamily="34" charset="-122"/>
                <a:cs typeface="Georgia" pitchFamily="34" charset="-120"/>
              </a:rPr>
              <a:t>Notes et documents</a:t>
            </a:r>
            <a:endParaRPr lang="en-US" sz="1500" dirty="0"/>
          </a:p>
        </p:txBody>
      </p:sp>
      <p:sp>
        <p:nvSpPr>
          <p:cNvPr id="7" name="Text 5"/>
          <p:cNvSpPr/>
          <p:nvPr/>
        </p:nvSpPr>
        <p:spPr>
          <a:xfrm>
            <a:off x="914400" y="1536192"/>
            <a:ext cx="10332720" cy="1005840"/>
          </a:xfrm>
          <a:prstGeom prst="rect">
            <a:avLst/>
          </a:prstGeom>
          <a:noFill/>
          <a:ln/>
        </p:spPr>
        <p:txBody>
          <a:bodyPr wrap="square" rtlCol="0" anchor="ctr"/>
          <a:lstStyle/>
          <a:p>
            <a:pPr indent="0" marL="0">
              <a:lnSpc>
                <a:spcPts val="1600"/>
              </a:lnSpc>
              <a:buNone/>
            </a:pPr>
            <a:r>
              <a:rPr lang="en-US" sz="1150" dirty="0">
                <a:solidFill>
                  <a:srgbClr val="1B1F3B"/>
                </a:solidFill>
                <a:latin typeface="Segoe UI" pitchFamily="34" charset="0"/>
                <a:ea typeface="Segoe UI" pitchFamily="34" charset="-122"/>
                <a:cs typeface="Segoe UI" pitchFamily="34" charset="-120"/>
              </a:rPr>
              <a:t>Le client peut laisser une note ou un document (photo) sur un ouvrage, et voir les réponses de l'entreprise.</a:t>
            </a:r>
            <a:endParaRPr lang="en-US" sz="1150" dirty="0"/>
          </a:p>
        </p:txBody>
      </p:sp>
      <p:sp>
        <p:nvSpPr>
          <p:cNvPr id="8" name="Shape 6"/>
          <p:cNvSpPr/>
          <p:nvPr/>
        </p:nvSpPr>
        <p:spPr>
          <a:xfrm>
            <a:off x="640080" y="2944368"/>
            <a:ext cx="10881360" cy="1737360"/>
          </a:xfrm>
          <a:prstGeom prst="roundRect">
            <a:avLst>
              <a:gd name="adj" fmla="val 3158"/>
            </a:avLst>
          </a:prstGeom>
          <a:solidFill>
            <a:srgbClr val="FFFFFF"/>
          </a:solidFill>
          <a:ln w="12700">
            <a:solidFill>
              <a:srgbClr val="E4DCCB"/>
            </a:solidFill>
            <a:prstDash val="solid"/>
          </a:ln>
        </p:spPr>
      </p:sp>
      <p:sp>
        <p:nvSpPr>
          <p:cNvPr id="9" name="Shape 7"/>
          <p:cNvSpPr/>
          <p:nvPr/>
        </p:nvSpPr>
        <p:spPr>
          <a:xfrm>
            <a:off x="640080" y="2944368"/>
            <a:ext cx="54864" cy="1737360"/>
          </a:xfrm>
          <a:prstGeom prst="rect">
            <a:avLst/>
          </a:prstGeom>
          <a:solidFill>
            <a:srgbClr val="1D6FE0"/>
          </a:solidFill>
          <a:ln/>
        </p:spPr>
      </p:sp>
      <p:sp>
        <p:nvSpPr>
          <p:cNvPr id="10" name="Text 8"/>
          <p:cNvSpPr/>
          <p:nvPr/>
        </p:nvSpPr>
        <p:spPr>
          <a:xfrm>
            <a:off x="914400" y="3072384"/>
            <a:ext cx="10332720" cy="365760"/>
          </a:xfrm>
          <a:prstGeom prst="rect">
            <a:avLst/>
          </a:prstGeom>
          <a:noFill/>
          <a:ln/>
        </p:spPr>
        <p:txBody>
          <a:bodyPr wrap="square" rtlCol="0" anchor="ctr"/>
          <a:lstStyle/>
          <a:p>
            <a:pPr indent="0" marL="0">
              <a:buNone/>
            </a:pPr>
            <a:r>
              <a:rPr lang="en-US" sz="1500" b="1" dirty="0">
                <a:solidFill>
                  <a:srgbClr val="1B1F3B"/>
                </a:solidFill>
                <a:latin typeface="Georgia" pitchFamily="34" charset="0"/>
                <a:ea typeface="Georgia" pitchFamily="34" charset="-122"/>
                <a:cs typeface="Georgia" pitchFamily="34" charset="-120"/>
              </a:rPr>
              <a:t>Alerte urgente</a:t>
            </a:r>
            <a:endParaRPr lang="en-US" sz="1500" dirty="0"/>
          </a:p>
        </p:txBody>
      </p:sp>
      <p:sp>
        <p:nvSpPr>
          <p:cNvPr id="11" name="Text 9"/>
          <p:cNvSpPr/>
          <p:nvPr/>
        </p:nvSpPr>
        <p:spPr>
          <a:xfrm>
            <a:off x="914400" y="3474720"/>
            <a:ext cx="10332720" cy="1005840"/>
          </a:xfrm>
          <a:prstGeom prst="rect">
            <a:avLst/>
          </a:prstGeom>
          <a:noFill/>
          <a:ln/>
        </p:spPr>
        <p:txBody>
          <a:bodyPr wrap="square" rtlCol="0" anchor="ctr"/>
          <a:lstStyle/>
          <a:p>
            <a:pPr indent="0" marL="0">
              <a:lnSpc>
                <a:spcPts val="1600"/>
              </a:lnSpc>
              <a:buNone/>
            </a:pPr>
            <a:r>
              <a:rPr lang="en-US" sz="1150" dirty="0">
                <a:solidFill>
                  <a:srgbClr val="1B1F3B"/>
                </a:solidFill>
                <a:latin typeface="Segoe UI" pitchFamily="34" charset="0"/>
                <a:ea typeface="Segoe UI" pitchFamily="34" charset="-122"/>
                <a:cs typeface="Segoe UI" pitchFamily="34" charset="-120"/>
              </a:rPr>
              <a:t>Signalement d'un problème urgent (dégât, fuite, incendie...) directement depuis un ouvrage ou pour le chantier en général.</a:t>
            </a:r>
            <a:endParaRPr lang="en-US" sz="1150" dirty="0"/>
          </a:p>
        </p:txBody>
      </p:sp>
      <p:sp>
        <p:nvSpPr>
          <p:cNvPr id="12" name="Text 10"/>
          <p:cNvSpPr/>
          <p:nvPr/>
        </p:nvSpPr>
        <p:spPr>
          <a:xfrm>
            <a:off x="365760" y="6510528"/>
            <a:ext cx="5486400" cy="274320"/>
          </a:xfrm>
          <a:prstGeom prst="rect">
            <a:avLst/>
          </a:prstGeom>
          <a:noFill/>
          <a:ln/>
        </p:spPr>
        <p:txBody>
          <a:bodyPr wrap="square" rtlCol="0" anchor="ctr"/>
          <a:lstStyle/>
          <a:p>
            <a:pPr indent="0" marL="0">
              <a:buNone/>
            </a:pPr>
            <a:r>
              <a:rPr lang="en-US" sz="850" dirty="0">
                <a:solidFill>
                  <a:srgbClr val="8A7C68"/>
                </a:solidFill>
                <a:latin typeface="Segoe UI" pitchFamily="34" charset="0"/>
                <a:ea typeface="Segoe UI" pitchFamily="34" charset="-122"/>
                <a:cs typeface="Segoe UI" pitchFamily="34" charset="-120"/>
              </a:rPr>
              <a:t>Kôji Web — Cahier des charges</a:t>
            </a:r>
            <a:endParaRPr lang="en-US" sz="850" dirty="0"/>
          </a:p>
        </p:txBody>
      </p:sp>
      <p:sp>
        <p:nvSpPr>
          <p:cNvPr id="13" name="Text 11"/>
          <p:cNvSpPr/>
          <p:nvPr/>
        </p:nvSpPr>
        <p:spPr>
          <a:xfrm>
            <a:off x="9601200" y="6510528"/>
            <a:ext cx="2194560" cy="274320"/>
          </a:xfrm>
          <a:prstGeom prst="rect">
            <a:avLst/>
          </a:prstGeom>
          <a:noFill/>
          <a:ln/>
        </p:spPr>
        <p:txBody>
          <a:bodyPr wrap="square" rtlCol="0" anchor="ctr"/>
          <a:lstStyle/>
          <a:p>
            <a:pPr algn="r" indent="0" marL="0">
              <a:buNone/>
            </a:pPr>
            <a:r>
              <a:rPr lang="en-US" sz="850" dirty="0">
                <a:solidFill>
                  <a:srgbClr val="8A7C68"/>
                </a:solidFill>
                <a:latin typeface="Segoe UI" pitchFamily="34" charset="0"/>
                <a:ea typeface="Segoe UI" pitchFamily="34" charset="-122"/>
                <a:cs typeface="Segoe UI" pitchFamily="34" charset="-120"/>
              </a:rPr>
              <a:t>69</a:t>
            </a:r>
            <a:endParaRPr lang="en-US" sz="850" dirty="0"/>
          </a:p>
        </p:txBody>
      </p:sp>
    </p:spTree>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name="Slide 71">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3108960" cy="365760"/>
          </a:xfrm>
          <a:prstGeom prst="roundRect">
            <a:avLst>
              <a:gd name="adj" fmla="val 50000"/>
            </a:avLst>
          </a:prstGeom>
          <a:solidFill>
            <a:srgbClr val="F7EADF"/>
          </a:solidFill>
          <a:ln/>
        </p:spPr>
      </p:sp>
      <p:sp>
        <p:nvSpPr>
          <p:cNvPr id="3" name="Text 1"/>
          <p:cNvSpPr/>
          <p:nvPr/>
        </p:nvSpPr>
        <p:spPr>
          <a:xfrm>
            <a:off x="640080" y="411480"/>
            <a:ext cx="3108960" cy="365760"/>
          </a:xfrm>
          <a:prstGeom prst="rect">
            <a:avLst/>
          </a:prstGeom>
          <a:noFill/>
          <a:ln/>
        </p:spPr>
        <p:txBody>
          <a:bodyPr wrap="square" rtlCol="0" anchor="ctr"/>
          <a:lstStyle/>
          <a:p>
            <a:pPr algn="ctr" indent="0" marL="0">
              <a:buNone/>
            </a:pPr>
            <a:r>
              <a:rPr lang="en-US" sz="950" b="1" spc="100" kern="0" dirty="0">
                <a:solidFill>
                  <a:srgbClr val="9A7C5C"/>
                </a:solidFill>
                <a:latin typeface="Segoe UI" pitchFamily="34" charset="0"/>
                <a:ea typeface="Segoe UI" pitchFamily="34" charset="-122"/>
                <a:cs typeface="Segoe UI" pitchFamily="34" charset="-120"/>
              </a:rPr>
              <a:t>ESPACE CLIENT PARTICULIER</a:t>
            </a:r>
            <a:endParaRPr lang="en-US" sz="950" dirty="0"/>
          </a:p>
        </p:txBody>
      </p:sp>
      <p:sp>
        <p:nvSpPr>
          <p:cNvPr id="4" name="Shape 2"/>
          <p:cNvSpPr/>
          <p:nvPr/>
        </p:nvSpPr>
        <p:spPr>
          <a:xfrm>
            <a:off x="640080" y="1005840"/>
            <a:ext cx="10881360" cy="2606040"/>
          </a:xfrm>
          <a:prstGeom prst="roundRect">
            <a:avLst>
              <a:gd name="adj" fmla="val 2105"/>
            </a:avLst>
          </a:prstGeom>
          <a:solidFill>
            <a:srgbClr val="FFFFFF"/>
          </a:solidFill>
          <a:ln w="12700">
            <a:solidFill>
              <a:srgbClr val="E4DCCB"/>
            </a:solidFill>
            <a:prstDash val="solid"/>
          </a:ln>
        </p:spPr>
      </p:sp>
      <p:sp>
        <p:nvSpPr>
          <p:cNvPr id="5" name="Shape 3"/>
          <p:cNvSpPr/>
          <p:nvPr/>
        </p:nvSpPr>
        <p:spPr>
          <a:xfrm>
            <a:off x="640080" y="1005840"/>
            <a:ext cx="54864" cy="2606040"/>
          </a:xfrm>
          <a:prstGeom prst="rect">
            <a:avLst/>
          </a:prstGeom>
          <a:solidFill>
            <a:srgbClr val="1D6FE0"/>
          </a:solidFill>
          <a:ln/>
        </p:spPr>
      </p:sp>
      <p:sp>
        <p:nvSpPr>
          <p:cNvPr id="6" name="Text 4"/>
          <p:cNvSpPr/>
          <p:nvPr/>
        </p:nvSpPr>
        <p:spPr>
          <a:xfrm>
            <a:off x="914400" y="1133856"/>
            <a:ext cx="10332720" cy="365760"/>
          </a:xfrm>
          <a:prstGeom prst="rect">
            <a:avLst/>
          </a:prstGeom>
          <a:noFill/>
          <a:ln/>
        </p:spPr>
        <p:txBody>
          <a:bodyPr wrap="square" rtlCol="0" anchor="ctr"/>
          <a:lstStyle/>
          <a:p>
            <a:pPr indent="0" marL="0">
              <a:buNone/>
            </a:pPr>
            <a:r>
              <a:rPr lang="en-US" sz="1500" b="1" dirty="0">
                <a:solidFill>
                  <a:srgbClr val="1B1F3B"/>
                </a:solidFill>
                <a:latin typeface="Georgia" pitchFamily="34" charset="0"/>
                <a:ea typeface="Georgia" pitchFamily="34" charset="-122"/>
                <a:cs typeface="Georgia" pitchFamily="34" charset="-120"/>
              </a:rPr>
              <a:t>Consultation du devis signé</a:t>
            </a:r>
            <a:endParaRPr lang="en-US" sz="1500" dirty="0"/>
          </a:p>
        </p:txBody>
      </p:sp>
      <p:sp>
        <p:nvSpPr>
          <p:cNvPr id="7" name="Text 5"/>
          <p:cNvSpPr/>
          <p:nvPr/>
        </p:nvSpPr>
        <p:spPr>
          <a:xfrm>
            <a:off x="914400" y="1536192"/>
            <a:ext cx="10332720" cy="1051560"/>
          </a:xfrm>
          <a:prstGeom prst="rect">
            <a:avLst/>
          </a:prstGeom>
          <a:noFill/>
          <a:ln/>
        </p:spPr>
        <p:txBody>
          <a:bodyPr wrap="square" rtlCol="0" anchor="ctr"/>
          <a:lstStyle/>
          <a:p>
            <a:pPr indent="0" marL="0">
              <a:lnSpc>
                <a:spcPts val="1600"/>
              </a:lnSpc>
              <a:buNone/>
            </a:pPr>
            <a:r>
              <a:rPr lang="en-US" sz="1150" dirty="0">
                <a:solidFill>
                  <a:srgbClr val="1B1F3B"/>
                </a:solidFill>
                <a:latin typeface="Segoe UI" pitchFamily="34" charset="0"/>
                <a:ea typeface="Segoe UI" pitchFamily="34" charset="-122"/>
                <a:cs typeface="Segoe UI" pitchFamily="34" charset="-120"/>
              </a:rPr>
              <a:t>Détail du devis signé, avec téléchargement du PDF.</a:t>
            </a:r>
            <a:endParaRPr lang="en-US" sz="1150" dirty="0"/>
          </a:p>
        </p:txBody>
      </p:sp>
      <p:sp>
        <p:nvSpPr>
          <p:cNvPr id="8" name="Text 6"/>
          <p:cNvSpPr/>
          <p:nvPr/>
        </p:nvSpPr>
        <p:spPr>
          <a:xfrm>
            <a:off x="914400" y="2743200"/>
            <a:ext cx="10332720" cy="228600"/>
          </a:xfrm>
          <a:prstGeom prst="rect">
            <a:avLst/>
          </a:prstGeom>
          <a:noFill/>
          <a:ln/>
        </p:spPr>
        <p:txBody>
          <a:bodyPr wrap="square" rtlCol="0" anchor="ctr"/>
          <a:lstStyle/>
          <a:p>
            <a:pPr indent="0" marL="0">
              <a:buNone/>
            </a:pPr>
            <a:r>
              <a:rPr lang="en-US" sz="800" b="1" spc="100" kern="0" dirty="0">
                <a:solidFill>
                  <a:srgbClr val="9A7C5C"/>
                </a:solidFill>
                <a:latin typeface="Segoe UI" pitchFamily="34" charset="0"/>
                <a:ea typeface="Segoe UI" pitchFamily="34" charset="-122"/>
                <a:cs typeface="Segoe UI" pitchFamily="34" charset="-120"/>
              </a:rPr>
              <a:t>RÉALISATION TECHNIQUE</a:t>
            </a:r>
            <a:endParaRPr lang="en-US" sz="800" dirty="0"/>
          </a:p>
        </p:txBody>
      </p:sp>
      <p:sp>
        <p:nvSpPr>
          <p:cNvPr id="9" name="Text 7"/>
          <p:cNvSpPr/>
          <p:nvPr/>
        </p:nvSpPr>
        <p:spPr>
          <a:xfrm>
            <a:off x="914400" y="2990088"/>
            <a:ext cx="10332720" cy="548640"/>
          </a:xfrm>
          <a:prstGeom prst="rect">
            <a:avLst/>
          </a:prstGeom>
          <a:noFill/>
          <a:ln/>
        </p:spPr>
        <p:txBody>
          <a:bodyPr wrap="square" rtlCol="0" anchor="ctr"/>
          <a:lstStyle/>
          <a:p>
            <a:pPr indent="0" marL="0">
              <a:lnSpc>
                <a:spcPts val="1400"/>
              </a:lnSpc>
              <a:buNone/>
            </a:pPr>
            <a:r>
              <a:rPr lang="en-US" sz="1000" i="1" dirty="0">
                <a:solidFill>
                  <a:srgbClr val="8A7C68"/>
                </a:solidFill>
                <a:latin typeface="Segoe UI" pitchFamily="34" charset="0"/>
                <a:ea typeface="Segoe UI" pitchFamily="34" charset="-122"/>
                <a:cs typeface="Segoe UI" pitchFamily="34" charset="-120"/>
              </a:rPr>
              <a:t>Page /client/devis/[id].</a:t>
            </a:r>
            <a:endParaRPr lang="en-US" sz="1000" dirty="0"/>
          </a:p>
        </p:txBody>
      </p:sp>
      <p:sp>
        <p:nvSpPr>
          <p:cNvPr id="10" name="Text 8"/>
          <p:cNvSpPr/>
          <p:nvPr/>
        </p:nvSpPr>
        <p:spPr>
          <a:xfrm>
            <a:off x="365760" y="6510528"/>
            <a:ext cx="5486400" cy="274320"/>
          </a:xfrm>
          <a:prstGeom prst="rect">
            <a:avLst/>
          </a:prstGeom>
          <a:noFill/>
          <a:ln/>
        </p:spPr>
        <p:txBody>
          <a:bodyPr wrap="square" rtlCol="0" anchor="ctr"/>
          <a:lstStyle/>
          <a:p>
            <a:pPr indent="0" marL="0">
              <a:buNone/>
            </a:pPr>
            <a:r>
              <a:rPr lang="en-US" sz="850" dirty="0">
                <a:solidFill>
                  <a:srgbClr val="8A7C68"/>
                </a:solidFill>
                <a:latin typeface="Segoe UI" pitchFamily="34" charset="0"/>
                <a:ea typeface="Segoe UI" pitchFamily="34" charset="-122"/>
                <a:cs typeface="Segoe UI" pitchFamily="34" charset="-120"/>
              </a:rPr>
              <a:t>Kôji Web — Cahier des charges</a:t>
            </a:r>
            <a:endParaRPr lang="en-US" sz="850" dirty="0"/>
          </a:p>
        </p:txBody>
      </p:sp>
      <p:sp>
        <p:nvSpPr>
          <p:cNvPr id="11" name="Text 9"/>
          <p:cNvSpPr/>
          <p:nvPr/>
        </p:nvSpPr>
        <p:spPr>
          <a:xfrm>
            <a:off x="9601200" y="6510528"/>
            <a:ext cx="2194560" cy="274320"/>
          </a:xfrm>
          <a:prstGeom prst="rect">
            <a:avLst/>
          </a:prstGeom>
          <a:noFill/>
          <a:ln/>
        </p:spPr>
        <p:txBody>
          <a:bodyPr wrap="square" rtlCol="0" anchor="ctr"/>
          <a:lstStyle/>
          <a:p>
            <a:pPr algn="r" indent="0" marL="0">
              <a:buNone/>
            </a:pPr>
            <a:r>
              <a:rPr lang="en-US" sz="850" dirty="0">
                <a:solidFill>
                  <a:srgbClr val="8A7C68"/>
                </a:solidFill>
                <a:latin typeface="Segoe UI" pitchFamily="34" charset="0"/>
                <a:ea typeface="Segoe UI" pitchFamily="34" charset="-122"/>
                <a:cs typeface="Segoe UI" pitchFamily="34" charset="-120"/>
              </a:rPr>
              <a:t>70</a:t>
            </a:r>
            <a:endParaRPr lang="en-US" sz="850" dirty="0"/>
          </a:p>
        </p:txBody>
      </p:sp>
    </p:spTree>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name="Slide 72">
    <p:bg>
      <p:bgPr>
        <a:solidFill>
          <a:srgbClr val="0B1030"/>
        </a:solidFill>
      </p:bgPr>
    </p:bg>
    <p:spTree>
      <p:nvGrpSpPr>
        <p:cNvPr id="1" name=""/>
        <p:cNvGrpSpPr/>
        <p:nvPr/>
      </p:nvGrpSpPr>
      <p:grpSpPr>
        <a:xfrm>
          <a:off x="0" y="0"/>
          <a:ext cx="0" cy="0"/>
          <a:chOff x="0" y="0"/>
          <a:chExt cx="0" cy="0"/>
        </a:xfrm>
      </p:grpSpPr>
      <p:sp>
        <p:nvSpPr>
          <p:cNvPr id="2" name="Shape 0"/>
          <p:cNvSpPr/>
          <p:nvPr/>
        </p:nvSpPr>
        <p:spPr>
          <a:xfrm>
            <a:off x="0" y="3246120"/>
            <a:ext cx="12191695" cy="54864"/>
          </a:xfrm>
          <a:prstGeom prst="rect">
            <a:avLst/>
          </a:prstGeom>
          <a:solidFill>
            <a:srgbClr val="C9A96A"/>
          </a:solidFill>
          <a:ln/>
        </p:spPr>
      </p:sp>
      <p:sp>
        <p:nvSpPr>
          <p:cNvPr id="3" name="Text 1"/>
          <p:cNvSpPr/>
          <p:nvPr/>
        </p:nvSpPr>
        <p:spPr>
          <a:xfrm>
            <a:off x="640080" y="1920240"/>
            <a:ext cx="2743200" cy="548640"/>
          </a:xfrm>
          <a:prstGeom prst="rect">
            <a:avLst/>
          </a:prstGeom>
          <a:noFill/>
          <a:ln/>
        </p:spPr>
        <p:txBody>
          <a:bodyPr wrap="square" rtlCol="0" anchor="ctr"/>
          <a:lstStyle/>
          <a:p>
            <a:pPr indent="0" marL="0">
              <a:buNone/>
            </a:pPr>
            <a:r>
              <a:rPr lang="en-US" sz="1500" b="1" dirty="0">
                <a:solidFill>
                  <a:srgbClr val="C9A96A"/>
                </a:solidFill>
                <a:latin typeface="Segoe UI" pitchFamily="34" charset="0"/>
                <a:ea typeface="Segoe UI" pitchFamily="34" charset="-122"/>
                <a:cs typeface="Segoe UI" pitchFamily="34" charset="-120"/>
              </a:rPr>
              <a:t>16</a:t>
            </a:r>
            <a:endParaRPr lang="en-US" sz="1500" dirty="0"/>
          </a:p>
        </p:txBody>
      </p:sp>
      <p:sp>
        <p:nvSpPr>
          <p:cNvPr id="4" name="Text 2"/>
          <p:cNvSpPr/>
          <p:nvPr/>
        </p:nvSpPr>
        <p:spPr>
          <a:xfrm>
            <a:off x="640080" y="2377440"/>
            <a:ext cx="10515600" cy="914400"/>
          </a:xfrm>
          <a:prstGeom prst="rect">
            <a:avLst/>
          </a:prstGeom>
          <a:noFill/>
          <a:ln/>
        </p:spPr>
        <p:txBody>
          <a:bodyPr wrap="square" rtlCol="0" anchor="ctr"/>
          <a:lstStyle/>
          <a:p>
            <a:pPr indent="0" marL="0">
              <a:buNone/>
            </a:pPr>
            <a:r>
              <a:rPr lang="en-US" sz="3400" b="1" dirty="0">
                <a:solidFill>
                  <a:srgbClr val="FFFFFF"/>
                </a:solidFill>
                <a:latin typeface="Georgia" pitchFamily="34" charset="0"/>
                <a:ea typeface="Georgia" pitchFamily="34" charset="-122"/>
                <a:cs typeface="Georgia" pitchFamily="34" charset="-120"/>
              </a:rPr>
              <a:t>Espace Ouvrier</a:t>
            </a:r>
            <a:endParaRPr lang="en-US" sz="3400" dirty="0"/>
          </a:p>
        </p:txBody>
      </p:sp>
      <p:sp>
        <p:nvSpPr>
          <p:cNvPr id="5" name="Text 3"/>
          <p:cNvSpPr/>
          <p:nvPr/>
        </p:nvSpPr>
        <p:spPr>
          <a:xfrm>
            <a:off x="640080" y="3429000"/>
            <a:ext cx="10058400" cy="1188720"/>
          </a:xfrm>
          <a:prstGeom prst="rect">
            <a:avLst/>
          </a:prstGeom>
          <a:noFill/>
          <a:ln/>
        </p:spPr>
        <p:txBody>
          <a:bodyPr wrap="square" rtlCol="0" anchor="ctr"/>
          <a:lstStyle/>
          <a:p>
            <a:pPr indent="0" marL="0">
              <a:lnSpc>
                <a:spcPts val="1800"/>
              </a:lnSpc>
              <a:buNone/>
            </a:pPr>
            <a:r>
              <a:rPr lang="en-US" sz="1300" dirty="0">
                <a:solidFill>
                  <a:srgbClr val="C7C9E0"/>
                </a:solidFill>
                <a:latin typeface="Segoe UI" pitchFamily="34" charset="0"/>
                <a:ea typeface="Segoe UI" pitchFamily="34" charset="-122"/>
                <a:cs typeface="Segoe UI" pitchFamily="34" charset="-120"/>
              </a:rPr>
              <a:t>Portail terrain destiné aux ouvriers et sous-traitants : leurs chantiers, leurs tâches du jour, leur pointage, et un moyen de signaler un problème.</a:t>
            </a:r>
            <a:endParaRPr lang="en-US" sz="1300" dirty="0"/>
          </a:p>
        </p:txBody>
      </p:sp>
      <p:sp>
        <p:nvSpPr>
          <p:cNvPr id="6" name="Text 4"/>
          <p:cNvSpPr/>
          <p:nvPr/>
        </p:nvSpPr>
        <p:spPr>
          <a:xfrm>
            <a:off x="365760" y="6510528"/>
            <a:ext cx="5486400" cy="274320"/>
          </a:xfrm>
          <a:prstGeom prst="rect">
            <a:avLst/>
          </a:prstGeom>
          <a:noFill/>
          <a:ln/>
        </p:spPr>
        <p:txBody>
          <a:bodyPr wrap="square" rtlCol="0" anchor="ctr"/>
          <a:lstStyle/>
          <a:p>
            <a:pPr indent="0" marL="0">
              <a:buNone/>
            </a:pPr>
            <a:r>
              <a:rPr lang="en-US" sz="850" dirty="0">
                <a:solidFill>
                  <a:srgbClr val="8A7C68"/>
                </a:solidFill>
                <a:latin typeface="Segoe UI" pitchFamily="34" charset="0"/>
                <a:ea typeface="Segoe UI" pitchFamily="34" charset="-122"/>
                <a:cs typeface="Segoe UI" pitchFamily="34" charset="-120"/>
              </a:rPr>
              <a:t>Kôji Web — Cahier des charges</a:t>
            </a:r>
            <a:endParaRPr lang="en-US" sz="850" dirty="0"/>
          </a:p>
        </p:txBody>
      </p:sp>
      <p:sp>
        <p:nvSpPr>
          <p:cNvPr id="7" name="Text 5"/>
          <p:cNvSpPr/>
          <p:nvPr/>
        </p:nvSpPr>
        <p:spPr>
          <a:xfrm>
            <a:off x="9601200" y="6510528"/>
            <a:ext cx="2194560" cy="274320"/>
          </a:xfrm>
          <a:prstGeom prst="rect">
            <a:avLst/>
          </a:prstGeom>
          <a:noFill/>
          <a:ln/>
        </p:spPr>
        <p:txBody>
          <a:bodyPr wrap="square" rtlCol="0" anchor="ctr"/>
          <a:lstStyle/>
          <a:p>
            <a:pPr algn="r" indent="0" marL="0">
              <a:buNone/>
            </a:pPr>
            <a:r>
              <a:rPr lang="en-US" sz="850" dirty="0">
                <a:solidFill>
                  <a:srgbClr val="8A7C68"/>
                </a:solidFill>
                <a:latin typeface="Segoe UI" pitchFamily="34" charset="0"/>
                <a:ea typeface="Segoe UI" pitchFamily="34" charset="-122"/>
                <a:cs typeface="Segoe UI" pitchFamily="34" charset="-120"/>
              </a:rPr>
              <a:t>71</a:t>
            </a:r>
            <a:endParaRPr lang="en-US" sz="850" dirty="0"/>
          </a:p>
        </p:txBody>
      </p:sp>
    </p:spTree>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name="Slide 73">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3108960" cy="365760"/>
          </a:xfrm>
          <a:prstGeom prst="roundRect">
            <a:avLst>
              <a:gd name="adj" fmla="val 50000"/>
            </a:avLst>
          </a:prstGeom>
          <a:solidFill>
            <a:srgbClr val="F7EADF"/>
          </a:solidFill>
          <a:ln/>
        </p:spPr>
      </p:sp>
      <p:sp>
        <p:nvSpPr>
          <p:cNvPr id="3" name="Text 1"/>
          <p:cNvSpPr/>
          <p:nvPr/>
        </p:nvSpPr>
        <p:spPr>
          <a:xfrm>
            <a:off x="640080" y="411480"/>
            <a:ext cx="3108960" cy="365760"/>
          </a:xfrm>
          <a:prstGeom prst="rect">
            <a:avLst/>
          </a:prstGeom>
          <a:noFill/>
          <a:ln/>
        </p:spPr>
        <p:txBody>
          <a:bodyPr wrap="square" rtlCol="0" anchor="ctr"/>
          <a:lstStyle/>
          <a:p>
            <a:pPr algn="ctr" indent="0" marL="0">
              <a:buNone/>
            </a:pPr>
            <a:r>
              <a:rPr lang="en-US" sz="950" b="1" spc="100" kern="0" dirty="0">
                <a:solidFill>
                  <a:srgbClr val="9A7C5C"/>
                </a:solidFill>
                <a:latin typeface="Segoe UI" pitchFamily="34" charset="0"/>
                <a:ea typeface="Segoe UI" pitchFamily="34" charset="-122"/>
                <a:cs typeface="Segoe UI" pitchFamily="34" charset="-120"/>
              </a:rPr>
              <a:t>ESPACE OUVRIER</a:t>
            </a:r>
            <a:endParaRPr lang="en-US" sz="950" dirty="0"/>
          </a:p>
        </p:txBody>
      </p:sp>
      <p:sp>
        <p:nvSpPr>
          <p:cNvPr id="4" name="Shape 2"/>
          <p:cNvSpPr/>
          <p:nvPr/>
        </p:nvSpPr>
        <p:spPr>
          <a:xfrm>
            <a:off x="640080" y="1005840"/>
            <a:ext cx="10881360" cy="2606040"/>
          </a:xfrm>
          <a:prstGeom prst="roundRect">
            <a:avLst>
              <a:gd name="adj" fmla="val 2105"/>
            </a:avLst>
          </a:prstGeom>
          <a:solidFill>
            <a:srgbClr val="FFFFFF"/>
          </a:solidFill>
          <a:ln w="12700">
            <a:solidFill>
              <a:srgbClr val="E4DCCB"/>
            </a:solidFill>
            <a:prstDash val="solid"/>
          </a:ln>
        </p:spPr>
      </p:sp>
      <p:sp>
        <p:nvSpPr>
          <p:cNvPr id="5" name="Shape 3"/>
          <p:cNvSpPr/>
          <p:nvPr/>
        </p:nvSpPr>
        <p:spPr>
          <a:xfrm>
            <a:off x="640080" y="1005840"/>
            <a:ext cx="54864" cy="2606040"/>
          </a:xfrm>
          <a:prstGeom prst="rect">
            <a:avLst/>
          </a:prstGeom>
          <a:solidFill>
            <a:srgbClr val="1D6FE0"/>
          </a:solidFill>
          <a:ln/>
        </p:spPr>
      </p:sp>
      <p:sp>
        <p:nvSpPr>
          <p:cNvPr id="6" name="Text 4"/>
          <p:cNvSpPr/>
          <p:nvPr/>
        </p:nvSpPr>
        <p:spPr>
          <a:xfrm>
            <a:off x="914400" y="1133856"/>
            <a:ext cx="10332720" cy="365760"/>
          </a:xfrm>
          <a:prstGeom prst="rect">
            <a:avLst/>
          </a:prstGeom>
          <a:noFill/>
          <a:ln/>
        </p:spPr>
        <p:txBody>
          <a:bodyPr wrap="square" rtlCol="0" anchor="ctr"/>
          <a:lstStyle/>
          <a:p>
            <a:pPr indent="0" marL="0">
              <a:buNone/>
            </a:pPr>
            <a:r>
              <a:rPr lang="en-US" sz="1500" b="1" dirty="0">
                <a:solidFill>
                  <a:srgbClr val="1B1F3B"/>
                </a:solidFill>
                <a:latin typeface="Georgia" pitchFamily="34" charset="0"/>
                <a:ea typeface="Georgia" pitchFamily="34" charset="-122"/>
                <a:cs typeface="Georgia" pitchFamily="34" charset="-120"/>
              </a:rPr>
              <a:t>Connexion et accueil</a:t>
            </a:r>
            <a:endParaRPr lang="en-US" sz="1500" dirty="0"/>
          </a:p>
        </p:txBody>
      </p:sp>
      <p:sp>
        <p:nvSpPr>
          <p:cNvPr id="7" name="Text 5"/>
          <p:cNvSpPr/>
          <p:nvPr/>
        </p:nvSpPr>
        <p:spPr>
          <a:xfrm>
            <a:off x="914400" y="1536192"/>
            <a:ext cx="10332720" cy="1051560"/>
          </a:xfrm>
          <a:prstGeom prst="rect">
            <a:avLst/>
          </a:prstGeom>
          <a:noFill/>
          <a:ln/>
        </p:spPr>
        <p:txBody>
          <a:bodyPr wrap="square" rtlCol="0" anchor="ctr"/>
          <a:lstStyle/>
          <a:p>
            <a:pPr indent="0" marL="0">
              <a:lnSpc>
                <a:spcPts val="1600"/>
              </a:lnSpc>
              <a:buNone/>
            </a:pPr>
            <a:r>
              <a:rPr lang="en-US" sz="1150" dirty="0">
                <a:solidFill>
                  <a:srgbClr val="1B1F3B"/>
                </a:solidFill>
                <a:latin typeface="Segoe UI" pitchFamily="34" charset="0"/>
                <a:ea typeface="Segoe UI" pitchFamily="34" charset="-122"/>
                <a:cs typeface="Segoe UI" pitchFamily="34" charset="-120"/>
              </a:rPr>
              <a:t>Connexion par identifiant + mot de passe fourni par l'entreprise ; accueil listant les chantiers actifs et les tâches du jour.</a:t>
            </a:r>
            <a:endParaRPr lang="en-US" sz="1150" dirty="0"/>
          </a:p>
        </p:txBody>
      </p:sp>
      <p:sp>
        <p:nvSpPr>
          <p:cNvPr id="8" name="Text 6"/>
          <p:cNvSpPr/>
          <p:nvPr/>
        </p:nvSpPr>
        <p:spPr>
          <a:xfrm>
            <a:off x="914400" y="2743200"/>
            <a:ext cx="10332720" cy="228600"/>
          </a:xfrm>
          <a:prstGeom prst="rect">
            <a:avLst/>
          </a:prstGeom>
          <a:noFill/>
          <a:ln/>
        </p:spPr>
        <p:txBody>
          <a:bodyPr wrap="square" rtlCol="0" anchor="ctr"/>
          <a:lstStyle/>
          <a:p>
            <a:pPr indent="0" marL="0">
              <a:buNone/>
            </a:pPr>
            <a:r>
              <a:rPr lang="en-US" sz="800" b="1" spc="100" kern="0" dirty="0">
                <a:solidFill>
                  <a:srgbClr val="9A7C5C"/>
                </a:solidFill>
                <a:latin typeface="Segoe UI" pitchFamily="34" charset="0"/>
                <a:ea typeface="Segoe UI" pitchFamily="34" charset="-122"/>
                <a:cs typeface="Segoe UI" pitchFamily="34" charset="-120"/>
              </a:rPr>
              <a:t>RÉALISATION TECHNIQUE</a:t>
            </a:r>
            <a:endParaRPr lang="en-US" sz="800" dirty="0"/>
          </a:p>
        </p:txBody>
      </p:sp>
      <p:sp>
        <p:nvSpPr>
          <p:cNvPr id="9" name="Text 7"/>
          <p:cNvSpPr/>
          <p:nvPr/>
        </p:nvSpPr>
        <p:spPr>
          <a:xfrm>
            <a:off x="914400" y="2990088"/>
            <a:ext cx="10332720" cy="548640"/>
          </a:xfrm>
          <a:prstGeom prst="rect">
            <a:avLst/>
          </a:prstGeom>
          <a:noFill/>
          <a:ln/>
        </p:spPr>
        <p:txBody>
          <a:bodyPr wrap="square" rtlCol="0" anchor="ctr"/>
          <a:lstStyle/>
          <a:p>
            <a:pPr indent="0" marL="0">
              <a:lnSpc>
                <a:spcPts val="1400"/>
              </a:lnSpc>
              <a:buNone/>
            </a:pPr>
            <a:r>
              <a:rPr lang="en-US" sz="1000" i="1" dirty="0">
                <a:solidFill>
                  <a:srgbClr val="8A7C68"/>
                </a:solidFill>
                <a:latin typeface="Segoe UI" pitchFamily="34" charset="0"/>
                <a:ea typeface="Segoe UI" pitchFamily="34" charset="-122"/>
                <a:cs typeface="Segoe UI" pitchFamily="34" charset="-120"/>
              </a:rPr>
              <a:t>Page /worker, session séparée (koji-worker-session), API /api/worker-auth, /api/worker-portal.</a:t>
            </a:r>
            <a:endParaRPr lang="en-US" sz="1000" dirty="0"/>
          </a:p>
        </p:txBody>
      </p:sp>
      <p:sp>
        <p:nvSpPr>
          <p:cNvPr id="10" name="Shape 8"/>
          <p:cNvSpPr/>
          <p:nvPr/>
        </p:nvSpPr>
        <p:spPr>
          <a:xfrm>
            <a:off x="640080" y="3813048"/>
            <a:ext cx="10881360" cy="2606040"/>
          </a:xfrm>
          <a:prstGeom prst="roundRect">
            <a:avLst>
              <a:gd name="adj" fmla="val 2105"/>
            </a:avLst>
          </a:prstGeom>
          <a:solidFill>
            <a:srgbClr val="FFFFFF"/>
          </a:solidFill>
          <a:ln w="12700">
            <a:solidFill>
              <a:srgbClr val="E4DCCB"/>
            </a:solidFill>
            <a:prstDash val="solid"/>
          </a:ln>
        </p:spPr>
      </p:sp>
      <p:sp>
        <p:nvSpPr>
          <p:cNvPr id="11" name="Shape 9"/>
          <p:cNvSpPr/>
          <p:nvPr/>
        </p:nvSpPr>
        <p:spPr>
          <a:xfrm>
            <a:off x="640080" y="3813048"/>
            <a:ext cx="54864" cy="2606040"/>
          </a:xfrm>
          <a:prstGeom prst="rect">
            <a:avLst/>
          </a:prstGeom>
          <a:solidFill>
            <a:srgbClr val="1D6FE0"/>
          </a:solidFill>
          <a:ln/>
        </p:spPr>
      </p:sp>
      <p:sp>
        <p:nvSpPr>
          <p:cNvPr id="12" name="Text 10"/>
          <p:cNvSpPr/>
          <p:nvPr/>
        </p:nvSpPr>
        <p:spPr>
          <a:xfrm>
            <a:off x="914400" y="3941064"/>
            <a:ext cx="10332720" cy="365760"/>
          </a:xfrm>
          <a:prstGeom prst="rect">
            <a:avLst/>
          </a:prstGeom>
          <a:noFill/>
          <a:ln/>
        </p:spPr>
        <p:txBody>
          <a:bodyPr wrap="square" rtlCol="0" anchor="ctr"/>
          <a:lstStyle/>
          <a:p>
            <a:pPr indent="0" marL="0">
              <a:buNone/>
            </a:pPr>
            <a:r>
              <a:rPr lang="en-US" sz="1500" b="1" dirty="0">
                <a:solidFill>
                  <a:srgbClr val="1B1F3B"/>
                </a:solidFill>
                <a:latin typeface="Georgia" pitchFamily="34" charset="0"/>
                <a:ea typeface="Georgia" pitchFamily="34" charset="-122"/>
                <a:cs typeface="Georgia" pitchFamily="34" charset="-120"/>
              </a:rPr>
              <a:t>Suivi d'un ouvrage</a:t>
            </a:r>
            <a:endParaRPr lang="en-US" sz="1500" dirty="0"/>
          </a:p>
        </p:txBody>
      </p:sp>
      <p:sp>
        <p:nvSpPr>
          <p:cNvPr id="13" name="Text 11"/>
          <p:cNvSpPr/>
          <p:nvPr/>
        </p:nvSpPr>
        <p:spPr>
          <a:xfrm>
            <a:off x="914400" y="4343400"/>
            <a:ext cx="10332720" cy="1051560"/>
          </a:xfrm>
          <a:prstGeom prst="rect">
            <a:avLst/>
          </a:prstGeom>
          <a:noFill/>
          <a:ln/>
        </p:spPr>
        <p:txBody>
          <a:bodyPr wrap="square" rtlCol="0" anchor="ctr"/>
          <a:lstStyle/>
          <a:p>
            <a:pPr indent="0" marL="0">
              <a:lnSpc>
                <a:spcPts val="1600"/>
              </a:lnSpc>
              <a:buNone/>
            </a:pPr>
            <a:r>
              <a:rPr lang="en-US" sz="1150" dirty="0">
                <a:solidFill>
                  <a:srgbClr val="1B1F3B"/>
                </a:solidFill>
                <a:latin typeface="Segoe UI" pitchFamily="34" charset="0"/>
                <a:ea typeface="Segoe UI" pitchFamily="34" charset="-122"/>
                <a:cs typeface="Segoe UI" pitchFamily="34" charset="-120"/>
              </a:rPr>
              <a:t>Boutons Démarrer / Pause / Reprendre / Terminer sur chaque tâche, avec calcul automatique du temps consommé et alerte en cas de dépassement du temps prévu.</a:t>
            </a:r>
            <a:endParaRPr lang="en-US" sz="1150" dirty="0"/>
          </a:p>
        </p:txBody>
      </p:sp>
      <p:sp>
        <p:nvSpPr>
          <p:cNvPr id="14" name="Text 12"/>
          <p:cNvSpPr/>
          <p:nvPr/>
        </p:nvSpPr>
        <p:spPr>
          <a:xfrm>
            <a:off x="914400" y="5550408"/>
            <a:ext cx="10332720" cy="228600"/>
          </a:xfrm>
          <a:prstGeom prst="rect">
            <a:avLst/>
          </a:prstGeom>
          <a:noFill/>
          <a:ln/>
        </p:spPr>
        <p:txBody>
          <a:bodyPr wrap="square" rtlCol="0" anchor="ctr"/>
          <a:lstStyle/>
          <a:p>
            <a:pPr indent="0" marL="0">
              <a:buNone/>
            </a:pPr>
            <a:r>
              <a:rPr lang="en-US" sz="800" b="1" spc="100" kern="0" dirty="0">
                <a:solidFill>
                  <a:srgbClr val="9A7C5C"/>
                </a:solidFill>
                <a:latin typeface="Segoe UI" pitchFamily="34" charset="0"/>
                <a:ea typeface="Segoe UI" pitchFamily="34" charset="-122"/>
                <a:cs typeface="Segoe UI" pitchFamily="34" charset="-120"/>
              </a:rPr>
              <a:t>RÉALISATION TECHNIQUE</a:t>
            </a:r>
            <a:endParaRPr lang="en-US" sz="800" dirty="0"/>
          </a:p>
        </p:txBody>
      </p:sp>
      <p:sp>
        <p:nvSpPr>
          <p:cNvPr id="15" name="Text 13"/>
          <p:cNvSpPr/>
          <p:nvPr/>
        </p:nvSpPr>
        <p:spPr>
          <a:xfrm>
            <a:off x="914400" y="5797296"/>
            <a:ext cx="10332720" cy="548640"/>
          </a:xfrm>
          <a:prstGeom prst="rect">
            <a:avLst/>
          </a:prstGeom>
          <a:noFill/>
          <a:ln/>
        </p:spPr>
        <p:txBody>
          <a:bodyPr wrap="square" rtlCol="0" anchor="ctr"/>
          <a:lstStyle/>
          <a:p>
            <a:pPr indent="0" marL="0">
              <a:lnSpc>
                <a:spcPts val="1400"/>
              </a:lnSpc>
              <a:buNone/>
            </a:pPr>
            <a:r>
              <a:rPr lang="en-US" sz="1000" i="1" dirty="0">
                <a:solidFill>
                  <a:srgbClr val="8A7C68"/>
                </a:solidFill>
                <a:latin typeface="Segoe UI" pitchFamily="34" charset="0"/>
                <a:ea typeface="Segoe UI" pitchFamily="34" charset="-122"/>
                <a:cs typeface="Segoe UI" pitchFamily="34" charset="-120"/>
              </a:rPr>
              <a:t>API /api/worker-actions.</a:t>
            </a:r>
            <a:endParaRPr lang="en-US" sz="1000" dirty="0"/>
          </a:p>
        </p:txBody>
      </p:sp>
      <p:sp>
        <p:nvSpPr>
          <p:cNvPr id="16" name="Text 14"/>
          <p:cNvSpPr/>
          <p:nvPr/>
        </p:nvSpPr>
        <p:spPr>
          <a:xfrm>
            <a:off x="365760" y="6510528"/>
            <a:ext cx="5486400" cy="274320"/>
          </a:xfrm>
          <a:prstGeom prst="rect">
            <a:avLst/>
          </a:prstGeom>
          <a:noFill/>
          <a:ln/>
        </p:spPr>
        <p:txBody>
          <a:bodyPr wrap="square" rtlCol="0" anchor="ctr"/>
          <a:lstStyle/>
          <a:p>
            <a:pPr indent="0" marL="0">
              <a:buNone/>
            </a:pPr>
            <a:r>
              <a:rPr lang="en-US" sz="850" dirty="0">
                <a:solidFill>
                  <a:srgbClr val="8A7C68"/>
                </a:solidFill>
                <a:latin typeface="Segoe UI" pitchFamily="34" charset="0"/>
                <a:ea typeface="Segoe UI" pitchFamily="34" charset="-122"/>
                <a:cs typeface="Segoe UI" pitchFamily="34" charset="-120"/>
              </a:rPr>
              <a:t>Kôji Web — Cahier des charges</a:t>
            </a:r>
            <a:endParaRPr lang="en-US" sz="850" dirty="0"/>
          </a:p>
        </p:txBody>
      </p:sp>
      <p:sp>
        <p:nvSpPr>
          <p:cNvPr id="17" name="Text 15"/>
          <p:cNvSpPr/>
          <p:nvPr/>
        </p:nvSpPr>
        <p:spPr>
          <a:xfrm>
            <a:off x="9601200" y="6510528"/>
            <a:ext cx="2194560" cy="274320"/>
          </a:xfrm>
          <a:prstGeom prst="rect">
            <a:avLst/>
          </a:prstGeom>
          <a:noFill/>
          <a:ln/>
        </p:spPr>
        <p:txBody>
          <a:bodyPr wrap="square" rtlCol="0" anchor="ctr"/>
          <a:lstStyle/>
          <a:p>
            <a:pPr algn="r" indent="0" marL="0">
              <a:buNone/>
            </a:pPr>
            <a:r>
              <a:rPr lang="en-US" sz="850" dirty="0">
                <a:solidFill>
                  <a:srgbClr val="8A7C68"/>
                </a:solidFill>
                <a:latin typeface="Segoe UI" pitchFamily="34" charset="0"/>
                <a:ea typeface="Segoe UI" pitchFamily="34" charset="-122"/>
                <a:cs typeface="Segoe UI" pitchFamily="34" charset="-120"/>
              </a:rPr>
              <a:t>72</a:t>
            </a:r>
            <a:endParaRPr lang="en-US" sz="850" dirty="0"/>
          </a:p>
        </p:txBody>
      </p:sp>
    </p:spTree>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name="Slide 74">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3108960" cy="365760"/>
          </a:xfrm>
          <a:prstGeom prst="roundRect">
            <a:avLst>
              <a:gd name="adj" fmla="val 50000"/>
            </a:avLst>
          </a:prstGeom>
          <a:solidFill>
            <a:srgbClr val="F7EADF"/>
          </a:solidFill>
          <a:ln/>
        </p:spPr>
      </p:sp>
      <p:sp>
        <p:nvSpPr>
          <p:cNvPr id="3" name="Text 1"/>
          <p:cNvSpPr/>
          <p:nvPr/>
        </p:nvSpPr>
        <p:spPr>
          <a:xfrm>
            <a:off x="640080" y="411480"/>
            <a:ext cx="3108960" cy="365760"/>
          </a:xfrm>
          <a:prstGeom prst="rect">
            <a:avLst/>
          </a:prstGeom>
          <a:noFill/>
          <a:ln/>
        </p:spPr>
        <p:txBody>
          <a:bodyPr wrap="square" rtlCol="0" anchor="ctr"/>
          <a:lstStyle/>
          <a:p>
            <a:pPr algn="ctr" indent="0" marL="0">
              <a:buNone/>
            </a:pPr>
            <a:r>
              <a:rPr lang="en-US" sz="950" b="1" spc="100" kern="0" dirty="0">
                <a:solidFill>
                  <a:srgbClr val="9A7C5C"/>
                </a:solidFill>
                <a:latin typeface="Segoe UI" pitchFamily="34" charset="0"/>
                <a:ea typeface="Segoe UI" pitchFamily="34" charset="-122"/>
                <a:cs typeface="Segoe UI" pitchFamily="34" charset="-120"/>
              </a:rPr>
              <a:t>ESPACE OUVRIER</a:t>
            </a:r>
            <a:endParaRPr lang="en-US" sz="950" dirty="0"/>
          </a:p>
        </p:txBody>
      </p:sp>
      <p:sp>
        <p:nvSpPr>
          <p:cNvPr id="4" name="Shape 2"/>
          <p:cNvSpPr/>
          <p:nvPr/>
        </p:nvSpPr>
        <p:spPr>
          <a:xfrm>
            <a:off x="640080" y="1005840"/>
            <a:ext cx="10881360" cy="1737360"/>
          </a:xfrm>
          <a:prstGeom prst="roundRect">
            <a:avLst>
              <a:gd name="adj" fmla="val 3158"/>
            </a:avLst>
          </a:prstGeom>
          <a:solidFill>
            <a:srgbClr val="FFFFFF"/>
          </a:solidFill>
          <a:ln w="12700">
            <a:solidFill>
              <a:srgbClr val="E4DCCB"/>
            </a:solidFill>
            <a:prstDash val="solid"/>
          </a:ln>
        </p:spPr>
      </p:sp>
      <p:sp>
        <p:nvSpPr>
          <p:cNvPr id="5" name="Shape 3"/>
          <p:cNvSpPr/>
          <p:nvPr/>
        </p:nvSpPr>
        <p:spPr>
          <a:xfrm>
            <a:off x="640080" y="1005840"/>
            <a:ext cx="54864" cy="1737360"/>
          </a:xfrm>
          <a:prstGeom prst="rect">
            <a:avLst/>
          </a:prstGeom>
          <a:solidFill>
            <a:srgbClr val="1D6FE0"/>
          </a:solidFill>
          <a:ln/>
        </p:spPr>
      </p:sp>
      <p:sp>
        <p:nvSpPr>
          <p:cNvPr id="6" name="Text 4"/>
          <p:cNvSpPr/>
          <p:nvPr/>
        </p:nvSpPr>
        <p:spPr>
          <a:xfrm>
            <a:off x="914400" y="1133856"/>
            <a:ext cx="10332720" cy="365760"/>
          </a:xfrm>
          <a:prstGeom prst="rect">
            <a:avLst/>
          </a:prstGeom>
          <a:noFill/>
          <a:ln/>
        </p:spPr>
        <p:txBody>
          <a:bodyPr wrap="square" rtlCol="0" anchor="ctr"/>
          <a:lstStyle/>
          <a:p>
            <a:pPr indent="0" marL="0">
              <a:buNone/>
            </a:pPr>
            <a:r>
              <a:rPr lang="en-US" sz="1500" b="1" dirty="0">
                <a:solidFill>
                  <a:srgbClr val="1B1F3B"/>
                </a:solidFill>
                <a:latin typeface="Georgia" pitchFamily="34" charset="0"/>
                <a:ea typeface="Georgia" pitchFamily="34" charset="-122"/>
                <a:cs typeface="Georgia" pitchFamily="34" charset="-120"/>
              </a:rPr>
              <a:t>Pointage de la journée</a:t>
            </a:r>
            <a:endParaRPr lang="en-US" sz="1500" dirty="0"/>
          </a:p>
        </p:txBody>
      </p:sp>
      <p:sp>
        <p:nvSpPr>
          <p:cNvPr id="7" name="Text 5"/>
          <p:cNvSpPr/>
          <p:nvPr/>
        </p:nvSpPr>
        <p:spPr>
          <a:xfrm>
            <a:off x="914400" y="1536192"/>
            <a:ext cx="10332720" cy="1005840"/>
          </a:xfrm>
          <a:prstGeom prst="rect">
            <a:avLst/>
          </a:prstGeom>
          <a:noFill/>
          <a:ln/>
        </p:spPr>
        <p:txBody>
          <a:bodyPr wrap="square" rtlCol="0" anchor="ctr"/>
          <a:lstStyle/>
          <a:p>
            <a:pPr indent="0" marL="0">
              <a:lnSpc>
                <a:spcPts val="1600"/>
              </a:lnSpc>
              <a:buNone/>
            </a:pPr>
            <a:r>
              <a:rPr lang="en-US" sz="1150" dirty="0">
                <a:solidFill>
                  <a:srgbClr val="1B1F3B"/>
                </a:solidFill>
                <a:latin typeface="Segoe UI" pitchFamily="34" charset="0"/>
                <a:ea typeface="Segoe UI" pitchFamily="34" charset="-122"/>
                <a:cs typeface="Segoe UI" pitchFamily="34" charset="-120"/>
              </a:rPr>
              <a:t>Un onglet dédié permet de pointer le début et la fin de sa journée en un clic, avec récapitulatif de la semaine en cours.</a:t>
            </a:r>
            <a:endParaRPr lang="en-US" sz="1150" dirty="0"/>
          </a:p>
        </p:txBody>
      </p:sp>
      <p:sp>
        <p:nvSpPr>
          <p:cNvPr id="8" name="Shape 6"/>
          <p:cNvSpPr/>
          <p:nvPr/>
        </p:nvSpPr>
        <p:spPr>
          <a:xfrm>
            <a:off x="640080" y="2944368"/>
            <a:ext cx="10881360" cy="1737360"/>
          </a:xfrm>
          <a:prstGeom prst="roundRect">
            <a:avLst>
              <a:gd name="adj" fmla="val 3158"/>
            </a:avLst>
          </a:prstGeom>
          <a:solidFill>
            <a:srgbClr val="FFFFFF"/>
          </a:solidFill>
          <a:ln w="12700">
            <a:solidFill>
              <a:srgbClr val="E4DCCB"/>
            </a:solidFill>
            <a:prstDash val="solid"/>
          </a:ln>
        </p:spPr>
      </p:sp>
      <p:sp>
        <p:nvSpPr>
          <p:cNvPr id="9" name="Shape 7"/>
          <p:cNvSpPr/>
          <p:nvPr/>
        </p:nvSpPr>
        <p:spPr>
          <a:xfrm>
            <a:off x="640080" y="2944368"/>
            <a:ext cx="54864" cy="1737360"/>
          </a:xfrm>
          <a:prstGeom prst="rect">
            <a:avLst/>
          </a:prstGeom>
          <a:solidFill>
            <a:srgbClr val="1D6FE0"/>
          </a:solidFill>
          <a:ln/>
        </p:spPr>
      </p:sp>
      <p:sp>
        <p:nvSpPr>
          <p:cNvPr id="10" name="Text 8"/>
          <p:cNvSpPr/>
          <p:nvPr/>
        </p:nvSpPr>
        <p:spPr>
          <a:xfrm>
            <a:off x="914400" y="3072384"/>
            <a:ext cx="10332720" cy="365760"/>
          </a:xfrm>
          <a:prstGeom prst="rect">
            <a:avLst/>
          </a:prstGeom>
          <a:noFill/>
          <a:ln/>
        </p:spPr>
        <p:txBody>
          <a:bodyPr wrap="square" rtlCol="0" anchor="ctr"/>
          <a:lstStyle/>
          <a:p>
            <a:pPr indent="0" marL="0">
              <a:buNone/>
            </a:pPr>
            <a:r>
              <a:rPr lang="en-US" sz="1500" b="1" dirty="0">
                <a:solidFill>
                  <a:srgbClr val="1B1F3B"/>
                </a:solidFill>
                <a:latin typeface="Georgia" pitchFamily="34" charset="0"/>
                <a:ea typeface="Georgia" pitchFamily="34" charset="-122"/>
                <a:cs typeface="Georgia" pitchFamily="34" charset="-120"/>
              </a:rPr>
              <a:t>Documents et photos</a:t>
            </a:r>
            <a:endParaRPr lang="en-US" sz="1500" dirty="0"/>
          </a:p>
        </p:txBody>
      </p:sp>
      <p:sp>
        <p:nvSpPr>
          <p:cNvPr id="11" name="Text 9"/>
          <p:cNvSpPr/>
          <p:nvPr/>
        </p:nvSpPr>
        <p:spPr>
          <a:xfrm>
            <a:off x="914400" y="3474720"/>
            <a:ext cx="10332720" cy="1005840"/>
          </a:xfrm>
          <a:prstGeom prst="rect">
            <a:avLst/>
          </a:prstGeom>
          <a:noFill/>
          <a:ln/>
        </p:spPr>
        <p:txBody>
          <a:bodyPr wrap="square" rtlCol="0" anchor="ctr"/>
          <a:lstStyle/>
          <a:p>
            <a:pPr indent="0" marL="0">
              <a:lnSpc>
                <a:spcPts val="1600"/>
              </a:lnSpc>
              <a:buNone/>
            </a:pPr>
            <a:r>
              <a:rPr lang="en-US" sz="1150" dirty="0">
                <a:solidFill>
                  <a:srgbClr val="1B1F3B"/>
                </a:solidFill>
                <a:latin typeface="Segoe UI" pitchFamily="34" charset="0"/>
                <a:ea typeface="Segoe UI" pitchFamily="34" charset="-122"/>
                <a:cs typeface="Segoe UI" pitchFamily="34" charset="-120"/>
              </a:rPr>
              <a:t>Ajout de photos ou documents sur une tâche, visibles ensuite par l'entreprise.</a:t>
            </a:r>
            <a:endParaRPr lang="en-US" sz="1150" dirty="0"/>
          </a:p>
        </p:txBody>
      </p:sp>
      <p:sp>
        <p:nvSpPr>
          <p:cNvPr id="12" name="Text 10"/>
          <p:cNvSpPr/>
          <p:nvPr/>
        </p:nvSpPr>
        <p:spPr>
          <a:xfrm>
            <a:off x="365760" y="6510528"/>
            <a:ext cx="5486400" cy="274320"/>
          </a:xfrm>
          <a:prstGeom prst="rect">
            <a:avLst/>
          </a:prstGeom>
          <a:noFill/>
          <a:ln/>
        </p:spPr>
        <p:txBody>
          <a:bodyPr wrap="square" rtlCol="0" anchor="ctr"/>
          <a:lstStyle/>
          <a:p>
            <a:pPr indent="0" marL="0">
              <a:buNone/>
            </a:pPr>
            <a:r>
              <a:rPr lang="en-US" sz="850" dirty="0">
                <a:solidFill>
                  <a:srgbClr val="8A7C68"/>
                </a:solidFill>
                <a:latin typeface="Segoe UI" pitchFamily="34" charset="0"/>
                <a:ea typeface="Segoe UI" pitchFamily="34" charset="-122"/>
                <a:cs typeface="Segoe UI" pitchFamily="34" charset="-120"/>
              </a:rPr>
              <a:t>Kôji Web — Cahier des charges</a:t>
            </a:r>
            <a:endParaRPr lang="en-US" sz="850" dirty="0"/>
          </a:p>
        </p:txBody>
      </p:sp>
      <p:sp>
        <p:nvSpPr>
          <p:cNvPr id="13" name="Text 11"/>
          <p:cNvSpPr/>
          <p:nvPr/>
        </p:nvSpPr>
        <p:spPr>
          <a:xfrm>
            <a:off x="9601200" y="6510528"/>
            <a:ext cx="2194560" cy="274320"/>
          </a:xfrm>
          <a:prstGeom prst="rect">
            <a:avLst/>
          </a:prstGeom>
          <a:noFill/>
          <a:ln/>
        </p:spPr>
        <p:txBody>
          <a:bodyPr wrap="square" rtlCol="0" anchor="ctr"/>
          <a:lstStyle/>
          <a:p>
            <a:pPr algn="r" indent="0" marL="0">
              <a:buNone/>
            </a:pPr>
            <a:r>
              <a:rPr lang="en-US" sz="850" dirty="0">
                <a:solidFill>
                  <a:srgbClr val="8A7C68"/>
                </a:solidFill>
                <a:latin typeface="Segoe UI" pitchFamily="34" charset="0"/>
                <a:ea typeface="Segoe UI" pitchFamily="34" charset="-122"/>
                <a:cs typeface="Segoe UI" pitchFamily="34" charset="-120"/>
              </a:rPr>
              <a:t>73</a:t>
            </a:r>
            <a:endParaRPr lang="en-US" sz="850" dirty="0"/>
          </a:p>
        </p:txBody>
      </p:sp>
    </p:spTree>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name="Slide 75">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3108960" cy="365760"/>
          </a:xfrm>
          <a:prstGeom prst="roundRect">
            <a:avLst>
              <a:gd name="adj" fmla="val 50000"/>
            </a:avLst>
          </a:prstGeom>
          <a:solidFill>
            <a:srgbClr val="F7EADF"/>
          </a:solidFill>
          <a:ln/>
        </p:spPr>
      </p:sp>
      <p:sp>
        <p:nvSpPr>
          <p:cNvPr id="3" name="Text 1"/>
          <p:cNvSpPr/>
          <p:nvPr/>
        </p:nvSpPr>
        <p:spPr>
          <a:xfrm>
            <a:off x="640080" y="411480"/>
            <a:ext cx="3108960" cy="365760"/>
          </a:xfrm>
          <a:prstGeom prst="rect">
            <a:avLst/>
          </a:prstGeom>
          <a:noFill/>
          <a:ln/>
        </p:spPr>
        <p:txBody>
          <a:bodyPr wrap="square" rtlCol="0" anchor="ctr"/>
          <a:lstStyle/>
          <a:p>
            <a:pPr algn="ctr" indent="0" marL="0">
              <a:buNone/>
            </a:pPr>
            <a:r>
              <a:rPr lang="en-US" sz="950" b="1" spc="100" kern="0" dirty="0">
                <a:solidFill>
                  <a:srgbClr val="9A7C5C"/>
                </a:solidFill>
                <a:latin typeface="Segoe UI" pitchFamily="34" charset="0"/>
                <a:ea typeface="Segoe UI" pitchFamily="34" charset="-122"/>
                <a:cs typeface="Segoe UI" pitchFamily="34" charset="-120"/>
              </a:rPr>
              <a:t>ESPACE OUVRIER</a:t>
            </a:r>
            <a:endParaRPr lang="en-US" sz="950" dirty="0"/>
          </a:p>
        </p:txBody>
      </p:sp>
      <p:sp>
        <p:nvSpPr>
          <p:cNvPr id="4" name="Shape 2"/>
          <p:cNvSpPr/>
          <p:nvPr/>
        </p:nvSpPr>
        <p:spPr>
          <a:xfrm>
            <a:off x="640080" y="1005840"/>
            <a:ext cx="10881360" cy="1737360"/>
          </a:xfrm>
          <a:prstGeom prst="roundRect">
            <a:avLst>
              <a:gd name="adj" fmla="val 3158"/>
            </a:avLst>
          </a:prstGeom>
          <a:solidFill>
            <a:srgbClr val="FFFFFF"/>
          </a:solidFill>
          <a:ln w="12700">
            <a:solidFill>
              <a:srgbClr val="E4DCCB"/>
            </a:solidFill>
            <a:prstDash val="solid"/>
          </a:ln>
        </p:spPr>
      </p:sp>
      <p:sp>
        <p:nvSpPr>
          <p:cNvPr id="5" name="Shape 3"/>
          <p:cNvSpPr/>
          <p:nvPr/>
        </p:nvSpPr>
        <p:spPr>
          <a:xfrm>
            <a:off x="640080" y="1005840"/>
            <a:ext cx="54864" cy="1737360"/>
          </a:xfrm>
          <a:prstGeom prst="rect">
            <a:avLst/>
          </a:prstGeom>
          <a:solidFill>
            <a:srgbClr val="1D6FE0"/>
          </a:solidFill>
          <a:ln/>
        </p:spPr>
      </p:sp>
      <p:sp>
        <p:nvSpPr>
          <p:cNvPr id="6" name="Text 4"/>
          <p:cNvSpPr/>
          <p:nvPr/>
        </p:nvSpPr>
        <p:spPr>
          <a:xfrm>
            <a:off x="914400" y="1133856"/>
            <a:ext cx="10332720" cy="365760"/>
          </a:xfrm>
          <a:prstGeom prst="rect">
            <a:avLst/>
          </a:prstGeom>
          <a:noFill/>
          <a:ln/>
        </p:spPr>
        <p:txBody>
          <a:bodyPr wrap="square" rtlCol="0" anchor="ctr"/>
          <a:lstStyle/>
          <a:p>
            <a:pPr indent="0" marL="0">
              <a:buNone/>
            </a:pPr>
            <a:r>
              <a:rPr lang="en-US" sz="1500" b="1" dirty="0">
                <a:solidFill>
                  <a:srgbClr val="1B1F3B"/>
                </a:solidFill>
                <a:latin typeface="Georgia" pitchFamily="34" charset="0"/>
                <a:ea typeface="Georgia" pitchFamily="34" charset="-122"/>
                <a:cs typeface="Georgia" pitchFamily="34" charset="-120"/>
              </a:rPr>
              <a:t>Réclamations et retards</a:t>
            </a:r>
            <a:endParaRPr lang="en-US" sz="1500" dirty="0"/>
          </a:p>
        </p:txBody>
      </p:sp>
      <p:sp>
        <p:nvSpPr>
          <p:cNvPr id="7" name="Text 5"/>
          <p:cNvSpPr/>
          <p:nvPr/>
        </p:nvSpPr>
        <p:spPr>
          <a:xfrm>
            <a:off x="914400" y="1536192"/>
            <a:ext cx="10332720" cy="1005840"/>
          </a:xfrm>
          <a:prstGeom prst="rect">
            <a:avLst/>
          </a:prstGeom>
          <a:noFill/>
          <a:ln/>
        </p:spPr>
        <p:txBody>
          <a:bodyPr wrap="square" rtlCol="0" anchor="ctr"/>
          <a:lstStyle/>
          <a:p>
            <a:pPr indent="0" marL="0">
              <a:lnSpc>
                <a:spcPts val="1600"/>
              </a:lnSpc>
              <a:buNone/>
            </a:pPr>
            <a:r>
              <a:rPr lang="en-US" sz="1150" dirty="0">
                <a:solidFill>
                  <a:srgbClr val="1B1F3B"/>
                </a:solidFill>
                <a:latin typeface="Segoe UI" pitchFamily="34" charset="0"/>
                <a:ea typeface="Segoe UI" pitchFamily="34" charset="-122"/>
                <a:cs typeface="Segoe UI" pitchFamily="34" charset="-120"/>
              </a:rPr>
              <a:t>Signalement d'un problème de chantier (manque de matériel, problème technique/sécurité) ou d'un retard, envoyé directement à l'entreprise.</a:t>
            </a:r>
            <a:endParaRPr lang="en-US" sz="1150" dirty="0"/>
          </a:p>
        </p:txBody>
      </p:sp>
      <p:sp>
        <p:nvSpPr>
          <p:cNvPr id="8" name="Shape 6"/>
          <p:cNvSpPr/>
          <p:nvPr/>
        </p:nvSpPr>
        <p:spPr>
          <a:xfrm>
            <a:off x="640080" y="2944368"/>
            <a:ext cx="10881360" cy="1737360"/>
          </a:xfrm>
          <a:prstGeom prst="roundRect">
            <a:avLst>
              <a:gd name="adj" fmla="val 3158"/>
            </a:avLst>
          </a:prstGeom>
          <a:solidFill>
            <a:srgbClr val="FFFFFF"/>
          </a:solidFill>
          <a:ln w="12700">
            <a:solidFill>
              <a:srgbClr val="E4DCCB"/>
            </a:solidFill>
            <a:prstDash val="solid"/>
          </a:ln>
        </p:spPr>
      </p:sp>
      <p:sp>
        <p:nvSpPr>
          <p:cNvPr id="9" name="Shape 7"/>
          <p:cNvSpPr/>
          <p:nvPr/>
        </p:nvSpPr>
        <p:spPr>
          <a:xfrm>
            <a:off x="640080" y="2944368"/>
            <a:ext cx="54864" cy="1737360"/>
          </a:xfrm>
          <a:prstGeom prst="rect">
            <a:avLst/>
          </a:prstGeom>
          <a:solidFill>
            <a:srgbClr val="1D6FE0"/>
          </a:solidFill>
          <a:ln/>
        </p:spPr>
      </p:sp>
      <p:sp>
        <p:nvSpPr>
          <p:cNvPr id="10" name="Text 8"/>
          <p:cNvSpPr/>
          <p:nvPr/>
        </p:nvSpPr>
        <p:spPr>
          <a:xfrm>
            <a:off x="914400" y="3072384"/>
            <a:ext cx="10332720" cy="365760"/>
          </a:xfrm>
          <a:prstGeom prst="rect">
            <a:avLst/>
          </a:prstGeom>
          <a:noFill/>
          <a:ln/>
        </p:spPr>
        <p:txBody>
          <a:bodyPr wrap="square" rtlCol="0" anchor="ctr"/>
          <a:lstStyle/>
          <a:p>
            <a:pPr indent="0" marL="0">
              <a:buNone/>
            </a:pPr>
            <a:r>
              <a:rPr lang="en-US" sz="1500" b="1" dirty="0">
                <a:solidFill>
                  <a:srgbClr val="1B1F3B"/>
                </a:solidFill>
                <a:latin typeface="Georgia" pitchFamily="34" charset="0"/>
                <a:ea typeface="Georgia" pitchFamily="34" charset="-122"/>
                <a:cs typeface="Georgia" pitchFamily="34" charset="-120"/>
              </a:rPr>
              <a:t>Alerte urgente</a:t>
            </a:r>
            <a:endParaRPr lang="en-US" sz="1500" dirty="0"/>
          </a:p>
        </p:txBody>
      </p:sp>
      <p:sp>
        <p:nvSpPr>
          <p:cNvPr id="11" name="Text 9"/>
          <p:cNvSpPr/>
          <p:nvPr/>
        </p:nvSpPr>
        <p:spPr>
          <a:xfrm>
            <a:off x="914400" y="3474720"/>
            <a:ext cx="10332720" cy="1005840"/>
          </a:xfrm>
          <a:prstGeom prst="rect">
            <a:avLst/>
          </a:prstGeom>
          <a:noFill/>
          <a:ln/>
        </p:spPr>
        <p:txBody>
          <a:bodyPr wrap="square" rtlCol="0" anchor="ctr"/>
          <a:lstStyle/>
          <a:p>
            <a:pPr indent="0" marL="0">
              <a:lnSpc>
                <a:spcPts val="1600"/>
              </a:lnSpc>
              <a:buNone/>
            </a:pPr>
            <a:r>
              <a:rPr lang="en-US" sz="1150" dirty="0">
                <a:solidFill>
                  <a:srgbClr val="1B1F3B"/>
                </a:solidFill>
                <a:latin typeface="Segoe UI" pitchFamily="34" charset="0"/>
                <a:ea typeface="Segoe UI" pitchFamily="34" charset="-122"/>
                <a:cs typeface="Segoe UI" pitchFamily="34" charset="-120"/>
              </a:rPr>
              <a:t>Signalement d'un incident grave (urgence, dégât, fuite, incendie) avec notification immédiate à l'entreprise.</a:t>
            </a:r>
            <a:endParaRPr lang="en-US" sz="1150" dirty="0"/>
          </a:p>
        </p:txBody>
      </p:sp>
      <p:sp>
        <p:nvSpPr>
          <p:cNvPr id="12" name="Text 10"/>
          <p:cNvSpPr/>
          <p:nvPr/>
        </p:nvSpPr>
        <p:spPr>
          <a:xfrm>
            <a:off x="365760" y="6510528"/>
            <a:ext cx="5486400" cy="274320"/>
          </a:xfrm>
          <a:prstGeom prst="rect">
            <a:avLst/>
          </a:prstGeom>
          <a:noFill/>
          <a:ln/>
        </p:spPr>
        <p:txBody>
          <a:bodyPr wrap="square" rtlCol="0" anchor="ctr"/>
          <a:lstStyle/>
          <a:p>
            <a:pPr indent="0" marL="0">
              <a:buNone/>
            </a:pPr>
            <a:r>
              <a:rPr lang="en-US" sz="850" dirty="0">
                <a:solidFill>
                  <a:srgbClr val="8A7C68"/>
                </a:solidFill>
                <a:latin typeface="Segoe UI" pitchFamily="34" charset="0"/>
                <a:ea typeface="Segoe UI" pitchFamily="34" charset="-122"/>
                <a:cs typeface="Segoe UI" pitchFamily="34" charset="-120"/>
              </a:rPr>
              <a:t>Kôji Web — Cahier des charges</a:t>
            </a:r>
            <a:endParaRPr lang="en-US" sz="850" dirty="0"/>
          </a:p>
        </p:txBody>
      </p:sp>
      <p:sp>
        <p:nvSpPr>
          <p:cNvPr id="13" name="Text 11"/>
          <p:cNvSpPr/>
          <p:nvPr/>
        </p:nvSpPr>
        <p:spPr>
          <a:xfrm>
            <a:off x="9601200" y="6510528"/>
            <a:ext cx="2194560" cy="274320"/>
          </a:xfrm>
          <a:prstGeom prst="rect">
            <a:avLst/>
          </a:prstGeom>
          <a:noFill/>
          <a:ln/>
        </p:spPr>
        <p:txBody>
          <a:bodyPr wrap="square" rtlCol="0" anchor="ctr"/>
          <a:lstStyle/>
          <a:p>
            <a:pPr algn="r" indent="0" marL="0">
              <a:buNone/>
            </a:pPr>
            <a:r>
              <a:rPr lang="en-US" sz="850" dirty="0">
                <a:solidFill>
                  <a:srgbClr val="8A7C68"/>
                </a:solidFill>
                <a:latin typeface="Segoe UI" pitchFamily="34" charset="0"/>
                <a:ea typeface="Segoe UI" pitchFamily="34" charset="-122"/>
                <a:cs typeface="Segoe UI" pitchFamily="34" charset="-120"/>
              </a:rPr>
              <a:t>74</a:t>
            </a:r>
            <a:endParaRPr lang="en-US" sz="850" dirty="0"/>
          </a:p>
        </p:txBody>
      </p:sp>
    </p:spTree>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name="Slide 76">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3108960" cy="365760"/>
          </a:xfrm>
          <a:prstGeom prst="roundRect">
            <a:avLst>
              <a:gd name="adj" fmla="val 50000"/>
            </a:avLst>
          </a:prstGeom>
          <a:solidFill>
            <a:srgbClr val="F7EADF"/>
          </a:solidFill>
          <a:ln/>
        </p:spPr>
      </p:sp>
      <p:sp>
        <p:nvSpPr>
          <p:cNvPr id="3" name="Text 1"/>
          <p:cNvSpPr/>
          <p:nvPr/>
        </p:nvSpPr>
        <p:spPr>
          <a:xfrm>
            <a:off x="640080" y="411480"/>
            <a:ext cx="3108960" cy="365760"/>
          </a:xfrm>
          <a:prstGeom prst="rect">
            <a:avLst/>
          </a:prstGeom>
          <a:noFill/>
          <a:ln/>
        </p:spPr>
        <p:txBody>
          <a:bodyPr wrap="square" rtlCol="0" anchor="ctr"/>
          <a:lstStyle/>
          <a:p>
            <a:pPr algn="ctr" indent="0" marL="0">
              <a:buNone/>
            </a:pPr>
            <a:r>
              <a:rPr lang="en-US" sz="950" b="1" spc="100" kern="0" dirty="0">
                <a:solidFill>
                  <a:srgbClr val="9A7C5C"/>
                </a:solidFill>
                <a:latin typeface="Segoe UI" pitchFamily="34" charset="0"/>
                <a:ea typeface="Segoe UI" pitchFamily="34" charset="-122"/>
                <a:cs typeface="Segoe UI" pitchFamily="34" charset="-120"/>
              </a:rPr>
              <a:t>ESPACE OUVRIER</a:t>
            </a:r>
            <a:endParaRPr lang="en-US" sz="950" dirty="0"/>
          </a:p>
        </p:txBody>
      </p:sp>
      <p:sp>
        <p:nvSpPr>
          <p:cNvPr id="4" name="Shape 2"/>
          <p:cNvSpPr/>
          <p:nvPr/>
        </p:nvSpPr>
        <p:spPr>
          <a:xfrm>
            <a:off x="640080" y="1005840"/>
            <a:ext cx="10881360" cy="1737360"/>
          </a:xfrm>
          <a:prstGeom prst="roundRect">
            <a:avLst>
              <a:gd name="adj" fmla="val 3158"/>
            </a:avLst>
          </a:prstGeom>
          <a:solidFill>
            <a:srgbClr val="FFFFFF"/>
          </a:solidFill>
          <a:ln w="12700">
            <a:solidFill>
              <a:srgbClr val="E4DCCB"/>
            </a:solidFill>
            <a:prstDash val="solid"/>
          </a:ln>
        </p:spPr>
      </p:sp>
      <p:sp>
        <p:nvSpPr>
          <p:cNvPr id="5" name="Shape 3"/>
          <p:cNvSpPr/>
          <p:nvPr/>
        </p:nvSpPr>
        <p:spPr>
          <a:xfrm>
            <a:off x="640080" y="1005840"/>
            <a:ext cx="54864" cy="1737360"/>
          </a:xfrm>
          <a:prstGeom prst="rect">
            <a:avLst/>
          </a:prstGeom>
          <a:solidFill>
            <a:srgbClr val="1D6FE0"/>
          </a:solidFill>
          <a:ln/>
        </p:spPr>
      </p:sp>
      <p:sp>
        <p:nvSpPr>
          <p:cNvPr id="6" name="Text 4"/>
          <p:cNvSpPr/>
          <p:nvPr/>
        </p:nvSpPr>
        <p:spPr>
          <a:xfrm>
            <a:off x="914400" y="1133856"/>
            <a:ext cx="10332720" cy="365760"/>
          </a:xfrm>
          <a:prstGeom prst="rect">
            <a:avLst/>
          </a:prstGeom>
          <a:noFill/>
          <a:ln/>
        </p:spPr>
        <p:txBody>
          <a:bodyPr wrap="square" rtlCol="0" anchor="ctr"/>
          <a:lstStyle/>
          <a:p>
            <a:pPr indent="0" marL="0">
              <a:buNone/>
            </a:pPr>
            <a:r>
              <a:rPr lang="en-US" sz="1500" b="1" dirty="0">
                <a:solidFill>
                  <a:srgbClr val="1B1F3B"/>
                </a:solidFill>
                <a:latin typeface="Georgia" pitchFamily="34" charset="0"/>
                <a:ea typeface="Georgia" pitchFamily="34" charset="-122"/>
                <a:cs typeface="Georgia" pitchFamily="34" charset="-120"/>
              </a:rPr>
              <a:t>Archives et notifications</a:t>
            </a:r>
            <a:endParaRPr lang="en-US" sz="1500" dirty="0"/>
          </a:p>
        </p:txBody>
      </p:sp>
      <p:sp>
        <p:nvSpPr>
          <p:cNvPr id="7" name="Text 5"/>
          <p:cNvSpPr/>
          <p:nvPr/>
        </p:nvSpPr>
        <p:spPr>
          <a:xfrm>
            <a:off x="914400" y="1536192"/>
            <a:ext cx="10332720" cy="1005840"/>
          </a:xfrm>
          <a:prstGeom prst="rect">
            <a:avLst/>
          </a:prstGeom>
          <a:noFill/>
          <a:ln/>
        </p:spPr>
        <p:txBody>
          <a:bodyPr wrap="square" rtlCol="0" anchor="ctr"/>
          <a:lstStyle/>
          <a:p>
            <a:pPr indent="0" marL="0">
              <a:lnSpc>
                <a:spcPts val="1600"/>
              </a:lnSpc>
              <a:buNone/>
            </a:pPr>
            <a:r>
              <a:rPr lang="en-US" sz="1150" dirty="0">
                <a:solidFill>
                  <a:srgbClr val="1B1F3B"/>
                </a:solidFill>
                <a:latin typeface="Segoe UI" pitchFamily="34" charset="0"/>
                <a:ea typeface="Segoe UI" pitchFamily="34" charset="-122"/>
                <a:cs typeface="Segoe UI" pitchFamily="34" charset="-120"/>
              </a:rPr>
              <a:t>Historique des chantiers terminés et centre de notifications propre à l'ouvrier.</a:t>
            </a:r>
            <a:endParaRPr lang="en-US" sz="1150" dirty="0"/>
          </a:p>
        </p:txBody>
      </p:sp>
      <p:sp>
        <p:nvSpPr>
          <p:cNvPr id="8" name="Text 6"/>
          <p:cNvSpPr/>
          <p:nvPr/>
        </p:nvSpPr>
        <p:spPr>
          <a:xfrm>
            <a:off x="365760" y="6510528"/>
            <a:ext cx="5486400" cy="274320"/>
          </a:xfrm>
          <a:prstGeom prst="rect">
            <a:avLst/>
          </a:prstGeom>
          <a:noFill/>
          <a:ln/>
        </p:spPr>
        <p:txBody>
          <a:bodyPr wrap="square" rtlCol="0" anchor="ctr"/>
          <a:lstStyle/>
          <a:p>
            <a:pPr indent="0" marL="0">
              <a:buNone/>
            </a:pPr>
            <a:r>
              <a:rPr lang="en-US" sz="850" dirty="0">
                <a:solidFill>
                  <a:srgbClr val="8A7C68"/>
                </a:solidFill>
                <a:latin typeface="Segoe UI" pitchFamily="34" charset="0"/>
                <a:ea typeface="Segoe UI" pitchFamily="34" charset="-122"/>
                <a:cs typeface="Segoe UI" pitchFamily="34" charset="-120"/>
              </a:rPr>
              <a:t>Kôji Web — Cahier des charges</a:t>
            </a:r>
            <a:endParaRPr lang="en-US" sz="850" dirty="0"/>
          </a:p>
        </p:txBody>
      </p:sp>
      <p:sp>
        <p:nvSpPr>
          <p:cNvPr id="9" name="Text 7"/>
          <p:cNvSpPr/>
          <p:nvPr/>
        </p:nvSpPr>
        <p:spPr>
          <a:xfrm>
            <a:off x="9601200" y="6510528"/>
            <a:ext cx="2194560" cy="274320"/>
          </a:xfrm>
          <a:prstGeom prst="rect">
            <a:avLst/>
          </a:prstGeom>
          <a:noFill/>
          <a:ln/>
        </p:spPr>
        <p:txBody>
          <a:bodyPr wrap="square" rtlCol="0" anchor="ctr"/>
          <a:lstStyle/>
          <a:p>
            <a:pPr algn="r" indent="0" marL="0">
              <a:buNone/>
            </a:pPr>
            <a:r>
              <a:rPr lang="en-US" sz="850" dirty="0">
                <a:solidFill>
                  <a:srgbClr val="8A7C68"/>
                </a:solidFill>
                <a:latin typeface="Segoe UI" pitchFamily="34" charset="0"/>
                <a:ea typeface="Segoe UI" pitchFamily="34" charset="-122"/>
                <a:cs typeface="Segoe UI" pitchFamily="34" charset="-120"/>
              </a:rPr>
              <a:t>75</a:t>
            </a:r>
            <a:endParaRPr lang="en-US" sz="850" dirty="0"/>
          </a:p>
        </p:txBody>
      </p:sp>
    </p:spTree>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name="Slide 77">
    <p:bg>
      <p:bgPr>
        <a:solidFill>
          <a:srgbClr val="0B1030"/>
        </a:solidFill>
      </p:bgPr>
    </p:bg>
    <p:spTree>
      <p:nvGrpSpPr>
        <p:cNvPr id="1" name=""/>
        <p:cNvGrpSpPr/>
        <p:nvPr/>
      </p:nvGrpSpPr>
      <p:grpSpPr>
        <a:xfrm>
          <a:off x="0" y="0"/>
          <a:ext cx="0" cy="0"/>
          <a:chOff x="0" y="0"/>
          <a:chExt cx="0" cy="0"/>
        </a:xfrm>
      </p:grpSpPr>
      <p:sp>
        <p:nvSpPr>
          <p:cNvPr id="2" name="Shape 0"/>
          <p:cNvSpPr/>
          <p:nvPr/>
        </p:nvSpPr>
        <p:spPr>
          <a:xfrm>
            <a:off x="0" y="3246120"/>
            <a:ext cx="12191695" cy="54864"/>
          </a:xfrm>
          <a:prstGeom prst="rect">
            <a:avLst/>
          </a:prstGeom>
          <a:solidFill>
            <a:srgbClr val="C9A96A"/>
          </a:solidFill>
          <a:ln/>
        </p:spPr>
      </p:sp>
      <p:sp>
        <p:nvSpPr>
          <p:cNvPr id="3" name="Text 1"/>
          <p:cNvSpPr/>
          <p:nvPr/>
        </p:nvSpPr>
        <p:spPr>
          <a:xfrm>
            <a:off x="640080" y="1920240"/>
            <a:ext cx="2743200" cy="548640"/>
          </a:xfrm>
          <a:prstGeom prst="rect">
            <a:avLst/>
          </a:prstGeom>
          <a:noFill/>
          <a:ln/>
        </p:spPr>
        <p:txBody>
          <a:bodyPr wrap="square" rtlCol="0" anchor="ctr"/>
          <a:lstStyle/>
          <a:p>
            <a:pPr indent="0" marL="0">
              <a:buNone/>
            </a:pPr>
            <a:r>
              <a:rPr lang="en-US" sz="1500" b="1" dirty="0">
                <a:solidFill>
                  <a:srgbClr val="C9A96A"/>
                </a:solidFill>
                <a:latin typeface="Segoe UI" pitchFamily="34" charset="0"/>
                <a:ea typeface="Segoe UI" pitchFamily="34" charset="-122"/>
                <a:cs typeface="Segoe UI" pitchFamily="34" charset="-120"/>
              </a:rPr>
              <a:t>17</a:t>
            </a:r>
            <a:endParaRPr lang="en-US" sz="1500" dirty="0"/>
          </a:p>
        </p:txBody>
      </p:sp>
      <p:sp>
        <p:nvSpPr>
          <p:cNvPr id="4" name="Text 2"/>
          <p:cNvSpPr/>
          <p:nvPr/>
        </p:nvSpPr>
        <p:spPr>
          <a:xfrm>
            <a:off x="640080" y="2377440"/>
            <a:ext cx="10515600" cy="914400"/>
          </a:xfrm>
          <a:prstGeom prst="rect">
            <a:avLst/>
          </a:prstGeom>
          <a:noFill/>
          <a:ln/>
        </p:spPr>
        <p:txBody>
          <a:bodyPr wrap="square" rtlCol="0" anchor="ctr"/>
          <a:lstStyle/>
          <a:p>
            <a:pPr indent="0" marL="0">
              <a:buNone/>
            </a:pPr>
            <a:r>
              <a:rPr lang="en-US" sz="3400" b="1" dirty="0">
                <a:solidFill>
                  <a:srgbClr val="FFFFFF"/>
                </a:solidFill>
                <a:latin typeface="Georgia" pitchFamily="34" charset="0"/>
                <a:ea typeface="Georgia" pitchFamily="34" charset="-122"/>
                <a:cs typeface="Georgia" pitchFamily="34" charset="-120"/>
              </a:rPr>
              <a:t>Paramètres</a:t>
            </a:r>
            <a:endParaRPr lang="en-US" sz="3400" dirty="0"/>
          </a:p>
        </p:txBody>
      </p:sp>
      <p:sp>
        <p:nvSpPr>
          <p:cNvPr id="5" name="Text 3"/>
          <p:cNvSpPr/>
          <p:nvPr/>
        </p:nvSpPr>
        <p:spPr>
          <a:xfrm>
            <a:off x="640080" y="3429000"/>
            <a:ext cx="10058400" cy="1188720"/>
          </a:xfrm>
          <a:prstGeom prst="rect">
            <a:avLst/>
          </a:prstGeom>
          <a:noFill/>
          <a:ln/>
        </p:spPr>
        <p:txBody>
          <a:bodyPr wrap="square" rtlCol="0" anchor="ctr"/>
          <a:lstStyle/>
          <a:p>
            <a:pPr indent="0" marL="0">
              <a:lnSpc>
                <a:spcPts val="1800"/>
              </a:lnSpc>
              <a:buNone/>
            </a:pPr>
            <a:r>
              <a:rPr lang="en-US" sz="1300" dirty="0">
                <a:solidFill>
                  <a:srgbClr val="C7C9E0"/>
                </a:solidFill>
                <a:latin typeface="Segoe UI" pitchFamily="34" charset="0"/>
                <a:ea typeface="Segoe UI" pitchFamily="34" charset="-122"/>
                <a:cs typeface="Segoe UI" pitchFamily="34" charset="-120"/>
              </a:rPr>
              <a:t>Configuration du profil de l'entreprise, utilisé comme référence par défaut sur tous les documents générés (devis, factures, interventions).</a:t>
            </a:r>
            <a:endParaRPr lang="en-US" sz="1300" dirty="0"/>
          </a:p>
        </p:txBody>
      </p:sp>
      <p:sp>
        <p:nvSpPr>
          <p:cNvPr id="6" name="Text 4"/>
          <p:cNvSpPr/>
          <p:nvPr/>
        </p:nvSpPr>
        <p:spPr>
          <a:xfrm>
            <a:off x="365760" y="6510528"/>
            <a:ext cx="5486400" cy="274320"/>
          </a:xfrm>
          <a:prstGeom prst="rect">
            <a:avLst/>
          </a:prstGeom>
          <a:noFill/>
          <a:ln/>
        </p:spPr>
        <p:txBody>
          <a:bodyPr wrap="square" rtlCol="0" anchor="ctr"/>
          <a:lstStyle/>
          <a:p>
            <a:pPr indent="0" marL="0">
              <a:buNone/>
            </a:pPr>
            <a:r>
              <a:rPr lang="en-US" sz="850" dirty="0">
                <a:solidFill>
                  <a:srgbClr val="8A7C68"/>
                </a:solidFill>
                <a:latin typeface="Segoe UI" pitchFamily="34" charset="0"/>
                <a:ea typeface="Segoe UI" pitchFamily="34" charset="-122"/>
                <a:cs typeface="Segoe UI" pitchFamily="34" charset="-120"/>
              </a:rPr>
              <a:t>Kôji Web — Cahier des charges</a:t>
            </a:r>
            <a:endParaRPr lang="en-US" sz="850" dirty="0"/>
          </a:p>
        </p:txBody>
      </p:sp>
      <p:sp>
        <p:nvSpPr>
          <p:cNvPr id="7" name="Text 5"/>
          <p:cNvSpPr/>
          <p:nvPr/>
        </p:nvSpPr>
        <p:spPr>
          <a:xfrm>
            <a:off x="9601200" y="6510528"/>
            <a:ext cx="2194560" cy="274320"/>
          </a:xfrm>
          <a:prstGeom prst="rect">
            <a:avLst/>
          </a:prstGeom>
          <a:noFill/>
          <a:ln/>
        </p:spPr>
        <p:txBody>
          <a:bodyPr wrap="square" rtlCol="0" anchor="ctr"/>
          <a:lstStyle/>
          <a:p>
            <a:pPr algn="r" indent="0" marL="0">
              <a:buNone/>
            </a:pPr>
            <a:r>
              <a:rPr lang="en-US" sz="850" dirty="0">
                <a:solidFill>
                  <a:srgbClr val="8A7C68"/>
                </a:solidFill>
                <a:latin typeface="Segoe UI" pitchFamily="34" charset="0"/>
                <a:ea typeface="Segoe UI" pitchFamily="34" charset="-122"/>
                <a:cs typeface="Segoe UI" pitchFamily="34" charset="-120"/>
              </a:rPr>
              <a:t>76</a:t>
            </a:r>
            <a:endParaRPr lang="en-US" sz="850" dirty="0"/>
          </a:p>
        </p:txBody>
      </p:sp>
    </p:spTree>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name="Slide 78">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3108960" cy="365760"/>
          </a:xfrm>
          <a:prstGeom prst="roundRect">
            <a:avLst>
              <a:gd name="adj" fmla="val 50000"/>
            </a:avLst>
          </a:prstGeom>
          <a:solidFill>
            <a:srgbClr val="F7EADF"/>
          </a:solidFill>
          <a:ln/>
        </p:spPr>
      </p:sp>
      <p:sp>
        <p:nvSpPr>
          <p:cNvPr id="3" name="Text 1"/>
          <p:cNvSpPr/>
          <p:nvPr/>
        </p:nvSpPr>
        <p:spPr>
          <a:xfrm>
            <a:off x="640080" y="411480"/>
            <a:ext cx="3108960" cy="365760"/>
          </a:xfrm>
          <a:prstGeom prst="rect">
            <a:avLst/>
          </a:prstGeom>
          <a:noFill/>
          <a:ln/>
        </p:spPr>
        <p:txBody>
          <a:bodyPr wrap="square" rtlCol="0" anchor="ctr"/>
          <a:lstStyle/>
          <a:p>
            <a:pPr algn="ctr" indent="0" marL="0">
              <a:buNone/>
            </a:pPr>
            <a:r>
              <a:rPr lang="en-US" sz="950" b="1" spc="100" kern="0" dirty="0">
                <a:solidFill>
                  <a:srgbClr val="9A7C5C"/>
                </a:solidFill>
                <a:latin typeface="Segoe UI" pitchFamily="34" charset="0"/>
                <a:ea typeface="Segoe UI" pitchFamily="34" charset="-122"/>
                <a:cs typeface="Segoe UI" pitchFamily="34" charset="-120"/>
              </a:rPr>
              <a:t>PARAMÈTRES</a:t>
            </a:r>
            <a:endParaRPr lang="en-US" sz="950" dirty="0"/>
          </a:p>
        </p:txBody>
      </p:sp>
      <p:sp>
        <p:nvSpPr>
          <p:cNvPr id="4" name="Shape 2"/>
          <p:cNvSpPr/>
          <p:nvPr/>
        </p:nvSpPr>
        <p:spPr>
          <a:xfrm>
            <a:off x="640080" y="1005840"/>
            <a:ext cx="10881360" cy="2606040"/>
          </a:xfrm>
          <a:prstGeom prst="roundRect">
            <a:avLst>
              <a:gd name="adj" fmla="val 2105"/>
            </a:avLst>
          </a:prstGeom>
          <a:solidFill>
            <a:srgbClr val="FFFFFF"/>
          </a:solidFill>
          <a:ln w="12700">
            <a:solidFill>
              <a:srgbClr val="E4DCCB"/>
            </a:solidFill>
            <a:prstDash val="solid"/>
          </a:ln>
        </p:spPr>
      </p:sp>
      <p:sp>
        <p:nvSpPr>
          <p:cNvPr id="5" name="Shape 3"/>
          <p:cNvSpPr/>
          <p:nvPr/>
        </p:nvSpPr>
        <p:spPr>
          <a:xfrm>
            <a:off x="640080" y="1005840"/>
            <a:ext cx="54864" cy="2606040"/>
          </a:xfrm>
          <a:prstGeom prst="rect">
            <a:avLst/>
          </a:prstGeom>
          <a:solidFill>
            <a:srgbClr val="1D6FE0"/>
          </a:solidFill>
          <a:ln/>
        </p:spPr>
      </p:sp>
      <p:sp>
        <p:nvSpPr>
          <p:cNvPr id="6" name="Text 4"/>
          <p:cNvSpPr/>
          <p:nvPr/>
        </p:nvSpPr>
        <p:spPr>
          <a:xfrm>
            <a:off x="914400" y="1133856"/>
            <a:ext cx="10332720" cy="365760"/>
          </a:xfrm>
          <a:prstGeom prst="rect">
            <a:avLst/>
          </a:prstGeom>
          <a:noFill/>
          <a:ln/>
        </p:spPr>
        <p:txBody>
          <a:bodyPr wrap="square" rtlCol="0" anchor="ctr"/>
          <a:lstStyle/>
          <a:p>
            <a:pPr indent="0" marL="0">
              <a:buNone/>
            </a:pPr>
            <a:r>
              <a:rPr lang="en-US" sz="1500" b="1" dirty="0">
                <a:solidFill>
                  <a:srgbClr val="1B1F3B"/>
                </a:solidFill>
                <a:latin typeface="Georgia" pitchFamily="34" charset="0"/>
                <a:ea typeface="Georgia" pitchFamily="34" charset="-122"/>
                <a:cs typeface="Georgia" pitchFamily="34" charset="-120"/>
              </a:rPr>
              <a:t>Profil entreprise</a:t>
            </a:r>
            <a:endParaRPr lang="en-US" sz="1500" dirty="0"/>
          </a:p>
        </p:txBody>
      </p:sp>
      <p:sp>
        <p:nvSpPr>
          <p:cNvPr id="7" name="Text 5"/>
          <p:cNvSpPr/>
          <p:nvPr/>
        </p:nvSpPr>
        <p:spPr>
          <a:xfrm>
            <a:off x="914400" y="1536192"/>
            <a:ext cx="10332720" cy="1051560"/>
          </a:xfrm>
          <a:prstGeom prst="rect">
            <a:avLst/>
          </a:prstGeom>
          <a:noFill/>
          <a:ln/>
        </p:spPr>
        <p:txBody>
          <a:bodyPr wrap="square" rtlCol="0" anchor="ctr"/>
          <a:lstStyle/>
          <a:p>
            <a:pPr indent="0" marL="0">
              <a:lnSpc>
                <a:spcPts val="1600"/>
              </a:lnSpc>
              <a:buNone/>
            </a:pPr>
            <a:r>
              <a:rPr lang="en-US" sz="1150" dirty="0">
                <a:solidFill>
                  <a:srgbClr val="1B1F3B"/>
                </a:solidFill>
                <a:latin typeface="Segoe UI" pitchFamily="34" charset="0"/>
                <a:ea typeface="Segoe UI" pitchFamily="34" charset="-122"/>
                <a:cs typeface="Segoe UI" pitchFamily="34" charset="-120"/>
              </a:rPr>
              <a:t>Raison sociale, forme juridique, SIRET/SIREN, TVA, adresse, email professionnel, téléphone, logo.</a:t>
            </a:r>
            <a:endParaRPr lang="en-US" sz="1150" dirty="0"/>
          </a:p>
        </p:txBody>
      </p:sp>
      <p:sp>
        <p:nvSpPr>
          <p:cNvPr id="8" name="Text 6"/>
          <p:cNvSpPr/>
          <p:nvPr/>
        </p:nvSpPr>
        <p:spPr>
          <a:xfrm>
            <a:off x="914400" y="2743200"/>
            <a:ext cx="10332720" cy="228600"/>
          </a:xfrm>
          <a:prstGeom prst="rect">
            <a:avLst/>
          </a:prstGeom>
          <a:noFill/>
          <a:ln/>
        </p:spPr>
        <p:txBody>
          <a:bodyPr wrap="square" rtlCol="0" anchor="ctr"/>
          <a:lstStyle/>
          <a:p>
            <a:pPr indent="0" marL="0">
              <a:buNone/>
            </a:pPr>
            <a:r>
              <a:rPr lang="en-US" sz="800" b="1" spc="100" kern="0" dirty="0">
                <a:solidFill>
                  <a:srgbClr val="9A7C5C"/>
                </a:solidFill>
                <a:latin typeface="Segoe UI" pitchFamily="34" charset="0"/>
                <a:ea typeface="Segoe UI" pitchFamily="34" charset="-122"/>
                <a:cs typeface="Segoe UI" pitchFamily="34" charset="-120"/>
              </a:rPr>
              <a:t>RÉALISATION TECHNIQUE</a:t>
            </a:r>
            <a:endParaRPr lang="en-US" sz="800" dirty="0"/>
          </a:p>
        </p:txBody>
      </p:sp>
      <p:sp>
        <p:nvSpPr>
          <p:cNvPr id="9" name="Text 7"/>
          <p:cNvSpPr/>
          <p:nvPr/>
        </p:nvSpPr>
        <p:spPr>
          <a:xfrm>
            <a:off x="914400" y="2990088"/>
            <a:ext cx="10332720" cy="548640"/>
          </a:xfrm>
          <a:prstGeom prst="rect">
            <a:avLst/>
          </a:prstGeom>
          <a:noFill/>
          <a:ln/>
        </p:spPr>
        <p:txBody>
          <a:bodyPr wrap="square" rtlCol="0" anchor="ctr"/>
          <a:lstStyle/>
          <a:p>
            <a:pPr indent="0" marL="0">
              <a:lnSpc>
                <a:spcPts val="1400"/>
              </a:lnSpc>
              <a:buNone/>
            </a:pPr>
            <a:r>
              <a:rPr lang="en-US" sz="1000" i="1" dirty="0">
                <a:solidFill>
                  <a:srgbClr val="8A7C68"/>
                </a:solidFill>
                <a:latin typeface="Segoe UI" pitchFamily="34" charset="0"/>
                <a:ea typeface="Segoe UI" pitchFamily="34" charset="-122"/>
                <a:cs typeface="Segoe UI" pitchFamily="34" charset="-120"/>
              </a:rPr>
              <a:t>Page /parametres, API /api/auth/profile.</a:t>
            </a:r>
            <a:endParaRPr lang="en-US" sz="1000" dirty="0"/>
          </a:p>
        </p:txBody>
      </p:sp>
      <p:sp>
        <p:nvSpPr>
          <p:cNvPr id="10" name="Shape 8"/>
          <p:cNvSpPr/>
          <p:nvPr/>
        </p:nvSpPr>
        <p:spPr>
          <a:xfrm>
            <a:off x="640080" y="3813048"/>
            <a:ext cx="10881360" cy="1737360"/>
          </a:xfrm>
          <a:prstGeom prst="roundRect">
            <a:avLst>
              <a:gd name="adj" fmla="val 3158"/>
            </a:avLst>
          </a:prstGeom>
          <a:solidFill>
            <a:srgbClr val="FFFFFF"/>
          </a:solidFill>
          <a:ln w="12700">
            <a:solidFill>
              <a:srgbClr val="E4DCCB"/>
            </a:solidFill>
            <a:prstDash val="solid"/>
          </a:ln>
        </p:spPr>
      </p:sp>
      <p:sp>
        <p:nvSpPr>
          <p:cNvPr id="11" name="Shape 9"/>
          <p:cNvSpPr/>
          <p:nvPr/>
        </p:nvSpPr>
        <p:spPr>
          <a:xfrm>
            <a:off x="640080" y="3813048"/>
            <a:ext cx="54864" cy="1737360"/>
          </a:xfrm>
          <a:prstGeom prst="rect">
            <a:avLst/>
          </a:prstGeom>
          <a:solidFill>
            <a:srgbClr val="1D6FE0"/>
          </a:solidFill>
          <a:ln/>
        </p:spPr>
      </p:sp>
      <p:sp>
        <p:nvSpPr>
          <p:cNvPr id="12" name="Text 10"/>
          <p:cNvSpPr/>
          <p:nvPr/>
        </p:nvSpPr>
        <p:spPr>
          <a:xfrm>
            <a:off x="914400" y="3941064"/>
            <a:ext cx="10332720" cy="365760"/>
          </a:xfrm>
          <a:prstGeom prst="rect">
            <a:avLst/>
          </a:prstGeom>
          <a:noFill/>
          <a:ln/>
        </p:spPr>
        <p:txBody>
          <a:bodyPr wrap="square" rtlCol="0" anchor="ctr"/>
          <a:lstStyle/>
          <a:p>
            <a:pPr indent="0" marL="0">
              <a:buNone/>
            </a:pPr>
            <a:r>
              <a:rPr lang="en-US" sz="1500" b="1" dirty="0">
                <a:solidFill>
                  <a:srgbClr val="1B1F3B"/>
                </a:solidFill>
                <a:latin typeface="Georgia" pitchFamily="34" charset="0"/>
                <a:ea typeface="Georgia" pitchFamily="34" charset="-122"/>
                <a:cs typeface="Georgia" pitchFamily="34" charset="-120"/>
              </a:rPr>
              <a:t>Tarification</a:t>
            </a:r>
            <a:endParaRPr lang="en-US" sz="1500" dirty="0"/>
          </a:p>
        </p:txBody>
      </p:sp>
      <p:sp>
        <p:nvSpPr>
          <p:cNvPr id="13" name="Text 11"/>
          <p:cNvSpPr/>
          <p:nvPr/>
        </p:nvSpPr>
        <p:spPr>
          <a:xfrm>
            <a:off x="914400" y="4343400"/>
            <a:ext cx="10332720" cy="1005840"/>
          </a:xfrm>
          <a:prstGeom prst="rect">
            <a:avLst/>
          </a:prstGeom>
          <a:noFill/>
          <a:ln/>
        </p:spPr>
        <p:txBody>
          <a:bodyPr wrap="square" rtlCol="0" anchor="ctr"/>
          <a:lstStyle/>
          <a:p>
            <a:pPr indent="0" marL="0">
              <a:lnSpc>
                <a:spcPts val="1600"/>
              </a:lnSpc>
              <a:buNone/>
            </a:pPr>
            <a:r>
              <a:rPr lang="en-US" sz="1150" dirty="0">
                <a:solidFill>
                  <a:srgbClr val="1B1F3B"/>
                </a:solidFill>
                <a:latin typeface="Segoe UI" pitchFamily="34" charset="0"/>
                <a:ea typeface="Segoe UI" pitchFamily="34" charset="-122"/>
                <a:cs typeface="Segoe UI" pitchFamily="34" charset="-120"/>
              </a:rPr>
              <a:t>Taux journalier et heures par jour, utilisés pour calculer automatiquement le taux horaire par défaut appliqué dans la bibliothèque d'ouvrages.</a:t>
            </a:r>
            <a:endParaRPr lang="en-US" sz="1150" dirty="0"/>
          </a:p>
        </p:txBody>
      </p:sp>
      <p:sp>
        <p:nvSpPr>
          <p:cNvPr id="14" name="Text 12"/>
          <p:cNvSpPr/>
          <p:nvPr/>
        </p:nvSpPr>
        <p:spPr>
          <a:xfrm>
            <a:off x="365760" y="6510528"/>
            <a:ext cx="5486400" cy="274320"/>
          </a:xfrm>
          <a:prstGeom prst="rect">
            <a:avLst/>
          </a:prstGeom>
          <a:noFill/>
          <a:ln/>
        </p:spPr>
        <p:txBody>
          <a:bodyPr wrap="square" rtlCol="0" anchor="ctr"/>
          <a:lstStyle/>
          <a:p>
            <a:pPr indent="0" marL="0">
              <a:buNone/>
            </a:pPr>
            <a:r>
              <a:rPr lang="en-US" sz="850" dirty="0">
                <a:solidFill>
                  <a:srgbClr val="8A7C68"/>
                </a:solidFill>
                <a:latin typeface="Segoe UI" pitchFamily="34" charset="0"/>
                <a:ea typeface="Segoe UI" pitchFamily="34" charset="-122"/>
                <a:cs typeface="Segoe UI" pitchFamily="34" charset="-120"/>
              </a:rPr>
              <a:t>Kôji Web — Cahier des charges</a:t>
            </a:r>
            <a:endParaRPr lang="en-US" sz="850" dirty="0"/>
          </a:p>
        </p:txBody>
      </p:sp>
      <p:sp>
        <p:nvSpPr>
          <p:cNvPr id="15" name="Text 13"/>
          <p:cNvSpPr/>
          <p:nvPr/>
        </p:nvSpPr>
        <p:spPr>
          <a:xfrm>
            <a:off x="9601200" y="6510528"/>
            <a:ext cx="2194560" cy="274320"/>
          </a:xfrm>
          <a:prstGeom prst="rect">
            <a:avLst/>
          </a:prstGeom>
          <a:noFill/>
          <a:ln/>
        </p:spPr>
        <p:txBody>
          <a:bodyPr wrap="square" rtlCol="0" anchor="ctr"/>
          <a:lstStyle/>
          <a:p>
            <a:pPr algn="r" indent="0" marL="0">
              <a:buNone/>
            </a:pPr>
            <a:r>
              <a:rPr lang="en-US" sz="850" dirty="0">
                <a:solidFill>
                  <a:srgbClr val="8A7C68"/>
                </a:solidFill>
                <a:latin typeface="Segoe UI" pitchFamily="34" charset="0"/>
                <a:ea typeface="Segoe UI" pitchFamily="34" charset="-122"/>
                <a:cs typeface="Segoe UI" pitchFamily="34" charset="-120"/>
              </a:rPr>
              <a:t>77</a:t>
            </a:r>
            <a:endParaRPr lang="en-US" sz="850" dirty="0"/>
          </a:p>
        </p:txBody>
      </p:sp>
    </p:spTree>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name="Slide 79">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3108960" cy="365760"/>
          </a:xfrm>
          <a:prstGeom prst="roundRect">
            <a:avLst>
              <a:gd name="adj" fmla="val 50000"/>
            </a:avLst>
          </a:prstGeom>
          <a:solidFill>
            <a:srgbClr val="F7EADF"/>
          </a:solidFill>
          <a:ln/>
        </p:spPr>
      </p:sp>
      <p:sp>
        <p:nvSpPr>
          <p:cNvPr id="3" name="Text 1"/>
          <p:cNvSpPr/>
          <p:nvPr/>
        </p:nvSpPr>
        <p:spPr>
          <a:xfrm>
            <a:off x="640080" y="411480"/>
            <a:ext cx="3108960" cy="365760"/>
          </a:xfrm>
          <a:prstGeom prst="rect">
            <a:avLst/>
          </a:prstGeom>
          <a:noFill/>
          <a:ln/>
        </p:spPr>
        <p:txBody>
          <a:bodyPr wrap="square" rtlCol="0" anchor="ctr"/>
          <a:lstStyle/>
          <a:p>
            <a:pPr algn="ctr" indent="0" marL="0">
              <a:buNone/>
            </a:pPr>
            <a:r>
              <a:rPr lang="en-US" sz="950" b="1" spc="100" kern="0" dirty="0">
                <a:solidFill>
                  <a:srgbClr val="9A7C5C"/>
                </a:solidFill>
                <a:latin typeface="Segoe UI" pitchFamily="34" charset="0"/>
                <a:ea typeface="Segoe UI" pitchFamily="34" charset="-122"/>
                <a:cs typeface="Segoe UI" pitchFamily="34" charset="-120"/>
              </a:rPr>
              <a:t>PARAMÈTRES</a:t>
            </a:r>
            <a:endParaRPr lang="en-US" sz="950" dirty="0"/>
          </a:p>
        </p:txBody>
      </p:sp>
      <p:sp>
        <p:nvSpPr>
          <p:cNvPr id="4" name="Shape 2"/>
          <p:cNvSpPr/>
          <p:nvPr/>
        </p:nvSpPr>
        <p:spPr>
          <a:xfrm>
            <a:off x="640080" y="1005840"/>
            <a:ext cx="10881360" cy="1737360"/>
          </a:xfrm>
          <a:prstGeom prst="roundRect">
            <a:avLst>
              <a:gd name="adj" fmla="val 3158"/>
            </a:avLst>
          </a:prstGeom>
          <a:solidFill>
            <a:srgbClr val="FFFFFF"/>
          </a:solidFill>
          <a:ln w="12700">
            <a:solidFill>
              <a:srgbClr val="E4DCCB"/>
            </a:solidFill>
            <a:prstDash val="solid"/>
          </a:ln>
        </p:spPr>
      </p:sp>
      <p:sp>
        <p:nvSpPr>
          <p:cNvPr id="5" name="Shape 3"/>
          <p:cNvSpPr/>
          <p:nvPr/>
        </p:nvSpPr>
        <p:spPr>
          <a:xfrm>
            <a:off x="640080" y="1005840"/>
            <a:ext cx="54864" cy="1737360"/>
          </a:xfrm>
          <a:prstGeom prst="rect">
            <a:avLst/>
          </a:prstGeom>
          <a:solidFill>
            <a:srgbClr val="1D6FE0"/>
          </a:solidFill>
          <a:ln/>
        </p:spPr>
      </p:sp>
      <p:sp>
        <p:nvSpPr>
          <p:cNvPr id="6" name="Text 4"/>
          <p:cNvSpPr/>
          <p:nvPr/>
        </p:nvSpPr>
        <p:spPr>
          <a:xfrm>
            <a:off x="914400" y="1133856"/>
            <a:ext cx="10332720" cy="365760"/>
          </a:xfrm>
          <a:prstGeom prst="rect">
            <a:avLst/>
          </a:prstGeom>
          <a:noFill/>
          <a:ln/>
        </p:spPr>
        <p:txBody>
          <a:bodyPr wrap="square" rtlCol="0" anchor="ctr"/>
          <a:lstStyle/>
          <a:p>
            <a:pPr indent="0" marL="0">
              <a:buNone/>
            </a:pPr>
            <a:r>
              <a:rPr lang="en-US" sz="1500" b="1" dirty="0">
                <a:solidFill>
                  <a:srgbClr val="1B1F3B"/>
                </a:solidFill>
                <a:latin typeface="Georgia" pitchFamily="34" charset="0"/>
                <a:ea typeface="Georgia" pitchFamily="34" charset="-122"/>
                <a:cs typeface="Georgia" pitchFamily="34" charset="-120"/>
              </a:rPr>
              <a:t>Coordonnées bancaires</a:t>
            </a:r>
            <a:endParaRPr lang="en-US" sz="1500" dirty="0"/>
          </a:p>
        </p:txBody>
      </p:sp>
      <p:sp>
        <p:nvSpPr>
          <p:cNvPr id="7" name="Text 5"/>
          <p:cNvSpPr/>
          <p:nvPr/>
        </p:nvSpPr>
        <p:spPr>
          <a:xfrm>
            <a:off x="914400" y="1536192"/>
            <a:ext cx="10332720" cy="1005840"/>
          </a:xfrm>
          <a:prstGeom prst="rect">
            <a:avLst/>
          </a:prstGeom>
          <a:noFill/>
          <a:ln/>
        </p:spPr>
        <p:txBody>
          <a:bodyPr wrap="square" rtlCol="0" anchor="ctr"/>
          <a:lstStyle/>
          <a:p>
            <a:pPr indent="0" marL="0">
              <a:lnSpc>
                <a:spcPts val="1600"/>
              </a:lnSpc>
              <a:buNone/>
            </a:pPr>
            <a:r>
              <a:rPr lang="en-US" sz="1150" dirty="0">
                <a:solidFill>
                  <a:srgbClr val="1B1F3B"/>
                </a:solidFill>
                <a:latin typeface="Segoe UI" pitchFamily="34" charset="0"/>
                <a:ea typeface="Segoe UI" pitchFamily="34" charset="-122"/>
                <a:cs typeface="Segoe UI" pitchFamily="34" charset="-120"/>
              </a:rPr>
              <a:t>IBAN, BIC, titulaire du compte, affichés sur les factures.</a:t>
            </a:r>
            <a:endParaRPr lang="en-US" sz="1150" dirty="0"/>
          </a:p>
        </p:txBody>
      </p:sp>
      <p:sp>
        <p:nvSpPr>
          <p:cNvPr id="8" name="Shape 6"/>
          <p:cNvSpPr/>
          <p:nvPr/>
        </p:nvSpPr>
        <p:spPr>
          <a:xfrm>
            <a:off x="640080" y="2944368"/>
            <a:ext cx="10881360" cy="1737360"/>
          </a:xfrm>
          <a:prstGeom prst="roundRect">
            <a:avLst>
              <a:gd name="adj" fmla="val 3158"/>
            </a:avLst>
          </a:prstGeom>
          <a:solidFill>
            <a:srgbClr val="FFFFFF"/>
          </a:solidFill>
          <a:ln w="12700">
            <a:solidFill>
              <a:srgbClr val="E4DCCB"/>
            </a:solidFill>
            <a:prstDash val="solid"/>
          </a:ln>
        </p:spPr>
      </p:sp>
      <p:sp>
        <p:nvSpPr>
          <p:cNvPr id="9" name="Shape 7"/>
          <p:cNvSpPr/>
          <p:nvPr/>
        </p:nvSpPr>
        <p:spPr>
          <a:xfrm>
            <a:off x="640080" y="2944368"/>
            <a:ext cx="54864" cy="1737360"/>
          </a:xfrm>
          <a:prstGeom prst="rect">
            <a:avLst/>
          </a:prstGeom>
          <a:solidFill>
            <a:srgbClr val="1D6FE0"/>
          </a:solidFill>
          <a:ln/>
        </p:spPr>
      </p:sp>
      <p:sp>
        <p:nvSpPr>
          <p:cNvPr id="10" name="Text 8"/>
          <p:cNvSpPr/>
          <p:nvPr/>
        </p:nvSpPr>
        <p:spPr>
          <a:xfrm>
            <a:off x="914400" y="3072384"/>
            <a:ext cx="10332720" cy="365760"/>
          </a:xfrm>
          <a:prstGeom prst="rect">
            <a:avLst/>
          </a:prstGeom>
          <a:noFill/>
          <a:ln/>
        </p:spPr>
        <p:txBody>
          <a:bodyPr wrap="square" rtlCol="0" anchor="ctr"/>
          <a:lstStyle/>
          <a:p>
            <a:pPr indent="0" marL="0">
              <a:buNone/>
            </a:pPr>
            <a:r>
              <a:rPr lang="en-US" sz="1500" b="1" dirty="0">
                <a:solidFill>
                  <a:srgbClr val="1B1F3B"/>
                </a:solidFill>
                <a:latin typeface="Georgia" pitchFamily="34" charset="0"/>
                <a:ea typeface="Georgia" pitchFamily="34" charset="-122"/>
                <a:cs typeface="Georgia" pitchFamily="34" charset="-120"/>
              </a:rPr>
              <a:t>Métiers de l'entreprise</a:t>
            </a:r>
            <a:endParaRPr lang="en-US" sz="1500" dirty="0"/>
          </a:p>
        </p:txBody>
      </p:sp>
      <p:sp>
        <p:nvSpPr>
          <p:cNvPr id="11" name="Text 9"/>
          <p:cNvSpPr/>
          <p:nvPr/>
        </p:nvSpPr>
        <p:spPr>
          <a:xfrm>
            <a:off x="914400" y="3474720"/>
            <a:ext cx="10332720" cy="1005840"/>
          </a:xfrm>
          <a:prstGeom prst="rect">
            <a:avLst/>
          </a:prstGeom>
          <a:noFill/>
          <a:ln/>
        </p:spPr>
        <p:txBody>
          <a:bodyPr wrap="square" rtlCol="0" anchor="ctr"/>
          <a:lstStyle/>
          <a:p>
            <a:pPr indent="0" marL="0">
              <a:lnSpc>
                <a:spcPts val="1600"/>
              </a:lnSpc>
              <a:buNone/>
            </a:pPr>
            <a:r>
              <a:rPr lang="en-US" sz="1150" dirty="0">
                <a:solidFill>
                  <a:srgbClr val="1B1F3B"/>
                </a:solidFill>
                <a:latin typeface="Segoe UI" pitchFamily="34" charset="0"/>
                <a:ea typeface="Segoe UI" pitchFamily="34" charset="-122"/>
                <a:cs typeface="Segoe UI" pitchFamily="34" charset="-120"/>
              </a:rPr>
              <a:t>Sélection multiple des corps de métier exercés.</a:t>
            </a:r>
            <a:endParaRPr lang="en-US" sz="1150" dirty="0"/>
          </a:p>
        </p:txBody>
      </p:sp>
      <p:sp>
        <p:nvSpPr>
          <p:cNvPr id="12" name="Text 10"/>
          <p:cNvSpPr/>
          <p:nvPr/>
        </p:nvSpPr>
        <p:spPr>
          <a:xfrm>
            <a:off x="365760" y="6510528"/>
            <a:ext cx="5486400" cy="274320"/>
          </a:xfrm>
          <a:prstGeom prst="rect">
            <a:avLst/>
          </a:prstGeom>
          <a:noFill/>
          <a:ln/>
        </p:spPr>
        <p:txBody>
          <a:bodyPr wrap="square" rtlCol="0" anchor="ctr"/>
          <a:lstStyle/>
          <a:p>
            <a:pPr indent="0" marL="0">
              <a:buNone/>
            </a:pPr>
            <a:r>
              <a:rPr lang="en-US" sz="850" dirty="0">
                <a:solidFill>
                  <a:srgbClr val="8A7C68"/>
                </a:solidFill>
                <a:latin typeface="Segoe UI" pitchFamily="34" charset="0"/>
                <a:ea typeface="Segoe UI" pitchFamily="34" charset="-122"/>
                <a:cs typeface="Segoe UI" pitchFamily="34" charset="-120"/>
              </a:rPr>
              <a:t>Kôji Web — Cahier des charges</a:t>
            </a:r>
            <a:endParaRPr lang="en-US" sz="850" dirty="0"/>
          </a:p>
        </p:txBody>
      </p:sp>
      <p:sp>
        <p:nvSpPr>
          <p:cNvPr id="13" name="Text 11"/>
          <p:cNvSpPr/>
          <p:nvPr/>
        </p:nvSpPr>
        <p:spPr>
          <a:xfrm>
            <a:off x="9601200" y="6510528"/>
            <a:ext cx="2194560" cy="274320"/>
          </a:xfrm>
          <a:prstGeom prst="rect">
            <a:avLst/>
          </a:prstGeom>
          <a:noFill/>
          <a:ln/>
        </p:spPr>
        <p:txBody>
          <a:bodyPr wrap="square" rtlCol="0" anchor="ctr"/>
          <a:lstStyle/>
          <a:p>
            <a:pPr algn="r" indent="0" marL="0">
              <a:buNone/>
            </a:pPr>
            <a:r>
              <a:rPr lang="en-US" sz="850" dirty="0">
                <a:solidFill>
                  <a:srgbClr val="8A7C68"/>
                </a:solidFill>
                <a:latin typeface="Segoe UI" pitchFamily="34" charset="0"/>
                <a:ea typeface="Segoe UI" pitchFamily="34" charset="-122"/>
                <a:cs typeface="Segoe UI" pitchFamily="34" charset="-120"/>
              </a:rPr>
              <a:t>78</a:t>
            </a:r>
            <a:endParaRPr lang="en-US" sz="850" dirty="0"/>
          </a:p>
        </p:txBody>
      </p:sp>
    </p:spTree>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name="Slide 80">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3108960" cy="365760"/>
          </a:xfrm>
          <a:prstGeom prst="roundRect">
            <a:avLst>
              <a:gd name="adj" fmla="val 50000"/>
            </a:avLst>
          </a:prstGeom>
          <a:solidFill>
            <a:srgbClr val="F7EADF"/>
          </a:solidFill>
          <a:ln/>
        </p:spPr>
      </p:sp>
      <p:sp>
        <p:nvSpPr>
          <p:cNvPr id="3" name="Text 1"/>
          <p:cNvSpPr/>
          <p:nvPr/>
        </p:nvSpPr>
        <p:spPr>
          <a:xfrm>
            <a:off x="640080" y="411480"/>
            <a:ext cx="3108960" cy="365760"/>
          </a:xfrm>
          <a:prstGeom prst="rect">
            <a:avLst/>
          </a:prstGeom>
          <a:noFill/>
          <a:ln/>
        </p:spPr>
        <p:txBody>
          <a:bodyPr wrap="square" rtlCol="0" anchor="ctr"/>
          <a:lstStyle/>
          <a:p>
            <a:pPr algn="ctr" indent="0" marL="0">
              <a:buNone/>
            </a:pPr>
            <a:r>
              <a:rPr lang="en-US" sz="950" b="1" spc="100" kern="0" dirty="0">
                <a:solidFill>
                  <a:srgbClr val="9A7C5C"/>
                </a:solidFill>
                <a:latin typeface="Segoe UI" pitchFamily="34" charset="0"/>
                <a:ea typeface="Segoe UI" pitchFamily="34" charset="-122"/>
                <a:cs typeface="Segoe UI" pitchFamily="34" charset="-120"/>
              </a:rPr>
              <a:t>PARAMÈTRES</a:t>
            </a:r>
            <a:endParaRPr lang="en-US" sz="950" dirty="0"/>
          </a:p>
        </p:txBody>
      </p:sp>
      <p:sp>
        <p:nvSpPr>
          <p:cNvPr id="4" name="Shape 2"/>
          <p:cNvSpPr/>
          <p:nvPr/>
        </p:nvSpPr>
        <p:spPr>
          <a:xfrm>
            <a:off x="640080" y="1005840"/>
            <a:ext cx="10881360" cy="1737360"/>
          </a:xfrm>
          <a:prstGeom prst="roundRect">
            <a:avLst>
              <a:gd name="adj" fmla="val 3158"/>
            </a:avLst>
          </a:prstGeom>
          <a:solidFill>
            <a:srgbClr val="FFFFFF"/>
          </a:solidFill>
          <a:ln w="12700">
            <a:solidFill>
              <a:srgbClr val="E4DCCB"/>
            </a:solidFill>
            <a:prstDash val="solid"/>
          </a:ln>
        </p:spPr>
      </p:sp>
      <p:sp>
        <p:nvSpPr>
          <p:cNvPr id="5" name="Shape 3"/>
          <p:cNvSpPr/>
          <p:nvPr/>
        </p:nvSpPr>
        <p:spPr>
          <a:xfrm>
            <a:off x="640080" y="1005840"/>
            <a:ext cx="54864" cy="1737360"/>
          </a:xfrm>
          <a:prstGeom prst="rect">
            <a:avLst/>
          </a:prstGeom>
          <a:solidFill>
            <a:srgbClr val="1D6FE0"/>
          </a:solidFill>
          <a:ln/>
        </p:spPr>
      </p:sp>
      <p:sp>
        <p:nvSpPr>
          <p:cNvPr id="6" name="Text 4"/>
          <p:cNvSpPr/>
          <p:nvPr/>
        </p:nvSpPr>
        <p:spPr>
          <a:xfrm>
            <a:off x="914400" y="1133856"/>
            <a:ext cx="10332720" cy="365760"/>
          </a:xfrm>
          <a:prstGeom prst="rect">
            <a:avLst/>
          </a:prstGeom>
          <a:noFill/>
          <a:ln/>
        </p:spPr>
        <p:txBody>
          <a:bodyPr wrap="square" rtlCol="0" anchor="ctr"/>
          <a:lstStyle/>
          <a:p>
            <a:pPr indent="0" marL="0">
              <a:buNone/>
            </a:pPr>
            <a:r>
              <a:rPr lang="en-US" sz="1500" b="1" dirty="0">
                <a:solidFill>
                  <a:srgbClr val="1B1F3B"/>
                </a:solidFill>
                <a:latin typeface="Georgia" pitchFamily="34" charset="0"/>
                <a:ea typeface="Georgia" pitchFamily="34" charset="-122"/>
                <a:cs typeface="Georgia" pitchFamily="34" charset="-120"/>
              </a:rPr>
              <a:t>Accès à "Ma Signature"</a:t>
            </a:r>
            <a:endParaRPr lang="en-US" sz="1500" dirty="0"/>
          </a:p>
        </p:txBody>
      </p:sp>
      <p:sp>
        <p:nvSpPr>
          <p:cNvPr id="7" name="Text 5"/>
          <p:cNvSpPr/>
          <p:nvPr/>
        </p:nvSpPr>
        <p:spPr>
          <a:xfrm>
            <a:off x="914400" y="1536192"/>
            <a:ext cx="10332720" cy="1005840"/>
          </a:xfrm>
          <a:prstGeom prst="rect">
            <a:avLst/>
          </a:prstGeom>
          <a:noFill/>
          <a:ln/>
        </p:spPr>
        <p:txBody>
          <a:bodyPr wrap="square" rtlCol="0" anchor="ctr"/>
          <a:lstStyle/>
          <a:p>
            <a:pPr indent="0" marL="0">
              <a:lnSpc>
                <a:spcPts val="1600"/>
              </a:lnSpc>
              <a:buNone/>
            </a:pPr>
            <a:r>
              <a:rPr lang="en-US" sz="1150" dirty="0">
                <a:solidFill>
                  <a:srgbClr val="1B1F3B"/>
                </a:solidFill>
                <a:latin typeface="Segoe UI" pitchFamily="34" charset="0"/>
                <a:ea typeface="Segoe UI" pitchFamily="34" charset="-122"/>
                <a:cs typeface="Segoe UI" pitchFamily="34" charset="-120"/>
              </a:rPr>
              <a:t>Bouton renvoyant vers la page de gestion de la signature de l'entreprise.</a:t>
            </a:r>
            <a:endParaRPr lang="en-US" sz="1150" dirty="0"/>
          </a:p>
        </p:txBody>
      </p:sp>
      <p:sp>
        <p:nvSpPr>
          <p:cNvPr id="8" name="Text 6"/>
          <p:cNvSpPr/>
          <p:nvPr/>
        </p:nvSpPr>
        <p:spPr>
          <a:xfrm>
            <a:off x="365760" y="6510528"/>
            <a:ext cx="5486400" cy="274320"/>
          </a:xfrm>
          <a:prstGeom prst="rect">
            <a:avLst/>
          </a:prstGeom>
          <a:noFill/>
          <a:ln/>
        </p:spPr>
        <p:txBody>
          <a:bodyPr wrap="square" rtlCol="0" anchor="ctr"/>
          <a:lstStyle/>
          <a:p>
            <a:pPr indent="0" marL="0">
              <a:buNone/>
            </a:pPr>
            <a:r>
              <a:rPr lang="en-US" sz="850" dirty="0">
                <a:solidFill>
                  <a:srgbClr val="8A7C68"/>
                </a:solidFill>
                <a:latin typeface="Segoe UI" pitchFamily="34" charset="0"/>
                <a:ea typeface="Segoe UI" pitchFamily="34" charset="-122"/>
                <a:cs typeface="Segoe UI" pitchFamily="34" charset="-120"/>
              </a:rPr>
              <a:t>Kôji Web — Cahier des charges</a:t>
            </a:r>
            <a:endParaRPr lang="en-US" sz="850" dirty="0"/>
          </a:p>
        </p:txBody>
      </p:sp>
      <p:sp>
        <p:nvSpPr>
          <p:cNvPr id="9" name="Text 7"/>
          <p:cNvSpPr/>
          <p:nvPr/>
        </p:nvSpPr>
        <p:spPr>
          <a:xfrm>
            <a:off x="9601200" y="6510528"/>
            <a:ext cx="2194560" cy="274320"/>
          </a:xfrm>
          <a:prstGeom prst="rect">
            <a:avLst/>
          </a:prstGeom>
          <a:noFill/>
          <a:ln/>
        </p:spPr>
        <p:txBody>
          <a:bodyPr wrap="square" rtlCol="0" anchor="ctr"/>
          <a:lstStyle/>
          <a:p>
            <a:pPr algn="r" indent="0" marL="0">
              <a:buNone/>
            </a:pPr>
            <a:r>
              <a:rPr lang="en-US" sz="850" dirty="0">
                <a:solidFill>
                  <a:srgbClr val="8A7C68"/>
                </a:solidFill>
                <a:latin typeface="Segoe UI" pitchFamily="34" charset="0"/>
                <a:ea typeface="Segoe UI" pitchFamily="34" charset="-122"/>
                <a:cs typeface="Segoe UI" pitchFamily="34" charset="-120"/>
              </a:rPr>
              <a:t>79</a:t>
            </a:r>
            <a:endParaRPr lang="en-US" sz="850" dirty="0"/>
          </a:p>
        </p:txBody>
      </p:sp>
    </p:spTree>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name="Slide 81">
    <p:bg>
      <p:bgPr>
        <a:solidFill>
          <a:srgbClr val="0B1030"/>
        </a:solidFill>
      </p:bgPr>
    </p:bg>
    <p:spTree>
      <p:nvGrpSpPr>
        <p:cNvPr id="1" name=""/>
        <p:cNvGrpSpPr/>
        <p:nvPr/>
      </p:nvGrpSpPr>
      <p:grpSpPr>
        <a:xfrm>
          <a:off x="0" y="0"/>
          <a:ext cx="0" cy="0"/>
          <a:chOff x="0" y="0"/>
          <a:chExt cx="0" cy="0"/>
        </a:xfrm>
      </p:grpSpPr>
      <p:sp>
        <p:nvSpPr>
          <p:cNvPr id="2" name="Shape 0"/>
          <p:cNvSpPr/>
          <p:nvPr/>
        </p:nvSpPr>
        <p:spPr>
          <a:xfrm>
            <a:off x="0" y="3246120"/>
            <a:ext cx="12191695" cy="54864"/>
          </a:xfrm>
          <a:prstGeom prst="rect">
            <a:avLst/>
          </a:prstGeom>
          <a:solidFill>
            <a:srgbClr val="C9A96A"/>
          </a:solidFill>
          <a:ln/>
        </p:spPr>
      </p:sp>
      <p:sp>
        <p:nvSpPr>
          <p:cNvPr id="3" name="Text 1"/>
          <p:cNvSpPr/>
          <p:nvPr/>
        </p:nvSpPr>
        <p:spPr>
          <a:xfrm>
            <a:off x="640080" y="1920240"/>
            <a:ext cx="2743200" cy="548640"/>
          </a:xfrm>
          <a:prstGeom prst="rect">
            <a:avLst/>
          </a:prstGeom>
          <a:noFill/>
          <a:ln/>
        </p:spPr>
        <p:txBody>
          <a:bodyPr wrap="square" rtlCol="0" anchor="ctr"/>
          <a:lstStyle/>
          <a:p>
            <a:pPr indent="0" marL="0">
              <a:buNone/>
            </a:pPr>
            <a:r>
              <a:rPr lang="en-US" sz="1500" b="1" dirty="0">
                <a:solidFill>
                  <a:srgbClr val="C9A96A"/>
                </a:solidFill>
                <a:latin typeface="Segoe UI" pitchFamily="34" charset="0"/>
                <a:ea typeface="Segoe UI" pitchFamily="34" charset="-122"/>
                <a:cs typeface="Segoe UI" pitchFamily="34" charset="-120"/>
              </a:rPr>
              <a:t>18</a:t>
            </a:r>
            <a:endParaRPr lang="en-US" sz="1500" dirty="0"/>
          </a:p>
        </p:txBody>
      </p:sp>
      <p:sp>
        <p:nvSpPr>
          <p:cNvPr id="4" name="Text 2"/>
          <p:cNvSpPr/>
          <p:nvPr/>
        </p:nvSpPr>
        <p:spPr>
          <a:xfrm>
            <a:off x="640080" y="2377440"/>
            <a:ext cx="10515600" cy="914400"/>
          </a:xfrm>
          <a:prstGeom prst="rect">
            <a:avLst/>
          </a:prstGeom>
          <a:noFill/>
          <a:ln/>
        </p:spPr>
        <p:txBody>
          <a:bodyPr wrap="square" rtlCol="0" anchor="ctr"/>
          <a:lstStyle/>
          <a:p>
            <a:pPr indent="0" marL="0">
              <a:buNone/>
            </a:pPr>
            <a:r>
              <a:rPr lang="en-US" sz="3400" b="1" dirty="0">
                <a:solidFill>
                  <a:srgbClr val="FFFFFF"/>
                </a:solidFill>
                <a:latin typeface="Georgia" pitchFamily="34" charset="0"/>
                <a:ea typeface="Georgia" pitchFamily="34" charset="-122"/>
                <a:cs typeface="Georgia" pitchFamily="34" charset="-120"/>
              </a:rPr>
              <a:t>Abonnement</a:t>
            </a:r>
            <a:endParaRPr lang="en-US" sz="3400" dirty="0"/>
          </a:p>
        </p:txBody>
      </p:sp>
      <p:sp>
        <p:nvSpPr>
          <p:cNvPr id="5" name="Text 3"/>
          <p:cNvSpPr/>
          <p:nvPr/>
        </p:nvSpPr>
        <p:spPr>
          <a:xfrm>
            <a:off x="640080" y="3429000"/>
            <a:ext cx="10058400" cy="1188720"/>
          </a:xfrm>
          <a:prstGeom prst="rect">
            <a:avLst/>
          </a:prstGeom>
          <a:noFill/>
          <a:ln/>
        </p:spPr>
        <p:txBody>
          <a:bodyPr wrap="square" rtlCol="0" anchor="ctr"/>
          <a:lstStyle/>
          <a:p>
            <a:pPr indent="0" marL="0">
              <a:lnSpc>
                <a:spcPts val="1800"/>
              </a:lnSpc>
              <a:buNone/>
            </a:pPr>
            <a:r>
              <a:rPr lang="en-US" sz="1300" dirty="0">
                <a:solidFill>
                  <a:srgbClr val="C7C9E0"/>
                </a:solidFill>
                <a:latin typeface="Segoe UI" pitchFamily="34" charset="0"/>
                <a:ea typeface="Segoe UI" pitchFamily="34" charset="-122"/>
                <a:cs typeface="Segoe UI" pitchFamily="34" charset="-120"/>
              </a:rPr>
              <a:t>Présentation des formules d'abonnement à l'application, affichée automatiquement à la fin de la période d'essai.</a:t>
            </a:r>
            <a:endParaRPr lang="en-US" sz="1300" dirty="0"/>
          </a:p>
        </p:txBody>
      </p:sp>
      <p:sp>
        <p:nvSpPr>
          <p:cNvPr id="6" name="Text 4"/>
          <p:cNvSpPr/>
          <p:nvPr/>
        </p:nvSpPr>
        <p:spPr>
          <a:xfrm>
            <a:off x="365760" y="6510528"/>
            <a:ext cx="5486400" cy="274320"/>
          </a:xfrm>
          <a:prstGeom prst="rect">
            <a:avLst/>
          </a:prstGeom>
          <a:noFill/>
          <a:ln/>
        </p:spPr>
        <p:txBody>
          <a:bodyPr wrap="square" rtlCol="0" anchor="ctr"/>
          <a:lstStyle/>
          <a:p>
            <a:pPr indent="0" marL="0">
              <a:buNone/>
            </a:pPr>
            <a:r>
              <a:rPr lang="en-US" sz="850" dirty="0">
                <a:solidFill>
                  <a:srgbClr val="8A7C68"/>
                </a:solidFill>
                <a:latin typeface="Segoe UI" pitchFamily="34" charset="0"/>
                <a:ea typeface="Segoe UI" pitchFamily="34" charset="-122"/>
                <a:cs typeface="Segoe UI" pitchFamily="34" charset="-120"/>
              </a:rPr>
              <a:t>Kôji Web — Cahier des charges</a:t>
            </a:r>
            <a:endParaRPr lang="en-US" sz="850" dirty="0"/>
          </a:p>
        </p:txBody>
      </p:sp>
      <p:sp>
        <p:nvSpPr>
          <p:cNvPr id="7" name="Text 5"/>
          <p:cNvSpPr/>
          <p:nvPr/>
        </p:nvSpPr>
        <p:spPr>
          <a:xfrm>
            <a:off x="9601200" y="6510528"/>
            <a:ext cx="2194560" cy="274320"/>
          </a:xfrm>
          <a:prstGeom prst="rect">
            <a:avLst/>
          </a:prstGeom>
          <a:noFill/>
          <a:ln/>
        </p:spPr>
        <p:txBody>
          <a:bodyPr wrap="square" rtlCol="0" anchor="ctr"/>
          <a:lstStyle/>
          <a:p>
            <a:pPr algn="r" indent="0" marL="0">
              <a:buNone/>
            </a:pPr>
            <a:r>
              <a:rPr lang="en-US" sz="850" dirty="0">
                <a:solidFill>
                  <a:srgbClr val="8A7C68"/>
                </a:solidFill>
                <a:latin typeface="Segoe UI" pitchFamily="34" charset="0"/>
                <a:ea typeface="Segoe UI" pitchFamily="34" charset="-122"/>
                <a:cs typeface="Segoe UI" pitchFamily="34" charset="-120"/>
              </a:rPr>
              <a:t>80</a:t>
            </a:r>
            <a:endParaRPr lang="en-US" sz="850" dirty="0"/>
          </a:p>
        </p:txBody>
      </p:sp>
    </p:spTree>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name="Slide 82">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3108960" cy="365760"/>
          </a:xfrm>
          <a:prstGeom prst="roundRect">
            <a:avLst>
              <a:gd name="adj" fmla="val 50000"/>
            </a:avLst>
          </a:prstGeom>
          <a:solidFill>
            <a:srgbClr val="F7EADF"/>
          </a:solidFill>
          <a:ln/>
        </p:spPr>
      </p:sp>
      <p:sp>
        <p:nvSpPr>
          <p:cNvPr id="3" name="Text 1"/>
          <p:cNvSpPr/>
          <p:nvPr/>
        </p:nvSpPr>
        <p:spPr>
          <a:xfrm>
            <a:off x="640080" y="411480"/>
            <a:ext cx="3108960" cy="365760"/>
          </a:xfrm>
          <a:prstGeom prst="rect">
            <a:avLst/>
          </a:prstGeom>
          <a:noFill/>
          <a:ln/>
        </p:spPr>
        <p:txBody>
          <a:bodyPr wrap="square" rtlCol="0" anchor="ctr"/>
          <a:lstStyle/>
          <a:p>
            <a:pPr algn="ctr" indent="0" marL="0">
              <a:buNone/>
            </a:pPr>
            <a:r>
              <a:rPr lang="en-US" sz="950" b="1" spc="100" kern="0" dirty="0">
                <a:solidFill>
                  <a:srgbClr val="9A7C5C"/>
                </a:solidFill>
                <a:latin typeface="Segoe UI" pitchFamily="34" charset="0"/>
                <a:ea typeface="Segoe UI" pitchFamily="34" charset="-122"/>
                <a:cs typeface="Segoe UI" pitchFamily="34" charset="-120"/>
              </a:rPr>
              <a:t>ABONNEMENT</a:t>
            </a:r>
            <a:endParaRPr lang="en-US" sz="950" dirty="0"/>
          </a:p>
        </p:txBody>
      </p:sp>
      <p:sp>
        <p:nvSpPr>
          <p:cNvPr id="4" name="Shape 2"/>
          <p:cNvSpPr/>
          <p:nvPr/>
        </p:nvSpPr>
        <p:spPr>
          <a:xfrm>
            <a:off x="640080" y="1005840"/>
            <a:ext cx="10881360" cy="2606040"/>
          </a:xfrm>
          <a:prstGeom prst="roundRect">
            <a:avLst>
              <a:gd name="adj" fmla="val 2105"/>
            </a:avLst>
          </a:prstGeom>
          <a:solidFill>
            <a:srgbClr val="FFFFFF"/>
          </a:solidFill>
          <a:ln w="12700">
            <a:solidFill>
              <a:srgbClr val="E4DCCB"/>
            </a:solidFill>
            <a:prstDash val="solid"/>
          </a:ln>
        </p:spPr>
      </p:sp>
      <p:sp>
        <p:nvSpPr>
          <p:cNvPr id="5" name="Shape 3"/>
          <p:cNvSpPr/>
          <p:nvPr/>
        </p:nvSpPr>
        <p:spPr>
          <a:xfrm>
            <a:off x="640080" y="1005840"/>
            <a:ext cx="54864" cy="2606040"/>
          </a:xfrm>
          <a:prstGeom prst="rect">
            <a:avLst/>
          </a:prstGeom>
          <a:solidFill>
            <a:srgbClr val="1D6FE0"/>
          </a:solidFill>
          <a:ln/>
        </p:spPr>
      </p:sp>
      <p:sp>
        <p:nvSpPr>
          <p:cNvPr id="6" name="Text 4"/>
          <p:cNvSpPr/>
          <p:nvPr/>
        </p:nvSpPr>
        <p:spPr>
          <a:xfrm>
            <a:off x="914400" y="1133856"/>
            <a:ext cx="10332720" cy="365760"/>
          </a:xfrm>
          <a:prstGeom prst="rect">
            <a:avLst/>
          </a:prstGeom>
          <a:noFill/>
          <a:ln/>
        </p:spPr>
        <p:txBody>
          <a:bodyPr wrap="square" rtlCol="0" anchor="ctr"/>
          <a:lstStyle/>
          <a:p>
            <a:pPr indent="0" marL="0">
              <a:buNone/>
            </a:pPr>
            <a:r>
              <a:rPr lang="en-US" sz="1500" b="1" dirty="0">
                <a:solidFill>
                  <a:srgbClr val="1B1F3B"/>
                </a:solidFill>
                <a:latin typeface="Georgia" pitchFamily="34" charset="0"/>
                <a:ea typeface="Georgia" pitchFamily="34" charset="-122"/>
                <a:cs typeface="Georgia" pitchFamily="34" charset="-120"/>
              </a:rPr>
              <a:t>Formules</a:t>
            </a:r>
            <a:endParaRPr lang="en-US" sz="1500" dirty="0"/>
          </a:p>
        </p:txBody>
      </p:sp>
      <p:sp>
        <p:nvSpPr>
          <p:cNvPr id="7" name="Text 5"/>
          <p:cNvSpPr/>
          <p:nvPr/>
        </p:nvSpPr>
        <p:spPr>
          <a:xfrm>
            <a:off x="914400" y="1536192"/>
            <a:ext cx="10332720" cy="1051560"/>
          </a:xfrm>
          <a:prstGeom prst="rect">
            <a:avLst/>
          </a:prstGeom>
          <a:noFill/>
          <a:ln/>
        </p:spPr>
        <p:txBody>
          <a:bodyPr wrap="square" rtlCol="0" anchor="ctr"/>
          <a:lstStyle/>
          <a:p>
            <a:pPr indent="0" marL="0">
              <a:lnSpc>
                <a:spcPts val="1600"/>
              </a:lnSpc>
              <a:buNone/>
            </a:pPr>
            <a:r>
              <a:rPr lang="en-US" sz="1150" dirty="0">
                <a:solidFill>
                  <a:srgbClr val="1B1F3B"/>
                </a:solidFill>
                <a:latin typeface="Segoe UI" pitchFamily="34" charset="0"/>
                <a:ea typeface="Segoe UI" pitchFamily="34" charset="-122"/>
                <a:cs typeface="Segoe UI" pitchFamily="34" charset="-120"/>
              </a:rPr>
              <a:t>Trois formules (Kôji GO, Premium, Business) présentées avec leur liste de fonctionnalités.</a:t>
            </a:r>
            <a:endParaRPr lang="en-US" sz="1150" dirty="0"/>
          </a:p>
        </p:txBody>
      </p:sp>
      <p:sp>
        <p:nvSpPr>
          <p:cNvPr id="8" name="Text 6"/>
          <p:cNvSpPr/>
          <p:nvPr/>
        </p:nvSpPr>
        <p:spPr>
          <a:xfrm>
            <a:off x="914400" y="2743200"/>
            <a:ext cx="10332720" cy="228600"/>
          </a:xfrm>
          <a:prstGeom prst="rect">
            <a:avLst/>
          </a:prstGeom>
          <a:noFill/>
          <a:ln/>
        </p:spPr>
        <p:txBody>
          <a:bodyPr wrap="square" rtlCol="0" anchor="ctr"/>
          <a:lstStyle/>
          <a:p>
            <a:pPr indent="0" marL="0">
              <a:buNone/>
            </a:pPr>
            <a:r>
              <a:rPr lang="en-US" sz="800" b="1" spc="100" kern="0" dirty="0">
                <a:solidFill>
                  <a:srgbClr val="9A7C5C"/>
                </a:solidFill>
                <a:latin typeface="Segoe UI" pitchFamily="34" charset="0"/>
                <a:ea typeface="Segoe UI" pitchFamily="34" charset="-122"/>
                <a:cs typeface="Segoe UI" pitchFamily="34" charset="-120"/>
              </a:rPr>
              <a:t>RÉALISATION TECHNIQUE</a:t>
            </a:r>
            <a:endParaRPr lang="en-US" sz="800" dirty="0"/>
          </a:p>
        </p:txBody>
      </p:sp>
      <p:sp>
        <p:nvSpPr>
          <p:cNvPr id="9" name="Text 7"/>
          <p:cNvSpPr/>
          <p:nvPr/>
        </p:nvSpPr>
        <p:spPr>
          <a:xfrm>
            <a:off x="914400" y="2990088"/>
            <a:ext cx="10332720" cy="548640"/>
          </a:xfrm>
          <a:prstGeom prst="rect">
            <a:avLst/>
          </a:prstGeom>
          <a:noFill/>
          <a:ln/>
        </p:spPr>
        <p:txBody>
          <a:bodyPr wrap="square" rtlCol="0" anchor="ctr"/>
          <a:lstStyle/>
          <a:p>
            <a:pPr indent="0" marL="0">
              <a:lnSpc>
                <a:spcPts val="1400"/>
              </a:lnSpc>
              <a:buNone/>
            </a:pPr>
            <a:r>
              <a:rPr lang="en-US" sz="1000" i="1" dirty="0">
                <a:solidFill>
                  <a:srgbClr val="8A7C68"/>
                </a:solidFill>
                <a:latin typeface="Segoe UI" pitchFamily="34" charset="0"/>
                <a:ea typeface="Segoe UI" pitchFamily="34" charset="-122"/>
                <a:cs typeface="Segoe UI" pitchFamily="34" charset="-120"/>
              </a:rPr>
              <a:t>Page /abonnement.</a:t>
            </a:r>
            <a:endParaRPr lang="en-US" sz="1000" dirty="0"/>
          </a:p>
        </p:txBody>
      </p:sp>
      <p:sp>
        <p:nvSpPr>
          <p:cNvPr id="10" name="Shape 8"/>
          <p:cNvSpPr/>
          <p:nvPr/>
        </p:nvSpPr>
        <p:spPr>
          <a:xfrm>
            <a:off x="640080" y="3813048"/>
            <a:ext cx="10881360" cy="1737360"/>
          </a:xfrm>
          <a:prstGeom prst="roundRect">
            <a:avLst>
              <a:gd name="adj" fmla="val 3158"/>
            </a:avLst>
          </a:prstGeom>
          <a:solidFill>
            <a:srgbClr val="FFFFFF"/>
          </a:solidFill>
          <a:ln w="12700">
            <a:solidFill>
              <a:srgbClr val="E4DCCB"/>
            </a:solidFill>
            <a:prstDash val="solid"/>
          </a:ln>
        </p:spPr>
      </p:sp>
      <p:sp>
        <p:nvSpPr>
          <p:cNvPr id="11" name="Shape 9"/>
          <p:cNvSpPr/>
          <p:nvPr/>
        </p:nvSpPr>
        <p:spPr>
          <a:xfrm>
            <a:off x="640080" y="3813048"/>
            <a:ext cx="54864" cy="1737360"/>
          </a:xfrm>
          <a:prstGeom prst="rect">
            <a:avLst/>
          </a:prstGeom>
          <a:solidFill>
            <a:srgbClr val="1D6FE0"/>
          </a:solidFill>
          <a:ln/>
        </p:spPr>
      </p:sp>
      <p:sp>
        <p:nvSpPr>
          <p:cNvPr id="12" name="Text 10"/>
          <p:cNvSpPr/>
          <p:nvPr/>
        </p:nvSpPr>
        <p:spPr>
          <a:xfrm>
            <a:off x="914400" y="3941064"/>
            <a:ext cx="10332720" cy="365760"/>
          </a:xfrm>
          <a:prstGeom prst="rect">
            <a:avLst/>
          </a:prstGeom>
          <a:noFill/>
          <a:ln/>
        </p:spPr>
        <p:txBody>
          <a:bodyPr wrap="square" rtlCol="0" anchor="ctr"/>
          <a:lstStyle/>
          <a:p>
            <a:pPr indent="0" marL="0">
              <a:buNone/>
            </a:pPr>
            <a:r>
              <a:rPr lang="en-US" sz="1500" b="1" dirty="0">
                <a:solidFill>
                  <a:srgbClr val="1B1F3B"/>
                </a:solidFill>
                <a:latin typeface="Georgia" pitchFamily="34" charset="0"/>
                <a:ea typeface="Georgia" pitchFamily="34" charset="-122"/>
                <a:cs typeface="Georgia" pitchFamily="34" charset="-120"/>
              </a:rPr>
              <a:t>Redirection automatique</a:t>
            </a:r>
            <a:endParaRPr lang="en-US" sz="1500" dirty="0"/>
          </a:p>
        </p:txBody>
      </p:sp>
      <p:sp>
        <p:nvSpPr>
          <p:cNvPr id="13" name="Text 11"/>
          <p:cNvSpPr/>
          <p:nvPr/>
        </p:nvSpPr>
        <p:spPr>
          <a:xfrm>
            <a:off x="914400" y="4343400"/>
            <a:ext cx="10332720" cy="1005840"/>
          </a:xfrm>
          <a:prstGeom prst="rect">
            <a:avLst/>
          </a:prstGeom>
          <a:noFill/>
          <a:ln/>
        </p:spPr>
        <p:txBody>
          <a:bodyPr wrap="square" rtlCol="0" anchor="ctr"/>
          <a:lstStyle/>
          <a:p>
            <a:pPr indent="0" marL="0">
              <a:lnSpc>
                <a:spcPts val="1600"/>
              </a:lnSpc>
              <a:buNone/>
            </a:pPr>
            <a:r>
              <a:rPr lang="en-US" sz="1150" dirty="0">
                <a:solidFill>
                  <a:srgbClr val="1B1F3B"/>
                </a:solidFill>
                <a:latin typeface="Segoe UI" pitchFamily="34" charset="0"/>
                <a:ea typeface="Segoe UI" pitchFamily="34" charset="-122"/>
                <a:cs typeface="Segoe UI" pitchFamily="34" charset="-120"/>
              </a:rPr>
              <a:t>À l'expiration des 14 jours d'essai gratuit, l'entreprise est automatiquement redirigée vers cette page tant qu'elle n'a pas souscrit.</a:t>
            </a:r>
            <a:endParaRPr lang="en-US" sz="1150" dirty="0"/>
          </a:p>
        </p:txBody>
      </p:sp>
      <p:sp>
        <p:nvSpPr>
          <p:cNvPr id="14" name="Text 12"/>
          <p:cNvSpPr/>
          <p:nvPr/>
        </p:nvSpPr>
        <p:spPr>
          <a:xfrm>
            <a:off x="365760" y="6510528"/>
            <a:ext cx="5486400" cy="274320"/>
          </a:xfrm>
          <a:prstGeom prst="rect">
            <a:avLst/>
          </a:prstGeom>
          <a:noFill/>
          <a:ln/>
        </p:spPr>
        <p:txBody>
          <a:bodyPr wrap="square" rtlCol="0" anchor="ctr"/>
          <a:lstStyle/>
          <a:p>
            <a:pPr indent="0" marL="0">
              <a:buNone/>
            </a:pPr>
            <a:r>
              <a:rPr lang="en-US" sz="850" dirty="0">
                <a:solidFill>
                  <a:srgbClr val="8A7C68"/>
                </a:solidFill>
                <a:latin typeface="Segoe UI" pitchFamily="34" charset="0"/>
                <a:ea typeface="Segoe UI" pitchFamily="34" charset="-122"/>
                <a:cs typeface="Segoe UI" pitchFamily="34" charset="-120"/>
              </a:rPr>
              <a:t>Kôji Web — Cahier des charges</a:t>
            </a:r>
            <a:endParaRPr lang="en-US" sz="850" dirty="0"/>
          </a:p>
        </p:txBody>
      </p:sp>
      <p:sp>
        <p:nvSpPr>
          <p:cNvPr id="15" name="Text 13"/>
          <p:cNvSpPr/>
          <p:nvPr/>
        </p:nvSpPr>
        <p:spPr>
          <a:xfrm>
            <a:off x="9601200" y="6510528"/>
            <a:ext cx="2194560" cy="274320"/>
          </a:xfrm>
          <a:prstGeom prst="rect">
            <a:avLst/>
          </a:prstGeom>
          <a:noFill/>
          <a:ln/>
        </p:spPr>
        <p:txBody>
          <a:bodyPr wrap="square" rtlCol="0" anchor="ctr"/>
          <a:lstStyle/>
          <a:p>
            <a:pPr algn="r" indent="0" marL="0">
              <a:buNone/>
            </a:pPr>
            <a:r>
              <a:rPr lang="en-US" sz="850" dirty="0">
                <a:solidFill>
                  <a:srgbClr val="8A7C68"/>
                </a:solidFill>
                <a:latin typeface="Segoe UI" pitchFamily="34" charset="0"/>
                <a:ea typeface="Segoe UI" pitchFamily="34" charset="-122"/>
                <a:cs typeface="Segoe UI" pitchFamily="34" charset="-120"/>
              </a:rPr>
              <a:t>81</a:t>
            </a:r>
            <a:endParaRPr lang="en-US" sz="850" dirty="0"/>
          </a:p>
        </p:txBody>
      </p:sp>
    </p:spTree>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name="Slide 83">
    <p:bg>
      <p:bgPr>
        <a:solidFill>
          <a:srgbClr val="0B1030"/>
        </a:solidFill>
      </p:bgPr>
    </p:bg>
    <p:spTree>
      <p:nvGrpSpPr>
        <p:cNvPr id="1" name=""/>
        <p:cNvGrpSpPr/>
        <p:nvPr/>
      </p:nvGrpSpPr>
      <p:grpSpPr>
        <a:xfrm>
          <a:off x="0" y="0"/>
          <a:ext cx="0" cy="0"/>
          <a:chOff x="0" y="0"/>
          <a:chExt cx="0" cy="0"/>
        </a:xfrm>
      </p:grpSpPr>
      <p:sp>
        <p:nvSpPr>
          <p:cNvPr id="2" name="Shape 0"/>
          <p:cNvSpPr/>
          <p:nvPr/>
        </p:nvSpPr>
        <p:spPr>
          <a:xfrm>
            <a:off x="0" y="3246120"/>
            <a:ext cx="12191695" cy="54864"/>
          </a:xfrm>
          <a:prstGeom prst="rect">
            <a:avLst/>
          </a:prstGeom>
          <a:solidFill>
            <a:srgbClr val="C9A96A"/>
          </a:solidFill>
          <a:ln/>
        </p:spPr>
      </p:sp>
      <p:sp>
        <p:nvSpPr>
          <p:cNvPr id="3" name="Text 1"/>
          <p:cNvSpPr/>
          <p:nvPr/>
        </p:nvSpPr>
        <p:spPr>
          <a:xfrm>
            <a:off x="640080" y="1920240"/>
            <a:ext cx="2743200" cy="548640"/>
          </a:xfrm>
          <a:prstGeom prst="rect">
            <a:avLst/>
          </a:prstGeom>
          <a:noFill/>
          <a:ln/>
        </p:spPr>
        <p:txBody>
          <a:bodyPr wrap="square" rtlCol="0" anchor="ctr"/>
          <a:lstStyle/>
          <a:p>
            <a:pPr indent="0" marL="0">
              <a:buNone/>
            </a:pPr>
            <a:r>
              <a:rPr lang="en-US" sz="1500" b="1" dirty="0">
                <a:solidFill>
                  <a:srgbClr val="C9A96A"/>
                </a:solidFill>
                <a:latin typeface="Segoe UI" pitchFamily="34" charset="0"/>
                <a:ea typeface="Segoe UI" pitchFamily="34" charset="-122"/>
                <a:cs typeface="Segoe UI" pitchFamily="34" charset="-120"/>
              </a:rPr>
              <a:t>19</a:t>
            </a:r>
            <a:endParaRPr lang="en-US" sz="1500" dirty="0"/>
          </a:p>
        </p:txBody>
      </p:sp>
      <p:sp>
        <p:nvSpPr>
          <p:cNvPr id="4" name="Text 2"/>
          <p:cNvSpPr/>
          <p:nvPr/>
        </p:nvSpPr>
        <p:spPr>
          <a:xfrm>
            <a:off x="640080" y="2377440"/>
            <a:ext cx="10515600" cy="914400"/>
          </a:xfrm>
          <a:prstGeom prst="rect">
            <a:avLst/>
          </a:prstGeom>
          <a:noFill/>
          <a:ln/>
        </p:spPr>
        <p:txBody>
          <a:bodyPr wrap="square" rtlCol="0" anchor="ctr"/>
          <a:lstStyle/>
          <a:p>
            <a:pPr indent="0" marL="0">
              <a:buNone/>
            </a:pPr>
            <a:r>
              <a:rPr lang="en-US" sz="3400" b="1" dirty="0">
                <a:solidFill>
                  <a:srgbClr val="FFFFFF"/>
                </a:solidFill>
                <a:latin typeface="Georgia" pitchFamily="34" charset="0"/>
                <a:ea typeface="Georgia" pitchFamily="34" charset="-122"/>
                <a:cs typeface="Georgia" pitchFamily="34" charset="-120"/>
              </a:rPr>
              <a:t>Marketplace</a:t>
            </a:r>
            <a:endParaRPr lang="en-US" sz="3400" dirty="0"/>
          </a:p>
        </p:txBody>
      </p:sp>
      <p:sp>
        <p:nvSpPr>
          <p:cNvPr id="5" name="Text 3"/>
          <p:cNvSpPr/>
          <p:nvPr/>
        </p:nvSpPr>
        <p:spPr>
          <a:xfrm>
            <a:off x="640080" y="3429000"/>
            <a:ext cx="10058400" cy="1188720"/>
          </a:xfrm>
          <a:prstGeom prst="rect">
            <a:avLst/>
          </a:prstGeom>
          <a:noFill/>
          <a:ln/>
        </p:spPr>
        <p:txBody>
          <a:bodyPr wrap="square" rtlCol="0" anchor="ctr"/>
          <a:lstStyle/>
          <a:p>
            <a:pPr indent="0" marL="0">
              <a:lnSpc>
                <a:spcPts val="1800"/>
              </a:lnSpc>
              <a:buNone/>
            </a:pPr>
            <a:r>
              <a:rPr lang="en-US" sz="1300" dirty="0">
                <a:solidFill>
                  <a:srgbClr val="C7C9E0"/>
                </a:solidFill>
                <a:latin typeface="Segoe UI" pitchFamily="34" charset="0"/>
                <a:ea typeface="Segoe UI" pitchFamily="34" charset="-122"/>
                <a:cs typeface="Segoe UI" pitchFamily="34" charset="-120"/>
              </a:rPr>
              <a:t>Emplacement réservé pour une future fonctionnalité de mise en relation.</a:t>
            </a:r>
            <a:endParaRPr lang="en-US" sz="1300" dirty="0"/>
          </a:p>
        </p:txBody>
      </p:sp>
      <p:sp>
        <p:nvSpPr>
          <p:cNvPr id="6" name="Text 4"/>
          <p:cNvSpPr/>
          <p:nvPr/>
        </p:nvSpPr>
        <p:spPr>
          <a:xfrm>
            <a:off x="365760" y="6510528"/>
            <a:ext cx="5486400" cy="274320"/>
          </a:xfrm>
          <a:prstGeom prst="rect">
            <a:avLst/>
          </a:prstGeom>
          <a:noFill/>
          <a:ln/>
        </p:spPr>
        <p:txBody>
          <a:bodyPr wrap="square" rtlCol="0" anchor="ctr"/>
          <a:lstStyle/>
          <a:p>
            <a:pPr indent="0" marL="0">
              <a:buNone/>
            </a:pPr>
            <a:r>
              <a:rPr lang="en-US" sz="850" dirty="0">
                <a:solidFill>
                  <a:srgbClr val="8A7C68"/>
                </a:solidFill>
                <a:latin typeface="Segoe UI" pitchFamily="34" charset="0"/>
                <a:ea typeface="Segoe UI" pitchFamily="34" charset="-122"/>
                <a:cs typeface="Segoe UI" pitchFamily="34" charset="-120"/>
              </a:rPr>
              <a:t>Kôji Web — Cahier des charges</a:t>
            </a:r>
            <a:endParaRPr lang="en-US" sz="850" dirty="0"/>
          </a:p>
        </p:txBody>
      </p:sp>
      <p:sp>
        <p:nvSpPr>
          <p:cNvPr id="7" name="Text 5"/>
          <p:cNvSpPr/>
          <p:nvPr/>
        </p:nvSpPr>
        <p:spPr>
          <a:xfrm>
            <a:off x="9601200" y="6510528"/>
            <a:ext cx="2194560" cy="274320"/>
          </a:xfrm>
          <a:prstGeom prst="rect">
            <a:avLst/>
          </a:prstGeom>
          <a:noFill/>
          <a:ln/>
        </p:spPr>
        <p:txBody>
          <a:bodyPr wrap="square" rtlCol="0" anchor="ctr"/>
          <a:lstStyle/>
          <a:p>
            <a:pPr algn="r" indent="0" marL="0">
              <a:buNone/>
            </a:pPr>
            <a:r>
              <a:rPr lang="en-US" sz="850" dirty="0">
                <a:solidFill>
                  <a:srgbClr val="8A7C68"/>
                </a:solidFill>
                <a:latin typeface="Segoe UI" pitchFamily="34" charset="0"/>
                <a:ea typeface="Segoe UI" pitchFamily="34" charset="-122"/>
                <a:cs typeface="Segoe UI" pitchFamily="34" charset="-120"/>
              </a:rPr>
              <a:t>82</a:t>
            </a:r>
            <a:endParaRPr lang="en-US" sz="850" dirty="0"/>
          </a:p>
        </p:txBody>
      </p:sp>
    </p:spTree>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name="Slide 84">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3108960" cy="365760"/>
          </a:xfrm>
          <a:prstGeom prst="roundRect">
            <a:avLst>
              <a:gd name="adj" fmla="val 50000"/>
            </a:avLst>
          </a:prstGeom>
          <a:solidFill>
            <a:srgbClr val="F7EADF"/>
          </a:solidFill>
          <a:ln/>
        </p:spPr>
      </p:sp>
      <p:sp>
        <p:nvSpPr>
          <p:cNvPr id="3" name="Text 1"/>
          <p:cNvSpPr/>
          <p:nvPr/>
        </p:nvSpPr>
        <p:spPr>
          <a:xfrm>
            <a:off x="640080" y="411480"/>
            <a:ext cx="3108960" cy="365760"/>
          </a:xfrm>
          <a:prstGeom prst="rect">
            <a:avLst/>
          </a:prstGeom>
          <a:noFill/>
          <a:ln/>
        </p:spPr>
        <p:txBody>
          <a:bodyPr wrap="square" rtlCol="0" anchor="ctr"/>
          <a:lstStyle/>
          <a:p>
            <a:pPr algn="ctr" indent="0" marL="0">
              <a:buNone/>
            </a:pPr>
            <a:r>
              <a:rPr lang="en-US" sz="950" b="1" spc="100" kern="0" dirty="0">
                <a:solidFill>
                  <a:srgbClr val="9A7C5C"/>
                </a:solidFill>
                <a:latin typeface="Segoe UI" pitchFamily="34" charset="0"/>
                <a:ea typeface="Segoe UI" pitchFamily="34" charset="-122"/>
                <a:cs typeface="Segoe UI" pitchFamily="34" charset="-120"/>
              </a:rPr>
              <a:t>MARKETPLACE</a:t>
            </a:r>
            <a:endParaRPr lang="en-US" sz="950" dirty="0"/>
          </a:p>
        </p:txBody>
      </p:sp>
      <p:sp>
        <p:nvSpPr>
          <p:cNvPr id="4" name="Shape 2"/>
          <p:cNvSpPr/>
          <p:nvPr/>
        </p:nvSpPr>
        <p:spPr>
          <a:xfrm>
            <a:off x="640080" y="1005840"/>
            <a:ext cx="10881360" cy="1737360"/>
          </a:xfrm>
          <a:prstGeom prst="roundRect">
            <a:avLst>
              <a:gd name="adj" fmla="val 3158"/>
            </a:avLst>
          </a:prstGeom>
          <a:solidFill>
            <a:srgbClr val="FFFFFF"/>
          </a:solidFill>
          <a:ln w="12700">
            <a:solidFill>
              <a:srgbClr val="E4DCCB"/>
            </a:solidFill>
            <a:prstDash val="solid"/>
          </a:ln>
        </p:spPr>
      </p:sp>
      <p:sp>
        <p:nvSpPr>
          <p:cNvPr id="5" name="Shape 3"/>
          <p:cNvSpPr/>
          <p:nvPr/>
        </p:nvSpPr>
        <p:spPr>
          <a:xfrm>
            <a:off x="640080" y="1005840"/>
            <a:ext cx="54864" cy="1737360"/>
          </a:xfrm>
          <a:prstGeom prst="rect">
            <a:avLst/>
          </a:prstGeom>
          <a:solidFill>
            <a:srgbClr val="1D6FE0"/>
          </a:solidFill>
          <a:ln/>
        </p:spPr>
      </p:sp>
      <p:sp>
        <p:nvSpPr>
          <p:cNvPr id="6" name="Text 4"/>
          <p:cNvSpPr/>
          <p:nvPr/>
        </p:nvSpPr>
        <p:spPr>
          <a:xfrm>
            <a:off x="914400" y="1133856"/>
            <a:ext cx="10332720" cy="365760"/>
          </a:xfrm>
          <a:prstGeom prst="rect">
            <a:avLst/>
          </a:prstGeom>
          <a:noFill/>
          <a:ln/>
        </p:spPr>
        <p:txBody>
          <a:bodyPr wrap="square" rtlCol="0" anchor="ctr"/>
          <a:lstStyle/>
          <a:p>
            <a:pPr indent="0" marL="0">
              <a:buNone/>
            </a:pPr>
            <a:r>
              <a:rPr lang="en-US" sz="1500" b="1" dirty="0">
                <a:solidFill>
                  <a:srgbClr val="1B1F3B"/>
                </a:solidFill>
                <a:latin typeface="Georgia" pitchFamily="34" charset="0"/>
                <a:ea typeface="Georgia" pitchFamily="34" charset="-122"/>
                <a:cs typeface="Georgia" pitchFamily="34" charset="-120"/>
              </a:rPr>
              <a:t>Statut actuel</a:t>
            </a:r>
            <a:endParaRPr lang="en-US" sz="1500" dirty="0"/>
          </a:p>
        </p:txBody>
      </p:sp>
      <p:sp>
        <p:nvSpPr>
          <p:cNvPr id="7" name="Text 5"/>
          <p:cNvSpPr/>
          <p:nvPr/>
        </p:nvSpPr>
        <p:spPr>
          <a:xfrm>
            <a:off x="914400" y="1536192"/>
            <a:ext cx="10332720" cy="1005840"/>
          </a:xfrm>
          <a:prstGeom prst="rect">
            <a:avLst/>
          </a:prstGeom>
          <a:noFill/>
          <a:ln/>
        </p:spPr>
        <p:txBody>
          <a:bodyPr wrap="square" rtlCol="0" anchor="ctr"/>
          <a:lstStyle/>
          <a:p>
            <a:pPr indent="0" marL="0">
              <a:lnSpc>
                <a:spcPts val="1600"/>
              </a:lnSpc>
              <a:buNone/>
            </a:pPr>
            <a:r>
              <a:rPr lang="en-US" sz="1150" dirty="0">
                <a:solidFill>
                  <a:srgbClr val="1B1F3B"/>
                </a:solidFill>
                <a:latin typeface="Segoe UI" pitchFamily="34" charset="0"/>
                <a:ea typeface="Segoe UI" pitchFamily="34" charset="-122"/>
                <a:cs typeface="Segoe UI" pitchFamily="34" charset="-120"/>
              </a:rPr>
              <a:t>Page "bientôt disponible" — accessible depuis le menu, sans fonctionnalité active pour le moment.</a:t>
            </a:r>
            <a:endParaRPr lang="en-US" sz="1150" dirty="0"/>
          </a:p>
        </p:txBody>
      </p:sp>
      <p:sp>
        <p:nvSpPr>
          <p:cNvPr id="8" name="Text 6"/>
          <p:cNvSpPr/>
          <p:nvPr/>
        </p:nvSpPr>
        <p:spPr>
          <a:xfrm>
            <a:off x="365760" y="6510528"/>
            <a:ext cx="5486400" cy="274320"/>
          </a:xfrm>
          <a:prstGeom prst="rect">
            <a:avLst/>
          </a:prstGeom>
          <a:noFill/>
          <a:ln/>
        </p:spPr>
        <p:txBody>
          <a:bodyPr wrap="square" rtlCol="0" anchor="ctr"/>
          <a:lstStyle/>
          <a:p>
            <a:pPr indent="0" marL="0">
              <a:buNone/>
            </a:pPr>
            <a:r>
              <a:rPr lang="en-US" sz="850" dirty="0">
                <a:solidFill>
                  <a:srgbClr val="8A7C68"/>
                </a:solidFill>
                <a:latin typeface="Segoe UI" pitchFamily="34" charset="0"/>
                <a:ea typeface="Segoe UI" pitchFamily="34" charset="-122"/>
                <a:cs typeface="Segoe UI" pitchFamily="34" charset="-120"/>
              </a:rPr>
              <a:t>Kôji Web — Cahier des charges</a:t>
            </a:r>
            <a:endParaRPr lang="en-US" sz="850" dirty="0"/>
          </a:p>
        </p:txBody>
      </p:sp>
      <p:sp>
        <p:nvSpPr>
          <p:cNvPr id="9" name="Text 7"/>
          <p:cNvSpPr/>
          <p:nvPr/>
        </p:nvSpPr>
        <p:spPr>
          <a:xfrm>
            <a:off x="9601200" y="6510528"/>
            <a:ext cx="2194560" cy="274320"/>
          </a:xfrm>
          <a:prstGeom prst="rect">
            <a:avLst/>
          </a:prstGeom>
          <a:noFill/>
          <a:ln/>
        </p:spPr>
        <p:txBody>
          <a:bodyPr wrap="square" rtlCol="0" anchor="ctr"/>
          <a:lstStyle/>
          <a:p>
            <a:pPr algn="r" indent="0" marL="0">
              <a:buNone/>
            </a:pPr>
            <a:r>
              <a:rPr lang="en-US" sz="850" dirty="0">
                <a:solidFill>
                  <a:srgbClr val="8A7C68"/>
                </a:solidFill>
                <a:latin typeface="Segoe UI" pitchFamily="34" charset="0"/>
                <a:ea typeface="Segoe UI" pitchFamily="34" charset="-122"/>
                <a:cs typeface="Segoe UI" pitchFamily="34" charset="-120"/>
              </a:rPr>
              <a:t>83</a:t>
            </a:r>
            <a:endParaRPr lang="en-US" sz="850" dirty="0"/>
          </a:p>
        </p:txBody>
      </p:sp>
    </p:spTree>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name="Slide 85">
    <p:bg>
      <p:bgPr>
        <a:solidFill>
          <a:srgbClr val="0B1030"/>
        </a:solidFill>
      </p:bgPr>
    </p:bg>
    <p:spTree>
      <p:nvGrpSpPr>
        <p:cNvPr id="1" name=""/>
        <p:cNvGrpSpPr/>
        <p:nvPr/>
      </p:nvGrpSpPr>
      <p:grpSpPr>
        <a:xfrm>
          <a:off x="0" y="0"/>
          <a:ext cx="0" cy="0"/>
          <a:chOff x="0" y="0"/>
          <a:chExt cx="0" cy="0"/>
        </a:xfrm>
      </p:grpSpPr>
      <p:sp>
        <p:nvSpPr>
          <p:cNvPr id="2" name="Shape 0"/>
          <p:cNvSpPr/>
          <p:nvPr/>
        </p:nvSpPr>
        <p:spPr>
          <a:xfrm>
            <a:off x="0" y="3246120"/>
            <a:ext cx="12191695" cy="54864"/>
          </a:xfrm>
          <a:prstGeom prst="rect">
            <a:avLst/>
          </a:prstGeom>
          <a:solidFill>
            <a:srgbClr val="C9A96A"/>
          </a:solidFill>
          <a:ln/>
        </p:spPr>
      </p:sp>
      <p:sp>
        <p:nvSpPr>
          <p:cNvPr id="3" name="Text 1"/>
          <p:cNvSpPr/>
          <p:nvPr/>
        </p:nvSpPr>
        <p:spPr>
          <a:xfrm>
            <a:off x="640080" y="1920240"/>
            <a:ext cx="2743200" cy="548640"/>
          </a:xfrm>
          <a:prstGeom prst="rect">
            <a:avLst/>
          </a:prstGeom>
          <a:noFill/>
          <a:ln/>
        </p:spPr>
        <p:txBody>
          <a:bodyPr wrap="square" rtlCol="0" anchor="ctr"/>
          <a:lstStyle/>
          <a:p>
            <a:pPr indent="0" marL="0">
              <a:buNone/>
            </a:pPr>
            <a:r>
              <a:rPr lang="en-US" sz="1500" b="1" dirty="0">
                <a:solidFill>
                  <a:srgbClr val="C9A96A"/>
                </a:solidFill>
                <a:latin typeface="Segoe UI" pitchFamily="34" charset="0"/>
                <a:ea typeface="Segoe UI" pitchFamily="34" charset="-122"/>
                <a:cs typeface="Segoe UI" pitchFamily="34" charset="-120"/>
              </a:rPr>
              <a:t>20</a:t>
            </a:r>
            <a:endParaRPr lang="en-US" sz="1500" dirty="0"/>
          </a:p>
        </p:txBody>
      </p:sp>
      <p:sp>
        <p:nvSpPr>
          <p:cNvPr id="4" name="Text 2"/>
          <p:cNvSpPr/>
          <p:nvPr/>
        </p:nvSpPr>
        <p:spPr>
          <a:xfrm>
            <a:off x="640080" y="2377440"/>
            <a:ext cx="10515600" cy="914400"/>
          </a:xfrm>
          <a:prstGeom prst="rect">
            <a:avLst/>
          </a:prstGeom>
          <a:noFill/>
          <a:ln/>
        </p:spPr>
        <p:txBody>
          <a:bodyPr wrap="square" rtlCol="0" anchor="ctr"/>
          <a:lstStyle/>
          <a:p>
            <a:pPr indent="0" marL="0">
              <a:buNone/>
            </a:pPr>
            <a:r>
              <a:rPr lang="en-US" sz="3400" b="1" dirty="0">
                <a:solidFill>
                  <a:srgbClr val="FFFFFF"/>
                </a:solidFill>
                <a:latin typeface="Georgia" pitchFamily="34" charset="0"/>
                <a:ea typeface="Georgia" pitchFamily="34" charset="-122"/>
                <a:cs typeface="Georgia" pitchFamily="34" charset="-120"/>
              </a:rPr>
              <a:t>Sécurité, données et multilinguisme</a:t>
            </a:r>
            <a:endParaRPr lang="en-US" sz="3400" dirty="0"/>
          </a:p>
        </p:txBody>
      </p:sp>
      <p:sp>
        <p:nvSpPr>
          <p:cNvPr id="5" name="Text 3"/>
          <p:cNvSpPr/>
          <p:nvPr/>
        </p:nvSpPr>
        <p:spPr>
          <a:xfrm>
            <a:off x="640080" y="3429000"/>
            <a:ext cx="10058400" cy="1188720"/>
          </a:xfrm>
          <a:prstGeom prst="rect">
            <a:avLst/>
          </a:prstGeom>
          <a:noFill/>
          <a:ln/>
        </p:spPr>
        <p:txBody>
          <a:bodyPr wrap="square" rtlCol="0" anchor="ctr"/>
          <a:lstStyle/>
          <a:p>
            <a:pPr indent="0" marL="0">
              <a:lnSpc>
                <a:spcPts val="1800"/>
              </a:lnSpc>
              <a:buNone/>
            </a:pPr>
            <a:r>
              <a:rPr lang="en-US" sz="1300" dirty="0">
                <a:solidFill>
                  <a:srgbClr val="C7C9E0"/>
                </a:solidFill>
                <a:latin typeface="Segoe UI" pitchFamily="34" charset="0"/>
                <a:ea typeface="Segoe UI" pitchFamily="34" charset="-122"/>
                <a:cs typeface="Segoe UI" pitchFamily="34" charset="-120"/>
              </a:rPr>
              <a:t>Éléments transverses garantissant la cohérence, la sécurité et l'accessibilité de l'application à travers tous les modules.</a:t>
            </a:r>
            <a:endParaRPr lang="en-US" sz="1300" dirty="0"/>
          </a:p>
        </p:txBody>
      </p:sp>
      <p:sp>
        <p:nvSpPr>
          <p:cNvPr id="6" name="Text 4"/>
          <p:cNvSpPr/>
          <p:nvPr/>
        </p:nvSpPr>
        <p:spPr>
          <a:xfrm>
            <a:off x="365760" y="6510528"/>
            <a:ext cx="5486400" cy="274320"/>
          </a:xfrm>
          <a:prstGeom prst="rect">
            <a:avLst/>
          </a:prstGeom>
          <a:noFill/>
          <a:ln/>
        </p:spPr>
        <p:txBody>
          <a:bodyPr wrap="square" rtlCol="0" anchor="ctr"/>
          <a:lstStyle/>
          <a:p>
            <a:pPr indent="0" marL="0">
              <a:buNone/>
            </a:pPr>
            <a:r>
              <a:rPr lang="en-US" sz="850" dirty="0">
                <a:solidFill>
                  <a:srgbClr val="8A7C68"/>
                </a:solidFill>
                <a:latin typeface="Segoe UI" pitchFamily="34" charset="0"/>
                <a:ea typeface="Segoe UI" pitchFamily="34" charset="-122"/>
                <a:cs typeface="Segoe UI" pitchFamily="34" charset="-120"/>
              </a:rPr>
              <a:t>Kôji Web — Cahier des charges</a:t>
            </a:r>
            <a:endParaRPr lang="en-US" sz="850" dirty="0"/>
          </a:p>
        </p:txBody>
      </p:sp>
      <p:sp>
        <p:nvSpPr>
          <p:cNvPr id="7" name="Text 5"/>
          <p:cNvSpPr/>
          <p:nvPr/>
        </p:nvSpPr>
        <p:spPr>
          <a:xfrm>
            <a:off x="9601200" y="6510528"/>
            <a:ext cx="2194560" cy="274320"/>
          </a:xfrm>
          <a:prstGeom prst="rect">
            <a:avLst/>
          </a:prstGeom>
          <a:noFill/>
          <a:ln/>
        </p:spPr>
        <p:txBody>
          <a:bodyPr wrap="square" rtlCol="0" anchor="ctr"/>
          <a:lstStyle/>
          <a:p>
            <a:pPr algn="r" indent="0" marL="0">
              <a:buNone/>
            </a:pPr>
            <a:r>
              <a:rPr lang="en-US" sz="850" dirty="0">
                <a:solidFill>
                  <a:srgbClr val="8A7C68"/>
                </a:solidFill>
                <a:latin typeface="Segoe UI" pitchFamily="34" charset="0"/>
                <a:ea typeface="Segoe UI" pitchFamily="34" charset="-122"/>
                <a:cs typeface="Segoe UI" pitchFamily="34" charset="-120"/>
              </a:rPr>
              <a:t>84</a:t>
            </a:r>
            <a:endParaRPr lang="en-US" sz="850" dirty="0"/>
          </a:p>
        </p:txBody>
      </p:sp>
    </p:spTree>
  </p:cSld>
  <p:clrMapOvr>
    <a:masterClrMapping/>
  </p:clrMapOvr>
</p:sld>
</file>

<file path=ppt/slides/slide86.xml><?xml version="1.0" encoding="utf-8"?>
<p:sld xmlns:a="http://schemas.openxmlformats.org/drawingml/2006/main" xmlns:r="http://schemas.openxmlformats.org/officeDocument/2006/relationships" xmlns:p="http://schemas.openxmlformats.org/presentationml/2006/main">
  <p:cSld name="Slide 86">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3108960" cy="365760"/>
          </a:xfrm>
          <a:prstGeom prst="roundRect">
            <a:avLst>
              <a:gd name="adj" fmla="val 50000"/>
            </a:avLst>
          </a:prstGeom>
          <a:solidFill>
            <a:srgbClr val="F7EADF"/>
          </a:solidFill>
          <a:ln/>
        </p:spPr>
      </p:sp>
      <p:sp>
        <p:nvSpPr>
          <p:cNvPr id="3" name="Text 1"/>
          <p:cNvSpPr/>
          <p:nvPr/>
        </p:nvSpPr>
        <p:spPr>
          <a:xfrm>
            <a:off x="640080" y="411480"/>
            <a:ext cx="3108960" cy="365760"/>
          </a:xfrm>
          <a:prstGeom prst="rect">
            <a:avLst/>
          </a:prstGeom>
          <a:noFill/>
          <a:ln/>
        </p:spPr>
        <p:txBody>
          <a:bodyPr wrap="square" rtlCol="0" anchor="ctr"/>
          <a:lstStyle/>
          <a:p>
            <a:pPr algn="ctr" indent="0" marL="0">
              <a:buNone/>
            </a:pPr>
            <a:r>
              <a:rPr lang="en-US" sz="950" b="1" spc="100" kern="0" dirty="0">
                <a:solidFill>
                  <a:srgbClr val="9A7C5C"/>
                </a:solidFill>
                <a:latin typeface="Segoe UI" pitchFamily="34" charset="0"/>
                <a:ea typeface="Segoe UI" pitchFamily="34" charset="-122"/>
                <a:cs typeface="Segoe UI" pitchFamily="34" charset="-120"/>
              </a:rPr>
              <a:t>SÉCURITÉ, DONNÉES ET MULTILINGUISME</a:t>
            </a:r>
            <a:endParaRPr lang="en-US" sz="950" dirty="0"/>
          </a:p>
        </p:txBody>
      </p:sp>
      <p:sp>
        <p:nvSpPr>
          <p:cNvPr id="4" name="Shape 2"/>
          <p:cNvSpPr/>
          <p:nvPr/>
        </p:nvSpPr>
        <p:spPr>
          <a:xfrm>
            <a:off x="640080" y="1005840"/>
            <a:ext cx="10881360" cy="1737360"/>
          </a:xfrm>
          <a:prstGeom prst="roundRect">
            <a:avLst>
              <a:gd name="adj" fmla="val 3158"/>
            </a:avLst>
          </a:prstGeom>
          <a:solidFill>
            <a:srgbClr val="FFFFFF"/>
          </a:solidFill>
          <a:ln w="12700">
            <a:solidFill>
              <a:srgbClr val="E4DCCB"/>
            </a:solidFill>
            <a:prstDash val="solid"/>
          </a:ln>
        </p:spPr>
      </p:sp>
      <p:sp>
        <p:nvSpPr>
          <p:cNvPr id="5" name="Shape 3"/>
          <p:cNvSpPr/>
          <p:nvPr/>
        </p:nvSpPr>
        <p:spPr>
          <a:xfrm>
            <a:off x="640080" y="1005840"/>
            <a:ext cx="54864" cy="1737360"/>
          </a:xfrm>
          <a:prstGeom prst="rect">
            <a:avLst/>
          </a:prstGeom>
          <a:solidFill>
            <a:srgbClr val="1D6FE0"/>
          </a:solidFill>
          <a:ln/>
        </p:spPr>
      </p:sp>
      <p:sp>
        <p:nvSpPr>
          <p:cNvPr id="6" name="Text 4"/>
          <p:cNvSpPr/>
          <p:nvPr/>
        </p:nvSpPr>
        <p:spPr>
          <a:xfrm>
            <a:off x="914400" y="1133856"/>
            <a:ext cx="10332720" cy="365760"/>
          </a:xfrm>
          <a:prstGeom prst="rect">
            <a:avLst/>
          </a:prstGeom>
          <a:noFill/>
          <a:ln/>
        </p:spPr>
        <p:txBody>
          <a:bodyPr wrap="square" rtlCol="0" anchor="ctr"/>
          <a:lstStyle/>
          <a:p>
            <a:pPr indent="0" marL="0">
              <a:buNone/>
            </a:pPr>
            <a:r>
              <a:rPr lang="en-US" sz="1500" b="1" dirty="0">
                <a:solidFill>
                  <a:srgbClr val="1B1F3B"/>
                </a:solidFill>
                <a:latin typeface="Georgia" pitchFamily="34" charset="0"/>
                <a:ea typeface="Georgia" pitchFamily="34" charset="-122"/>
                <a:cs typeface="Georgia" pitchFamily="34" charset="-120"/>
              </a:rPr>
              <a:t>Cloisonnement des données</a:t>
            </a:r>
            <a:endParaRPr lang="en-US" sz="1500" dirty="0"/>
          </a:p>
        </p:txBody>
      </p:sp>
      <p:sp>
        <p:nvSpPr>
          <p:cNvPr id="7" name="Text 5"/>
          <p:cNvSpPr/>
          <p:nvPr/>
        </p:nvSpPr>
        <p:spPr>
          <a:xfrm>
            <a:off x="914400" y="1536192"/>
            <a:ext cx="10332720" cy="1005840"/>
          </a:xfrm>
          <a:prstGeom prst="rect">
            <a:avLst/>
          </a:prstGeom>
          <a:noFill/>
          <a:ln/>
        </p:spPr>
        <p:txBody>
          <a:bodyPr wrap="square" rtlCol="0" anchor="ctr"/>
          <a:lstStyle/>
          <a:p>
            <a:pPr indent="0" marL="0">
              <a:lnSpc>
                <a:spcPts val="1600"/>
              </a:lnSpc>
              <a:buNone/>
            </a:pPr>
            <a:r>
              <a:rPr lang="en-US" sz="1150" dirty="0">
                <a:solidFill>
                  <a:srgbClr val="1B1F3B"/>
                </a:solidFill>
                <a:latin typeface="Segoe UI" pitchFamily="34" charset="0"/>
                <a:ea typeface="Segoe UI" pitchFamily="34" charset="-122"/>
                <a:cs typeface="Segoe UI" pitchFamily="34" charset="-120"/>
              </a:rPr>
              <a:t>Chaque entreprise ne voit que ses propres devis, chantiers, équipe et documents.</a:t>
            </a:r>
            <a:endParaRPr lang="en-US" sz="1150" dirty="0"/>
          </a:p>
        </p:txBody>
      </p:sp>
      <p:sp>
        <p:nvSpPr>
          <p:cNvPr id="8" name="Shape 6"/>
          <p:cNvSpPr/>
          <p:nvPr/>
        </p:nvSpPr>
        <p:spPr>
          <a:xfrm>
            <a:off x="640080" y="2944368"/>
            <a:ext cx="10881360" cy="1737360"/>
          </a:xfrm>
          <a:prstGeom prst="roundRect">
            <a:avLst>
              <a:gd name="adj" fmla="val 3158"/>
            </a:avLst>
          </a:prstGeom>
          <a:solidFill>
            <a:srgbClr val="FFFFFF"/>
          </a:solidFill>
          <a:ln w="12700">
            <a:solidFill>
              <a:srgbClr val="E4DCCB"/>
            </a:solidFill>
            <a:prstDash val="solid"/>
          </a:ln>
        </p:spPr>
      </p:sp>
      <p:sp>
        <p:nvSpPr>
          <p:cNvPr id="9" name="Shape 7"/>
          <p:cNvSpPr/>
          <p:nvPr/>
        </p:nvSpPr>
        <p:spPr>
          <a:xfrm>
            <a:off x="640080" y="2944368"/>
            <a:ext cx="54864" cy="1737360"/>
          </a:xfrm>
          <a:prstGeom prst="rect">
            <a:avLst/>
          </a:prstGeom>
          <a:solidFill>
            <a:srgbClr val="1D6FE0"/>
          </a:solidFill>
          <a:ln/>
        </p:spPr>
      </p:sp>
      <p:sp>
        <p:nvSpPr>
          <p:cNvPr id="10" name="Text 8"/>
          <p:cNvSpPr/>
          <p:nvPr/>
        </p:nvSpPr>
        <p:spPr>
          <a:xfrm>
            <a:off x="914400" y="3072384"/>
            <a:ext cx="10332720" cy="365760"/>
          </a:xfrm>
          <a:prstGeom prst="rect">
            <a:avLst/>
          </a:prstGeom>
          <a:noFill/>
          <a:ln/>
        </p:spPr>
        <p:txBody>
          <a:bodyPr wrap="square" rtlCol="0" anchor="ctr"/>
          <a:lstStyle/>
          <a:p>
            <a:pPr indent="0" marL="0">
              <a:buNone/>
            </a:pPr>
            <a:r>
              <a:rPr lang="en-US" sz="1500" b="1" dirty="0">
                <a:solidFill>
                  <a:srgbClr val="1B1F3B"/>
                </a:solidFill>
                <a:latin typeface="Georgia" pitchFamily="34" charset="0"/>
                <a:ea typeface="Georgia" pitchFamily="34" charset="-122"/>
                <a:cs typeface="Georgia" pitchFamily="34" charset="-120"/>
              </a:rPr>
              <a:t>Partage avec l'application mobile</a:t>
            </a:r>
            <a:endParaRPr lang="en-US" sz="1500" dirty="0"/>
          </a:p>
        </p:txBody>
      </p:sp>
      <p:sp>
        <p:nvSpPr>
          <p:cNvPr id="11" name="Text 9"/>
          <p:cNvSpPr/>
          <p:nvPr/>
        </p:nvSpPr>
        <p:spPr>
          <a:xfrm>
            <a:off x="914400" y="3474720"/>
            <a:ext cx="10332720" cy="1005840"/>
          </a:xfrm>
          <a:prstGeom prst="rect">
            <a:avLst/>
          </a:prstGeom>
          <a:noFill/>
          <a:ln/>
        </p:spPr>
        <p:txBody>
          <a:bodyPr wrap="square" rtlCol="0" anchor="ctr"/>
          <a:lstStyle/>
          <a:p>
            <a:pPr indent="0" marL="0">
              <a:lnSpc>
                <a:spcPts val="1600"/>
              </a:lnSpc>
              <a:buNone/>
            </a:pPr>
            <a:r>
              <a:rPr lang="en-US" sz="1150" dirty="0">
                <a:solidFill>
                  <a:srgbClr val="1B1F3B"/>
                </a:solidFill>
                <a:latin typeface="Segoe UI" pitchFamily="34" charset="0"/>
                <a:ea typeface="Segoe UI" pitchFamily="34" charset="-122"/>
                <a:cs typeface="Segoe UI" pitchFamily="34" charset="-120"/>
              </a:rPr>
              <a:t>Les devis, chantiers et comptes sont stockés dans une base commune avec l'application mobile Kôji, pour que les deux applications restent synchronisées.</a:t>
            </a:r>
            <a:endParaRPr lang="en-US" sz="1150" dirty="0"/>
          </a:p>
        </p:txBody>
      </p:sp>
      <p:sp>
        <p:nvSpPr>
          <p:cNvPr id="12" name="Text 10"/>
          <p:cNvSpPr/>
          <p:nvPr/>
        </p:nvSpPr>
        <p:spPr>
          <a:xfrm>
            <a:off x="365760" y="6510528"/>
            <a:ext cx="5486400" cy="274320"/>
          </a:xfrm>
          <a:prstGeom prst="rect">
            <a:avLst/>
          </a:prstGeom>
          <a:noFill/>
          <a:ln/>
        </p:spPr>
        <p:txBody>
          <a:bodyPr wrap="square" rtlCol="0" anchor="ctr"/>
          <a:lstStyle/>
          <a:p>
            <a:pPr indent="0" marL="0">
              <a:buNone/>
            </a:pPr>
            <a:r>
              <a:rPr lang="en-US" sz="850" dirty="0">
                <a:solidFill>
                  <a:srgbClr val="8A7C68"/>
                </a:solidFill>
                <a:latin typeface="Segoe UI" pitchFamily="34" charset="0"/>
                <a:ea typeface="Segoe UI" pitchFamily="34" charset="-122"/>
                <a:cs typeface="Segoe UI" pitchFamily="34" charset="-120"/>
              </a:rPr>
              <a:t>Kôji Web — Cahier des charges</a:t>
            </a:r>
            <a:endParaRPr lang="en-US" sz="850" dirty="0"/>
          </a:p>
        </p:txBody>
      </p:sp>
      <p:sp>
        <p:nvSpPr>
          <p:cNvPr id="13" name="Text 11"/>
          <p:cNvSpPr/>
          <p:nvPr/>
        </p:nvSpPr>
        <p:spPr>
          <a:xfrm>
            <a:off x="9601200" y="6510528"/>
            <a:ext cx="2194560" cy="274320"/>
          </a:xfrm>
          <a:prstGeom prst="rect">
            <a:avLst/>
          </a:prstGeom>
          <a:noFill/>
          <a:ln/>
        </p:spPr>
        <p:txBody>
          <a:bodyPr wrap="square" rtlCol="0" anchor="ctr"/>
          <a:lstStyle/>
          <a:p>
            <a:pPr algn="r" indent="0" marL="0">
              <a:buNone/>
            </a:pPr>
            <a:r>
              <a:rPr lang="en-US" sz="850" dirty="0">
                <a:solidFill>
                  <a:srgbClr val="8A7C68"/>
                </a:solidFill>
                <a:latin typeface="Segoe UI" pitchFamily="34" charset="0"/>
                <a:ea typeface="Segoe UI" pitchFamily="34" charset="-122"/>
                <a:cs typeface="Segoe UI" pitchFamily="34" charset="-120"/>
              </a:rPr>
              <a:t>85</a:t>
            </a:r>
            <a:endParaRPr lang="en-US" sz="850" dirty="0"/>
          </a:p>
        </p:txBody>
      </p:sp>
    </p:spTree>
  </p:cSld>
  <p:clrMapOvr>
    <a:masterClrMapping/>
  </p:clrMapOvr>
</p:sld>
</file>

<file path=ppt/slides/slide87.xml><?xml version="1.0" encoding="utf-8"?>
<p:sld xmlns:a="http://schemas.openxmlformats.org/drawingml/2006/main" xmlns:r="http://schemas.openxmlformats.org/officeDocument/2006/relationships" xmlns:p="http://schemas.openxmlformats.org/presentationml/2006/main">
  <p:cSld name="Slide 87">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3108960" cy="365760"/>
          </a:xfrm>
          <a:prstGeom prst="roundRect">
            <a:avLst>
              <a:gd name="adj" fmla="val 50000"/>
            </a:avLst>
          </a:prstGeom>
          <a:solidFill>
            <a:srgbClr val="F7EADF"/>
          </a:solidFill>
          <a:ln/>
        </p:spPr>
      </p:sp>
      <p:sp>
        <p:nvSpPr>
          <p:cNvPr id="3" name="Text 1"/>
          <p:cNvSpPr/>
          <p:nvPr/>
        </p:nvSpPr>
        <p:spPr>
          <a:xfrm>
            <a:off x="640080" y="411480"/>
            <a:ext cx="3108960" cy="365760"/>
          </a:xfrm>
          <a:prstGeom prst="rect">
            <a:avLst/>
          </a:prstGeom>
          <a:noFill/>
          <a:ln/>
        </p:spPr>
        <p:txBody>
          <a:bodyPr wrap="square" rtlCol="0" anchor="ctr"/>
          <a:lstStyle/>
          <a:p>
            <a:pPr algn="ctr" indent="0" marL="0">
              <a:buNone/>
            </a:pPr>
            <a:r>
              <a:rPr lang="en-US" sz="950" b="1" spc="100" kern="0" dirty="0">
                <a:solidFill>
                  <a:srgbClr val="9A7C5C"/>
                </a:solidFill>
                <a:latin typeface="Segoe UI" pitchFamily="34" charset="0"/>
                <a:ea typeface="Segoe UI" pitchFamily="34" charset="-122"/>
                <a:cs typeface="Segoe UI" pitchFamily="34" charset="-120"/>
              </a:rPr>
              <a:t>SÉCURITÉ, DONNÉES ET MULTILINGUISME</a:t>
            </a:r>
            <a:endParaRPr lang="en-US" sz="950" dirty="0"/>
          </a:p>
        </p:txBody>
      </p:sp>
      <p:sp>
        <p:nvSpPr>
          <p:cNvPr id="4" name="Shape 2"/>
          <p:cNvSpPr/>
          <p:nvPr/>
        </p:nvSpPr>
        <p:spPr>
          <a:xfrm>
            <a:off x="640080" y="1005840"/>
            <a:ext cx="10881360" cy="1737360"/>
          </a:xfrm>
          <a:prstGeom prst="roundRect">
            <a:avLst>
              <a:gd name="adj" fmla="val 3158"/>
            </a:avLst>
          </a:prstGeom>
          <a:solidFill>
            <a:srgbClr val="FFFFFF"/>
          </a:solidFill>
          <a:ln w="12700">
            <a:solidFill>
              <a:srgbClr val="E4DCCB"/>
            </a:solidFill>
            <a:prstDash val="solid"/>
          </a:ln>
        </p:spPr>
      </p:sp>
      <p:sp>
        <p:nvSpPr>
          <p:cNvPr id="5" name="Shape 3"/>
          <p:cNvSpPr/>
          <p:nvPr/>
        </p:nvSpPr>
        <p:spPr>
          <a:xfrm>
            <a:off x="640080" y="1005840"/>
            <a:ext cx="54864" cy="1737360"/>
          </a:xfrm>
          <a:prstGeom prst="rect">
            <a:avLst/>
          </a:prstGeom>
          <a:solidFill>
            <a:srgbClr val="1D6FE0"/>
          </a:solidFill>
          <a:ln/>
        </p:spPr>
      </p:sp>
      <p:sp>
        <p:nvSpPr>
          <p:cNvPr id="6" name="Text 4"/>
          <p:cNvSpPr/>
          <p:nvPr/>
        </p:nvSpPr>
        <p:spPr>
          <a:xfrm>
            <a:off x="914400" y="1133856"/>
            <a:ext cx="10332720" cy="365760"/>
          </a:xfrm>
          <a:prstGeom prst="rect">
            <a:avLst/>
          </a:prstGeom>
          <a:noFill/>
          <a:ln/>
        </p:spPr>
        <p:txBody>
          <a:bodyPr wrap="square" rtlCol="0" anchor="ctr"/>
          <a:lstStyle/>
          <a:p>
            <a:pPr indent="0" marL="0">
              <a:buNone/>
            </a:pPr>
            <a:r>
              <a:rPr lang="en-US" sz="1500" b="1" dirty="0">
                <a:solidFill>
                  <a:srgbClr val="1B1F3B"/>
                </a:solidFill>
                <a:latin typeface="Georgia" pitchFamily="34" charset="0"/>
                <a:ea typeface="Georgia" pitchFamily="34" charset="-122"/>
                <a:cs typeface="Georgia" pitchFamily="34" charset="-120"/>
              </a:rPr>
              <a:t>Mots de passe</a:t>
            </a:r>
            <a:endParaRPr lang="en-US" sz="1500" dirty="0"/>
          </a:p>
        </p:txBody>
      </p:sp>
      <p:sp>
        <p:nvSpPr>
          <p:cNvPr id="7" name="Text 5"/>
          <p:cNvSpPr/>
          <p:nvPr/>
        </p:nvSpPr>
        <p:spPr>
          <a:xfrm>
            <a:off x="914400" y="1536192"/>
            <a:ext cx="10332720" cy="1005840"/>
          </a:xfrm>
          <a:prstGeom prst="rect">
            <a:avLst/>
          </a:prstGeom>
          <a:noFill/>
          <a:ln/>
        </p:spPr>
        <p:txBody>
          <a:bodyPr wrap="square" rtlCol="0" anchor="ctr"/>
          <a:lstStyle/>
          <a:p>
            <a:pPr indent="0" marL="0">
              <a:lnSpc>
                <a:spcPts val="1600"/>
              </a:lnSpc>
              <a:buNone/>
            </a:pPr>
            <a:r>
              <a:rPr lang="en-US" sz="1150" dirty="0">
                <a:solidFill>
                  <a:srgbClr val="1B1F3B"/>
                </a:solidFill>
                <a:latin typeface="Segoe UI" pitchFamily="34" charset="0"/>
                <a:ea typeface="Segoe UI" pitchFamily="34" charset="-122"/>
                <a:cs typeface="Segoe UI" pitchFamily="34" charset="-120"/>
              </a:rPr>
              <a:t>Mots de passe des ouvriers hachés (jamais stockés en clair) ; mots de passe entreprise/particulier gérés par Supabase Auth.</a:t>
            </a:r>
            <a:endParaRPr lang="en-US" sz="1150" dirty="0"/>
          </a:p>
        </p:txBody>
      </p:sp>
      <p:sp>
        <p:nvSpPr>
          <p:cNvPr id="8" name="Shape 6"/>
          <p:cNvSpPr/>
          <p:nvPr/>
        </p:nvSpPr>
        <p:spPr>
          <a:xfrm>
            <a:off x="640080" y="2944368"/>
            <a:ext cx="10881360" cy="1737360"/>
          </a:xfrm>
          <a:prstGeom prst="roundRect">
            <a:avLst>
              <a:gd name="adj" fmla="val 3158"/>
            </a:avLst>
          </a:prstGeom>
          <a:solidFill>
            <a:srgbClr val="FFFFFF"/>
          </a:solidFill>
          <a:ln w="12700">
            <a:solidFill>
              <a:srgbClr val="E4DCCB"/>
            </a:solidFill>
            <a:prstDash val="solid"/>
          </a:ln>
        </p:spPr>
      </p:sp>
      <p:sp>
        <p:nvSpPr>
          <p:cNvPr id="9" name="Shape 7"/>
          <p:cNvSpPr/>
          <p:nvPr/>
        </p:nvSpPr>
        <p:spPr>
          <a:xfrm>
            <a:off x="640080" y="2944368"/>
            <a:ext cx="54864" cy="1737360"/>
          </a:xfrm>
          <a:prstGeom prst="rect">
            <a:avLst/>
          </a:prstGeom>
          <a:solidFill>
            <a:srgbClr val="1D6FE0"/>
          </a:solidFill>
          <a:ln/>
        </p:spPr>
      </p:sp>
      <p:sp>
        <p:nvSpPr>
          <p:cNvPr id="10" name="Text 8"/>
          <p:cNvSpPr/>
          <p:nvPr/>
        </p:nvSpPr>
        <p:spPr>
          <a:xfrm>
            <a:off x="914400" y="3072384"/>
            <a:ext cx="10332720" cy="365760"/>
          </a:xfrm>
          <a:prstGeom prst="rect">
            <a:avLst/>
          </a:prstGeom>
          <a:noFill/>
          <a:ln/>
        </p:spPr>
        <p:txBody>
          <a:bodyPr wrap="square" rtlCol="0" anchor="ctr"/>
          <a:lstStyle/>
          <a:p>
            <a:pPr indent="0" marL="0">
              <a:buNone/>
            </a:pPr>
            <a:r>
              <a:rPr lang="en-US" sz="1500" b="1" dirty="0">
                <a:solidFill>
                  <a:srgbClr val="1B1F3B"/>
                </a:solidFill>
                <a:latin typeface="Georgia" pitchFamily="34" charset="0"/>
                <a:ea typeface="Georgia" pitchFamily="34" charset="-122"/>
                <a:cs typeface="Georgia" pitchFamily="34" charset="-120"/>
              </a:rPr>
              <a:t>Multilingue</a:t>
            </a:r>
            <a:endParaRPr lang="en-US" sz="1500" dirty="0"/>
          </a:p>
        </p:txBody>
      </p:sp>
      <p:sp>
        <p:nvSpPr>
          <p:cNvPr id="11" name="Text 9"/>
          <p:cNvSpPr/>
          <p:nvPr/>
        </p:nvSpPr>
        <p:spPr>
          <a:xfrm>
            <a:off x="914400" y="3474720"/>
            <a:ext cx="10332720" cy="1005840"/>
          </a:xfrm>
          <a:prstGeom prst="rect">
            <a:avLst/>
          </a:prstGeom>
          <a:noFill/>
          <a:ln/>
        </p:spPr>
        <p:txBody>
          <a:bodyPr wrap="square" rtlCol="0" anchor="ctr"/>
          <a:lstStyle/>
          <a:p>
            <a:pPr indent="0" marL="0">
              <a:lnSpc>
                <a:spcPts val="1600"/>
              </a:lnSpc>
              <a:buNone/>
            </a:pPr>
            <a:r>
              <a:rPr lang="en-US" sz="1150" dirty="0">
                <a:solidFill>
                  <a:srgbClr val="1B1F3B"/>
                </a:solidFill>
                <a:latin typeface="Segoe UI" pitchFamily="34" charset="0"/>
                <a:ea typeface="Segoe UI" pitchFamily="34" charset="-122"/>
                <a:cs typeface="Segoe UI" pitchFamily="34" charset="-120"/>
              </a:rPr>
              <a:t>5 langues disponibles (français, anglais, arabe, allemand, italien), avec adaptation du sens de lecture pour l'arabe.</a:t>
            </a:r>
            <a:endParaRPr lang="en-US" sz="1150" dirty="0"/>
          </a:p>
        </p:txBody>
      </p:sp>
      <p:sp>
        <p:nvSpPr>
          <p:cNvPr id="12" name="Text 10"/>
          <p:cNvSpPr/>
          <p:nvPr/>
        </p:nvSpPr>
        <p:spPr>
          <a:xfrm>
            <a:off x="365760" y="6510528"/>
            <a:ext cx="5486400" cy="274320"/>
          </a:xfrm>
          <a:prstGeom prst="rect">
            <a:avLst/>
          </a:prstGeom>
          <a:noFill/>
          <a:ln/>
        </p:spPr>
        <p:txBody>
          <a:bodyPr wrap="square" rtlCol="0" anchor="ctr"/>
          <a:lstStyle/>
          <a:p>
            <a:pPr indent="0" marL="0">
              <a:buNone/>
            </a:pPr>
            <a:r>
              <a:rPr lang="en-US" sz="850" dirty="0">
                <a:solidFill>
                  <a:srgbClr val="8A7C68"/>
                </a:solidFill>
                <a:latin typeface="Segoe UI" pitchFamily="34" charset="0"/>
                <a:ea typeface="Segoe UI" pitchFamily="34" charset="-122"/>
                <a:cs typeface="Segoe UI" pitchFamily="34" charset="-120"/>
              </a:rPr>
              <a:t>Kôji Web — Cahier des charges</a:t>
            </a:r>
            <a:endParaRPr lang="en-US" sz="850" dirty="0"/>
          </a:p>
        </p:txBody>
      </p:sp>
      <p:sp>
        <p:nvSpPr>
          <p:cNvPr id="13" name="Text 11"/>
          <p:cNvSpPr/>
          <p:nvPr/>
        </p:nvSpPr>
        <p:spPr>
          <a:xfrm>
            <a:off x="9601200" y="6510528"/>
            <a:ext cx="2194560" cy="274320"/>
          </a:xfrm>
          <a:prstGeom prst="rect">
            <a:avLst/>
          </a:prstGeom>
          <a:noFill/>
          <a:ln/>
        </p:spPr>
        <p:txBody>
          <a:bodyPr wrap="square" rtlCol="0" anchor="ctr"/>
          <a:lstStyle/>
          <a:p>
            <a:pPr algn="r" indent="0" marL="0">
              <a:buNone/>
            </a:pPr>
            <a:r>
              <a:rPr lang="en-US" sz="850" dirty="0">
                <a:solidFill>
                  <a:srgbClr val="8A7C68"/>
                </a:solidFill>
                <a:latin typeface="Segoe UI" pitchFamily="34" charset="0"/>
                <a:ea typeface="Segoe UI" pitchFamily="34" charset="-122"/>
                <a:cs typeface="Segoe UI" pitchFamily="34" charset="-120"/>
              </a:rPr>
              <a:t>86</a:t>
            </a:r>
            <a:endParaRPr lang="en-US" sz="850" dirty="0"/>
          </a:p>
        </p:txBody>
      </p:sp>
    </p:spTree>
  </p:cSld>
  <p:clrMapOvr>
    <a:masterClrMapping/>
  </p:clrMapOvr>
</p:sld>
</file>

<file path=ppt/slides/slide88.xml><?xml version="1.0" encoding="utf-8"?>
<p:sld xmlns:a="http://schemas.openxmlformats.org/drawingml/2006/main" xmlns:r="http://schemas.openxmlformats.org/officeDocument/2006/relationships" xmlns:p="http://schemas.openxmlformats.org/presentationml/2006/main">
  <p:cSld name="Slide 88">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3108960" cy="365760"/>
          </a:xfrm>
          <a:prstGeom prst="roundRect">
            <a:avLst>
              <a:gd name="adj" fmla="val 50000"/>
            </a:avLst>
          </a:prstGeom>
          <a:solidFill>
            <a:srgbClr val="F7EADF"/>
          </a:solidFill>
          <a:ln/>
        </p:spPr>
      </p:sp>
      <p:sp>
        <p:nvSpPr>
          <p:cNvPr id="3" name="Text 1"/>
          <p:cNvSpPr/>
          <p:nvPr/>
        </p:nvSpPr>
        <p:spPr>
          <a:xfrm>
            <a:off x="640080" y="411480"/>
            <a:ext cx="3108960" cy="365760"/>
          </a:xfrm>
          <a:prstGeom prst="rect">
            <a:avLst/>
          </a:prstGeom>
          <a:noFill/>
          <a:ln/>
        </p:spPr>
        <p:txBody>
          <a:bodyPr wrap="square" rtlCol="0" anchor="ctr"/>
          <a:lstStyle/>
          <a:p>
            <a:pPr algn="ctr" indent="0" marL="0">
              <a:buNone/>
            </a:pPr>
            <a:r>
              <a:rPr lang="en-US" sz="950" b="1" spc="100" kern="0" dirty="0">
                <a:solidFill>
                  <a:srgbClr val="9A7C5C"/>
                </a:solidFill>
                <a:latin typeface="Segoe UI" pitchFamily="34" charset="0"/>
                <a:ea typeface="Segoe UI" pitchFamily="34" charset="-122"/>
                <a:cs typeface="Segoe UI" pitchFamily="34" charset="-120"/>
              </a:rPr>
              <a:t>SÉCURITÉ, DONNÉES ET MULTILINGUISME</a:t>
            </a:r>
            <a:endParaRPr lang="en-US" sz="950" dirty="0"/>
          </a:p>
        </p:txBody>
      </p:sp>
      <p:sp>
        <p:nvSpPr>
          <p:cNvPr id="4" name="Shape 2"/>
          <p:cNvSpPr/>
          <p:nvPr/>
        </p:nvSpPr>
        <p:spPr>
          <a:xfrm>
            <a:off x="640080" y="1005840"/>
            <a:ext cx="10881360" cy="1737360"/>
          </a:xfrm>
          <a:prstGeom prst="roundRect">
            <a:avLst>
              <a:gd name="adj" fmla="val 3158"/>
            </a:avLst>
          </a:prstGeom>
          <a:solidFill>
            <a:srgbClr val="FFFFFF"/>
          </a:solidFill>
          <a:ln w="12700">
            <a:solidFill>
              <a:srgbClr val="E4DCCB"/>
            </a:solidFill>
            <a:prstDash val="solid"/>
          </a:ln>
        </p:spPr>
      </p:sp>
      <p:sp>
        <p:nvSpPr>
          <p:cNvPr id="5" name="Shape 3"/>
          <p:cNvSpPr/>
          <p:nvPr/>
        </p:nvSpPr>
        <p:spPr>
          <a:xfrm>
            <a:off x="640080" y="1005840"/>
            <a:ext cx="54864" cy="1737360"/>
          </a:xfrm>
          <a:prstGeom prst="rect">
            <a:avLst/>
          </a:prstGeom>
          <a:solidFill>
            <a:srgbClr val="1D6FE0"/>
          </a:solidFill>
          <a:ln/>
        </p:spPr>
      </p:sp>
      <p:sp>
        <p:nvSpPr>
          <p:cNvPr id="6" name="Text 4"/>
          <p:cNvSpPr/>
          <p:nvPr/>
        </p:nvSpPr>
        <p:spPr>
          <a:xfrm>
            <a:off x="914400" y="1133856"/>
            <a:ext cx="10332720" cy="365760"/>
          </a:xfrm>
          <a:prstGeom prst="rect">
            <a:avLst/>
          </a:prstGeom>
          <a:noFill/>
          <a:ln/>
        </p:spPr>
        <p:txBody>
          <a:bodyPr wrap="square" rtlCol="0" anchor="ctr"/>
          <a:lstStyle/>
          <a:p>
            <a:pPr indent="0" marL="0">
              <a:buNone/>
            </a:pPr>
            <a:r>
              <a:rPr lang="en-US" sz="1500" b="1" dirty="0">
                <a:solidFill>
                  <a:srgbClr val="1B1F3B"/>
                </a:solidFill>
                <a:latin typeface="Georgia" pitchFamily="34" charset="0"/>
                <a:ea typeface="Georgia" pitchFamily="34" charset="-122"/>
                <a:cs typeface="Georgia" pitchFamily="34" charset="-120"/>
              </a:rPr>
              <a:t>Historique des actions</a:t>
            </a:r>
            <a:endParaRPr lang="en-US" sz="1500" dirty="0"/>
          </a:p>
        </p:txBody>
      </p:sp>
      <p:sp>
        <p:nvSpPr>
          <p:cNvPr id="7" name="Text 5"/>
          <p:cNvSpPr/>
          <p:nvPr/>
        </p:nvSpPr>
        <p:spPr>
          <a:xfrm>
            <a:off x="914400" y="1536192"/>
            <a:ext cx="10332720" cy="1005840"/>
          </a:xfrm>
          <a:prstGeom prst="rect">
            <a:avLst/>
          </a:prstGeom>
          <a:noFill/>
          <a:ln/>
        </p:spPr>
        <p:txBody>
          <a:bodyPr wrap="square" rtlCol="0" anchor="ctr"/>
          <a:lstStyle/>
          <a:p>
            <a:pPr indent="0" marL="0">
              <a:lnSpc>
                <a:spcPts val="1600"/>
              </a:lnSpc>
              <a:buNone/>
            </a:pPr>
            <a:r>
              <a:rPr lang="en-US" sz="1150" dirty="0">
                <a:solidFill>
                  <a:srgbClr val="1B1F3B"/>
                </a:solidFill>
                <a:latin typeface="Segoe UI" pitchFamily="34" charset="0"/>
                <a:ea typeface="Segoe UI" pitchFamily="34" charset="-122"/>
                <a:cs typeface="Segoe UI" pitchFamily="34" charset="-120"/>
              </a:rPr>
              <a:t>Chaque action importante (création, modification, suppression) est journalisée pour garder une trace de l'activité.</a:t>
            </a:r>
            <a:endParaRPr lang="en-US" sz="1150" dirty="0"/>
          </a:p>
        </p:txBody>
      </p:sp>
      <p:sp>
        <p:nvSpPr>
          <p:cNvPr id="8" name="Text 6"/>
          <p:cNvSpPr/>
          <p:nvPr/>
        </p:nvSpPr>
        <p:spPr>
          <a:xfrm>
            <a:off x="365760" y="6510528"/>
            <a:ext cx="5486400" cy="274320"/>
          </a:xfrm>
          <a:prstGeom prst="rect">
            <a:avLst/>
          </a:prstGeom>
          <a:noFill/>
          <a:ln/>
        </p:spPr>
        <p:txBody>
          <a:bodyPr wrap="square" rtlCol="0" anchor="ctr"/>
          <a:lstStyle/>
          <a:p>
            <a:pPr indent="0" marL="0">
              <a:buNone/>
            </a:pPr>
            <a:r>
              <a:rPr lang="en-US" sz="850" dirty="0">
                <a:solidFill>
                  <a:srgbClr val="8A7C68"/>
                </a:solidFill>
                <a:latin typeface="Segoe UI" pitchFamily="34" charset="0"/>
                <a:ea typeface="Segoe UI" pitchFamily="34" charset="-122"/>
                <a:cs typeface="Segoe UI" pitchFamily="34" charset="-120"/>
              </a:rPr>
              <a:t>Kôji Web — Cahier des charges</a:t>
            </a:r>
            <a:endParaRPr lang="en-US" sz="850" dirty="0"/>
          </a:p>
        </p:txBody>
      </p:sp>
      <p:sp>
        <p:nvSpPr>
          <p:cNvPr id="9" name="Text 7"/>
          <p:cNvSpPr/>
          <p:nvPr/>
        </p:nvSpPr>
        <p:spPr>
          <a:xfrm>
            <a:off x="9601200" y="6510528"/>
            <a:ext cx="2194560" cy="274320"/>
          </a:xfrm>
          <a:prstGeom prst="rect">
            <a:avLst/>
          </a:prstGeom>
          <a:noFill/>
          <a:ln/>
        </p:spPr>
        <p:txBody>
          <a:bodyPr wrap="square" rtlCol="0" anchor="ctr"/>
          <a:lstStyle/>
          <a:p>
            <a:pPr algn="r" indent="0" marL="0">
              <a:buNone/>
            </a:pPr>
            <a:r>
              <a:rPr lang="en-US" sz="850" dirty="0">
                <a:solidFill>
                  <a:srgbClr val="8A7C68"/>
                </a:solidFill>
                <a:latin typeface="Segoe UI" pitchFamily="34" charset="0"/>
                <a:ea typeface="Segoe UI" pitchFamily="34" charset="-122"/>
                <a:cs typeface="Segoe UI" pitchFamily="34" charset="-120"/>
              </a:rPr>
              <a:t>87</a:t>
            </a:r>
            <a:endParaRPr lang="en-US" sz="850" dirty="0"/>
          </a:p>
        </p:txBody>
      </p:sp>
    </p:spTree>
  </p:cSld>
  <p:clrMapOvr>
    <a:masterClrMapping/>
  </p:clrMapOvr>
</p:sld>
</file>

<file path=ppt/slides/slide89.xml><?xml version="1.0" encoding="utf-8"?>
<p:sld xmlns:a="http://schemas.openxmlformats.org/drawingml/2006/main" xmlns:r="http://schemas.openxmlformats.org/officeDocument/2006/relationships" xmlns:p="http://schemas.openxmlformats.org/presentationml/2006/main">
  <p:cSld name="Slide 89">
    <p:bg>
      <p:bgPr>
        <a:solidFill>
          <a:srgbClr val="0B1030"/>
        </a:solidFill>
      </p:bgPr>
    </p:bg>
    <p:spTree>
      <p:nvGrpSpPr>
        <p:cNvPr id="1" name=""/>
        <p:cNvGrpSpPr/>
        <p:nvPr/>
      </p:nvGrpSpPr>
      <p:grpSpPr>
        <a:xfrm>
          <a:off x="0" y="0"/>
          <a:ext cx="0" cy="0"/>
          <a:chOff x="0" y="0"/>
          <a:chExt cx="0" cy="0"/>
        </a:xfrm>
      </p:grpSpPr>
      <p:sp>
        <p:nvSpPr>
          <p:cNvPr id="2" name="Text 0"/>
          <p:cNvSpPr/>
          <p:nvPr/>
        </p:nvSpPr>
        <p:spPr>
          <a:xfrm>
            <a:off x="640080" y="2286000"/>
            <a:ext cx="9144000" cy="822960"/>
          </a:xfrm>
          <a:prstGeom prst="rect">
            <a:avLst/>
          </a:prstGeom>
          <a:noFill/>
          <a:ln/>
        </p:spPr>
        <p:txBody>
          <a:bodyPr wrap="square" rtlCol="0" anchor="ctr"/>
          <a:lstStyle/>
          <a:p>
            <a:pPr indent="0" marL="0">
              <a:buNone/>
            </a:pPr>
            <a:r>
              <a:rPr lang="en-US" sz="3400" b="1" dirty="0">
                <a:solidFill>
                  <a:srgbClr val="FFFFFF"/>
                </a:solidFill>
                <a:latin typeface="Georgia" pitchFamily="34" charset="0"/>
                <a:ea typeface="Georgia" pitchFamily="34" charset="-122"/>
                <a:cs typeface="Georgia" pitchFamily="34" charset="-120"/>
              </a:rPr>
              <a:t>Fin du cahier des charges</a:t>
            </a:r>
            <a:endParaRPr lang="en-US" sz="3400" dirty="0"/>
          </a:p>
        </p:txBody>
      </p:sp>
      <p:sp>
        <p:nvSpPr>
          <p:cNvPr id="3" name="Text 1"/>
          <p:cNvSpPr/>
          <p:nvPr/>
        </p:nvSpPr>
        <p:spPr>
          <a:xfrm>
            <a:off x="640080" y="3200400"/>
            <a:ext cx="9144000" cy="822960"/>
          </a:xfrm>
          <a:prstGeom prst="rect">
            <a:avLst/>
          </a:prstGeom>
          <a:noFill/>
          <a:ln/>
        </p:spPr>
        <p:txBody>
          <a:bodyPr wrap="square" rtlCol="0" anchor="ctr"/>
          <a:lstStyle/>
          <a:p>
            <a:pPr indent="0" marL="0">
              <a:lnSpc>
                <a:spcPts val="1800"/>
              </a:lnSpc>
              <a:buNone/>
            </a:pPr>
            <a:r>
              <a:rPr lang="en-US" sz="1300" dirty="0">
                <a:solidFill>
                  <a:srgbClr val="C7C9E0"/>
                </a:solidFill>
                <a:latin typeface="Segoe UI" pitchFamily="34" charset="0"/>
                <a:ea typeface="Segoe UI" pitchFamily="34" charset="-122"/>
                <a:cs typeface="Segoe UI" pitchFamily="34" charset="-120"/>
              </a:rPr>
              <a:t>Ce document liste l'ensemble des fonctionnalités de l'application Kôji Web telles que développées à ce jour. Il est mis à jour à chaque évolution notable de l'application.</a:t>
            </a:r>
            <a:endParaRPr lang="en-US" sz="1300" dirty="0"/>
          </a:p>
        </p:txBody>
      </p:sp>
      <p:sp>
        <p:nvSpPr>
          <p:cNvPr id="4" name="Text 2"/>
          <p:cNvSpPr/>
          <p:nvPr/>
        </p:nvSpPr>
        <p:spPr>
          <a:xfrm>
            <a:off x="640080" y="4846320"/>
            <a:ext cx="7315200" cy="320040"/>
          </a:xfrm>
          <a:prstGeom prst="rect">
            <a:avLst/>
          </a:prstGeom>
          <a:noFill/>
          <a:ln/>
        </p:spPr>
        <p:txBody>
          <a:bodyPr wrap="square" rtlCol="0" anchor="ctr"/>
          <a:lstStyle/>
          <a:p>
            <a:pPr indent="0" marL="0">
              <a:buNone/>
            </a:pPr>
            <a:r>
              <a:rPr lang="en-US" sz="1200" b="1" dirty="0">
                <a:solidFill>
                  <a:srgbClr val="C9A96A"/>
                </a:solidFill>
                <a:latin typeface="Segoe UI" pitchFamily="34" charset="0"/>
                <a:ea typeface="Segoe UI" pitchFamily="34" charset="-122"/>
                <a:cs typeface="Segoe UI" pitchFamily="34" charset="-120"/>
              </a:rPr>
              <a:t>Cahier des charges préparé par : BOUHOUCHI Amira</a:t>
            </a:r>
            <a:endParaRPr lang="en-US" sz="1200" dirty="0"/>
          </a:p>
        </p:txBody>
      </p:sp>
      <p:sp>
        <p:nvSpPr>
          <p:cNvPr id="5" name="Text 3"/>
          <p:cNvSpPr/>
          <p:nvPr/>
        </p:nvSpPr>
        <p:spPr>
          <a:xfrm>
            <a:off x="640080" y="5193792"/>
            <a:ext cx="7315200" cy="320040"/>
          </a:xfrm>
          <a:prstGeom prst="rect">
            <a:avLst/>
          </a:prstGeom>
          <a:noFill/>
          <a:ln/>
        </p:spPr>
        <p:txBody>
          <a:bodyPr wrap="square" rtlCol="0" anchor="ctr"/>
          <a:lstStyle/>
          <a:p>
            <a:pPr indent="0" marL="0">
              <a:buNone/>
            </a:pPr>
            <a:r>
              <a:rPr lang="en-US" sz="1200" b="1" dirty="0">
                <a:solidFill>
                  <a:srgbClr val="C9A96A"/>
                </a:solidFill>
                <a:latin typeface="Segoe UI" pitchFamily="34" charset="0"/>
                <a:ea typeface="Segoe UI" pitchFamily="34" charset="-122"/>
                <a:cs typeface="Segoe UI" pitchFamily="34" charset="-120"/>
              </a:rPr>
              <a:t>Application Kôji Web développée par : BOUHOUCHI Amira</a:t>
            </a:r>
            <a:endParaRPr lang="en-US" sz="12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89</Slides>
  <Notes>89</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89</vt:i4>
      </vt:variant>
    </vt:vector>
  </HeadingPairs>
  <TitlesOfParts>
    <vt:vector size="92"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lpstr>Slide 58</vt:lpstr>
      <vt:lpstr>Slide 59</vt:lpstr>
      <vt:lpstr>Slide 60</vt:lpstr>
      <vt:lpstr>Slide 61</vt:lpstr>
      <vt:lpstr>Slide 62</vt:lpstr>
      <vt:lpstr>Slide 63</vt:lpstr>
      <vt:lpstr>Slide 64</vt:lpstr>
      <vt:lpstr>Slide 65</vt:lpstr>
      <vt:lpstr>Slide 66</vt:lpstr>
      <vt:lpstr>Slide 67</vt:lpstr>
      <vt:lpstr>Slide 68</vt:lpstr>
      <vt:lpstr>Slide 69</vt:lpstr>
      <vt:lpstr>Slide 70</vt:lpstr>
      <vt:lpstr>Slide 71</vt:lpstr>
      <vt:lpstr>Slide 72</vt:lpstr>
      <vt:lpstr>Slide 73</vt:lpstr>
      <vt:lpstr>Slide 74</vt:lpstr>
      <vt:lpstr>Slide 75</vt:lpstr>
      <vt:lpstr>Slide 76</vt:lpstr>
      <vt:lpstr>Slide 77</vt:lpstr>
      <vt:lpstr>Slide 78</vt:lpstr>
      <vt:lpstr>Slide 79</vt:lpstr>
      <vt:lpstr>Slide 80</vt:lpstr>
      <vt:lpstr>Slide 81</vt:lpstr>
      <vt:lpstr>Slide 82</vt:lpstr>
      <vt:lpstr>Slide 83</vt:lpstr>
      <vt:lpstr>Slide 84</vt:lpstr>
      <vt:lpstr>Slide 85</vt:lpstr>
      <vt:lpstr>Slide 86</vt:lpstr>
      <vt:lpstr>Slide 87</vt:lpstr>
      <vt:lpstr>Slide 88</vt:lpstr>
      <vt:lpstr>Slide 89</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Cahier des charges — Application Web Kôji — Gestion d'entreprise du bâtiment</dc:title>
  <dc:subject>PptxGenJS Presentation</dc:subject>
  <dc:creator>BOUHOUCHI Amira</dc:creator>
  <cp:lastModifiedBy>BOUHOUCHI Amira</cp:lastModifiedBy>
  <cp:revision>1</cp:revision>
  <dcterms:created xsi:type="dcterms:W3CDTF">2026-07-31T11:57:00Z</dcterms:created>
  <dcterms:modified xsi:type="dcterms:W3CDTF">2026-07-31T11:57:00Z</dcterms:modified>
</cp:coreProperties>
</file>